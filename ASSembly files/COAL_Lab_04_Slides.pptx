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5" r:id="rId3"/>
    <p:sldId id="257" r:id="rId4"/>
    <p:sldId id="258" r:id="rId5"/>
    <p:sldId id="259" r:id="rId6"/>
    <p:sldId id="260" r:id="rId7"/>
    <p:sldId id="261" r:id="rId8"/>
    <p:sldId id="262" r:id="rId9"/>
    <p:sldId id="263" r:id="rId10"/>
    <p:sldId id="264"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8605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4. Until now every line ran once. Today a block of lines runs as many times as we ask.
Keep the slides to about 15 minutes. Most of the lab is the practical.
On the screen: both lines come from one short loop each. By the end of the slides they will write both.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8F35A-0BB7-85AE-7442-370A91D76E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1283D9-3E9C-0701-E161-AB5C6A1F8E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310200-1CDC-9148-9C88-ED154B83993A}"/>
              </a:ext>
            </a:extLst>
          </p:cNvPr>
          <p:cNvSpPr>
            <a:spLocks noGrp="1"/>
          </p:cNvSpPr>
          <p:nvPr>
            <p:ph type="body" idx="1"/>
          </p:nvPr>
        </p:nvSpPr>
        <p:spPr/>
        <p:txBody>
          <a:bodyPr/>
          <a:lstStyle/>
          <a:p>
            <a:r>
              <a:rPr lang="en-US" dirty="0"/>
              <a:t>Lab 4. Until now every line ran once. Today a block of lines runs as many times as we ask.
Keep the slides to about 15 minutes. Most of the lab is the practical.
On the screen: both lines come from one short loop each. By the end of the slides they will write both.</a:t>
            </a:r>
          </a:p>
        </p:txBody>
      </p:sp>
      <p:sp>
        <p:nvSpPr>
          <p:cNvPr id="4" name="Slide Number Placeholder 3">
            <a:extLst>
              <a:ext uri="{FF2B5EF4-FFF2-40B4-BE49-F238E27FC236}">
                <a16:creationId xmlns:a16="http://schemas.microsoft.com/office/drawing/2014/main" id="{75D88855-E836-E13F-5CA2-72B6694975B0}"/>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155621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first: how would you print five stars with what you know? They will copy the three lines five times.
That works, but it does not scale. 100 stars would be 300 lines.
A loop lets us write the three lines once and say how many times to run them. The next slides show how.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CX is the count register. The LOOP instruction always uses CX, no other register.
We set CX once, before the loop. Every turn, LOOP takes 1 away. When CX reaches 0 the loop stops.
Starting at 5 gives 5 turns: 5, 4, 3, 2, 1. At 0 it stops.
Warn them now: CL is part of CX. If they use CL to store a key inside a loop, they break the count.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label is just a name for a line. It is not an instruction and the CPU does nothing when it reaches it.
Where we write it with a colon, again:, we mark the spot.
loop again (no colon) says: go back to that spot.
The name is our choice. It only has to match in both places.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pattern. Three parts: set CX, the label, the loop line.
The body between the label and loop is the three print lines they already know.
loop again does two things: takes 1 from CX, then jumps back if CX is not 0.
Service 02h with an h, as in Lab 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row by row with the class. Ask them to say the next row before you reveal it.
The CX column is CX when the turn starts. The last column is CX after loop has taken 1 away.
The key moment is row 5: CX becomes 0, so loop does not jump back.
If there is time, show it live with single step.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small instructions. inc adds 1, dec takes 1 away. Nothing else.
They already know add dl, 1 from Lab 3. inc dl does the same thing in a shorter way.
Link to ASCII: '1' is 49, add 1 and it is 50, which is '2'. Digits and letters are in order.
Do not go further. We only need inc for the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new here, only combining LOOP, INC and ASCII.
DL starts at '1'. Each turn prints DL, then inc moves it to the next digit.
Printing with 02h does not change DL, so the value carries into the next turn.
Ask: what if mov dl, '1' moves below again:? (11111.) What if we start at 'A'? (ABCDE.) What if CX is 9? (123456789.)</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practical sheet now.
Insist on typing, not pasting.
Most common problems today: mov cx placed inside the loop (it never ends), a label name that does not match, a missing colon after the label, and CL used for storage inside a loop.
Show single step once on the projector so they can watch CX count down.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0"/>
        </a:solidFill>
        <a:effectLst/>
      </p:bgPr>
    </p:bg>
    <p:spTree>
      <p:nvGrpSpPr>
        <p:cNvPr id="1" name=""/>
        <p:cNvGrpSpPr/>
        <p:nvPr/>
      </p:nvGrpSpPr>
      <p:grpSpPr>
        <a:xfrm>
          <a:off x="0" y="0"/>
          <a:ext cx="0" cy="0"/>
          <a:chOff x="0" y="0"/>
          <a:chExt cx="0" cy="0"/>
        </a:xfrm>
      </p:grpSpPr>
      <p:sp>
        <p:nvSpPr>
          <p:cNvPr id="2" name="Text 0"/>
          <p:cNvSpPr txBox="1"/>
          <p:nvPr/>
        </p:nvSpPr>
        <p:spPr>
          <a:xfrm>
            <a:off x="640080" y="566928"/>
            <a:ext cx="9144000" cy="237744"/>
          </a:xfrm>
          <a:prstGeom prst="rect">
            <a:avLst/>
          </a:prstGeom>
          <a:noFill/>
          <a:ln/>
        </p:spPr>
        <p:txBody>
          <a:bodyPr wrap="square" lIns="0" tIns="0" rIns="0" bIns="0" rtlCol="0" anchor="t"/>
          <a:lstStyle/>
          <a:p>
            <a:pPr marL="0" indent="0" algn="l">
              <a:buNone/>
            </a:pPr>
            <a:r>
              <a:rPr lang="en-US" sz="1050" b="1" kern="0" spc="160" dirty="0">
                <a:solidFill>
                  <a:srgbClr val="5C6B83"/>
                </a:solidFill>
                <a:latin typeface="Courier New" pitchFamily="34" charset="0"/>
                <a:ea typeface="Courier New" pitchFamily="34" charset="-122"/>
                <a:cs typeface="Courier New" pitchFamily="34" charset="-120"/>
              </a:rPr>
              <a:t>LAB 04  ·  8086 ASSEMBLY</a:t>
            </a:r>
            <a:endParaRPr lang="en-US" sz="1050" dirty="0"/>
          </a:p>
        </p:txBody>
      </p:sp>
      <p:sp>
        <p:nvSpPr>
          <p:cNvPr id="3" name="Text 1"/>
          <p:cNvSpPr txBox="1"/>
          <p:nvPr/>
        </p:nvSpPr>
        <p:spPr>
          <a:xfrm>
            <a:off x="640080" y="1417320"/>
            <a:ext cx="6949440" cy="2103120"/>
          </a:xfrm>
          <a:prstGeom prst="rect">
            <a:avLst/>
          </a:prstGeom>
          <a:noFill/>
          <a:ln/>
        </p:spPr>
        <p:txBody>
          <a:bodyPr wrap="square" lIns="0" tIns="0" rIns="0" bIns="0" rtlCol="0" anchor="t"/>
          <a:lstStyle/>
          <a:p>
            <a:pPr marL="0" indent="0" algn="l">
              <a:buNone/>
            </a:pPr>
            <a:r>
              <a:rPr lang="en-US" sz="4000" b="1" dirty="0">
                <a:solidFill>
                  <a:srgbClr val="F0F3F8"/>
                </a:solidFill>
                <a:latin typeface="Arial" pitchFamily="34" charset="0"/>
                <a:ea typeface="Arial" pitchFamily="34" charset="-122"/>
                <a:cs typeface="Arial" pitchFamily="34" charset="-120"/>
              </a:rPr>
              <a:t>COAL Lab 4:</a:t>
            </a:r>
            <a:endParaRPr lang="en-US" sz="4000" dirty="0"/>
          </a:p>
          <a:p>
            <a:pPr marL="0" indent="0" algn="l">
              <a:buNone/>
            </a:pPr>
            <a:r>
              <a:rPr lang="en-US" sz="4000" b="1" dirty="0">
                <a:solidFill>
                  <a:srgbClr val="F0F3F8"/>
                </a:solidFill>
                <a:latin typeface="Arial" pitchFamily="34" charset="0"/>
                <a:ea typeface="Arial" pitchFamily="34" charset="-122"/>
                <a:cs typeface="Arial" pitchFamily="34" charset="-120"/>
              </a:rPr>
              <a:t>Loops in 8086</a:t>
            </a:r>
            <a:endParaRPr lang="en-US" sz="4000" dirty="0"/>
          </a:p>
          <a:p>
            <a:pPr marL="0" indent="0" algn="l">
              <a:buNone/>
            </a:pPr>
            <a:r>
              <a:rPr lang="en-US" sz="4000" b="1" dirty="0">
                <a:solidFill>
                  <a:srgbClr val="F0F3F8"/>
                </a:solidFill>
                <a:latin typeface="Arial" pitchFamily="34" charset="0"/>
                <a:ea typeface="Arial" pitchFamily="34" charset="-122"/>
                <a:cs typeface="Arial" pitchFamily="34" charset="-120"/>
              </a:rPr>
              <a:t>Assembly</a:t>
            </a:r>
            <a:endParaRPr lang="en-US" sz="4000" dirty="0"/>
          </a:p>
        </p:txBody>
      </p:sp>
      <p:sp>
        <p:nvSpPr>
          <p:cNvPr id="4" name="Text 2"/>
          <p:cNvSpPr txBox="1"/>
          <p:nvPr/>
        </p:nvSpPr>
        <p:spPr>
          <a:xfrm>
            <a:off x="640080" y="3840480"/>
            <a:ext cx="6675120" cy="329184"/>
          </a:xfrm>
          <a:prstGeom prst="rect">
            <a:avLst/>
          </a:prstGeom>
          <a:noFill/>
          <a:ln/>
        </p:spPr>
        <p:txBody>
          <a:bodyPr wrap="square" lIns="0" tIns="0" rIns="0" bIns="0" rtlCol="0" anchor="t"/>
          <a:lstStyle/>
          <a:p>
            <a:pPr marL="0" indent="0" algn="l">
              <a:buNone/>
            </a:pPr>
            <a:r>
              <a:rPr lang="en-US" sz="1700" b="1" dirty="0">
                <a:solidFill>
                  <a:srgbClr val="EDA63F"/>
                </a:solidFill>
                <a:latin typeface="Arial" pitchFamily="34" charset="0"/>
                <a:ea typeface="Arial" pitchFamily="34" charset="-122"/>
                <a:cs typeface="Arial" pitchFamily="34" charset="-120"/>
              </a:rPr>
              <a:t>Muhammad Hashir Shaikh</a:t>
            </a:r>
            <a:endParaRPr lang="en-US" sz="1700" dirty="0"/>
          </a:p>
        </p:txBody>
      </p:sp>
      <p:sp>
        <p:nvSpPr>
          <p:cNvPr id="5" name="Text 3"/>
          <p:cNvSpPr txBox="1"/>
          <p:nvPr/>
        </p:nvSpPr>
        <p:spPr>
          <a:xfrm>
            <a:off x="640080" y="4224528"/>
            <a:ext cx="6675120" cy="329184"/>
          </a:xfrm>
          <a:prstGeom prst="rect">
            <a:avLst/>
          </a:prstGeom>
          <a:noFill/>
          <a:ln/>
        </p:spPr>
        <p:txBody>
          <a:bodyPr wrap="square" lIns="0" tIns="0" rIns="0" bIns="0" rtlCol="0" anchor="t"/>
          <a:lstStyle/>
          <a:p>
            <a:pPr marL="0" indent="0" algn="l">
              <a:buNone/>
            </a:pPr>
            <a:r>
              <a:rPr lang="en-US" sz="1500" dirty="0">
                <a:solidFill>
                  <a:srgbClr val="94A3B8"/>
                </a:solidFill>
                <a:latin typeface="Calibri" pitchFamily="34" charset="0"/>
                <a:ea typeface="Calibri" pitchFamily="34" charset="-122"/>
                <a:cs typeface="Calibri" pitchFamily="34" charset="-120"/>
              </a:rPr>
              <a:t>Today one block of code runs again and again.</a:t>
            </a:r>
            <a:endParaRPr lang="en-US" sz="1500" dirty="0"/>
          </a:p>
        </p:txBody>
      </p:sp>
      <p:sp>
        <p:nvSpPr>
          <p:cNvPr id="6" name="Shape 4"/>
          <p:cNvSpPr/>
          <p:nvPr/>
        </p:nvSpPr>
        <p:spPr>
          <a:xfrm>
            <a:off x="640080" y="4956048"/>
            <a:ext cx="760781" cy="329184"/>
          </a:xfrm>
          <a:prstGeom prst="roundRect">
            <a:avLst>
              <a:gd name="adj" fmla="val 6670"/>
            </a:avLst>
          </a:prstGeom>
          <a:solidFill>
            <a:srgbClr val="182132"/>
          </a:solidFill>
          <a:ln w="12700">
            <a:solidFill>
              <a:srgbClr val="2A3548"/>
            </a:solidFill>
            <a:prstDash val="solid"/>
          </a:ln>
        </p:spPr>
        <p:txBody>
          <a:bodyPr/>
          <a:lstStyle/>
          <a:p>
            <a:endParaRPr lang="en-US"/>
          </a:p>
        </p:txBody>
      </p:sp>
      <p:sp>
        <p:nvSpPr>
          <p:cNvPr id="7" name="Text 5"/>
          <p:cNvSpPr txBox="1"/>
          <p:nvPr/>
        </p:nvSpPr>
        <p:spPr>
          <a:xfrm>
            <a:off x="640080" y="4956048"/>
            <a:ext cx="760781" cy="329184"/>
          </a:xfrm>
          <a:prstGeom prst="rect">
            <a:avLst/>
          </a:prstGeom>
          <a:noFill/>
          <a:ln/>
        </p:spPr>
        <p:txBody>
          <a:bodyPr wrap="square" lIns="0" tIns="0" rIns="0" bIns="0" rtlCol="0" anchor="ctr"/>
          <a:lstStyle/>
          <a:p>
            <a:pPr marL="0" indent="0" algn="ctr">
              <a:buNone/>
            </a:pPr>
            <a:r>
              <a:rPr lang="en-US" sz="1000" b="1" kern="0" spc="160" dirty="0">
                <a:solidFill>
                  <a:srgbClr val="3EB9CE"/>
                </a:solidFill>
                <a:latin typeface="Courier New" pitchFamily="34" charset="0"/>
                <a:ea typeface="Courier New" pitchFamily="34" charset="-122"/>
                <a:cs typeface="Courier New" pitchFamily="34" charset="-120"/>
              </a:rPr>
              <a:t>CX</a:t>
            </a:r>
            <a:endParaRPr lang="en-US" sz="1000" dirty="0"/>
          </a:p>
        </p:txBody>
      </p:sp>
      <p:sp>
        <p:nvSpPr>
          <p:cNvPr id="8" name="Shape 6"/>
          <p:cNvSpPr/>
          <p:nvPr/>
        </p:nvSpPr>
        <p:spPr>
          <a:xfrm>
            <a:off x="1565453" y="4956048"/>
            <a:ext cx="1148486" cy="329184"/>
          </a:xfrm>
          <a:prstGeom prst="roundRect">
            <a:avLst>
              <a:gd name="adj" fmla="val 6670"/>
            </a:avLst>
          </a:prstGeom>
          <a:solidFill>
            <a:srgbClr val="182132"/>
          </a:solidFill>
          <a:ln w="12700">
            <a:solidFill>
              <a:srgbClr val="2A3548"/>
            </a:solidFill>
            <a:prstDash val="solid"/>
          </a:ln>
        </p:spPr>
        <p:txBody>
          <a:bodyPr/>
          <a:lstStyle/>
          <a:p>
            <a:endParaRPr lang="en-US"/>
          </a:p>
        </p:txBody>
      </p:sp>
      <p:sp>
        <p:nvSpPr>
          <p:cNvPr id="9" name="Text 7"/>
          <p:cNvSpPr txBox="1"/>
          <p:nvPr/>
        </p:nvSpPr>
        <p:spPr>
          <a:xfrm>
            <a:off x="1565453" y="4956048"/>
            <a:ext cx="1148486" cy="329184"/>
          </a:xfrm>
          <a:prstGeom prst="rect">
            <a:avLst/>
          </a:prstGeom>
          <a:noFill/>
          <a:ln/>
        </p:spPr>
        <p:txBody>
          <a:bodyPr wrap="square" lIns="0" tIns="0" rIns="0" bIns="0" rtlCol="0" anchor="ctr"/>
          <a:lstStyle/>
          <a:p>
            <a:pPr marL="0" indent="0" algn="ctr">
              <a:buNone/>
            </a:pPr>
            <a:r>
              <a:rPr lang="en-US" sz="1000" b="1" kern="0" spc="160" dirty="0">
                <a:solidFill>
                  <a:srgbClr val="EDA63F"/>
                </a:solidFill>
                <a:latin typeface="Courier New" pitchFamily="34" charset="0"/>
                <a:ea typeface="Courier New" pitchFamily="34" charset="-122"/>
                <a:cs typeface="Courier New" pitchFamily="34" charset="-120"/>
              </a:rPr>
              <a:t>LABELS</a:t>
            </a:r>
            <a:endParaRPr lang="en-US" sz="1000" dirty="0"/>
          </a:p>
        </p:txBody>
      </p:sp>
      <p:sp>
        <p:nvSpPr>
          <p:cNvPr id="10" name="Shape 8"/>
          <p:cNvSpPr/>
          <p:nvPr/>
        </p:nvSpPr>
        <p:spPr>
          <a:xfrm>
            <a:off x="2878531" y="4956048"/>
            <a:ext cx="954634" cy="329184"/>
          </a:xfrm>
          <a:prstGeom prst="roundRect">
            <a:avLst>
              <a:gd name="adj" fmla="val 6670"/>
            </a:avLst>
          </a:prstGeom>
          <a:solidFill>
            <a:srgbClr val="182132"/>
          </a:solidFill>
          <a:ln w="12700">
            <a:solidFill>
              <a:srgbClr val="2A3548"/>
            </a:solidFill>
            <a:prstDash val="solid"/>
          </a:ln>
        </p:spPr>
        <p:txBody>
          <a:bodyPr/>
          <a:lstStyle/>
          <a:p>
            <a:endParaRPr lang="en-US"/>
          </a:p>
        </p:txBody>
      </p:sp>
      <p:sp>
        <p:nvSpPr>
          <p:cNvPr id="11" name="Text 9"/>
          <p:cNvSpPr txBox="1"/>
          <p:nvPr/>
        </p:nvSpPr>
        <p:spPr>
          <a:xfrm>
            <a:off x="2878531" y="4956048"/>
            <a:ext cx="954634" cy="329184"/>
          </a:xfrm>
          <a:prstGeom prst="rect">
            <a:avLst/>
          </a:prstGeom>
          <a:noFill/>
          <a:ln/>
        </p:spPr>
        <p:txBody>
          <a:bodyPr wrap="square" lIns="0" tIns="0" rIns="0" bIns="0" rtlCol="0" anchor="ctr"/>
          <a:lstStyle/>
          <a:p>
            <a:pPr marL="0" indent="0" algn="ctr">
              <a:buNone/>
            </a:pPr>
            <a:r>
              <a:rPr lang="en-US" sz="1000" b="1" kern="0" spc="160" dirty="0">
                <a:solidFill>
                  <a:srgbClr val="9584E8"/>
                </a:solidFill>
                <a:latin typeface="Courier New" pitchFamily="34" charset="0"/>
                <a:ea typeface="Courier New" pitchFamily="34" charset="-122"/>
                <a:cs typeface="Courier New" pitchFamily="34" charset="-120"/>
              </a:rPr>
              <a:t>LOOP</a:t>
            </a:r>
            <a:endParaRPr lang="en-US" sz="1000" dirty="0"/>
          </a:p>
        </p:txBody>
      </p:sp>
      <p:sp>
        <p:nvSpPr>
          <p:cNvPr id="12" name="Shape 10"/>
          <p:cNvSpPr/>
          <p:nvPr/>
        </p:nvSpPr>
        <p:spPr>
          <a:xfrm>
            <a:off x="3997757" y="4956048"/>
            <a:ext cx="1439266" cy="329184"/>
          </a:xfrm>
          <a:prstGeom prst="roundRect">
            <a:avLst>
              <a:gd name="adj" fmla="val 6670"/>
            </a:avLst>
          </a:prstGeom>
          <a:solidFill>
            <a:srgbClr val="182132"/>
          </a:solidFill>
          <a:ln w="12700">
            <a:solidFill>
              <a:srgbClr val="2A3548"/>
            </a:solidFill>
            <a:prstDash val="solid"/>
          </a:ln>
        </p:spPr>
        <p:txBody>
          <a:bodyPr/>
          <a:lstStyle/>
          <a:p>
            <a:endParaRPr lang="en-US"/>
          </a:p>
        </p:txBody>
      </p:sp>
      <p:sp>
        <p:nvSpPr>
          <p:cNvPr id="13" name="Text 11"/>
          <p:cNvSpPr txBox="1"/>
          <p:nvPr/>
        </p:nvSpPr>
        <p:spPr>
          <a:xfrm>
            <a:off x="3997757" y="4956048"/>
            <a:ext cx="1439266" cy="329184"/>
          </a:xfrm>
          <a:prstGeom prst="rect">
            <a:avLst/>
          </a:prstGeom>
          <a:noFill/>
          <a:ln/>
        </p:spPr>
        <p:txBody>
          <a:bodyPr wrap="square" lIns="0" tIns="0" rIns="0" bIns="0" rtlCol="0" anchor="ctr"/>
          <a:lstStyle/>
          <a:p>
            <a:pPr marL="0" indent="0" algn="ctr">
              <a:buNone/>
            </a:pPr>
            <a:r>
              <a:rPr lang="en-US" sz="1000" b="1" kern="0" spc="160" dirty="0">
                <a:solidFill>
                  <a:srgbClr val="58B98A"/>
                </a:solidFill>
                <a:latin typeface="Courier New" pitchFamily="34" charset="0"/>
                <a:ea typeface="Courier New" pitchFamily="34" charset="-122"/>
                <a:cs typeface="Courier New" pitchFamily="34" charset="-120"/>
              </a:rPr>
              <a:t>INC &amp; DEC</a:t>
            </a:r>
            <a:endParaRPr lang="en-US" sz="1000" dirty="0"/>
          </a:p>
        </p:txBody>
      </p:sp>
      <p:sp>
        <p:nvSpPr>
          <p:cNvPr id="14" name="Shape 12"/>
          <p:cNvSpPr/>
          <p:nvPr/>
        </p:nvSpPr>
        <p:spPr>
          <a:xfrm>
            <a:off x="7818120" y="1783080"/>
            <a:ext cx="3730752" cy="2514600"/>
          </a:xfrm>
          <a:prstGeom prst="roundRect">
            <a:avLst>
              <a:gd name="adj" fmla="val 6670"/>
            </a:avLst>
          </a:prstGeom>
          <a:solidFill>
            <a:srgbClr val="182132"/>
          </a:solidFill>
          <a:ln w="12700">
            <a:solidFill>
              <a:srgbClr val="2A3548"/>
            </a:solidFill>
            <a:prstDash val="solid"/>
          </a:ln>
        </p:spPr>
        <p:txBody>
          <a:bodyPr/>
          <a:lstStyle/>
          <a:p>
            <a:endParaRPr lang="en-US"/>
          </a:p>
        </p:txBody>
      </p:sp>
      <p:sp>
        <p:nvSpPr>
          <p:cNvPr id="15" name="Shape 13"/>
          <p:cNvSpPr/>
          <p:nvPr/>
        </p:nvSpPr>
        <p:spPr>
          <a:xfrm>
            <a:off x="7982712" y="1920240"/>
            <a:ext cx="100584" cy="100584"/>
          </a:xfrm>
          <a:prstGeom prst="ellipse">
            <a:avLst/>
          </a:prstGeom>
          <a:solidFill>
            <a:srgbClr val="E27B66"/>
          </a:solidFill>
          <a:ln/>
        </p:spPr>
        <p:txBody>
          <a:bodyPr/>
          <a:lstStyle/>
          <a:p>
            <a:endParaRPr lang="en-US"/>
          </a:p>
        </p:txBody>
      </p:sp>
      <p:sp>
        <p:nvSpPr>
          <p:cNvPr id="16" name="Shape 14"/>
          <p:cNvSpPr/>
          <p:nvPr/>
        </p:nvSpPr>
        <p:spPr>
          <a:xfrm>
            <a:off x="8156448" y="1920240"/>
            <a:ext cx="100584" cy="100584"/>
          </a:xfrm>
          <a:prstGeom prst="ellipse">
            <a:avLst/>
          </a:prstGeom>
          <a:solidFill>
            <a:srgbClr val="EDA63F"/>
          </a:solidFill>
          <a:ln/>
        </p:spPr>
        <p:txBody>
          <a:bodyPr/>
          <a:lstStyle/>
          <a:p>
            <a:endParaRPr lang="en-US"/>
          </a:p>
        </p:txBody>
      </p:sp>
      <p:sp>
        <p:nvSpPr>
          <p:cNvPr id="17" name="Shape 15"/>
          <p:cNvSpPr/>
          <p:nvPr/>
        </p:nvSpPr>
        <p:spPr>
          <a:xfrm>
            <a:off x="8330184" y="1920240"/>
            <a:ext cx="100584" cy="100584"/>
          </a:xfrm>
          <a:prstGeom prst="ellipse">
            <a:avLst/>
          </a:prstGeom>
          <a:solidFill>
            <a:srgbClr val="58B98A"/>
          </a:solidFill>
          <a:ln/>
        </p:spPr>
        <p:txBody>
          <a:bodyPr/>
          <a:lstStyle/>
          <a:p>
            <a:endParaRPr lang="en-US"/>
          </a:p>
        </p:txBody>
      </p:sp>
      <p:sp>
        <p:nvSpPr>
          <p:cNvPr id="18" name="Text 16"/>
          <p:cNvSpPr txBox="1"/>
          <p:nvPr/>
        </p:nvSpPr>
        <p:spPr>
          <a:xfrm>
            <a:off x="8549640" y="1856232"/>
            <a:ext cx="2816352" cy="219456"/>
          </a:xfrm>
          <a:prstGeom prst="rect">
            <a:avLst/>
          </a:prstGeom>
          <a:noFill/>
          <a:ln/>
        </p:spPr>
        <p:txBody>
          <a:bodyPr wrap="square" lIns="0" tIns="0" rIns="0" bIns="0" rtlCol="0" anchor="t"/>
          <a:lstStyle/>
          <a:p>
            <a:pPr marL="0" indent="0" algn="l">
              <a:buNone/>
            </a:pPr>
            <a:r>
              <a:rPr lang="en-US" sz="900" dirty="0">
                <a:solidFill>
                  <a:srgbClr val="5C6B83"/>
                </a:solidFill>
                <a:latin typeface="Courier New" pitchFamily="34" charset="0"/>
                <a:ea typeface="Courier New" pitchFamily="34" charset="-122"/>
                <a:cs typeface="Courier New" pitchFamily="34" charset="-120"/>
              </a:rPr>
              <a:t>emulator screen</a:t>
            </a:r>
            <a:endParaRPr lang="en-US" sz="900" dirty="0"/>
          </a:p>
        </p:txBody>
      </p:sp>
      <p:sp>
        <p:nvSpPr>
          <p:cNvPr id="19" name="Shape 17"/>
          <p:cNvSpPr/>
          <p:nvPr/>
        </p:nvSpPr>
        <p:spPr>
          <a:xfrm>
            <a:off x="7946136" y="2148840"/>
            <a:ext cx="3474720" cy="2020824"/>
          </a:xfrm>
          <a:prstGeom prst="roundRect">
            <a:avLst>
              <a:gd name="adj" fmla="val 6670"/>
            </a:avLst>
          </a:prstGeom>
          <a:solidFill>
            <a:srgbClr val="070B12"/>
          </a:solidFill>
          <a:ln w="12700">
            <a:solidFill>
              <a:srgbClr val="2B3850"/>
            </a:solidFill>
            <a:prstDash val="solid"/>
          </a:ln>
        </p:spPr>
        <p:txBody>
          <a:bodyPr/>
          <a:lstStyle/>
          <a:p>
            <a:endParaRPr lang="en-US"/>
          </a:p>
        </p:txBody>
      </p:sp>
      <p:sp>
        <p:nvSpPr>
          <p:cNvPr id="20" name="Text 18"/>
          <p:cNvSpPr txBox="1"/>
          <p:nvPr/>
        </p:nvSpPr>
        <p:spPr>
          <a:xfrm>
            <a:off x="8220456" y="2350008"/>
            <a:ext cx="2743200" cy="411480"/>
          </a:xfrm>
          <a:prstGeom prst="rect">
            <a:avLst/>
          </a:prstGeom>
          <a:noFill/>
          <a:ln/>
        </p:spPr>
        <p:txBody>
          <a:bodyPr wrap="square" lIns="0" tIns="0" rIns="0" bIns="0" rtlCol="0" anchor="ctr"/>
          <a:lstStyle/>
          <a:p>
            <a:pPr marL="0" indent="0" algn="l">
              <a:buNone/>
            </a:pPr>
            <a:r>
              <a:rPr lang="en-US" sz="2200" b="1" dirty="0">
                <a:solidFill>
                  <a:srgbClr val="F0F3F8"/>
                </a:solidFill>
                <a:latin typeface="Courier New" pitchFamily="34" charset="0"/>
                <a:ea typeface="Courier New" pitchFamily="34" charset="-122"/>
                <a:cs typeface="Courier New" pitchFamily="34" charset="-120"/>
              </a:rPr>
              <a:t>*****</a:t>
            </a:r>
            <a:endParaRPr lang="en-US" sz="2200" dirty="0"/>
          </a:p>
        </p:txBody>
      </p:sp>
      <p:sp>
        <p:nvSpPr>
          <p:cNvPr id="21" name="Text 19"/>
          <p:cNvSpPr txBox="1"/>
          <p:nvPr/>
        </p:nvSpPr>
        <p:spPr>
          <a:xfrm>
            <a:off x="8220456" y="2825496"/>
            <a:ext cx="2743200" cy="411480"/>
          </a:xfrm>
          <a:prstGeom prst="rect">
            <a:avLst/>
          </a:prstGeom>
          <a:noFill/>
          <a:ln/>
        </p:spPr>
        <p:txBody>
          <a:bodyPr wrap="square" lIns="0" tIns="0" rIns="0" bIns="0" rtlCol="0" anchor="ctr"/>
          <a:lstStyle/>
          <a:p>
            <a:pPr marL="0" indent="0" algn="l">
              <a:buNone/>
            </a:pPr>
            <a:r>
              <a:rPr lang="en-US" sz="2200" b="1" dirty="0">
                <a:solidFill>
                  <a:srgbClr val="F0F3F8"/>
                </a:solidFill>
                <a:latin typeface="Courier New" pitchFamily="34" charset="0"/>
                <a:ea typeface="Courier New" pitchFamily="34" charset="-122"/>
                <a:cs typeface="Courier New" pitchFamily="34" charset="-120"/>
              </a:rPr>
              <a:t>12345</a:t>
            </a:r>
            <a:endParaRPr lang="en-US" sz="2200" dirty="0"/>
          </a:p>
        </p:txBody>
      </p:sp>
      <p:sp>
        <p:nvSpPr>
          <p:cNvPr id="22" name="Shape 20"/>
          <p:cNvSpPr/>
          <p:nvPr/>
        </p:nvSpPr>
        <p:spPr>
          <a:xfrm>
            <a:off x="8238744" y="3355848"/>
            <a:ext cx="128016" cy="301752"/>
          </a:xfrm>
          <a:prstGeom prst="rect">
            <a:avLst/>
          </a:prstGeom>
          <a:solidFill>
            <a:srgbClr val="EDA63F"/>
          </a:solidFill>
          <a:ln/>
        </p:spPr>
        <p:txBody>
          <a:bodyPr/>
          <a:lstStyle/>
          <a:p>
            <a:endParaRPr lang="en-US"/>
          </a:p>
        </p:txBody>
      </p:sp>
      <p:sp>
        <p:nvSpPr>
          <p:cNvPr id="23" name="Text 21"/>
          <p:cNvSpPr txBox="1"/>
          <p:nvPr/>
        </p:nvSpPr>
        <p:spPr>
          <a:xfrm>
            <a:off x="7818120" y="4434840"/>
            <a:ext cx="3730752" cy="256032"/>
          </a:xfrm>
          <a:prstGeom prst="rect">
            <a:avLst/>
          </a:prstGeom>
          <a:noFill/>
          <a:ln/>
        </p:spPr>
        <p:txBody>
          <a:bodyPr wrap="square" lIns="0" tIns="0" rIns="0" bIns="0" rtlCol="0" anchor="t"/>
          <a:lstStyle/>
          <a:p>
            <a:pPr marL="0" indent="0" algn="ctr">
              <a:buNone/>
            </a:pPr>
            <a:r>
              <a:rPr lang="en-US" sz="1100" dirty="0">
                <a:solidFill>
                  <a:srgbClr val="5C6B83"/>
                </a:solidFill>
                <a:latin typeface="Calibri" pitchFamily="34" charset="0"/>
                <a:ea typeface="Calibri" pitchFamily="34" charset="-122"/>
                <a:cs typeface="Calibri" pitchFamily="34" charset="-120"/>
              </a:rPr>
              <a:t>write it once, the loop repeats it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E1420"/>
        </a:solidFill>
        <a:effectLst/>
      </p:bgPr>
    </p:bg>
    <p:spTree>
      <p:nvGrpSpPr>
        <p:cNvPr id="1" name="">
          <a:extLst>
            <a:ext uri="{FF2B5EF4-FFF2-40B4-BE49-F238E27FC236}">
              <a16:creationId xmlns:a16="http://schemas.microsoft.com/office/drawing/2014/main" id="{7BFD375E-94E9-0301-F857-1BD8AFD1D1C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A5C8EA3-00B1-3936-2309-472402F14CCB}"/>
              </a:ext>
            </a:extLst>
          </p:cNvPr>
          <p:cNvSpPr txBox="1"/>
          <p:nvPr/>
        </p:nvSpPr>
        <p:spPr>
          <a:xfrm>
            <a:off x="707923" y="566928"/>
            <a:ext cx="9144000" cy="237744"/>
          </a:xfrm>
          <a:prstGeom prst="rect">
            <a:avLst/>
          </a:prstGeom>
          <a:noFill/>
          <a:ln/>
        </p:spPr>
        <p:txBody>
          <a:bodyPr wrap="square" lIns="0" tIns="0" rIns="0" bIns="0" rtlCol="0" anchor="t"/>
          <a:lstStyle/>
          <a:p>
            <a:pPr marL="0" indent="0" algn="l">
              <a:buNone/>
            </a:pPr>
            <a:r>
              <a:rPr lang="en-US" sz="1050" b="1" kern="0" spc="160" dirty="0">
                <a:solidFill>
                  <a:srgbClr val="5C6B83"/>
                </a:solidFill>
                <a:latin typeface="Courier New" pitchFamily="34" charset="0"/>
                <a:ea typeface="Courier New" pitchFamily="34" charset="-122"/>
                <a:cs typeface="Courier New" pitchFamily="34" charset="-120"/>
              </a:rPr>
              <a:t>LAB 04  ·  8086 ASSEMBLY</a:t>
            </a:r>
            <a:endParaRPr lang="en-US" sz="1050" dirty="0"/>
          </a:p>
        </p:txBody>
      </p:sp>
      <p:sp>
        <p:nvSpPr>
          <p:cNvPr id="3" name="Text 1">
            <a:extLst>
              <a:ext uri="{FF2B5EF4-FFF2-40B4-BE49-F238E27FC236}">
                <a16:creationId xmlns:a16="http://schemas.microsoft.com/office/drawing/2014/main" id="{8F03CB6C-EDFB-7585-DE9C-B9F1F9FA2280}"/>
              </a:ext>
            </a:extLst>
          </p:cNvPr>
          <p:cNvSpPr txBox="1"/>
          <p:nvPr/>
        </p:nvSpPr>
        <p:spPr>
          <a:xfrm>
            <a:off x="640079" y="1417320"/>
            <a:ext cx="10598192" cy="2103120"/>
          </a:xfrm>
          <a:prstGeom prst="rect">
            <a:avLst/>
          </a:prstGeom>
          <a:noFill/>
          <a:ln/>
        </p:spPr>
        <p:txBody>
          <a:bodyPr wrap="square" lIns="0" tIns="0" rIns="0" bIns="0" rtlCol="0" anchor="t"/>
          <a:lstStyle/>
          <a:p>
            <a:pPr lvl="0"/>
            <a:r>
              <a:rPr lang="en-US" sz="3200" b="1" dirty="0">
                <a:solidFill>
                  <a:schemeClr val="accent4"/>
                </a:solidFill>
              </a:rPr>
              <a:t>AX</a:t>
            </a:r>
            <a:r>
              <a:rPr lang="en-US" sz="3200" b="1" dirty="0">
                <a:solidFill>
                  <a:schemeClr val="bg1"/>
                </a:solidFill>
              </a:rPr>
              <a:t>:</a:t>
            </a:r>
            <a:r>
              <a:rPr lang="en-US" sz="3200" dirty="0">
                <a:solidFill>
                  <a:schemeClr val="bg1"/>
                </a:solidFill>
              </a:rPr>
              <a:t> </a:t>
            </a:r>
            <a:r>
              <a:rPr lang="en-US" sz="3200" b="1" dirty="0">
                <a:solidFill>
                  <a:schemeClr val="accent2"/>
                </a:solidFill>
              </a:rPr>
              <a:t>Accumulator</a:t>
            </a:r>
            <a:r>
              <a:rPr lang="en-US" sz="3200" dirty="0">
                <a:solidFill>
                  <a:schemeClr val="accent2"/>
                </a:solidFill>
              </a:rPr>
              <a:t> Register</a:t>
            </a:r>
            <a:r>
              <a:rPr lang="en-US" sz="3200" dirty="0">
                <a:solidFill>
                  <a:schemeClr val="bg1"/>
                </a:solidFill>
              </a:rPr>
              <a:t> (used in arithmetic, logic, and I/O operations)</a:t>
            </a:r>
          </a:p>
          <a:p>
            <a:pPr lvl="0"/>
            <a:r>
              <a:rPr lang="en-US" sz="3200" b="1" dirty="0">
                <a:solidFill>
                  <a:schemeClr val="accent4"/>
                </a:solidFill>
              </a:rPr>
              <a:t>BX</a:t>
            </a:r>
            <a:r>
              <a:rPr lang="en-US" sz="3200" b="1" dirty="0">
                <a:solidFill>
                  <a:schemeClr val="bg1"/>
                </a:solidFill>
              </a:rPr>
              <a:t>:</a:t>
            </a:r>
            <a:r>
              <a:rPr lang="en-US" sz="3200" dirty="0">
                <a:solidFill>
                  <a:schemeClr val="bg1"/>
                </a:solidFill>
              </a:rPr>
              <a:t> </a:t>
            </a:r>
            <a:r>
              <a:rPr lang="en-US" sz="3200" b="1" dirty="0">
                <a:solidFill>
                  <a:schemeClr val="accent2"/>
                </a:solidFill>
              </a:rPr>
              <a:t>Base</a:t>
            </a:r>
            <a:r>
              <a:rPr lang="en-US" sz="3200" dirty="0">
                <a:solidFill>
                  <a:schemeClr val="accent2"/>
                </a:solidFill>
              </a:rPr>
              <a:t> Register </a:t>
            </a:r>
            <a:r>
              <a:rPr lang="en-US" sz="3200" dirty="0">
                <a:solidFill>
                  <a:schemeClr val="bg1"/>
                </a:solidFill>
              </a:rPr>
              <a:t>(used as a memory pointer or offset storage)</a:t>
            </a:r>
          </a:p>
          <a:p>
            <a:pPr lvl="0"/>
            <a:r>
              <a:rPr lang="en-US" sz="3200" b="1" dirty="0">
                <a:solidFill>
                  <a:schemeClr val="accent4"/>
                </a:solidFill>
              </a:rPr>
              <a:t>CX</a:t>
            </a:r>
            <a:r>
              <a:rPr lang="en-US" sz="3200" b="1" dirty="0">
                <a:solidFill>
                  <a:schemeClr val="bg1"/>
                </a:solidFill>
              </a:rPr>
              <a:t>:</a:t>
            </a:r>
            <a:r>
              <a:rPr lang="en-US" sz="3200" dirty="0">
                <a:solidFill>
                  <a:schemeClr val="bg1"/>
                </a:solidFill>
              </a:rPr>
              <a:t> </a:t>
            </a:r>
            <a:r>
              <a:rPr lang="en-US" sz="3200" b="1" dirty="0">
                <a:solidFill>
                  <a:schemeClr val="accent2"/>
                </a:solidFill>
              </a:rPr>
              <a:t>Counter</a:t>
            </a:r>
            <a:r>
              <a:rPr lang="en-US" sz="3200" dirty="0">
                <a:solidFill>
                  <a:schemeClr val="accent2"/>
                </a:solidFill>
              </a:rPr>
              <a:t> Register </a:t>
            </a:r>
            <a:r>
              <a:rPr lang="en-US" sz="3200" dirty="0">
                <a:solidFill>
                  <a:schemeClr val="bg1"/>
                </a:solidFill>
              </a:rPr>
              <a:t>(used as a loop counter and in shift/rotate instructions)</a:t>
            </a:r>
          </a:p>
          <a:p>
            <a:pPr lvl="0"/>
            <a:r>
              <a:rPr lang="en-US" sz="3200" b="1" dirty="0">
                <a:solidFill>
                  <a:schemeClr val="accent4"/>
                </a:solidFill>
              </a:rPr>
              <a:t>DX</a:t>
            </a:r>
            <a:r>
              <a:rPr lang="en-US" sz="3200" b="1" dirty="0">
                <a:solidFill>
                  <a:schemeClr val="bg1"/>
                </a:solidFill>
              </a:rPr>
              <a:t>:</a:t>
            </a:r>
            <a:r>
              <a:rPr lang="en-US" sz="3200" dirty="0">
                <a:solidFill>
                  <a:schemeClr val="bg1"/>
                </a:solidFill>
              </a:rPr>
              <a:t> </a:t>
            </a:r>
            <a:r>
              <a:rPr lang="en-US" sz="3200" b="1" dirty="0">
                <a:solidFill>
                  <a:schemeClr val="accent2"/>
                </a:solidFill>
              </a:rPr>
              <a:t>Data</a:t>
            </a:r>
            <a:r>
              <a:rPr lang="en-US" sz="3200" dirty="0">
                <a:solidFill>
                  <a:schemeClr val="accent2"/>
                </a:solidFill>
              </a:rPr>
              <a:t> Register </a:t>
            </a:r>
            <a:r>
              <a:rPr lang="en-US" sz="3200" dirty="0">
                <a:solidFill>
                  <a:schemeClr val="bg1"/>
                </a:solidFill>
              </a:rPr>
              <a:t>(used in I/O port addressing, multiplication, and division)</a:t>
            </a:r>
          </a:p>
        </p:txBody>
      </p:sp>
    </p:spTree>
    <p:extLst>
      <p:ext uri="{BB962C8B-B14F-4D97-AF65-F5344CB8AC3E}">
        <p14:creationId xmlns:p14="http://schemas.microsoft.com/office/powerpoint/2010/main" val="1517438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marL="0" indent="0" algn="l">
              <a:buNone/>
            </a:pPr>
            <a:r>
              <a:rPr lang="en-US" sz="1050" b="1" kern="0" spc="160" dirty="0">
                <a:solidFill>
                  <a:srgbClr val="93A0B2"/>
                </a:solidFill>
                <a:latin typeface="Courier New" pitchFamily="34" charset="0"/>
                <a:ea typeface="Courier New" pitchFamily="34" charset="-122"/>
                <a:cs typeface="Courier New" pitchFamily="34" charset="-120"/>
              </a:rPr>
              <a:t>1 · WHY LOOPS</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marL="0" indent="0" algn="l">
              <a:buNone/>
            </a:pPr>
            <a:r>
              <a:rPr lang="en-US" sz="3200" b="1" dirty="0">
                <a:solidFill>
                  <a:srgbClr val="0F1622"/>
                </a:solidFill>
                <a:latin typeface="Arial" pitchFamily="34" charset="0"/>
                <a:ea typeface="Arial" pitchFamily="34" charset="-122"/>
                <a:cs typeface="Arial" pitchFamily="34" charset="-120"/>
              </a:rPr>
              <a:t>Five stars, two ways</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marL="0" indent="0" algn="l">
              <a:buNone/>
            </a:pPr>
            <a:r>
              <a:rPr lang="en-US" sz="1500" dirty="0">
                <a:solidFill>
                  <a:srgbClr val="5B6779"/>
                </a:solidFill>
                <a:latin typeface="Calibri" pitchFamily="34" charset="0"/>
                <a:ea typeface="Calibri" pitchFamily="34" charset="-122"/>
                <a:cs typeface="Calibri" pitchFamily="34" charset="-120"/>
              </a:rPr>
              <a:t>Same output. Look at how much code each one needs.</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marL="0" indent="0" algn="l">
              <a:buNone/>
            </a:pPr>
            <a:r>
              <a:rPr lang="en-US" sz="900" kern="0" spc="120" dirty="0">
                <a:solidFill>
                  <a:srgbClr val="93A0B2"/>
                </a:solidFill>
                <a:latin typeface="Courier New" pitchFamily="34" charset="0"/>
                <a:ea typeface="Courier New" pitchFamily="34" charset="-122"/>
                <a:cs typeface="Courier New" pitchFamily="34" charset="-120"/>
              </a:rPr>
              <a:t>COAL  ·  LAB 04</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marL="0" indent="0" algn="r">
              <a:buNone/>
            </a:pPr>
            <a:r>
              <a:rPr lang="en-US" sz="900" dirty="0">
                <a:solidFill>
                  <a:srgbClr val="93A0B2"/>
                </a:solidFill>
                <a:latin typeface="Courier New" pitchFamily="34" charset="0"/>
                <a:ea typeface="Courier New" pitchFamily="34" charset="-122"/>
                <a:cs typeface="Courier New" pitchFamily="34" charset="-120"/>
              </a:rPr>
              <a:t>02</a:t>
            </a:r>
            <a:endParaRPr lang="en-US" sz="900" dirty="0"/>
          </a:p>
        </p:txBody>
      </p:sp>
      <p:sp>
        <p:nvSpPr>
          <p:cNvPr id="7" name="Shape 5"/>
          <p:cNvSpPr/>
          <p:nvPr/>
        </p:nvSpPr>
        <p:spPr>
          <a:xfrm>
            <a:off x="640080" y="1810512"/>
            <a:ext cx="5303520" cy="3310128"/>
          </a:xfrm>
          <a:prstGeom prst="roundRect">
            <a:avLst>
              <a:gd name="adj" fmla="val 6670"/>
            </a:avLst>
          </a:prstGeom>
          <a:solidFill>
            <a:srgbClr val="F8E1DB"/>
          </a:solidFill>
          <a:ln w="12700">
            <a:solidFill>
              <a:srgbClr val="C4543F"/>
            </a:solidFill>
            <a:prstDash val="solid"/>
          </a:ln>
        </p:spPr>
        <p:txBody>
          <a:bodyPr/>
          <a:lstStyle/>
          <a:p>
            <a:endParaRPr lang="en-US"/>
          </a:p>
        </p:txBody>
      </p:sp>
      <p:sp>
        <p:nvSpPr>
          <p:cNvPr id="8" name="Text 6"/>
          <p:cNvSpPr txBox="1"/>
          <p:nvPr/>
        </p:nvSpPr>
        <p:spPr>
          <a:xfrm>
            <a:off x="914400" y="1993392"/>
            <a:ext cx="4754880" cy="219456"/>
          </a:xfrm>
          <a:prstGeom prst="rect">
            <a:avLst/>
          </a:prstGeom>
          <a:noFill/>
          <a:ln/>
        </p:spPr>
        <p:txBody>
          <a:bodyPr wrap="square" lIns="0" tIns="0" rIns="0" bIns="0" rtlCol="0" anchor="t"/>
          <a:lstStyle/>
          <a:p>
            <a:pPr marL="0" indent="0" algn="l">
              <a:buNone/>
            </a:pPr>
            <a:r>
              <a:rPr lang="en-US" sz="950" b="1" kern="0" spc="130" dirty="0">
                <a:solidFill>
                  <a:srgbClr val="C4543F"/>
                </a:solidFill>
                <a:latin typeface="Courier New" pitchFamily="34" charset="0"/>
                <a:ea typeface="Courier New" pitchFamily="34" charset="-122"/>
                <a:cs typeface="Courier New" pitchFamily="34" charset="-120"/>
              </a:rPr>
              <a:t>WITHOUT A LOOP  ·  15 LINES</a:t>
            </a:r>
            <a:endParaRPr lang="en-US" sz="950" dirty="0"/>
          </a:p>
        </p:txBody>
      </p:sp>
      <p:sp>
        <p:nvSpPr>
          <p:cNvPr id="9" name="Shape 7"/>
          <p:cNvSpPr/>
          <p:nvPr/>
        </p:nvSpPr>
        <p:spPr>
          <a:xfrm>
            <a:off x="914400" y="2331720"/>
            <a:ext cx="4754880" cy="2606040"/>
          </a:xfrm>
          <a:prstGeom prst="roundRect">
            <a:avLst>
              <a:gd name="adj" fmla="val 6670"/>
            </a:avLst>
          </a:prstGeom>
          <a:solidFill>
            <a:srgbClr val="121A29"/>
          </a:solidFill>
          <a:ln w="12700">
            <a:solidFill>
              <a:srgbClr val="2B3850"/>
            </a:solidFill>
            <a:prstDash val="solid"/>
          </a:ln>
        </p:spPr>
        <p:txBody>
          <a:bodyPr/>
          <a:lstStyle/>
          <a:p>
            <a:endParaRPr lang="en-US"/>
          </a:p>
        </p:txBody>
      </p:sp>
      <p:sp>
        <p:nvSpPr>
          <p:cNvPr id="10" name="Text 8"/>
          <p:cNvSpPr txBox="1"/>
          <p:nvPr/>
        </p:nvSpPr>
        <p:spPr>
          <a:xfrm>
            <a:off x="1115568" y="2432304"/>
            <a:ext cx="2240280" cy="228600"/>
          </a:xfrm>
          <a:prstGeom prst="rect">
            <a:avLst/>
          </a:prstGeom>
          <a:noFill/>
          <a:ln/>
        </p:spPr>
        <p:txBody>
          <a:bodyPr wrap="square" lIns="0" tIns="0" rIns="0" bIns="0" rtlCol="0" anchor="ctr"/>
          <a:lstStyle/>
          <a:p>
            <a:pPr marL="0" indent="0" algn="l">
              <a:buNone/>
            </a:pPr>
            <a:r>
              <a:rPr lang="en-US" sz="1200" b="1" dirty="0">
                <a:solidFill>
                  <a:srgbClr val="EDA63F"/>
                </a:solidFill>
                <a:latin typeface="Courier New" pitchFamily="34" charset="0"/>
                <a:ea typeface="Courier New" pitchFamily="34" charset="-122"/>
                <a:cs typeface="Courier New" pitchFamily="34" charset="-120"/>
              </a:rPr>
              <a:t>mov</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3EB9CE"/>
                </a:solidFill>
                <a:latin typeface="Courier New" pitchFamily="34" charset="0"/>
                <a:ea typeface="Courier New" pitchFamily="34" charset="-122"/>
                <a:cs typeface="Courier New" pitchFamily="34" charset="-120"/>
              </a:rPr>
              <a:t>dl</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9584E8"/>
                </a:solidFill>
                <a:latin typeface="Courier New" pitchFamily="34" charset="0"/>
                <a:ea typeface="Courier New" pitchFamily="34" charset="-122"/>
                <a:cs typeface="Courier New" pitchFamily="34" charset="-120"/>
              </a:rPr>
              <a:t>'*'</a:t>
            </a:r>
            <a:r>
              <a:rPr lang="en-US" sz="1200" b="1" dirty="0">
                <a:solidFill>
                  <a:srgbClr val="F0F3F8"/>
                </a:solidFill>
                <a:latin typeface="Courier New" pitchFamily="34" charset="0"/>
                <a:ea typeface="Courier New" pitchFamily="34" charset="-122"/>
                <a:cs typeface="Courier New" pitchFamily="34" charset="-120"/>
              </a:rPr>
              <a:t> </a:t>
            </a:r>
            <a:r>
              <a:rPr lang="en-US" sz="1200" dirty="0">
                <a:solidFill>
                  <a:srgbClr val="6B7A93"/>
                </a:solidFill>
                <a:latin typeface="Courier New" pitchFamily="34" charset="0"/>
                <a:ea typeface="Courier New" pitchFamily="34" charset="-122"/>
                <a:cs typeface="Courier New" pitchFamily="34" charset="-120"/>
              </a:rPr>
              <a:t>; star 1</a:t>
            </a:r>
            <a:endParaRPr lang="en-US" sz="1400" dirty="0"/>
          </a:p>
        </p:txBody>
      </p:sp>
      <p:sp>
        <p:nvSpPr>
          <p:cNvPr id="11" name="Text 9"/>
          <p:cNvSpPr txBox="1"/>
          <p:nvPr/>
        </p:nvSpPr>
        <p:spPr>
          <a:xfrm>
            <a:off x="1115568" y="2674620"/>
            <a:ext cx="2240280" cy="228600"/>
          </a:xfrm>
          <a:prstGeom prst="rect">
            <a:avLst/>
          </a:prstGeom>
          <a:noFill/>
          <a:ln/>
        </p:spPr>
        <p:txBody>
          <a:bodyPr wrap="square" lIns="0" tIns="0" rIns="0" bIns="0" rtlCol="0" anchor="ctr"/>
          <a:lstStyle/>
          <a:p>
            <a:pPr marL="0" indent="0" algn="l">
              <a:buNone/>
            </a:pPr>
            <a:r>
              <a:rPr lang="en-US" sz="1200" b="1" dirty="0">
                <a:solidFill>
                  <a:srgbClr val="EDA63F"/>
                </a:solidFill>
                <a:latin typeface="Courier New" pitchFamily="34" charset="0"/>
                <a:ea typeface="Courier New" pitchFamily="34" charset="-122"/>
                <a:cs typeface="Courier New" pitchFamily="34" charset="-120"/>
              </a:rPr>
              <a:t>mov</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3EB9CE"/>
                </a:solidFill>
                <a:latin typeface="Courier New" pitchFamily="34" charset="0"/>
                <a:ea typeface="Courier New" pitchFamily="34" charset="-122"/>
                <a:cs typeface="Courier New" pitchFamily="34" charset="-120"/>
              </a:rPr>
              <a:t>ah</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9584E8"/>
                </a:solidFill>
                <a:latin typeface="Courier New" pitchFamily="34" charset="0"/>
                <a:ea typeface="Courier New" pitchFamily="34" charset="-122"/>
                <a:cs typeface="Courier New" pitchFamily="34" charset="-120"/>
              </a:rPr>
              <a:t>02h</a:t>
            </a:r>
            <a:endParaRPr lang="en-US" sz="1400" dirty="0"/>
          </a:p>
        </p:txBody>
      </p:sp>
      <p:sp>
        <p:nvSpPr>
          <p:cNvPr id="12" name="Text 10"/>
          <p:cNvSpPr txBox="1"/>
          <p:nvPr/>
        </p:nvSpPr>
        <p:spPr>
          <a:xfrm>
            <a:off x="1115568" y="2916936"/>
            <a:ext cx="2240280" cy="228600"/>
          </a:xfrm>
          <a:prstGeom prst="rect">
            <a:avLst/>
          </a:prstGeom>
          <a:noFill/>
          <a:ln/>
        </p:spPr>
        <p:txBody>
          <a:bodyPr wrap="square" lIns="0" tIns="0" rIns="0" bIns="0" rtlCol="0" anchor="ctr"/>
          <a:lstStyle/>
          <a:p>
            <a:pPr marL="0" indent="0" algn="l">
              <a:buNone/>
            </a:pPr>
            <a:r>
              <a:rPr lang="en-US" sz="1200" b="1" dirty="0">
                <a:solidFill>
                  <a:srgbClr val="EDA63F"/>
                </a:solidFill>
                <a:latin typeface="Courier New" pitchFamily="34" charset="0"/>
                <a:ea typeface="Courier New" pitchFamily="34" charset="-122"/>
                <a:cs typeface="Courier New" pitchFamily="34" charset="-120"/>
              </a:rPr>
              <a:t>int</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9584E8"/>
                </a:solidFill>
                <a:latin typeface="Courier New" pitchFamily="34" charset="0"/>
                <a:ea typeface="Courier New" pitchFamily="34" charset="-122"/>
                <a:cs typeface="Courier New" pitchFamily="34" charset="-120"/>
              </a:rPr>
              <a:t>21h</a:t>
            </a:r>
            <a:endParaRPr lang="en-US" sz="1400" dirty="0"/>
          </a:p>
        </p:txBody>
      </p:sp>
      <p:sp>
        <p:nvSpPr>
          <p:cNvPr id="13" name="Text 11"/>
          <p:cNvSpPr txBox="1"/>
          <p:nvPr/>
        </p:nvSpPr>
        <p:spPr>
          <a:xfrm>
            <a:off x="1115568" y="3278124"/>
            <a:ext cx="2240280" cy="228600"/>
          </a:xfrm>
          <a:prstGeom prst="rect">
            <a:avLst/>
          </a:prstGeom>
          <a:noFill/>
          <a:ln/>
        </p:spPr>
        <p:txBody>
          <a:bodyPr wrap="square" lIns="0" tIns="0" rIns="0" bIns="0" rtlCol="0" anchor="ctr"/>
          <a:lstStyle/>
          <a:p>
            <a:pPr marL="0" indent="0" algn="l">
              <a:buNone/>
            </a:pPr>
            <a:r>
              <a:rPr lang="en-US" sz="1200" b="1" dirty="0">
                <a:solidFill>
                  <a:srgbClr val="EDA63F"/>
                </a:solidFill>
                <a:latin typeface="Courier New" pitchFamily="34" charset="0"/>
                <a:ea typeface="Courier New" pitchFamily="34" charset="-122"/>
                <a:cs typeface="Courier New" pitchFamily="34" charset="-120"/>
              </a:rPr>
              <a:t>mov</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3EB9CE"/>
                </a:solidFill>
                <a:latin typeface="Courier New" pitchFamily="34" charset="0"/>
                <a:ea typeface="Courier New" pitchFamily="34" charset="-122"/>
                <a:cs typeface="Courier New" pitchFamily="34" charset="-120"/>
              </a:rPr>
              <a:t>dl</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9584E8"/>
                </a:solidFill>
                <a:latin typeface="Courier New" pitchFamily="34" charset="0"/>
                <a:ea typeface="Courier New" pitchFamily="34" charset="-122"/>
                <a:cs typeface="Courier New" pitchFamily="34" charset="-120"/>
              </a:rPr>
              <a:t>'*'</a:t>
            </a:r>
            <a:r>
              <a:rPr lang="en-US" sz="1200" b="1" dirty="0">
                <a:solidFill>
                  <a:srgbClr val="F0F3F8"/>
                </a:solidFill>
                <a:latin typeface="Courier New" pitchFamily="34" charset="0"/>
                <a:ea typeface="Courier New" pitchFamily="34" charset="-122"/>
                <a:cs typeface="Courier New" pitchFamily="34" charset="-120"/>
              </a:rPr>
              <a:t> </a:t>
            </a:r>
            <a:r>
              <a:rPr lang="en-US" sz="1200" dirty="0">
                <a:solidFill>
                  <a:srgbClr val="6B7A93"/>
                </a:solidFill>
                <a:latin typeface="Courier New" pitchFamily="34" charset="0"/>
                <a:ea typeface="Courier New" pitchFamily="34" charset="-122"/>
                <a:cs typeface="Courier New" pitchFamily="34" charset="-120"/>
              </a:rPr>
              <a:t>; star 2</a:t>
            </a:r>
            <a:endParaRPr lang="en-US" sz="1400" dirty="0"/>
          </a:p>
        </p:txBody>
      </p:sp>
      <p:sp>
        <p:nvSpPr>
          <p:cNvPr id="14" name="Text 12"/>
          <p:cNvSpPr txBox="1"/>
          <p:nvPr/>
        </p:nvSpPr>
        <p:spPr>
          <a:xfrm>
            <a:off x="1115568" y="3520440"/>
            <a:ext cx="2240280" cy="228600"/>
          </a:xfrm>
          <a:prstGeom prst="rect">
            <a:avLst/>
          </a:prstGeom>
          <a:noFill/>
          <a:ln/>
        </p:spPr>
        <p:txBody>
          <a:bodyPr wrap="square" lIns="0" tIns="0" rIns="0" bIns="0" rtlCol="0" anchor="ctr"/>
          <a:lstStyle/>
          <a:p>
            <a:pPr marL="0" indent="0" algn="l">
              <a:buNone/>
            </a:pPr>
            <a:r>
              <a:rPr lang="en-US" sz="1200" b="1" dirty="0">
                <a:solidFill>
                  <a:srgbClr val="EDA63F"/>
                </a:solidFill>
                <a:latin typeface="Courier New" pitchFamily="34" charset="0"/>
                <a:ea typeface="Courier New" pitchFamily="34" charset="-122"/>
                <a:cs typeface="Courier New" pitchFamily="34" charset="-120"/>
              </a:rPr>
              <a:t>mov</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3EB9CE"/>
                </a:solidFill>
                <a:latin typeface="Courier New" pitchFamily="34" charset="0"/>
                <a:ea typeface="Courier New" pitchFamily="34" charset="-122"/>
                <a:cs typeface="Courier New" pitchFamily="34" charset="-120"/>
              </a:rPr>
              <a:t>ah</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9584E8"/>
                </a:solidFill>
                <a:latin typeface="Courier New" pitchFamily="34" charset="0"/>
                <a:ea typeface="Courier New" pitchFamily="34" charset="-122"/>
                <a:cs typeface="Courier New" pitchFamily="34" charset="-120"/>
              </a:rPr>
              <a:t>02h</a:t>
            </a:r>
            <a:endParaRPr lang="en-US" sz="1400" dirty="0"/>
          </a:p>
        </p:txBody>
      </p:sp>
      <p:sp>
        <p:nvSpPr>
          <p:cNvPr id="15" name="Text 13"/>
          <p:cNvSpPr txBox="1"/>
          <p:nvPr/>
        </p:nvSpPr>
        <p:spPr>
          <a:xfrm>
            <a:off x="1115568" y="3762756"/>
            <a:ext cx="2240280" cy="228600"/>
          </a:xfrm>
          <a:prstGeom prst="rect">
            <a:avLst/>
          </a:prstGeom>
          <a:noFill/>
          <a:ln/>
        </p:spPr>
        <p:txBody>
          <a:bodyPr wrap="square" lIns="0" tIns="0" rIns="0" bIns="0" rtlCol="0" anchor="ctr"/>
          <a:lstStyle/>
          <a:p>
            <a:pPr marL="0" indent="0" algn="l">
              <a:buNone/>
            </a:pPr>
            <a:r>
              <a:rPr lang="en-US" sz="1200" b="1" dirty="0">
                <a:solidFill>
                  <a:srgbClr val="EDA63F"/>
                </a:solidFill>
                <a:latin typeface="Courier New" pitchFamily="34" charset="0"/>
                <a:ea typeface="Courier New" pitchFamily="34" charset="-122"/>
                <a:cs typeface="Courier New" pitchFamily="34" charset="-120"/>
              </a:rPr>
              <a:t>int</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9584E8"/>
                </a:solidFill>
                <a:latin typeface="Courier New" pitchFamily="34" charset="0"/>
                <a:ea typeface="Courier New" pitchFamily="34" charset="-122"/>
                <a:cs typeface="Courier New" pitchFamily="34" charset="-120"/>
              </a:rPr>
              <a:t>21h</a:t>
            </a:r>
            <a:endParaRPr lang="en-US" sz="1400" dirty="0"/>
          </a:p>
        </p:txBody>
      </p:sp>
      <p:sp>
        <p:nvSpPr>
          <p:cNvPr id="16" name="Text 14"/>
          <p:cNvSpPr txBox="1"/>
          <p:nvPr/>
        </p:nvSpPr>
        <p:spPr>
          <a:xfrm>
            <a:off x="1115568" y="4123944"/>
            <a:ext cx="2240280" cy="228600"/>
          </a:xfrm>
          <a:prstGeom prst="rect">
            <a:avLst/>
          </a:prstGeom>
          <a:noFill/>
          <a:ln/>
        </p:spPr>
        <p:txBody>
          <a:bodyPr wrap="square" lIns="0" tIns="0" rIns="0" bIns="0" rtlCol="0" anchor="ctr"/>
          <a:lstStyle/>
          <a:p>
            <a:pPr marL="0" indent="0" algn="l">
              <a:buNone/>
            </a:pPr>
            <a:r>
              <a:rPr lang="en-US" sz="1200" b="1" dirty="0">
                <a:solidFill>
                  <a:srgbClr val="EDA63F"/>
                </a:solidFill>
                <a:latin typeface="Courier New" pitchFamily="34" charset="0"/>
                <a:ea typeface="Courier New" pitchFamily="34" charset="-122"/>
                <a:cs typeface="Courier New" pitchFamily="34" charset="-120"/>
              </a:rPr>
              <a:t>mov</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3EB9CE"/>
                </a:solidFill>
                <a:latin typeface="Courier New" pitchFamily="34" charset="0"/>
                <a:ea typeface="Courier New" pitchFamily="34" charset="-122"/>
                <a:cs typeface="Courier New" pitchFamily="34" charset="-120"/>
              </a:rPr>
              <a:t>dl</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9584E8"/>
                </a:solidFill>
                <a:latin typeface="Courier New" pitchFamily="34" charset="0"/>
                <a:ea typeface="Courier New" pitchFamily="34" charset="-122"/>
                <a:cs typeface="Courier New" pitchFamily="34" charset="-120"/>
              </a:rPr>
              <a:t>'*'</a:t>
            </a:r>
            <a:r>
              <a:rPr lang="en-US" sz="1200" b="1" dirty="0">
                <a:solidFill>
                  <a:srgbClr val="F0F3F8"/>
                </a:solidFill>
                <a:latin typeface="Courier New" pitchFamily="34" charset="0"/>
                <a:ea typeface="Courier New" pitchFamily="34" charset="-122"/>
                <a:cs typeface="Courier New" pitchFamily="34" charset="-120"/>
              </a:rPr>
              <a:t> </a:t>
            </a:r>
            <a:r>
              <a:rPr lang="en-US" sz="1200" dirty="0">
                <a:solidFill>
                  <a:srgbClr val="6B7A93"/>
                </a:solidFill>
                <a:latin typeface="Courier New" pitchFamily="34" charset="0"/>
                <a:ea typeface="Courier New" pitchFamily="34" charset="-122"/>
                <a:cs typeface="Courier New" pitchFamily="34" charset="-120"/>
              </a:rPr>
              <a:t>; star 3</a:t>
            </a:r>
            <a:endParaRPr lang="en-US" sz="1400" dirty="0"/>
          </a:p>
        </p:txBody>
      </p:sp>
      <p:sp>
        <p:nvSpPr>
          <p:cNvPr id="17" name="Text 15"/>
          <p:cNvSpPr txBox="1"/>
          <p:nvPr/>
        </p:nvSpPr>
        <p:spPr>
          <a:xfrm>
            <a:off x="1115568" y="4366260"/>
            <a:ext cx="2240280" cy="228600"/>
          </a:xfrm>
          <a:prstGeom prst="rect">
            <a:avLst/>
          </a:prstGeom>
          <a:noFill/>
          <a:ln/>
        </p:spPr>
        <p:txBody>
          <a:bodyPr wrap="square" lIns="0" tIns="0" rIns="0" bIns="0" rtlCol="0" anchor="ctr"/>
          <a:lstStyle/>
          <a:p>
            <a:pPr marL="0" indent="0" algn="l">
              <a:buNone/>
            </a:pPr>
            <a:r>
              <a:rPr lang="en-US" sz="1200" b="1" dirty="0">
                <a:solidFill>
                  <a:srgbClr val="EDA63F"/>
                </a:solidFill>
                <a:latin typeface="Courier New" pitchFamily="34" charset="0"/>
                <a:ea typeface="Courier New" pitchFamily="34" charset="-122"/>
                <a:cs typeface="Courier New" pitchFamily="34" charset="-120"/>
              </a:rPr>
              <a:t>mov</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3EB9CE"/>
                </a:solidFill>
                <a:latin typeface="Courier New" pitchFamily="34" charset="0"/>
                <a:ea typeface="Courier New" pitchFamily="34" charset="-122"/>
                <a:cs typeface="Courier New" pitchFamily="34" charset="-120"/>
              </a:rPr>
              <a:t>ah</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9584E8"/>
                </a:solidFill>
                <a:latin typeface="Courier New" pitchFamily="34" charset="0"/>
                <a:ea typeface="Courier New" pitchFamily="34" charset="-122"/>
                <a:cs typeface="Courier New" pitchFamily="34" charset="-120"/>
              </a:rPr>
              <a:t>02h</a:t>
            </a:r>
            <a:endParaRPr lang="en-US" sz="1400" dirty="0"/>
          </a:p>
        </p:txBody>
      </p:sp>
      <p:sp>
        <p:nvSpPr>
          <p:cNvPr id="18" name="Text 16"/>
          <p:cNvSpPr txBox="1"/>
          <p:nvPr/>
        </p:nvSpPr>
        <p:spPr>
          <a:xfrm>
            <a:off x="1115568" y="4608576"/>
            <a:ext cx="2240280" cy="228600"/>
          </a:xfrm>
          <a:prstGeom prst="rect">
            <a:avLst/>
          </a:prstGeom>
          <a:noFill/>
          <a:ln/>
        </p:spPr>
        <p:txBody>
          <a:bodyPr wrap="square" lIns="0" tIns="0" rIns="0" bIns="0" rtlCol="0" anchor="ctr"/>
          <a:lstStyle/>
          <a:p>
            <a:pPr marL="0" indent="0" algn="l">
              <a:buNone/>
            </a:pPr>
            <a:r>
              <a:rPr lang="en-US" sz="1200" b="1" dirty="0">
                <a:solidFill>
                  <a:srgbClr val="EDA63F"/>
                </a:solidFill>
                <a:latin typeface="Courier New" pitchFamily="34" charset="0"/>
                <a:ea typeface="Courier New" pitchFamily="34" charset="-122"/>
                <a:cs typeface="Courier New" pitchFamily="34" charset="-120"/>
              </a:rPr>
              <a:t>int</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9584E8"/>
                </a:solidFill>
                <a:latin typeface="Courier New" pitchFamily="34" charset="0"/>
                <a:ea typeface="Courier New" pitchFamily="34" charset="-122"/>
                <a:cs typeface="Courier New" pitchFamily="34" charset="-120"/>
              </a:rPr>
              <a:t>21h</a:t>
            </a:r>
            <a:endParaRPr lang="en-US" sz="1400" dirty="0"/>
          </a:p>
        </p:txBody>
      </p:sp>
      <p:sp>
        <p:nvSpPr>
          <p:cNvPr id="19" name="Text 17"/>
          <p:cNvSpPr txBox="1"/>
          <p:nvPr/>
        </p:nvSpPr>
        <p:spPr>
          <a:xfrm>
            <a:off x="3429000" y="2432304"/>
            <a:ext cx="2240280" cy="228600"/>
          </a:xfrm>
          <a:prstGeom prst="rect">
            <a:avLst/>
          </a:prstGeom>
          <a:noFill/>
          <a:ln/>
        </p:spPr>
        <p:txBody>
          <a:bodyPr wrap="square" lIns="0" tIns="0" rIns="0" bIns="0" rtlCol="0" anchor="ctr"/>
          <a:lstStyle/>
          <a:p>
            <a:pPr marL="0" indent="0" algn="l">
              <a:buNone/>
            </a:pPr>
            <a:r>
              <a:rPr lang="en-US" sz="1200" b="1" dirty="0">
                <a:solidFill>
                  <a:srgbClr val="EDA63F"/>
                </a:solidFill>
                <a:latin typeface="Courier New" pitchFamily="34" charset="0"/>
                <a:ea typeface="Courier New" pitchFamily="34" charset="-122"/>
                <a:cs typeface="Courier New" pitchFamily="34" charset="-120"/>
              </a:rPr>
              <a:t>mov</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3EB9CE"/>
                </a:solidFill>
                <a:latin typeface="Courier New" pitchFamily="34" charset="0"/>
                <a:ea typeface="Courier New" pitchFamily="34" charset="-122"/>
                <a:cs typeface="Courier New" pitchFamily="34" charset="-120"/>
              </a:rPr>
              <a:t>dl</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9584E8"/>
                </a:solidFill>
                <a:latin typeface="Courier New" pitchFamily="34" charset="0"/>
                <a:ea typeface="Courier New" pitchFamily="34" charset="-122"/>
                <a:cs typeface="Courier New" pitchFamily="34" charset="-120"/>
              </a:rPr>
              <a:t>'*'</a:t>
            </a:r>
            <a:r>
              <a:rPr lang="en-US" sz="1200" b="1" dirty="0">
                <a:solidFill>
                  <a:srgbClr val="F0F3F8"/>
                </a:solidFill>
                <a:latin typeface="Courier New" pitchFamily="34" charset="0"/>
                <a:ea typeface="Courier New" pitchFamily="34" charset="-122"/>
                <a:cs typeface="Courier New" pitchFamily="34" charset="-120"/>
              </a:rPr>
              <a:t> </a:t>
            </a:r>
            <a:r>
              <a:rPr lang="en-US" sz="1200" dirty="0">
                <a:solidFill>
                  <a:srgbClr val="6B7A93"/>
                </a:solidFill>
                <a:latin typeface="Courier New" pitchFamily="34" charset="0"/>
                <a:ea typeface="Courier New" pitchFamily="34" charset="-122"/>
                <a:cs typeface="Courier New" pitchFamily="34" charset="-120"/>
              </a:rPr>
              <a:t>; star 4</a:t>
            </a:r>
            <a:endParaRPr lang="en-US" sz="1400" dirty="0"/>
          </a:p>
        </p:txBody>
      </p:sp>
      <p:sp>
        <p:nvSpPr>
          <p:cNvPr id="20" name="Text 18"/>
          <p:cNvSpPr txBox="1"/>
          <p:nvPr/>
        </p:nvSpPr>
        <p:spPr>
          <a:xfrm>
            <a:off x="3429000" y="2674620"/>
            <a:ext cx="2240280" cy="228600"/>
          </a:xfrm>
          <a:prstGeom prst="rect">
            <a:avLst/>
          </a:prstGeom>
          <a:noFill/>
          <a:ln/>
        </p:spPr>
        <p:txBody>
          <a:bodyPr wrap="square" lIns="0" tIns="0" rIns="0" bIns="0" rtlCol="0" anchor="ctr"/>
          <a:lstStyle/>
          <a:p>
            <a:pPr marL="0" indent="0" algn="l">
              <a:buNone/>
            </a:pPr>
            <a:r>
              <a:rPr lang="en-US" sz="1200" b="1" dirty="0">
                <a:solidFill>
                  <a:srgbClr val="EDA63F"/>
                </a:solidFill>
                <a:latin typeface="Courier New" pitchFamily="34" charset="0"/>
                <a:ea typeface="Courier New" pitchFamily="34" charset="-122"/>
                <a:cs typeface="Courier New" pitchFamily="34" charset="-120"/>
              </a:rPr>
              <a:t>mov</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3EB9CE"/>
                </a:solidFill>
                <a:latin typeface="Courier New" pitchFamily="34" charset="0"/>
                <a:ea typeface="Courier New" pitchFamily="34" charset="-122"/>
                <a:cs typeface="Courier New" pitchFamily="34" charset="-120"/>
              </a:rPr>
              <a:t>ah</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9584E8"/>
                </a:solidFill>
                <a:latin typeface="Courier New" pitchFamily="34" charset="0"/>
                <a:ea typeface="Courier New" pitchFamily="34" charset="-122"/>
                <a:cs typeface="Courier New" pitchFamily="34" charset="-120"/>
              </a:rPr>
              <a:t>02h</a:t>
            </a:r>
            <a:endParaRPr lang="en-US" sz="1400" dirty="0"/>
          </a:p>
        </p:txBody>
      </p:sp>
      <p:sp>
        <p:nvSpPr>
          <p:cNvPr id="21" name="Text 19"/>
          <p:cNvSpPr txBox="1"/>
          <p:nvPr/>
        </p:nvSpPr>
        <p:spPr>
          <a:xfrm>
            <a:off x="3429000" y="2916936"/>
            <a:ext cx="2240280" cy="228600"/>
          </a:xfrm>
          <a:prstGeom prst="rect">
            <a:avLst/>
          </a:prstGeom>
          <a:noFill/>
          <a:ln/>
        </p:spPr>
        <p:txBody>
          <a:bodyPr wrap="square" lIns="0" tIns="0" rIns="0" bIns="0" rtlCol="0" anchor="ctr"/>
          <a:lstStyle/>
          <a:p>
            <a:pPr marL="0" indent="0" algn="l">
              <a:buNone/>
            </a:pPr>
            <a:r>
              <a:rPr lang="en-US" sz="1200" b="1" dirty="0">
                <a:solidFill>
                  <a:srgbClr val="EDA63F"/>
                </a:solidFill>
                <a:latin typeface="Courier New" pitchFamily="34" charset="0"/>
                <a:ea typeface="Courier New" pitchFamily="34" charset="-122"/>
                <a:cs typeface="Courier New" pitchFamily="34" charset="-120"/>
              </a:rPr>
              <a:t>int</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9584E8"/>
                </a:solidFill>
                <a:latin typeface="Courier New" pitchFamily="34" charset="0"/>
                <a:ea typeface="Courier New" pitchFamily="34" charset="-122"/>
                <a:cs typeface="Courier New" pitchFamily="34" charset="-120"/>
              </a:rPr>
              <a:t>21h</a:t>
            </a:r>
            <a:endParaRPr lang="en-US" sz="1400" dirty="0"/>
          </a:p>
        </p:txBody>
      </p:sp>
      <p:sp>
        <p:nvSpPr>
          <p:cNvPr id="22" name="Text 20"/>
          <p:cNvSpPr txBox="1"/>
          <p:nvPr/>
        </p:nvSpPr>
        <p:spPr>
          <a:xfrm>
            <a:off x="3429000" y="3278124"/>
            <a:ext cx="2240280" cy="228600"/>
          </a:xfrm>
          <a:prstGeom prst="rect">
            <a:avLst/>
          </a:prstGeom>
          <a:noFill/>
          <a:ln/>
        </p:spPr>
        <p:txBody>
          <a:bodyPr wrap="square" lIns="0" tIns="0" rIns="0" bIns="0" rtlCol="0" anchor="ctr"/>
          <a:lstStyle/>
          <a:p>
            <a:pPr marL="0" indent="0" algn="l">
              <a:buNone/>
            </a:pPr>
            <a:r>
              <a:rPr lang="en-US" sz="1200" b="1" dirty="0">
                <a:solidFill>
                  <a:srgbClr val="EDA63F"/>
                </a:solidFill>
                <a:latin typeface="Courier New" pitchFamily="34" charset="0"/>
                <a:ea typeface="Courier New" pitchFamily="34" charset="-122"/>
                <a:cs typeface="Courier New" pitchFamily="34" charset="-120"/>
              </a:rPr>
              <a:t>mov</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3EB9CE"/>
                </a:solidFill>
                <a:latin typeface="Courier New" pitchFamily="34" charset="0"/>
                <a:ea typeface="Courier New" pitchFamily="34" charset="-122"/>
                <a:cs typeface="Courier New" pitchFamily="34" charset="-120"/>
              </a:rPr>
              <a:t>dl</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9584E8"/>
                </a:solidFill>
                <a:latin typeface="Courier New" pitchFamily="34" charset="0"/>
                <a:ea typeface="Courier New" pitchFamily="34" charset="-122"/>
                <a:cs typeface="Courier New" pitchFamily="34" charset="-120"/>
              </a:rPr>
              <a:t>'*'</a:t>
            </a:r>
            <a:r>
              <a:rPr lang="en-US" sz="1200" b="1" dirty="0">
                <a:solidFill>
                  <a:srgbClr val="F0F3F8"/>
                </a:solidFill>
                <a:latin typeface="Courier New" pitchFamily="34" charset="0"/>
                <a:ea typeface="Courier New" pitchFamily="34" charset="-122"/>
                <a:cs typeface="Courier New" pitchFamily="34" charset="-120"/>
              </a:rPr>
              <a:t> </a:t>
            </a:r>
            <a:r>
              <a:rPr lang="en-US" sz="1200" dirty="0">
                <a:solidFill>
                  <a:srgbClr val="6B7A93"/>
                </a:solidFill>
                <a:latin typeface="Courier New" pitchFamily="34" charset="0"/>
                <a:ea typeface="Courier New" pitchFamily="34" charset="-122"/>
                <a:cs typeface="Courier New" pitchFamily="34" charset="-120"/>
              </a:rPr>
              <a:t>; star 5</a:t>
            </a:r>
            <a:endParaRPr lang="en-US" sz="1400" dirty="0"/>
          </a:p>
        </p:txBody>
      </p:sp>
      <p:sp>
        <p:nvSpPr>
          <p:cNvPr id="23" name="Text 21"/>
          <p:cNvSpPr txBox="1"/>
          <p:nvPr/>
        </p:nvSpPr>
        <p:spPr>
          <a:xfrm>
            <a:off x="3429000" y="3520440"/>
            <a:ext cx="2240280" cy="228600"/>
          </a:xfrm>
          <a:prstGeom prst="rect">
            <a:avLst/>
          </a:prstGeom>
          <a:noFill/>
          <a:ln/>
        </p:spPr>
        <p:txBody>
          <a:bodyPr wrap="square" lIns="0" tIns="0" rIns="0" bIns="0" rtlCol="0" anchor="ctr"/>
          <a:lstStyle/>
          <a:p>
            <a:pPr marL="0" indent="0" algn="l">
              <a:buNone/>
            </a:pPr>
            <a:r>
              <a:rPr lang="en-US" sz="1200" b="1" dirty="0">
                <a:solidFill>
                  <a:srgbClr val="EDA63F"/>
                </a:solidFill>
                <a:latin typeface="Courier New" pitchFamily="34" charset="0"/>
                <a:ea typeface="Courier New" pitchFamily="34" charset="-122"/>
                <a:cs typeface="Courier New" pitchFamily="34" charset="-120"/>
              </a:rPr>
              <a:t>mov</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3EB9CE"/>
                </a:solidFill>
                <a:latin typeface="Courier New" pitchFamily="34" charset="0"/>
                <a:ea typeface="Courier New" pitchFamily="34" charset="-122"/>
                <a:cs typeface="Courier New" pitchFamily="34" charset="-120"/>
              </a:rPr>
              <a:t>ah</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9584E8"/>
                </a:solidFill>
                <a:latin typeface="Courier New" pitchFamily="34" charset="0"/>
                <a:ea typeface="Courier New" pitchFamily="34" charset="-122"/>
                <a:cs typeface="Courier New" pitchFamily="34" charset="-120"/>
              </a:rPr>
              <a:t>02h</a:t>
            </a:r>
            <a:endParaRPr lang="en-US" sz="1400" dirty="0"/>
          </a:p>
        </p:txBody>
      </p:sp>
      <p:sp>
        <p:nvSpPr>
          <p:cNvPr id="24" name="Text 22"/>
          <p:cNvSpPr txBox="1"/>
          <p:nvPr/>
        </p:nvSpPr>
        <p:spPr>
          <a:xfrm>
            <a:off x="3429000" y="3762756"/>
            <a:ext cx="2240280" cy="228600"/>
          </a:xfrm>
          <a:prstGeom prst="rect">
            <a:avLst/>
          </a:prstGeom>
          <a:noFill/>
          <a:ln/>
        </p:spPr>
        <p:txBody>
          <a:bodyPr wrap="square" lIns="0" tIns="0" rIns="0" bIns="0" rtlCol="0" anchor="ctr"/>
          <a:lstStyle/>
          <a:p>
            <a:pPr marL="0" indent="0" algn="l">
              <a:buNone/>
            </a:pPr>
            <a:r>
              <a:rPr lang="en-US" sz="1200" b="1" dirty="0">
                <a:solidFill>
                  <a:srgbClr val="EDA63F"/>
                </a:solidFill>
                <a:latin typeface="Courier New" pitchFamily="34" charset="0"/>
                <a:ea typeface="Courier New" pitchFamily="34" charset="-122"/>
                <a:cs typeface="Courier New" pitchFamily="34" charset="-120"/>
              </a:rPr>
              <a:t>int</a:t>
            </a:r>
            <a:r>
              <a:rPr lang="en-US" sz="1200" b="1" dirty="0">
                <a:solidFill>
                  <a:srgbClr val="F0F3F8"/>
                </a:solidFill>
                <a:latin typeface="Courier New" pitchFamily="34" charset="0"/>
                <a:ea typeface="Courier New" pitchFamily="34" charset="-122"/>
                <a:cs typeface="Courier New" pitchFamily="34" charset="-120"/>
              </a:rPr>
              <a:t> </a:t>
            </a:r>
            <a:r>
              <a:rPr lang="en-US" sz="1200" b="1" dirty="0">
                <a:solidFill>
                  <a:srgbClr val="9584E8"/>
                </a:solidFill>
                <a:latin typeface="Courier New" pitchFamily="34" charset="0"/>
                <a:ea typeface="Courier New" pitchFamily="34" charset="-122"/>
                <a:cs typeface="Courier New" pitchFamily="34" charset="-120"/>
              </a:rPr>
              <a:t>21h</a:t>
            </a:r>
            <a:endParaRPr lang="en-US" sz="1400" dirty="0"/>
          </a:p>
        </p:txBody>
      </p:sp>
      <p:sp>
        <p:nvSpPr>
          <p:cNvPr id="25" name="Shape 23"/>
          <p:cNvSpPr/>
          <p:nvPr/>
        </p:nvSpPr>
        <p:spPr>
          <a:xfrm>
            <a:off x="6245352" y="1810512"/>
            <a:ext cx="5303520" cy="3310128"/>
          </a:xfrm>
          <a:prstGeom prst="roundRect">
            <a:avLst>
              <a:gd name="adj" fmla="val 6670"/>
            </a:avLst>
          </a:prstGeom>
          <a:solidFill>
            <a:srgbClr val="DBEDE3"/>
          </a:solidFill>
          <a:ln w="12700">
            <a:solidFill>
              <a:srgbClr val="37865F"/>
            </a:solidFill>
            <a:prstDash val="solid"/>
          </a:ln>
        </p:spPr>
        <p:txBody>
          <a:bodyPr/>
          <a:lstStyle/>
          <a:p>
            <a:endParaRPr lang="en-US"/>
          </a:p>
        </p:txBody>
      </p:sp>
      <p:sp>
        <p:nvSpPr>
          <p:cNvPr id="26" name="Text 24"/>
          <p:cNvSpPr txBox="1"/>
          <p:nvPr/>
        </p:nvSpPr>
        <p:spPr>
          <a:xfrm>
            <a:off x="6519672" y="1993392"/>
            <a:ext cx="4754880" cy="219456"/>
          </a:xfrm>
          <a:prstGeom prst="rect">
            <a:avLst/>
          </a:prstGeom>
          <a:noFill/>
          <a:ln/>
        </p:spPr>
        <p:txBody>
          <a:bodyPr wrap="square" lIns="0" tIns="0" rIns="0" bIns="0" rtlCol="0" anchor="t"/>
          <a:lstStyle/>
          <a:p>
            <a:pPr marL="0" indent="0" algn="l">
              <a:buNone/>
            </a:pPr>
            <a:r>
              <a:rPr lang="en-US" sz="950" b="1" kern="0" spc="130" dirty="0">
                <a:solidFill>
                  <a:srgbClr val="37865F"/>
                </a:solidFill>
                <a:latin typeface="Courier New" pitchFamily="34" charset="0"/>
                <a:ea typeface="Courier New" pitchFamily="34" charset="-122"/>
                <a:cs typeface="Courier New" pitchFamily="34" charset="-120"/>
              </a:rPr>
              <a:t>WITH A LOOP  ·  WRITE IT ONCE</a:t>
            </a:r>
            <a:endParaRPr lang="en-US" sz="950" dirty="0"/>
          </a:p>
        </p:txBody>
      </p:sp>
      <p:sp>
        <p:nvSpPr>
          <p:cNvPr id="27" name="Shape 25"/>
          <p:cNvSpPr/>
          <p:nvPr/>
        </p:nvSpPr>
        <p:spPr>
          <a:xfrm>
            <a:off x="6519672" y="2331720"/>
            <a:ext cx="2971800" cy="1325880"/>
          </a:xfrm>
          <a:prstGeom prst="roundRect">
            <a:avLst>
              <a:gd name="adj" fmla="val 6670"/>
            </a:avLst>
          </a:prstGeom>
          <a:solidFill>
            <a:srgbClr val="121A29"/>
          </a:solidFill>
          <a:ln w="12700">
            <a:solidFill>
              <a:srgbClr val="2B3850"/>
            </a:solidFill>
            <a:prstDash val="solid"/>
          </a:ln>
        </p:spPr>
        <p:txBody>
          <a:bodyPr/>
          <a:lstStyle/>
          <a:p>
            <a:endParaRPr lang="en-US"/>
          </a:p>
        </p:txBody>
      </p:sp>
      <p:sp>
        <p:nvSpPr>
          <p:cNvPr id="28" name="Text 26"/>
          <p:cNvSpPr txBox="1"/>
          <p:nvPr/>
        </p:nvSpPr>
        <p:spPr>
          <a:xfrm>
            <a:off x="6766560" y="2432304"/>
            <a:ext cx="2743200" cy="365760"/>
          </a:xfrm>
          <a:prstGeom prst="rect">
            <a:avLst/>
          </a:prstGeom>
          <a:noFill/>
          <a:ln/>
        </p:spPr>
        <p:txBody>
          <a:bodyPr wrap="square" lIns="0" tIns="0" rIns="0" bIns="0" rtlCol="0" anchor="ctr"/>
          <a:lstStyle/>
          <a:p>
            <a:pPr marL="0" indent="0" algn="l">
              <a:buNone/>
            </a:pPr>
            <a:r>
              <a:rPr lang="en-US" sz="1800" b="1" dirty="0">
                <a:solidFill>
                  <a:srgbClr val="EDA63F"/>
                </a:solidFill>
                <a:latin typeface="Courier New" pitchFamily="34" charset="0"/>
                <a:ea typeface="Courier New" pitchFamily="34" charset="-122"/>
                <a:cs typeface="Courier New" pitchFamily="34" charset="-120"/>
              </a:rPr>
              <a:t>mov</a:t>
            </a:r>
            <a:r>
              <a:rPr lang="en-US" sz="1800" b="1" dirty="0">
                <a:solidFill>
                  <a:srgbClr val="F0F3F8"/>
                </a:solidFill>
                <a:latin typeface="Courier New" pitchFamily="34" charset="0"/>
                <a:ea typeface="Courier New" pitchFamily="34" charset="-122"/>
                <a:cs typeface="Courier New" pitchFamily="34" charset="-120"/>
              </a:rPr>
              <a:t> </a:t>
            </a:r>
            <a:r>
              <a:rPr lang="en-US" sz="1800" b="1" dirty="0">
                <a:solidFill>
                  <a:srgbClr val="3EB9CE"/>
                </a:solidFill>
                <a:latin typeface="Courier New" pitchFamily="34" charset="0"/>
                <a:ea typeface="Courier New" pitchFamily="34" charset="-122"/>
                <a:cs typeface="Courier New" pitchFamily="34" charset="-120"/>
              </a:rPr>
              <a:t>dl</a:t>
            </a:r>
            <a:r>
              <a:rPr lang="en-US" sz="1800" b="1" dirty="0">
                <a:solidFill>
                  <a:srgbClr val="F0F3F8"/>
                </a:solidFill>
                <a:latin typeface="Courier New" pitchFamily="34" charset="0"/>
                <a:ea typeface="Courier New" pitchFamily="34" charset="-122"/>
                <a:cs typeface="Courier New" pitchFamily="34" charset="-120"/>
              </a:rPr>
              <a:t>, </a:t>
            </a:r>
            <a:r>
              <a:rPr lang="en-US" sz="1800" b="1" dirty="0">
                <a:solidFill>
                  <a:srgbClr val="9584E8"/>
                </a:solidFill>
                <a:latin typeface="Courier New" pitchFamily="34" charset="0"/>
                <a:ea typeface="Courier New" pitchFamily="34" charset="-122"/>
                <a:cs typeface="Courier New" pitchFamily="34" charset="-120"/>
              </a:rPr>
              <a:t>'*'</a:t>
            </a:r>
            <a:endParaRPr lang="en-US" sz="1400" dirty="0"/>
          </a:p>
        </p:txBody>
      </p:sp>
      <p:sp>
        <p:nvSpPr>
          <p:cNvPr id="29" name="Text 27"/>
          <p:cNvSpPr txBox="1"/>
          <p:nvPr/>
        </p:nvSpPr>
        <p:spPr>
          <a:xfrm>
            <a:off x="6766560" y="2816352"/>
            <a:ext cx="2743200" cy="365760"/>
          </a:xfrm>
          <a:prstGeom prst="rect">
            <a:avLst/>
          </a:prstGeom>
          <a:noFill/>
          <a:ln/>
        </p:spPr>
        <p:txBody>
          <a:bodyPr wrap="square" lIns="0" tIns="0" rIns="0" bIns="0" rtlCol="0" anchor="ctr"/>
          <a:lstStyle/>
          <a:p>
            <a:pPr marL="0" indent="0" algn="l">
              <a:buNone/>
            </a:pPr>
            <a:r>
              <a:rPr lang="en-US" sz="1800" b="1" dirty="0">
                <a:solidFill>
                  <a:srgbClr val="EDA63F"/>
                </a:solidFill>
                <a:latin typeface="Courier New" pitchFamily="34" charset="0"/>
                <a:ea typeface="Courier New" pitchFamily="34" charset="-122"/>
                <a:cs typeface="Courier New" pitchFamily="34" charset="-120"/>
              </a:rPr>
              <a:t>mov</a:t>
            </a:r>
            <a:r>
              <a:rPr lang="en-US" sz="1800" b="1" dirty="0">
                <a:solidFill>
                  <a:srgbClr val="F0F3F8"/>
                </a:solidFill>
                <a:latin typeface="Courier New" pitchFamily="34" charset="0"/>
                <a:ea typeface="Courier New" pitchFamily="34" charset="-122"/>
                <a:cs typeface="Courier New" pitchFamily="34" charset="-120"/>
              </a:rPr>
              <a:t> </a:t>
            </a:r>
            <a:r>
              <a:rPr lang="en-US" sz="1800" b="1" dirty="0">
                <a:solidFill>
                  <a:srgbClr val="3EB9CE"/>
                </a:solidFill>
                <a:latin typeface="Courier New" pitchFamily="34" charset="0"/>
                <a:ea typeface="Courier New" pitchFamily="34" charset="-122"/>
                <a:cs typeface="Courier New" pitchFamily="34" charset="-120"/>
              </a:rPr>
              <a:t>ah</a:t>
            </a:r>
            <a:r>
              <a:rPr lang="en-US" sz="1800" b="1" dirty="0">
                <a:solidFill>
                  <a:srgbClr val="F0F3F8"/>
                </a:solidFill>
                <a:latin typeface="Courier New" pitchFamily="34" charset="0"/>
                <a:ea typeface="Courier New" pitchFamily="34" charset="-122"/>
                <a:cs typeface="Courier New" pitchFamily="34" charset="-120"/>
              </a:rPr>
              <a:t>, </a:t>
            </a:r>
            <a:r>
              <a:rPr lang="en-US" sz="1800" b="1" dirty="0">
                <a:solidFill>
                  <a:srgbClr val="9584E8"/>
                </a:solidFill>
                <a:latin typeface="Courier New" pitchFamily="34" charset="0"/>
                <a:ea typeface="Courier New" pitchFamily="34" charset="-122"/>
                <a:cs typeface="Courier New" pitchFamily="34" charset="-120"/>
              </a:rPr>
              <a:t>02h</a:t>
            </a:r>
            <a:endParaRPr lang="en-US" sz="1400" dirty="0"/>
          </a:p>
        </p:txBody>
      </p:sp>
      <p:sp>
        <p:nvSpPr>
          <p:cNvPr id="30" name="Text 28"/>
          <p:cNvSpPr txBox="1"/>
          <p:nvPr/>
        </p:nvSpPr>
        <p:spPr>
          <a:xfrm>
            <a:off x="6766560" y="3200400"/>
            <a:ext cx="2743200" cy="365760"/>
          </a:xfrm>
          <a:prstGeom prst="rect">
            <a:avLst/>
          </a:prstGeom>
          <a:noFill/>
          <a:ln/>
        </p:spPr>
        <p:txBody>
          <a:bodyPr wrap="square" lIns="0" tIns="0" rIns="0" bIns="0" rtlCol="0" anchor="ctr"/>
          <a:lstStyle/>
          <a:p>
            <a:pPr marL="0" indent="0" algn="l">
              <a:buNone/>
            </a:pPr>
            <a:r>
              <a:rPr lang="en-US" sz="1800" b="1" dirty="0">
                <a:solidFill>
                  <a:srgbClr val="EDA63F"/>
                </a:solidFill>
                <a:latin typeface="Courier New" pitchFamily="34" charset="0"/>
                <a:ea typeface="Courier New" pitchFamily="34" charset="-122"/>
                <a:cs typeface="Courier New" pitchFamily="34" charset="-120"/>
              </a:rPr>
              <a:t>int</a:t>
            </a:r>
            <a:r>
              <a:rPr lang="en-US" sz="1800" b="1" dirty="0">
                <a:solidFill>
                  <a:srgbClr val="F0F3F8"/>
                </a:solidFill>
                <a:latin typeface="Courier New" pitchFamily="34" charset="0"/>
                <a:ea typeface="Courier New" pitchFamily="34" charset="-122"/>
                <a:cs typeface="Courier New" pitchFamily="34" charset="-120"/>
              </a:rPr>
              <a:t> </a:t>
            </a:r>
            <a:r>
              <a:rPr lang="en-US" sz="1800" b="1" dirty="0">
                <a:solidFill>
                  <a:srgbClr val="9584E8"/>
                </a:solidFill>
                <a:latin typeface="Courier New" pitchFamily="34" charset="0"/>
                <a:ea typeface="Courier New" pitchFamily="34" charset="-122"/>
                <a:cs typeface="Courier New" pitchFamily="34" charset="-120"/>
              </a:rPr>
              <a:t>21h</a:t>
            </a:r>
            <a:endParaRPr lang="en-US" sz="1400" dirty="0"/>
          </a:p>
        </p:txBody>
      </p:sp>
      <p:sp>
        <p:nvSpPr>
          <p:cNvPr id="31" name="Shape 29"/>
          <p:cNvSpPr/>
          <p:nvPr/>
        </p:nvSpPr>
        <p:spPr>
          <a:xfrm>
            <a:off x="9491472" y="3383280"/>
            <a:ext cx="365760" cy="0"/>
          </a:xfrm>
          <a:prstGeom prst="line">
            <a:avLst/>
          </a:prstGeom>
          <a:noFill/>
          <a:ln w="25400">
            <a:solidFill>
              <a:srgbClr val="37865F"/>
            </a:solidFill>
            <a:prstDash val="solid"/>
          </a:ln>
        </p:spPr>
        <p:txBody>
          <a:bodyPr/>
          <a:lstStyle/>
          <a:p>
            <a:endParaRPr lang="en-US"/>
          </a:p>
        </p:txBody>
      </p:sp>
      <p:sp>
        <p:nvSpPr>
          <p:cNvPr id="32" name="Shape 30"/>
          <p:cNvSpPr/>
          <p:nvPr/>
        </p:nvSpPr>
        <p:spPr>
          <a:xfrm>
            <a:off x="9857232" y="2606040"/>
            <a:ext cx="0" cy="777240"/>
          </a:xfrm>
          <a:prstGeom prst="line">
            <a:avLst/>
          </a:prstGeom>
          <a:noFill/>
          <a:ln w="25400">
            <a:solidFill>
              <a:srgbClr val="37865F"/>
            </a:solidFill>
            <a:prstDash val="solid"/>
          </a:ln>
        </p:spPr>
        <p:txBody>
          <a:bodyPr/>
          <a:lstStyle/>
          <a:p>
            <a:endParaRPr lang="en-US"/>
          </a:p>
        </p:txBody>
      </p:sp>
      <p:sp>
        <p:nvSpPr>
          <p:cNvPr id="33" name="Shape 31"/>
          <p:cNvSpPr/>
          <p:nvPr/>
        </p:nvSpPr>
        <p:spPr>
          <a:xfrm>
            <a:off x="9491472" y="2606040"/>
            <a:ext cx="365760" cy="0"/>
          </a:xfrm>
          <a:prstGeom prst="line">
            <a:avLst/>
          </a:prstGeom>
          <a:noFill/>
          <a:ln w="25400">
            <a:solidFill>
              <a:srgbClr val="37865F"/>
            </a:solidFill>
            <a:prstDash val="solid"/>
            <a:headEnd type="triangle"/>
          </a:ln>
        </p:spPr>
        <p:txBody>
          <a:bodyPr/>
          <a:lstStyle/>
          <a:p>
            <a:endParaRPr lang="en-US"/>
          </a:p>
        </p:txBody>
      </p:sp>
      <p:sp>
        <p:nvSpPr>
          <p:cNvPr id="34" name="Text 32"/>
          <p:cNvSpPr txBox="1"/>
          <p:nvPr/>
        </p:nvSpPr>
        <p:spPr>
          <a:xfrm>
            <a:off x="9985248" y="2606040"/>
            <a:ext cx="1417320" cy="777240"/>
          </a:xfrm>
          <a:prstGeom prst="rect">
            <a:avLst/>
          </a:prstGeom>
          <a:noFill/>
          <a:ln/>
        </p:spPr>
        <p:txBody>
          <a:bodyPr wrap="square" lIns="0" tIns="0" rIns="0" bIns="0" rtlCol="0" anchor="ctr"/>
          <a:lstStyle/>
          <a:p>
            <a:pPr marL="0" indent="0" algn="l">
              <a:buNone/>
            </a:pPr>
            <a:r>
              <a:rPr lang="en-US" sz="1400" b="1" dirty="0">
                <a:solidFill>
                  <a:srgbClr val="37865F"/>
                </a:solidFill>
                <a:latin typeface="Courier New" pitchFamily="34" charset="0"/>
                <a:ea typeface="Courier New" pitchFamily="34" charset="-122"/>
                <a:cs typeface="Courier New" pitchFamily="34" charset="-120"/>
              </a:rPr>
              <a:t>repeat</a:t>
            </a:r>
            <a:endParaRPr lang="en-US" sz="1400" dirty="0"/>
          </a:p>
          <a:p>
            <a:pPr marL="0" indent="0" algn="l">
              <a:buNone/>
            </a:pPr>
            <a:r>
              <a:rPr lang="en-US" sz="1400" b="1" dirty="0">
                <a:solidFill>
                  <a:srgbClr val="37865F"/>
                </a:solidFill>
                <a:latin typeface="Courier New" pitchFamily="34" charset="0"/>
                <a:ea typeface="Courier New" pitchFamily="34" charset="-122"/>
                <a:cs typeface="Courier New" pitchFamily="34" charset="-120"/>
              </a:rPr>
              <a:t>5 times</a:t>
            </a:r>
            <a:endParaRPr lang="en-US" sz="1400" dirty="0"/>
          </a:p>
        </p:txBody>
      </p:sp>
      <p:sp>
        <p:nvSpPr>
          <p:cNvPr id="35" name="Shape 33"/>
          <p:cNvSpPr/>
          <p:nvPr/>
        </p:nvSpPr>
        <p:spPr>
          <a:xfrm>
            <a:off x="6519672" y="3886200"/>
            <a:ext cx="4754880" cy="685800"/>
          </a:xfrm>
          <a:prstGeom prst="roundRect">
            <a:avLst>
              <a:gd name="adj" fmla="val 6670"/>
            </a:avLst>
          </a:prstGeom>
          <a:solidFill>
            <a:srgbClr val="070B12"/>
          </a:solidFill>
          <a:ln w="12700">
            <a:solidFill>
              <a:srgbClr val="2B3850"/>
            </a:solidFill>
            <a:prstDash val="solid"/>
          </a:ln>
        </p:spPr>
        <p:txBody>
          <a:bodyPr/>
          <a:lstStyle/>
          <a:p>
            <a:endParaRPr lang="en-US"/>
          </a:p>
        </p:txBody>
      </p:sp>
      <p:sp>
        <p:nvSpPr>
          <p:cNvPr id="36" name="Text 34"/>
          <p:cNvSpPr txBox="1"/>
          <p:nvPr/>
        </p:nvSpPr>
        <p:spPr>
          <a:xfrm>
            <a:off x="6766560" y="3886200"/>
            <a:ext cx="1828800" cy="685800"/>
          </a:xfrm>
          <a:prstGeom prst="rect">
            <a:avLst/>
          </a:prstGeom>
          <a:noFill/>
          <a:ln/>
        </p:spPr>
        <p:txBody>
          <a:bodyPr wrap="square" lIns="0" tIns="0" rIns="0" bIns="0" rtlCol="0" anchor="ctr"/>
          <a:lstStyle/>
          <a:p>
            <a:pPr marL="0" indent="0" algn="l">
              <a:buNone/>
            </a:pPr>
            <a:r>
              <a:rPr lang="en-US" sz="2200" b="1" dirty="0">
                <a:solidFill>
                  <a:srgbClr val="F0F3F8"/>
                </a:solidFill>
                <a:latin typeface="Courier New" pitchFamily="34" charset="0"/>
                <a:ea typeface="Courier New" pitchFamily="34" charset="-122"/>
                <a:cs typeface="Courier New" pitchFamily="34" charset="-120"/>
              </a:rPr>
              <a:t>*****</a:t>
            </a:r>
            <a:endParaRPr lang="en-US" sz="2200" dirty="0"/>
          </a:p>
        </p:txBody>
      </p:sp>
      <p:sp>
        <p:nvSpPr>
          <p:cNvPr id="37" name="Text 35"/>
          <p:cNvSpPr txBox="1"/>
          <p:nvPr/>
        </p:nvSpPr>
        <p:spPr>
          <a:xfrm>
            <a:off x="8961120" y="3886200"/>
            <a:ext cx="2103120" cy="685800"/>
          </a:xfrm>
          <a:prstGeom prst="rect">
            <a:avLst/>
          </a:prstGeom>
          <a:noFill/>
          <a:ln/>
        </p:spPr>
        <p:txBody>
          <a:bodyPr wrap="square" lIns="0" tIns="0" rIns="0" bIns="0" rtlCol="0" anchor="ctr"/>
          <a:lstStyle/>
          <a:p>
            <a:pPr marL="0" indent="0" algn="r">
              <a:buNone/>
            </a:pPr>
            <a:r>
              <a:rPr lang="en-US" sz="1300" dirty="0">
                <a:solidFill>
                  <a:srgbClr val="94A3B8"/>
                </a:solidFill>
                <a:latin typeface="Calibri" pitchFamily="34" charset="0"/>
                <a:ea typeface="Calibri" pitchFamily="34" charset="-122"/>
                <a:cs typeface="Calibri" pitchFamily="34" charset="-120"/>
              </a:rPr>
              <a:t>same output</a:t>
            </a:r>
            <a:endParaRPr lang="en-US" sz="1300" dirty="0"/>
          </a:p>
        </p:txBody>
      </p:sp>
      <p:sp>
        <p:nvSpPr>
          <p:cNvPr id="38" name="Text 36"/>
          <p:cNvSpPr txBox="1"/>
          <p:nvPr/>
        </p:nvSpPr>
        <p:spPr>
          <a:xfrm>
            <a:off x="6519672" y="4663440"/>
            <a:ext cx="4754880" cy="320040"/>
          </a:xfrm>
          <a:prstGeom prst="rect">
            <a:avLst/>
          </a:prstGeom>
          <a:noFill/>
          <a:ln/>
        </p:spPr>
        <p:txBody>
          <a:bodyPr wrap="square" lIns="0" tIns="0" rIns="0" bIns="0" rtlCol="0" anchor="t"/>
          <a:lstStyle/>
          <a:p>
            <a:pPr marL="0" indent="0" algn="l">
              <a:buNone/>
            </a:pPr>
            <a:r>
              <a:rPr lang="en-US" sz="1400" b="1" dirty="0">
                <a:solidFill>
                  <a:srgbClr val="0F1622"/>
                </a:solidFill>
                <a:latin typeface="Calibri" pitchFamily="34" charset="0"/>
                <a:ea typeface="Calibri" pitchFamily="34" charset="-122"/>
                <a:cs typeface="Calibri" pitchFamily="34" charset="-120"/>
              </a:rPr>
              <a:t>3 lines, written once.</a:t>
            </a:r>
            <a:endParaRPr lang="en-US" sz="1400" dirty="0"/>
          </a:p>
        </p:txBody>
      </p:sp>
      <p:sp>
        <p:nvSpPr>
          <p:cNvPr id="39" name="Shape 37"/>
          <p:cNvSpPr/>
          <p:nvPr/>
        </p:nvSpPr>
        <p:spPr>
          <a:xfrm>
            <a:off x="640080" y="5349240"/>
            <a:ext cx="10908792" cy="566928"/>
          </a:xfrm>
          <a:prstGeom prst="roundRect">
            <a:avLst>
              <a:gd name="adj" fmla="val 6670"/>
            </a:avLst>
          </a:prstGeom>
          <a:solidFill>
            <a:srgbClr val="0F1622"/>
          </a:solidFill>
          <a:ln/>
        </p:spPr>
        <p:txBody>
          <a:bodyPr/>
          <a:lstStyle/>
          <a:p>
            <a:endParaRPr lang="en-US"/>
          </a:p>
        </p:txBody>
      </p:sp>
      <p:sp>
        <p:nvSpPr>
          <p:cNvPr id="40" name="Text 38"/>
          <p:cNvSpPr txBox="1"/>
          <p:nvPr/>
        </p:nvSpPr>
        <p:spPr>
          <a:xfrm>
            <a:off x="640080" y="5349240"/>
            <a:ext cx="10908792" cy="566928"/>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100 stars?   Without a loop: </a:t>
            </a:r>
            <a:r>
              <a:rPr lang="en-US" sz="1500" b="1" dirty="0">
                <a:solidFill>
                  <a:srgbClr val="EDA63F"/>
                </a:solidFill>
                <a:latin typeface="Courier New" pitchFamily="34" charset="0"/>
                <a:ea typeface="Courier New" pitchFamily="34" charset="-122"/>
                <a:cs typeface="Courier New" pitchFamily="34" charset="-120"/>
              </a:rPr>
              <a:t>300 lines</a:t>
            </a:r>
            <a:r>
              <a:rPr lang="en-US" sz="1500" dirty="0">
                <a:solidFill>
                  <a:srgbClr val="FFFFFF"/>
                </a:solidFill>
                <a:latin typeface="Calibri" pitchFamily="34" charset="0"/>
                <a:ea typeface="Calibri" pitchFamily="34" charset="-122"/>
                <a:cs typeface="Calibri" pitchFamily="34" charset="-120"/>
              </a:rPr>
              <a:t>.   With a loop: change </a:t>
            </a:r>
            <a:r>
              <a:rPr lang="en-US" sz="1500" b="1" dirty="0">
                <a:solidFill>
                  <a:srgbClr val="EDA63F"/>
                </a:solidFill>
                <a:latin typeface="Courier New" pitchFamily="34" charset="0"/>
                <a:ea typeface="Courier New" pitchFamily="34" charset="-122"/>
                <a:cs typeface="Courier New" pitchFamily="34" charset="-120"/>
              </a:rPr>
              <a:t>one number</a:t>
            </a:r>
            <a:r>
              <a:rPr lang="en-US" sz="1500" dirty="0">
                <a:solidFill>
                  <a:srgbClr val="FFFFFF"/>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E1420"/>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marL="0" indent="0" algn="l">
              <a:buNone/>
            </a:pPr>
            <a:r>
              <a:rPr lang="en-US" sz="1050" b="1" kern="0" spc="160" dirty="0">
                <a:solidFill>
                  <a:srgbClr val="5C6B83"/>
                </a:solidFill>
                <a:latin typeface="Courier New" pitchFamily="34" charset="0"/>
                <a:ea typeface="Courier New" pitchFamily="34" charset="-122"/>
                <a:cs typeface="Courier New" pitchFamily="34" charset="-120"/>
              </a:rPr>
              <a:t>2 · THE COUNTER</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marL="0" indent="0" algn="l">
              <a:buNone/>
            </a:pPr>
            <a:r>
              <a:rPr lang="en-US" sz="3200" b="1" dirty="0">
                <a:solidFill>
                  <a:srgbClr val="F0F3F8"/>
                </a:solidFill>
                <a:latin typeface="Arial" pitchFamily="34" charset="0"/>
                <a:ea typeface="Arial" pitchFamily="34" charset="-122"/>
                <a:cs typeface="Arial" pitchFamily="34" charset="-120"/>
              </a:rPr>
              <a:t>CX counts the turns</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marL="0" indent="0" algn="l">
              <a:buNone/>
            </a:pPr>
            <a:r>
              <a:rPr lang="en-US" sz="1500" dirty="0">
                <a:solidFill>
                  <a:srgbClr val="94A3B8"/>
                </a:solidFill>
                <a:latin typeface="Calibri" pitchFamily="34" charset="0"/>
                <a:ea typeface="Calibri" pitchFamily="34" charset="-122"/>
                <a:cs typeface="Calibri" pitchFamily="34" charset="-120"/>
              </a:rPr>
              <a:t>Put the number of turns in CX before the loop. Each turn takes 1 away.</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marL="0" indent="0" algn="l">
              <a:buNone/>
            </a:pPr>
            <a:r>
              <a:rPr lang="en-US" sz="900" kern="0" spc="120" dirty="0">
                <a:solidFill>
                  <a:srgbClr val="5C6B83"/>
                </a:solidFill>
                <a:latin typeface="Courier New" pitchFamily="34" charset="0"/>
                <a:ea typeface="Courier New" pitchFamily="34" charset="-122"/>
                <a:cs typeface="Courier New" pitchFamily="34" charset="-120"/>
              </a:rPr>
              <a:t>COAL  ·  LAB 04</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marL="0" indent="0" algn="r">
              <a:buNone/>
            </a:pPr>
            <a:r>
              <a:rPr lang="en-US" sz="900" dirty="0">
                <a:solidFill>
                  <a:srgbClr val="5C6B83"/>
                </a:solidFill>
                <a:latin typeface="Courier New" pitchFamily="34" charset="0"/>
                <a:ea typeface="Courier New" pitchFamily="34" charset="-122"/>
                <a:cs typeface="Courier New" pitchFamily="34" charset="-120"/>
              </a:rPr>
              <a:t>03</a:t>
            </a:r>
            <a:endParaRPr lang="en-US" sz="900" dirty="0"/>
          </a:p>
        </p:txBody>
      </p:sp>
      <p:sp>
        <p:nvSpPr>
          <p:cNvPr id="7" name="Shape 5"/>
          <p:cNvSpPr/>
          <p:nvPr/>
        </p:nvSpPr>
        <p:spPr>
          <a:xfrm>
            <a:off x="640080" y="1810512"/>
            <a:ext cx="4206240" cy="1143000"/>
          </a:xfrm>
          <a:prstGeom prst="roundRect">
            <a:avLst>
              <a:gd name="adj" fmla="val 6670"/>
            </a:avLst>
          </a:prstGeom>
          <a:solidFill>
            <a:srgbClr val="121A29"/>
          </a:solidFill>
          <a:ln w="12700">
            <a:solidFill>
              <a:srgbClr val="2B3850"/>
            </a:solidFill>
            <a:prstDash val="solid"/>
          </a:ln>
        </p:spPr>
        <p:txBody>
          <a:bodyPr/>
          <a:lstStyle/>
          <a:p>
            <a:endParaRPr lang="en-US"/>
          </a:p>
        </p:txBody>
      </p:sp>
      <p:sp>
        <p:nvSpPr>
          <p:cNvPr id="8" name="Text 6"/>
          <p:cNvSpPr txBox="1"/>
          <p:nvPr/>
        </p:nvSpPr>
        <p:spPr>
          <a:xfrm>
            <a:off x="640080" y="1810512"/>
            <a:ext cx="4206240" cy="1143000"/>
          </a:xfrm>
          <a:prstGeom prst="rect">
            <a:avLst/>
          </a:prstGeom>
          <a:noFill/>
          <a:ln/>
        </p:spPr>
        <p:txBody>
          <a:bodyPr wrap="square" lIns="0" tIns="0" rIns="0" bIns="0" rtlCol="0" anchor="ctr"/>
          <a:lstStyle/>
          <a:p>
            <a:pPr marL="0" indent="0" algn="ctr">
              <a:buNone/>
            </a:pPr>
            <a:r>
              <a:rPr lang="en-US" sz="3000" b="1" dirty="0">
                <a:solidFill>
                  <a:srgbClr val="EDA63F"/>
                </a:solidFill>
                <a:latin typeface="Courier New" pitchFamily="34" charset="0"/>
                <a:ea typeface="Courier New" pitchFamily="34" charset="-122"/>
                <a:cs typeface="Courier New" pitchFamily="34" charset="-120"/>
              </a:rPr>
              <a:t>mov</a:t>
            </a:r>
            <a:r>
              <a:rPr lang="en-US" sz="3000" b="1" dirty="0">
                <a:solidFill>
                  <a:srgbClr val="F0F3F8"/>
                </a:solidFill>
                <a:latin typeface="Courier New" pitchFamily="34" charset="0"/>
                <a:ea typeface="Courier New" pitchFamily="34" charset="-122"/>
                <a:cs typeface="Courier New" pitchFamily="34" charset="-120"/>
              </a:rPr>
              <a:t> </a:t>
            </a:r>
            <a:r>
              <a:rPr lang="en-US" sz="3000" b="1" dirty="0">
                <a:solidFill>
                  <a:srgbClr val="3EB9CE"/>
                </a:solidFill>
                <a:latin typeface="Courier New" pitchFamily="34" charset="0"/>
                <a:ea typeface="Courier New" pitchFamily="34" charset="-122"/>
                <a:cs typeface="Courier New" pitchFamily="34" charset="-120"/>
              </a:rPr>
              <a:t>cx</a:t>
            </a:r>
            <a:r>
              <a:rPr lang="en-US" sz="3000" b="1" dirty="0">
                <a:solidFill>
                  <a:srgbClr val="F0F3F8"/>
                </a:solidFill>
                <a:latin typeface="Courier New" pitchFamily="34" charset="0"/>
                <a:ea typeface="Courier New" pitchFamily="34" charset="-122"/>
                <a:cs typeface="Courier New" pitchFamily="34" charset="-120"/>
              </a:rPr>
              <a:t>, </a:t>
            </a:r>
            <a:r>
              <a:rPr lang="en-US" sz="3000" b="1" dirty="0">
                <a:solidFill>
                  <a:srgbClr val="9584E8"/>
                </a:solidFill>
                <a:latin typeface="Courier New" pitchFamily="34" charset="0"/>
                <a:ea typeface="Courier New" pitchFamily="34" charset="-122"/>
                <a:cs typeface="Courier New" pitchFamily="34" charset="-120"/>
              </a:rPr>
              <a:t>5</a:t>
            </a:r>
            <a:endParaRPr lang="en-US" sz="1400" dirty="0"/>
          </a:p>
        </p:txBody>
      </p:sp>
      <p:sp>
        <p:nvSpPr>
          <p:cNvPr id="9" name="Shape 7"/>
          <p:cNvSpPr/>
          <p:nvPr/>
        </p:nvSpPr>
        <p:spPr>
          <a:xfrm>
            <a:off x="4983480" y="2382012"/>
            <a:ext cx="685800" cy="0"/>
          </a:xfrm>
          <a:prstGeom prst="line">
            <a:avLst/>
          </a:prstGeom>
          <a:noFill/>
          <a:ln w="19050">
            <a:solidFill>
              <a:srgbClr val="5C6B83"/>
            </a:solidFill>
            <a:prstDash val="solid"/>
            <a:tailEnd type="triangle"/>
          </a:ln>
        </p:spPr>
        <p:txBody>
          <a:bodyPr/>
          <a:lstStyle/>
          <a:p>
            <a:endParaRPr lang="en-US"/>
          </a:p>
        </p:txBody>
      </p:sp>
      <p:sp>
        <p:nvSpPr>
          <p:cNvPr id="10" name="Shape 8"/>
          <p:cNvSpPr/>
          <p:nvPr/>
        </p:nvSpPr>
        <p:spPr>
          <a:xfrm>
            <a:off x="5806440" y="1810512"/>
            <a:ext cx="2926080" cy="1143000"/>
          </a:xfrm>
          <a:prstGeom prst="roundRect">
            <a:avLst>
              <a:gd name="adj" fmla="val 6670"/>
            </a:avLst>
          </a:prstGeom>
          <a:solidFill>
            <a:srgbClr val="122A31"/>
          </a:solidFill>
          <a:ln w="12700">
            <a:solidFill>
              <a:srgbClr val="3EB9CE"/>
            </a:solidFill>
            <a:prstDash val="solid"/>
          </a:ln>
        </p:spPr>
        <p:txBody>
          <a:bodyPr/>
          <a:lstStyle/>
          <a:p>
            <a:endParaRPr lang="en-US"/>
          </a:p>
        </p:txBody>
      </p:sp>
      <p:sp>
        <p:nvSpPr>
          <p:cNvPr id="11" name="Text 9"/>
          <p:cNvSpPr txBox="1"/>
          <p:nvPr/>
        </p:nvSpPr>
        <p:spPr>
          <a:xfrm>
            <a:off x="5989320" y="1810512"/>
            <a:ext cx="1097280" cy="1143000"/>
          </a:xfrm>
          <a:prstGeom prst="rect">
            <a:avLst/>
          </a:prstGeom>
          <a:noFill/>
          <a:ln/>
        </p:spPr>
        <p:txBody>
          <a:bodyPr wrap="square" lIns="0" tIns="0" rIns="0" bIns="0" rtlCol="0" anchor="ctr"/>
          <a:lstStyle/>
          <a:p>
            <a:pPr marL="0" indent="0" algn="l">
              <a:buNone/>
            </a:pPr>
            <a:r>
              <a:rPr lang="en-US" sz="2600" b="1" dirty="0">
                <a:solidFill>
                  <a:srgbClr val="3EB9CE"/>
                </a:solidFill>
                <a:latin typeface="Courier New" pitchFamily="34" charset="0"/>
                <a:ea typeface="Courier New" pitchFamily="34" charset="-122"/>
                <a:cs typeface="Courier New" pitchFamily="34" charset="-120"/>
              </a:rPr>
              <a:t>CX</a:t>
            </a:r>
            <a:endParaRPr lang="en-US" sz="2600" dirty="0"/>
          </a:p>
        </p:txBody>
      </p:sp>
      <p:sp>
        <p:nvSpPr>
          <p:cNvPr id="12" name="Shape 10"/>
          <p:cNvSpPr/>
          <p:nvPr/>
        </p:nvSpPr>
        <p:spPr>
          <a:xfrm>
            <a:off x="7269480" y="2011680"/>
            <a:ext cx="1280160" cy="740664"/>
          </a:xfrm>
          <a:prstGeom prst="roundRect">
            <a:avLst>
              <a:gd name="adj" fmla="val 6670"/>
            </a:avLst>
          </a:prstGeom>
          <a:solidFill>
            <a:srgbClr val="0E1420"/>
          </a:solidFill>
          <a:ln w="12700">
            <a:solidFill>
              <a:srgbClr val="27505B"/>
            </a:solidFill>
            <a:prstDash val="solid"/>
          </a:ln>
        </p:spPr>
        <p:txBody>
          <a:bodyPr/>
          <a:lstStyle/>
          <a:p>
            <a:endParaRPr lang="en-US"/>
          </a:p>
        </p:txBody>
      </p:sp>
      <p:sp>
        <p:nvSpPr>
          <p:cNvPr id="13" name="Text 11"/>
          <p:cNvSpPr txBox="1"/>
          <p:nvPr/>
        </p:nvSpPr>
        <p:spPr>
          <a:xfrm>
            <a:off x="7269480" y="2011680"/>
            <a:ext cx="1280160" cy="740664"/>
          </a:xfrm>
          <a:prstGeom prst="rect">
            <a:avLst/>
          </a:prstGeom>
          <a:noFill/>
          <a:ln/>
        </p:spPr>
        <p:txBody>
          <a:bodyPr wrap="square" lIns="0" tIns="0" rIns="0" bIns="0" rtlCol="0" anchor="ctr"/>
          <a:lstStyle/>
          <a:p>
            <a:pPr marL="0" indent="0" algn="ctr">
              <a:buNone/>
            </a:pPr>
            <a:r>
              <a:rPr lang="en-US" sz="2800" b="1" dirty="0">
                <a:solidFill>
                  <a:srgbClr val="F0F3F8"/>
                </a:solidFill>
                <a:latin typeface="Courier New" pitchFamily="34" charset="0"/>
                <a:ea typeface="Courier New" pitchFamily="34" charset="-122"/>
                <a:cs typeface="Courier New" pitchFamily="34" charset="-120"/>
              </a:rPr>
              <a:t>5</a:t>
            </a:r>
            <a:endParaRPr lang="en-US" sz="2800" dirty="0"/>
          </a:p>
        </p:txBody>
      </p:sp>
      <p:sp>
        <p:nvSpPr>
          <p:cNvPr id="14" name="Text 12"/>
          <p:cNvSpPr txBox="1"/>
          <p:nvPr/>
        </p:nvSpPr>
        <p:spPr>
          <a:xfrm>
            <a:off x="9006840" y="1810512"/>
            <a:ext cx="2542032" cy="1143000"/>
          </a:xfrm>
          <a:prstGeom prst="rect">
            <a:avLst/>
          </a:prstGeom>
          <a:noFill/>
          <a:ln/>
        </p:spPr>
        <p:txBody>
          <a:bodyPr wrap="square" lIns="0" tIns="0" rIns="0" bIns="0" rtlCol="0" anchor="ctr"/>
          <a:lstStyle/>
          <a:p>
            <a:pPr marL="0" indent="0" algn="l">
              <a:buNone/>
            </a:pPr>
            <a:r>
              <a:rPr lang="en-US" sz="1400" b="1" dirty="0">
                <a:solidFill>
                  <a:srgbClr val="F0F3F8"/>
                </a:solidFill>
                <a:latin typeface="Calibri" pitchFamily="34" charset="0"/>
                <a:ea typeface="Calibri" pitchFamily="34" charset="-122"/>
                <a:cs typeface="Calibri" pitchFamily="34" charset="-120"/>
              </a:rPr>
              <a:t>The counter register.</a:t>
            </a:r>
            <a:endParaRPr lang="en-US" sz="1400" dirty="0"/>
          </a:p>
          <a:p>
            <a:pPr marL="0" indent="0" algn="l">
              <a:buNone/>
            </a:pPr>
            <a:r>
              <a:rPr lang="en-US" sz="1400" dirty="0">
                <a:solidFill>
                  <a:srgbClr val="94A3B8"/>
                </a:solidFill>
                <a:latin typeface="Calibri" pitchFamily="34" charset="0"/>
                <a:ea typeface="Calibri" pitchFamily="34" charset="-122"/>
                <a:cs typeface="Calibri" pitchFamily="34" charset="-120"/>
              </a:rPr>
              <a:t>LOOP checks it every turn.</a:t>
            </a:r>
            <a:endParaRPr lang="en-US" sz="1400" dirty="0"/>
          </a:p>
        </p:txBody>
      </p:sp>
      <p:sp>
        <p:nvSpPr>
          <p:cNvPr id="15" name="Text 13"/>
          <p:cNvSpPr txBox="1"/>
          <p:nvPr/>
        </p:nvSpPr>
        <p:spPr>
          <a:xfrm>
            <a:off x="640080" y="3310128"/>
            <a:ext cx="5486400" cy="219456"/>
          </a:xfrm>
          <a:prstGeom prst="rect">
            <a:avLst/>
          </a:prstGeom>
          <a:noFill/>
          <a:ln/>
        </p:spPr>
        <p:txBody>
          <a:bodyPr wrap="square" lIns="0" tIns="0" rIns="0" bIns="0" rtlCol="0" anchor="t"/>
          <a:lstStyle/>
          <a:p>
            <a:pPr marL="0" indent="0" algn="l">
              <a:buNone/>
            </a:pPr>
            <a:r>
              <a:rPr lang="en-US" sz="950" b="1" kern="0" spc="130" dirty="0">
                <a:solidFill>
                  <a:srgbClr val="5C6B83"/>
                </a:solidFill>
                <a:latin typeface="Courier New" pitchFamily="34" charset="0"/>
                <a:ea typeface="Courier New" pitchFamily="34" charset="-122"/>
                <a:cs typeface="Courier New" pitchFamily="34" charset="-120"/>
              </a:rPr>
              <a:t>WHAT HAPPENS TO CX</a:t>
            </a:r>
            <a:endParaRPr lang="en-US" sz="950" dirty="0"/>
          </a:p>
        </p:txBody>
      </p:sp>
      <p:sp>
        <p:nvSpPr>
          <p:cNvPr id="16" name="Shape 14"/>
          <p:cNvSpPr/>
          <p:nvPr/>
        </p:nvSpPr>
        <p:spPr>
          <a:xfrm>
            <a:off x="640080" y="3703320"/>
            <a:ext cx="1143000" cy="868680"/>
          </a:xfrm>
          <a:prstGeom prst="roundRect">
            <a:avLst>
              <a:gd name="adj" fmla="val 6670"/>
            </a:avLst>
          </a:prstGeom>
          <a:solidFill>
            <a:srgbClr val="122A31"/>
          </a:solidFill>
          <a:ln w="12700">
            <a:solidFill>
              <a:srgbClr val="3EB9CE"/>
            </a:solidFill>
            <a:prstDash val="solid"/>
          </a:ln>
        </p:spPr>
        <p:txBody>
          <a:bodyPr/>
          <a:lstStyle/>
          <a:p>
            <a:endParaRPr lang="en-US"/>
          </a:p>
        </p:txBody>
      </p:sp>
      <p:sp>
        <p:nvSpPr>
          <p:cNvPr id="17" name="Text 15"/>
          <p:cNvSpPr txBox="1"/>
          <p:nvPr/>
        </p:nvSpPr>
        <p:spPr>
          <a:xfrm>
            <a:off x="640080" y="3703320"/>
            <a:ext cx="1143000" cy="868680"/>
          </a:xfrm>
          <a:prstGeom prst="rect">
            <a:avLst/>
          </a:prstGeom>
          <a:noFill/>
          <a:ln/>
        </p:spPr>
        <p:txBody>
          <a:bodyPr wrap="square" lIns="0" tIns="0" rIns="0" bIns="0" rtlCol="0" anchor="ctr"/>
          <a:lstStyle/>
          <a:p>
            <a:pPr marL="0" indent="0" algn="ctr">
              <a:buNone/>
            </a:pPr>
            <a:r>
              <a:rPr lang="en-US" sz="3000" b="1" dirty="0">
                <a:solidFill>
                  <a:srgbClr val="F0F3F8"/>
                </a:solidFill>
                <a:latin typeface="Courier New" pitchFamily="34" charset="0"/>
                <a:ea typeface="Courier New" pitchFamily="34" charset="-122"/>
                <a:cs typeface="Courier New" pitchFamily="34" charset="-120"/>
              </a:rPr>
              <a:t>5</a:t>
            </a:r>
            <a:endParaRPr lang="en-US" sz="3000" dirty="0"/>
          </a:p>
        </p:txBody>
      </p:sp>
      <p:sp>
        <p:nvSpPr>
          <p:cNvPr id="18" name="Text 16"/>
          <p:cNvSpPr txBox="1"/>
          <p:nvPr/>
        </p:nvSpPr>
        <p:spPr>
          <a:xfrm>
            <a:off x="457200" y="4663440"/>
            <a:ext cx="1508760" cy="274320"/>
          </a:xfrm>
          <a:prstGeom prst="rect">
            <a:avLst/>
          </a:prstGeom>
          <a:noFill/>
          <a:ln/>
        </p:spPr>
        <p:txBody>
          <a:bodyPr wrap="square" lIns="0" tIns="0" rIns="0" bIns="0" rtlCol="0" anchor="t"/>
          <a:lstStyle/>
          <a:p>
            <a:pPr marL="0" indent="0" algn="ctr">
              <a:buNone/>
            </a:pPr>
            <a:r>
              <a:rPr lang="en-US" sz="1300" dirty="0">
                <a:solidFill>
                  <a:srgbClr val="94A3B8"/>
                </a:solidFill>
                <a:latin typeface="Calibri" pitchFamily="34" charset="0"/>
                <a:ea typeface="Calibri" pitchFamily="34" charset="-122"/>
                <a:cs typeface="Calibri" pitchFamily="34" charset="-120"/>
              </a:rPr>
              <a:t>turn 1</a:t>
            </a:r>
            <a:endParaRPr lang="en-US" sz="1300" dirty="0"/>
          </a:p>
        </p:txBody>
      </p:sp>
      <p:sp>
        <p:nvSpPr>
          <p:cNvPr id="19" name="Shape 17"/>
          <p:cNvSpPr/>
          <p:nvPr/>
        </p:nvSpPr>
        <p:spPr>
          <a:xfrm>
            <a:off x="1892808" y="4137660"/>
            <a:ext cx="590702" cy="0"/>
          </a:xfrm>
          <a:prstGeom prst="line">
            <a:avLst/>
          </a:prstGeom>
          <a:noFill/>
          <a:ln w="19050">
            <a:solidFill>
              <a:srgbClr val="5C6B83"/>
            </a:solidFill>
            <a:prstDash val="solid"/>
            <a:tailEnd type="triangle"/>
          </a:ln>
        </p:spPr>
        <p:txBody>
          <a:bodyPr/>
          <a:lstStyle/>
          <a:p>
            <a:endParaRPr lang="en-US"/>
          </a:p>
        </p:txBody>
      </p:sp>
      <p:sp>
        <p:nvSpPr>
          <p:cNvPr id="20" name="Text 18"/>
          <p:cNvSpPr txBox="1"/>
          <p:nvPr/>
        </p:nvSpPr>
        <p:spPr>
          <a:xfrm>
            <a:off x="1783080" y="3749040"/>
            <a:ext cx="810158" cy="274320"/>
          </a:xfrm>
          <a:prstGeom prst="rect">
            <a:avLst/>
          </a:prstGeom>
          <a:noFill/>
          <a:ln/>
        </p:spPr>
        <p:txBody>
          <a:bodyPr wrap="square" lIns="0" tIns="0" rIns="0" bIns="0" rtlCol="0" anchor="t"/>
          <a:lstStyle/>
          <a:p>
            <a:pPr marL="0" indent="0" algn="ctr">
              <a:buNone/>
            </a:pPr>
            <a:r>
              <a:rPr lang="en-US" sz="1200" b="1" dirty="0">
                <a:solidFill>
                  <a:srgbClr val="94A3B8"/>
                </a:solidFill>
                <a:latin typeface="Courier New" pitchFamily="34" charset="0"/>
                <a:ea typeface="Courier New" pitchFamily="34" charset="-122"/>
                <a:cs typeface="Courier New" pitchFamily="34" charset="-120"/>
              </a:rPr>
              <a:t>−1</a:t>
            </a:r>
            <a:endParaRPr lang="en-US" sz="1200" dirty="0"/>
          </a:p>
        </p:txBody>
      </p:sp>
      <p:sp>
        <p:nvSpPr>
          <p:cNvPr id="21" name="Shape 19"/>
          <p:cNvSpPr/>
          <p:nvPr/>
        </p:nvSpPr>
        <p:spPr>
          <a:xfrm>
            <a:off x="2593238" y="3703320"/>
            <a:ext cx="1143000" cy="868680"/>
          </a:xfrm>
          <a:prstGeom prst="roundRect">
            <a:avLst>
              <a:gd name="adj" fmla="val 6670"/>
            </a:avLst>
          </a:prstGeom>
          <a:solidFill>
            <a:srgbClr val="122A31"/>
          </a:solidFill>
          <a:ln w="12700">
            <a:solidFill>
              <a:srgbClr val="3EB9CE"/>
            </a:solidFill>
            <a:prstDash val="solid"/>
          </a:ln>
        </p:spPr>
        <p:txBody>
          <a:bodyPr/>
          <a:lstStyle/>
          <a:p>
            <a:endParaRPr lang="en-US"/>
          </a:p>
        </p:txBody>
      </p:sp>
      <p:sp>
        <p:nvSpPr>
          <p:cNvPr id="22" name="Text 20"/>
          <p:cNvSpPr txBox="1"/>
          <p:nvPr/>
        </p:nvSpPr>
        <p:spPr>
          <a:xfrm>
            <a:off x="2593238" y="3703320"/>
            <a:ext cx="1143000" cy="868680"/>
          </a:xfrm>
          <a:prstGeom prst="rect">
            <a:avLst/>
          </a:prstGeom>
          <a:noFill/>
          <a:ln/>
        </p:spPr>
        <p:txBody>
          <a:bodyPr wrap="square" lIns="0" tIns="0" rIns="0" bIns="0" rtlCol="0" anchor="ctr"/>
          <a:lstStyle/>
          <a:p>
            <a:pPr marL="0" indent="0" algn="ctr">
              <a:buNone/>
            </a:pPr>
            <a:r>
              <a:rPr lang="en-US" sz="3000" b="1" dirty="0">
                <a:solidFill>
                  <a:srgbClr val="F0F3F8"/>
                </a:solidFill>
                <a:latin typeface="Courier New" pitchFamily="34" charset="0"/>
                <a:ea typeface="Courier New" pitchFamily="34" charset="-122"/>
                <a:cs typeface="Courier New" pitchFamily="34" charset="-120"/>
              </a:rPr>
              <a:t>4</a:t>
            </a:r>
            <a:endParaRPr lang="en-US" sz="3000" dirty="0"/>
          </a:p>
        </p:txBody>
      </p:sp>
      <p:sp>
        <p:nvSpPr>
          <p:cNvPr id="23" name="Text 21"/>
          <p:cNvSpPr txBox="1"/>
          <p:nvPr/>
        </p:nvSpPr>
        <p:spPr>
          <a:xfrm>
            <a:off x="2410358" y="4663440"/>
            <a:ext cx="1508760" cy="274320"/>
          </a:xfrm>
          <a:prstGeom prst="rect">
            <a:avLst/>
          </a:prstGeom>
          <a:noFill/>
          <a:ln/>
        </p:spPr>
        <p:txBody>
          <a:bodyPr wrap="square" lIns="0" tIns="0" rIns="0" bIns="0" rtlCol="0" anchor="t"/>
          <a:lstStyle/>
          <a:p>
            <a:pPr marL="0" indent="0" algn="ctr">
              <a:buNone/>
            </a:pPr>
            <a:r>
              <a:rPr lang="en-US" sz="1300" dirty="0">
                <a:solidFill>
                  <a:srgbClr val="94A3B8"/>
                </a:solidFill>
                <a:latin typeface="Calibri" pitchFamily="34" charset="0"/>
                <a:ea typeface="Calibri" pitchFamily="34" charset="-122"/>
                <a:cs typeface="Calibri" pitchFamily="34" charset="-120"/>
              </a:rPr>
              <a:t>turn 2</a:t>
            </a:r>
            <a:endParaRPr lang="en-US" sz="1300" dirty="0"/>
          </a:p>
        </p:txBody>
      </p:sp>
      <p:sp>
        <p:nvSpPr>
          <p:cNvPr id="24" name="Shape 22"/>
          <p:cNvSpPr/>
          <p:nvPr/>
        </p:nvSpPr>
        <p:spPr>
          <a:xfrm>
            <a:off x="3845966" y="4137660"/>
            <a:ext cx="590702" cy="0"/>
          </a:xfrm>
          <a:prstGeom prst="line">
            <a:avLst/>
          </a:prstGeom>
          <a:noFill/>
          <a:ln w="19050">
            <a:solidFill>
              <a:srgbClr val="5C6B83"/>
            </a:solidFill>
            <a:prstDash val="solid"/>
            <a:tailEnd type="triangle"/>
          </a:ln>
        </p:spPr>
        <p:txBody>
          <a:bodyPr/>
          <a:lstStyle/>
          <a:p>
            <a:endParaRPr lang="en-US"/>
          </a:p>
        </p:txBody>
      </p:sp>
      <p:sp>
        <p:nvSpPr>
          <p:cNvPr id="25" name="Text 23"/>
          <p:cNvSpPr txBox="1"/>
          <p:nvPr/>
        </p:nvSpPr>
        <p:spPr>
          <a:xfrm>
            <a:off x="3736238" y="3749040"/>
            <a:ext cx="810158" cy="274320"/>
          </a:xfrm>
          <a:prstGeom prst="rect">
            <a:avLst/>
          </a:prstGeom>
          <a:noFill/>
          <a:ln/>
        </p:spPr>
        <p:txBody>
          <a:bodyPr wrap="square" lIns="0" tIns="0" rIns="0" bIns="0" rtlCol="0" anchor="t"/>
          <a:lstStyle/>
          <a:p>
            <a:pPr marL="0" indent="0" algn="ctr">
              <a:buNone/>
            </a:pPr>
            <a:r>
              <a:rPr lang="en-US" sz="1200" b="1" dirty="0">
                <a:solidFill>
                  <a:srgbClr val="94A3B8"/>
                </a:solidFill>
                <a:latin typeface="Courier New" pitchFamily="34" charset="0"/>
                <a:ea typeface="Courier New" pitchFamily="34" charset="-122"/>
                <a:cs typeface="Courier New" pitchFamily="34" charset="-120"/>
              </a:rPr>
              <a:t>−1</a:t>
            </a:r>
            <a:endParaRPr lang="en-US" sz="1200" dirty="0"/>
          </a:p>
        </p:txBody>
      </p:sp>
      <p:sp>
        <p:nvSpPr>
          <p:cNvPr id="26" name="Shape 24"/>
          <p:cNvSpPr/>
          <p:nvPr/>
        </p:nvSpPr>
        <p:spPr>
          <a:xfrm>
            <a:off x="4546397" y="3703320"/>
            <a:ext cx="1143000" cy="868680"/>
          </a:xfrm>
          <a:prstGeom prst="roundRect">
            <a:avLst>
              <a:gd name="adj" fmla="val 6670"/>
            </a:avLst>
          </a:prstGeom>
          <a:solidFill>
            <a:srgbClr val="122A31"/>
          </a:solidFill>
          <a:ln w="12700">
            <a:solidFill>
              <a:srgbClr val="3EB9CE"/>
            </a:solidFill>
            <a:prstDash val="solid"/>
          </a:ln>
        </p:spPr>
        <p:txBody>
          <a:bodyPr/>
          <a:lstStyle/>
          <a:p>
            <a:endParaRPr lang="en-US"/>
          </a:p>
        </p:txBody>
      </p:sp>
      <p:sp>
        <p:nvSpPr>
          <p:cNvPr id="27" name="Text 25"/>
          <p:cNvSpPr txBox="1"/>
          <p:nvPr/>
        </p:nvSpPr>
        <p:spPr>
          <a:xfrm>
            <a:off x="4546397" y="3703320"/>
            <a:ext cx="1143000" cy="868680"/>
          </a:xfrm>
          <a:prstGeom prst="rect">
            <a:avLst/>
          </a:prstGeom>
          <a:noFill/>
          <a:ln/>
        </p:spPr>
        <p:txBody>
          <a:bodyPr wrap="square" lIns="0" tIns="0" rIns="0" bIns="0" rtlCol="0" anchor="ctr"/>
          <a:lstStyle/>
          <a:p>
            <a:pPr marL="0" indent="0" algn="ctr">
              <a:buNone/>
            </a:pPr>
            <a:r>
              <a:rPr lang="en-US" sz="3000" b="1" dirty="0">
                <a:solidFill>
                  <a:srgbClr val="F0F3F8"/>
                </a:solidFill>
                <a:latin typeface="Courier New" pitchFamily="34" charset="0"/>
                <a:ea typeface="Courier New" pitchFamily="34" charset="-122"/>
                <a:cs typeface="Courier New" pitchFamily="34" charset="-120"/>
              </a:rPr>
              <a:t>3</a:t>
            </a:r>
            <a:endParaRPr lang="en-US" sz="3000" dirty="0"/>
          </a:p>
        </p:txBody>
      </p:sp>
      <p:sp>
        <p:nvSpPr>
          <p:cNvPr id="28" name="Text 26"/>
          <p:cNvSpPr txBox="1"/>
          <p:nvPr/>
        </p:nvSpPr>
        <p:spPr>
          <a:xfrm>
            <a:off x="4363517" y="4663440"/>
            <a:ext cx="1508760" cy="274320"/>
          </a:xfrm>
          <a:prstGeom prst="rect">
            <a:avLst/>
          </a:prstGeom>
          <a:noFill/>
          <a:ln/>
        </p:spPr>
        <p:txBody>
          <a:bodyPr wrap="square" lIns="0" tIns="0" rIns="0" bIns="0" rtlCol="0" anchor="t"/>
          <a:lstStyle/>
          <a:p>
            <a:pPr marL="0" indent="0" algn="ctr">
              <a:buNone/>
            </a:pPr>
            <a:r>
              <a:rPr lang="en-US" sz="1300" dirty="0">
                <a:solidFill>
                  <a:srgbClr val="94A3B8"/>
                </a:solidFill>
                <a:latin typeface="Calibri" pitchFamily="34" charset="0"/>
                <a:ea typeface="Calibri" pitchFamily="34" charset="-122"/>
                <a:cs typeface="Calibri" pitchFamily="34" charset="-120"/>
              </a:rPr>
              <a:t>turn 3</a:t>
            </a:r>
            <a:endParaRPr lang="en-US" sz="1300" dirty="0"/>
          </a:p>
        </p:txBody>
      </p:sp>
      <p:sp>
        <p:nvSpPr>
          <p:cNvPr id="29" name="Shape 27"/>
          <p:cNvSpPr/>
          <p:nvPr/>
        </p:nvSpPr>
        <p:spPr>
          <a:xfrm>
            <a:off x="5799125" y="4137660"/>
            <a:ext cx="590702" cy="0"/>
          </a:xfrm>
          <a:prstGeom prst="line">
            <a:avLst/>
          </a:prstGeom>
          <a:noFill/>
          <a:ln w="19050">
            <a:solidFill>
              <a:srgbClr val="5C6B83"/>
            </a:solidFill>
            <a:prstDash val="solid"/>
            <a:tailEnd type="triangle"/>
          </a:ln>
        </p:spPr>
        <p:txBody>
          <a:bodyPr/>
          <a:lstStyle/>
          <a:p>
            <a:endParaRPr lang="en-US"/>
          </a:p>
        </p:txBody>
      </p:sp>
      <p:sp>
        <p:nvSpPr>
          <p:cNvPr id="30" name="Text 28"/>
          <p:cNvSpPr txBox="1"/>
          <p:nvPr/>
        </p:nvSpPr>
        <p:spPr>
          <a:xfrm>
            <a:off x="5689397" y="3749040"/>
            <a:ext cx="810158" cy="274320"/>
          </a:xfrm>
          <a:prstGeom prst="rect">
            <a:avLst/>
          </a:prstGeom>
          <a:noFill/>
          <a:ln/>
        </p:spPr>
        <p:txBody>
          <a:bodyPr wrap="square" lIns="0" tIns="0" rIns="0" bIns="0" rtlCol="0" anchor="t"/>
          <a:lstStyle/>
          <a:p>
            <a:pPr marL="0" indent="0" algn="ctr">
              <a:buNone/>
            </a:pPr>
            <a:r>
              <a:rPr lang="en-US" sz="1200" b="1" dirty="0">
                <a:solidFill>
                  <a:srgbClr val="94A3B8"/>
                </a:solidFill>
                <a:latin typeface="Courier New" pitchFamily="34" charset="0"/>
                <a:ea typeface="Courier New" pitchFamily="34" charset="-122"/>
                <a:cs typeface="Courier New" pitchFamily="34" charset="-120"/>
              </a:rPr>
              <a:t>−1</a:t>
            </a:r>
            <a:endParaRPr lang="en-US" sz="1200" dirty="0"/>
          </a:p>
        </p:txBody>
      </p:sp>
      <p:sp>
        <p:nvSpPr>
          <p:cNvPr id="31" name="Shape 29"/>
          <p:cNvSpPr/>
          <p:nvPr/>
        </p:nvSpPr>
        <p:spPr>
          <a:xfrm>
            <a:off x="6499555" y="3703320"/>
            <a:ext cx="1143000" cy="868680"/>
          </a:xfrm>
          <a:prstGeom prst="roundRect">
            <a:avLst>
              <a:gd name="adj" fmla="val 6670"/>
            </a:avLst>
          </a:prstGeom>
          <a:solidFill>
            <a:srgbClr val="122A31"/>
          </a:solidFill>
          <a:ln w="12700">
            <a:solidFill>
              <a:srgbClr val="3EB9CE"/>
            </a:solidFill>
            <a:prstDash val="solid"/>
          </a:ln>
        </p:spPr>
        <p:txBody>
          <a:bodyPr/>
          <a:lstStyle/>
          <a:p>
            <a:endParaRPr lang="en-US"/>
          </a:p>
        </p:txBody>
      </p:sp>
      <p:sp>
        <p:nvSpPr>
          <p:cNvPr id="32" name="Text 30"/>
          <p:cNvSpPr txBox="1"/>
          <p:nvPr/>
        </p:nvSpPr>
        <p:spPr>
          <a:xfrm>
            <a:off x="6499555" y="3703320"/>
            <a:ext cx="1143000" cy="868680"/>
          </a:xfrm>
          <a:prstGeom prst="rect">
            <a:avLst/>
          </a:prstGeom>
          <a:noFill/>
          <a:ln/>
        </p:spPr>
        <p:txBody>
          <a:bodyPr wrap="square" lIns="0" tIns="0" rIns="0" bIns="0" rtlCol="0" anchor="ctr"/>
          <a:lstStyle/>
          <a:p>
            <a:pPr marL="0" indent="0" algn="ctr">
              <a:buNone/>
            </a:pPr>
            <a:r>
              <a:rPr lang="en-US" sz="3000" b="1" dirty="0">
                <a:solidFill>
                  <a:srgbClr val="F0F3F8"/>
                </a:solidFill>
                <a:latin typeface="Courier New" pitchFamily="34" charset="0"/>
                <a:ea typeface="Courier New" pitchFamily="34" charset="-122"/>
                <a:cs typeface="Courier New" pitchFamily="34" charset="-120"/>
              </a:rPr>
              <a:t>2</a:t>
            </a:r>
            <a:endParaRPr lang="en-US" sz="3000" dirty="0"/>
          </a:p>
        </p:txBody>
      </p:sp>
      <p:sp>
        <p:nvSpPr>
          <p:cNvPr id="33" name="Text 31"/>
          <p:cNvSpPr txBox="1"/>
          <p:nvPr/>
        </p:nvSpPr>
        <p:spPr>
          <a:xfrm>
            <a:off x="6316675" y="4663440"/>
            <a:ext cx="1508760" cy="274320"/>
          </a:xfrm>
          <a:prstGeom prst="rect">
            <a:avLst/>
          </a:prstGeom>
          <a:noFill/>
          <a:ln/>
        </p:spPr>
        <p:txBody>
          <a:bodyPr wrap="square" lIns="0" tIns="0" rIns="0" bIns="0" rtlCol="0" anchor="t"/>
          <a:lstStyle/>
          <a:p>
            <a:pPr marL="0" indent="0" algn="ctr">
              <a:buNone/>
            </a:pPr>
            <a:r>
              <a:rPr lang="en-US" sz="1300" dirty="0">
                <a:solidFill>
                  <a:srgbClr val="94A3B8"/>
                </a:solidFill>
                <a:latin typeface="Calibri" pitchFamily="34" charset="0"/>
                <a:ea typeface="Calibri" pitchFamily="34" charset="-122"/>
                <a:cs typeface="Calibri" pitchFamily="34" charset="-120"/>
              </a:rPr>
              <a:t>turn 4</a:t>
            </a:r>
            <a:endParaRPr lang="en-US" sz="1300" dirty="0"/>
          </a:p>
        </p:txBody>
      </p:sp>
      <p:sp>
        <p:nvSpPr>
          <p:cNvPr id="34" name="Shape 32"/>
          <p:cNvSpPr/>
          <p:nvPr/>
        </p:nvSpPr>
        <p:spPr>
          <a:xfrm>
            <a:off x="7752283" y="4137660"/>
            <a:ext cx="590702" cy="0"/>
          </a:xfrm>
          <a:prstGeom prst="line">
            <a:avLst/>
          </a:prstGeom>
          <a:noFill/>
          <a:ln w="19050">
            <a:solidFill>
              <a:srgbClr val="5C6B83"/>
            </a:solidFill>
            <a:prstDash val="solid"/>
            <a:tailEnd type="triangle"/>
          </a:ln>
        </p:spPr>
        <p:txBody>
          <a:bodyPr/>
          <a:lstStyle/>
          <a:p>
            <a:endParaRPr lang="en-US"/>
          </a:p>
        </p:txBody>
      </p:sp>
      <p:sp>
        <p:nvSpPr>
          <p:cNvPr id="35" name="Text 33"/>
          <p:cNvSpPr txBox="1"/>
          <p:nvPr/>
        </p:nvSpPr>
        <p:spPr>
          <a:xfrm>
            <a:off x="7642555" y="3749040"/>
            <a:ext cx="810158" cy="274320"/>
          </a:xfrm>
          <a:prstGeom prst="rect">
            <a:avLst/>
          </a:prstGeom>
          <a:noFill/>
          <a:ln/>
        </p:spPr>
        <p:txBody>
          <a:bodyPr wrap="square" lIns="0" tIns="0" rIns="0" bIns="0" rtlCol="0" anchor="t"/>
          <a:lstStyle/>
          <a:p>
            <a:pPr marL="0" indent="0" algn="ctr">
              <a:buNone/>
            </a:pPr>
            <a:r>
              <a:rPr lang="en-US" sz="1200" b="1" dirty="0">
                <a:solidFill>
                  <a:srgbClr val="94A3B8"/>
                </a:solidFill>
                <a:latin typeface="Courier New" pitchFamily="34" charset="0"/>
                <a:ea typeface="Courier New" pitchFamily="34" charset="-122"/>
                <a:cs typeface="Courier New" pitchFamily="34" charset="-120"/>
              </a:rPr>
              <a:t>−1</a:t>
            </a:r>
            <a:endParaRPr lang="en-US" sz="1200" dirty="0"/>
          </a:p>
        </p:txBody>
      </p:sp>
      <p:sp>
        <p:nvSpPr>
          <p:cNvPr id="36" name="Shape 34"/>
          <p:cNvSpPr/>
          <p:nvPr/>
        </p:nvSpPr>
        <p:spPr>
          <a:xfrm>
            <a:off x="8452714" y="3703320"/>
            <a:ext cx="1143000" cy="868680"/>
          </a:xfrm>
          <a:prstGeom prst="roundRect">
            <a:avLst>
              <a:gd name="adj" fmla="val 6670"/>
            </a:avLst>
          </a:prstGeom>
          <a:solidFill>
            <a:srgbClr val="122A31"/>
          </a:solidFill>
          <a:ln w="12700">
            <a:solidFill>
              <a:srgbClr val="3EB9CE"/>
            </a:solidFill>
            <a:prstDash val="solid"/>
          </a:ln>
        </p:spPr>
        <p:txBody>
          <a:bodyPr/>
          <a:lstStyle/>
          <a:p>
            <a:endParaRPr lang="en-US"/>
          </a:p>
        </p:txBody>
      </p:sp>
      <p:sp>
        <p:nvSpPr>
          <p:cNvPr id="37" name="Text 35"/>
          <p:cNvSpPr txBox="1"/>
          <p:nvPr/>
        </p:nvSpPr>
        <p:spPr>
          <a:xfrm>
            <a:off x="8452714" y="3703320"/>
            <a:ext cx="1143000" cy="868680"/>
          </a:xfrm>
          <a:prstGeom prst="rect">
            <a:avLst/>
          </a:prstGeom>
          <a:noFill/>
          <a:ln/>
        </p:spPr>
        <p:txBody>
          <a:bodyPr wrap="square" lIns="0" tIns="0" rIns="0" bIns="0" rtlCol="0" anchor="ctr"/>
          <a:lstStyle/>
          <a:p>
            <a:pPr marL="0" indent="0" algn="ctr">
              <a:buNone/>
            </a:pPr>
            <a:r>
              <a:rPr lang="en-US" sz="3000" b="1" dirty="0">
                <a:solidFill>
                  <a:srgbClr val="F0F3F8"/>
                </a:solidFill>
                <a:latin typeface="Courier New" pitchFamily="34" charset="0"/>
                <a:ea typeface="Courier New" pitchFamily="34" charset="-122"/>
                <a:cs typeface="Courier New" pitchFamily="34" charset="-120"/>
              </a:rPr>
              <a:t>1</a:t>
            </a:r>
            <a:endParaRPr lang="en-US" sz="3000" dirty="0"/>
          </a:p>
        </p:txBody>
      </p:sp>
      <p:sp>
        <p:nvSpPr>
          <p:cNvPr id="38" name="Text 36"/>
          <p:cNvSpPr txBox="1"/>
          <p:nvPr/>
        </p:nvSpPr>
        <p:spPr>
          <a:xfrm>
            <a:off x="8269834" y="4663440"/>
            <a:ext cx="1508760" cy="274320"/>
          </a:xfrm>
          <a:prstGeom prst="rect">
            <a:avLst/>
          </a:prstGeom>
          <a:noFill/>
          <a:ln/>
        </p:spPr>
        <p:txBody>
          <a:bodyPr wrap="square" lIns="0" tIns="0" rIns="0" bIns="0" rtlCol="0" anchor="t"/>
          <a:lstStyle/>
          <a:p>
            <a:pPr marL="0" indent="0" algn="ctr">
              <a:buNone/>
            </a:pPr>
            <a:r>
              <a:rPr lang="en-US" sz="1300" dirty="0">
                <a:solidFill>
                  <a:srgbClr val="94A3B8"/>
                </a:solidFill>
                <a:latin typeface="Calibri" pitchFamily="34" charset="0"/>
                <a:ea typeface="Calibri" pitchFamily="34" charset="-122"/>
                <a:cs typeface="Calibri" pitchFamily="34" charset="-120"/>
              </a:rPr>
              <a:t>turn 5</a:t>
            </a:r>
            <a:endParaRPr lang="en-US" sz="1300" dirty="0"/>
          </a:p>
        </p:txBody>
      </p:sp>
      <p:sp>
        <p:nvSpPr>
          <p:cNvPr id="39" name="Shape 37"/>
          <p:cNvSpPr/>
          <p:nvPr/>
        </p:nvSpPr>
        <p:spPr>
          <a:xfrm>
            <a:off x="9705442" y="4137660"/>
            <a:ext cx="590702" cy="0"/>
          </a:xfrm>
          <a:prstGeom prst="line">
            <a:avLst/>
          </a:prstGeom>
          <a:noFill/>
          <a:ln w="19050">
            <a:solidFill>
              <a:srgbClr val="5C6B83"/>
            </a:solidFill>
            <a:prstDash val="solid"/>
            <a:tailEnd type="triangle"/>
          </a:ln>
        </p:spPr>
        <p:txBody>
          <a:bodyPr/>
          <a:lstStyle/>
          <a:p>
            <a:endParaRPr lang="en-US"/>
          </a:p>
        </p:txBody>
      </p:sp>
      <p:sp>
        <p:nvSpPr>
          <p:cNvPr id="40" name="Text 38"/>
          <p:cNvSpPr txBox="1"/>
          <p:nvPr/>
        </p:nvSpPr>
        <p:spPr>
          <a:xfrm>
            <a:off x="9595714" y="3749040"/>
            <a:ext cx="810158" cy="274320"/>
          </a:xfrm>
          <a:prstGeom prst="rect">
            <a:avLst/>
          </a:prstGeom>
          <a:noFill/>
          <a:ln/>
        </p:spPr>
        <p:txBody>
          <a:bodyPr wrap="square" lIns="0" tIns="0" rIns="0" bIns="0" rtlCol="0" anchor="t"/>
          <a:lstStyle/>
          <a:p>
            <a:pPr marL="0" indent="0" algn="ctr">
              <a:buNone/>
            </a:pPr>
            <a:r>
              <a:rPr lang="en-US" sz="1200" b="1" dirty="0">
                <a:solidFill>
                  <a:srgbClr val="94A3B8"/>
                </a:solidFill>
                <a:latin typeface="Courier New" pitchFamily="34" charset="0"/>
                <a:ea typeface="Courier New" pitchFamily="34" charset="-122"/>
                <a:cs typeface="Courier New" pitchFamily="34" charset="-120"/>
              </a:rPr>
              <a:t>−1</a:t>
            </a:r>
            <a:endParaRPr lang="en-US" sz="1200" dirty="0"/>
          </a:p>
        </p:txBody>
      </p:sp>
      <p:sp>
        <p:nvSpPr>
          <p:cNvPr id="41" name="Shape 39"/>
          <p:cNvSpPr/>
          <p:nvPr/>
        </p:nvSpPr>
        <p:spPr>
          <a:xfrm>
            <a:off x="10405872" y="3703320"/>
            <a:ext cx="1143000" cy="868680"/>
          </a:xfrm>
          <a:prstGeom prst="roundRect">
            <a:avLst>
              <a:gd name="adj" fmla="val 6670"/>
            </a:avLst>
          </a:prstGeom>
          <a:solidFill>
            <a:srgbClr val="2A2113"/>
          </a:solidFill>
          <a:ln w="12700">
            <a:solidFill>
              <a:srgbClr val="EDA63F"/>
            </a:solidFill>
            <a:prstDash val="solid"/>
          </a:ln>
        </p:spPr>
        <p:txBody>
          <a:bodyPr/>
          <a:lstStyle/>
          <a:p>
            <a:endParaRPr lang="en-US"/>
          </a:p>
        </p:txBody>
      </p:sp>
      <p:sp>
        <p:nvSpPr>
          <p:cNvPr id="42" name="Text 40"/>
          <p:cNvSpPr txBox="1"/>
          <p:nvPr/>
        </p:nvSpPr>
        <p:spPr>
          <a:xfrm>
            <a:off x="10405872" y="3703320"/>
            <a:ext cx="1143000" cy="868680"/>
          </a:xfrm>
          <a:prstGeom prst="rect">
            <a:avLst/>
          </a:prstGeom>
          <a:noFill/>
          <a:ln/>
        </p:spPr>
        <p:txBody>
          <a:bodyPr wrap="square" lIns="0" tIns="0" rIns="0" bIns="0" rtlCol="0" anchor="ctr"/>
          <a:lstStyle/>
          <a:p>
            <a:pPr marL="0" indent="0" algn="ctr">
              <a:buNone/>
            </a:pPr>
            <a:r>
              <a:rPr lang="en-US" sz="3000" b="1" dirty="0">
                <a:solidFill>
                  <a:srgbClr val="EDA63F"/>
                </a:solidFill>
                <a:latin typeface="Courier New" pitchFamily="34" charset="0"/>
                <a:ea typeface="Courier New" pitchFamily="34" charset="-122"/>
                <a:cs typeface="Courier New" pitchFamily="34" charset="-120"/>
              </a:rPr>
              <a:t>0</a:t>
            </a:r>
            <a:endParaRPr lang="en-US" sz="3000" dirty="0"/>
          </a:p>
        </p:txBody>
      </p:sp>
      <p:sp>
        <p:nvSpPr>
          <p:cNvPr id="43" name="Text 41"/>
          <p:cNvSpPr txBox="1"/>
          <p:nvPr/>
        </p:nvSpPr>
        <p:spPr>
          <a:xfrm>
            <a:off x="10222992" y="4663440"/>
            <a:ext cx="1508760" cy="274320"/>
          </a:xfrm>
          <a:prstGeom prst="rect">
            <a:avLst/>
          </a:prstGeom>
          <a:noFill/>
          <a:ln/>
        </p:spPr>
        <p:txBody>
          <a:bodyPr wrap="square" lIns="0" tIns="0" rIns="0" bIns="0" rtlCol="0" anchor="t"/>
          <a:lstStyle/>
          <a:p>
            <a:pPr marL="0" indent="0" algn="ctr">
              <a:buNone/>
            </a:pPr>
            <a:r>
              <a:rPr lang="en-US" sz="1300" b="1" dirty="0">
                <a:solidFill>
                  <a:srgbClr val="EDA63F"/>
                </a:solidFill>
                <a:latin typeface="Courier New" pitchFamily="34" charset="0"/>
                <a:ea typeface="Courier New" pitchFamily="34" charset="-122"/>
                <a:cs typeface="Courier New" pitchFamily="34" charset="-120"/>
              </a:rPr>
              <a:t>stop</a:t>
            </a:r>
            <a:endParaRPr lang="en-US" sz="1300" dirty="0"/>
          </a:p>
        </p:txBody>
      </p:sp>
      <p:sp>
        <p:nvSpPr>
          <p:cNvPr id="44" name="Shape 42"/>
          <p:cNvSpPr/>
          <p:nvPr/>
        </p:nvSpPr>
        <p:spPr>
          <a:xfrm>
            <a:off x="640080" y="5138928"/>
            <a:ext cx="10908792" cy="566928"/>
          </a:xfrm>
          <a:prstGeom prst="roundRect">
            <a:avLst>
              <a:gd name="adj" fmla="val 6670"/>
            </a:avLst>
          </a:prstGeom>
          <a:solidFill>
            <a:srgbClr val="182132"/>
          </a:solidFill>
          <a:ln w="12700">
            <a:solidFill>
              <a:srgbClr val="2A3548"/>
            </a:solidFill>
            <a:prstDash val="solid"/>
          </a:ln>
        </p:spPr>
        <p:txBody>
          <a:bodyPr/>
          <a:lstStyle/>
          <a:p>
            <a:endParaRPr lang="en-US"/>
          </a:p>
        </p:txBody>
      </p:sp>
      <p:sp>
        <p:nvSpPr>
          <p:cNvPr id="45" name="Text 43"/>
          <p:cNvSpPr txBox="1"/>
          <p:nvPr/>
        </p:nvSpPr>
        <p:spPr>
          <a:xfrm>
            <a:off x="640080" y="5138928"/>
            <a:ext cx="10908792" cy="566928"/>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5 turns, then CX is </a:t>
            </a:r>
            <a:r>
              <a:rPr lang="en-US" sz="1500" b="1" dirty="0">
                <a:solidFill>
                  <a:srgbClr val="EDA63F"/>
                </a:solidFill>
                <a:latin typeface="Courier New" pitchFamily="34" charset="0"/>
                <a:ea typeface="Courier New" pitchFamily="34" charset="-122"/>
                <a:cs typeface="Courier New" pitchFamily="34" charset="-120"/>
              </a:rPr>
              <a:t>0</a:t>
            </a:r>
            <a:r>
              <a:rPr lang="en-US" sz="1500" dirty="0">
                <a:solidFill>
                  <a:srgbClr val="FFFFFF"/>
                </a:solidFill>
                <a:latin typeface="Calibri" pitchFamily="34" charset="0"/>
                <a:ea typeface="Calibri" pitchFamily="34" charset="-122"/>
                <a:cs typeface="Calibri" pitchFamily="34" charset="-120"/>
              </a:rPr>
              <a:t> and the loop ends.</a:t>
            </a:r>
            <a:endParaRPr lang="en-US" sz="1500" dirty="0"/>
          </a:p>
        </p:txBody>
      </p:sp>
      <p:sp>
        <p:nvSpPr>
          <p:cNvPr id="46" name="Text 44"/>
          <p:cNvSpPr txBox="1"/>
          <p:nvPr/>
        </p:nvSpPr>
        <p:spPr>
          <a:xfrm>
            <a:off x="640080" y="5852160"/>
            <a:ext cx="10908792" cy="256032"/>
          </a:xfrm>
          <a:prstGeom prst="rect">
            <a:avLst/>
          </a:prstGeom>
          <a:noFill/>
          <a:ln/>
        </p:spPr>
        <p:txBody>
          <a:bodyPr wrap="square" lIns="0" tIns="0" rIns="0" bIns="0" rtlCol="0" anchor="t"/>
          <a:lstStyle/>
          <a:p>
            <a:pPr marL="0" indent="0" algn="l">
              <a:buNone/>
            </a:pPr>
            <a:r>
              <a:rPr lang="en-US" sz="1150" dirty="0">
                <a:solidFill>
                  <a:srgbClr val="5C6B83"/>
                </a:solidFill>
                <a:latin typeface="Calibri" pitchFamily="34" charset="0"/>
                <a:ea typeface="Calibri" pitchFamily="34" charset="-122"/>
                <a:cs typeface="Calibri" pitchFamily="34" charset="-120"/>
              </a:rPr>
              <a:t>CL is the low half of CX, just like AL is the low half of AX. Leave CL alone while a loop runs.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marL="0" indent="0" algn="l">
              <a:buNone/>
            </a:pPr>
            <a:r>
              <a:rPr lang="en-US" sz="1050" b="1" kern="0" spc="160" dirty="0">
                <a:solidFill>
                  <a:srgbClr val="93A0B2"/>
                </a:solidFill>
                <a:latin typeface="Courier New" pitchFamily="34" charset="0"/>
                <a:ea typeface="Courier New" pitchFamily="34" charset="-122"/>
                <a:cs typeface="Courier New" pitchFamily="34" charset="-120"/>
              </a:rPr>
              <a:t>3 · LABELS</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marL="0" indent="0" algn="l">
              <a:buNone/>
            </a:pPr>
            <a:r>
              <a:rPr lang="en-US" sz="3200" b="1" dirty="0">
                <a:solidFill>
                  <a:srgbClr val="0F1622"/>
                </a:solidFill>
                <a:latin typeface="Arial" pitchFamily="34" charset="0"/>
                <a:ea typeface="Arial" pitchFamily="34" charset="-122"/>
                <a:cs typeface="Arial" pitchFamily="34" charset="-120"/>
              </a:rPr>
              <a:t>A label marks where to go back to</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marL="0" indent="0" algn="l">
              <a:buNone/>
            </a:pPr>
            <a:r>
              <a:rPr lang="en-US" sz="1500" dirty="0">
                <a:solidFill>
                  <a:srgbClr val="5B6779"/>
                </a:solidFill>
                <a:latin typeface="Calibri" pitchFamily="34" charset="0"/>
                <a:ea typeface="Calibri" pitchFamily="34" charset="-122"/>
                <a:cs typeface="Calibri" pitchFamily="34" charset="-120"/>
              </a:rPr>
              <a:t>Give a line a name. LOOP jumps back to that name.</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marL="0" indent="0" algn="l">
              <a:buNone/>
            </a:pPr>
            <a:r>
              <a:rPr lang="en-US" sz="900" kern="0" spc="120" dirty="0">
                <a:solidFill>
                  <a:srgbClr val="93A0B2"/>
                </a:solidFill>
                <a:latin typeface="Courier New" pitchFamily="34" charset="0"/>
                <a:ea typeface="Courier New" pitchFamily="34" charset="-122"/>
                <a:cs typeface="Courier New" pitchFamily="34" charset="-120"/>
              </a:rPr>
              <a:t>COAL  ·  LAB 04</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marL="0" indent="0" algn="r">
              <a:buNone/>
            </a:pPr>
            <a:r>
              <a:rPr lang="en-US" sz="900" dirty="0">
                <a:solidFill>
                  <a:srgbClr val="93A0B2"/>
                </a:solidFill>
                <a:latin typeface="Courier New" pitchFamily="34" charset="0"/>
                <a:ea typeface="Courier New" pitchFamily="34" charset="-122"/>
                <a:cs typeface="Courier New" pitchFamily="34" charset="-120"/>
              </a:rPr>
              <a:t>04</a:t>
            </a:r>
            <a:endParaRPr lang="en-US" sz="900" dirty="0"/>
          </a:p>
        </p:txBody>
      </p:sp>
      <p:sp>
        <p:nvSpPr>
          <p:cNvPr id="7" name="Shape 5"/>
          <p:cNvSpPr/>
          <p:nvPr/>
        </p:nvSpPr>
        <p:spPr>
          <a:xfrm>
            <a:off x="640080" y="1810512"/>
            <a:ext cx="5669280" cy="3108960"/>
          </a:xfrm>
          <a:prstGeom prst="roundRect">
            <a:avLst>
              <a:gd name="adj" fmla="val 6670"/>
            </a:avLst>
          </a:prstGeom>
          <a:solidFill>
            <a:srgbClr val="121A29"/>
          </a:solidFill>
          <a:ln w="12700">
            <a:solidFill>
              <a:srgbClr val="2B3850"/>
            </a:solidFill>
            <a:prstDash val="solid"/>
          </a:ln>
        </p:spPr>
        <p:txBody>
          <a:bodyPr/>
          <a:lstStyle/>
          <a:p>
            <a:endParaRPr lang="en-US"/>
          </a:p>
        </p:txBody>
      </p:sp>
      <p:sp>
        <p:nvSpPr>
          <p:cNvPr id="8" name="Text 6"/>
          <p:cNvSpPr txBox="1"/>
          <p:nvPr/>
        </p:nvSpPr>
        <p:spPr>
          <a:xfrm>
            <a:off x="1005840" y="2057400"/>
            <a:ext cx="4206240" cy="457200"/>
          </a:xfrm>
          <a:prstGeom prst="rect">
            <a:avLst/>
          </a:prstGeom>
          <a:noFill/>
          <a:ln/>
        </p:spPr>
        <p:txBody>
          <a:bodyPr wrap="square" lIns="0" tIns="0" rIns="0" bIns="0" rtlCol="0" anchor="ctr"/>
          <a:lstStyle/>
          <a:p>
            <a:pPr marL="0" indent="0" algn="l">
              <a:buNone/>
            </a:pPr>
            <a:r>
              <a:rPr lang="en-US" sz="2200" b="1" dirty="0">
                <a:solidFill>
                  <a:srgbClr val="58B98A"/>
                </a:solidFill>
                <a:latin typeface="Courier New" pitchFamily="34" charset="0"/>
                <a:ea typeface="Courier New" pitchFamily="34" charset="-122"/>
                <a:cs typeface="Courier New" pitchFamily="34" charset="-120"/>
              </a:rPr>
              <a:t>again:</a:t>
            </a:r>
            <a:endParaRPr lang="en-US" sz="1400" dirty="0"/>
          </a:p>
        </p:txBody>
      </p:sp>
      <p:sp>
        <p:nvSpPr>
          <p:cNvPr id="9" name="Text 7"/>
          <p:cNvSpPr txBox="1"/>
          <p:nvPr/>
        </p:nvSpPr>
        <p:spPr>
          <a:xfrm>
            <a:off x="1005840" y="2560320"/>
            <a:ext cx="4206240" cy="457200"/>
          </a:xfrm>
          <a:prstGeom prst="rect">
            <a:avLst/>
          </a:prstGeom>
          <a:noFill/>
          <a:ln/>
        </p:spPr>
        <p:txBody>
          <a:bodyPr wrap="square" lIns="0" tIns="0" rIns="0" bIns="0" rtlCol="0" anchor="ctr"/>
          <a:lstStyle/>
          <a:p>
            <a:pPr marL="0" indent="0" algn="l">
              <a:buNone/>
            </a:pPr>
            <a:r>
              <a:rPr lang="en-US" sz="2200" dirty="0">
                <a:solidFill>
                  <a:srgbClr val="F0F3F8"/>
                </a:solidFill>
                <a:latin typeface="Courier New" pitchFamily="34" charset="0"/>
                <a:ea typeface="Courier New" pitchFamily="34" charset="-122"/>
                <a:cs typeface="Courier New" pitchFamily="34" charset="-120"/>
              </a:rPr>
              <a:t> </a:t>
            </a:r>
            <a:endParaRPr lang="en-US" sz="1400" dirty="0"/>
          </a:p>
        </p:txBody>
      </p:sp>
      <p:sp>
        <p:nvSpPr>
          <p:cNvPr id="10" name="Text 8"/>
          <p:cNvSpPr txBox="1"/>
          <p:nvPr/>
        </p:nvSpPr>
        <p:spPr>
          <a:xfrm>
            <a:off x="1005840" y="3063240"/>
            <a:ext cx="4206240" cy="457200"/>
          </a:xfrm>
          <a:prstGeom prst="rect">
            <a:avLst/>
          </a:prstGeom>
          <a:noFill/>
          <a:ln/>
        </p:spPr>
        <p:txBody>
          <a:bodyPr wrap="square" lIns="0" tIns="0" rIns="0" bIns="0" rtlCol="0" anchor="ctr"/>
          <a:lstStyle/>
          <a:p>
            <a:pPr marL="0" indent="0" algn="l">
              <a:buNone/>
            </a:pPr>
            <a:r>
              <a:rPr lang="en-US" sz="2200" b="1" dirty="0">
                <a:solidFill>
                  <a:srgbClr val="F0F3F8"/>
                </a:solidFill>
                <a:latin typeface="Courier New" pitchFamily="34" charset="0"/>
                <a:ea typeface="Courier New" pitchFamily="34" charset="-122"/>
                <a:cs typeface="Courier New" pitchFamily="34" charset="-120"/>
              </a:rPr>
              <a:t>    </a:t>
            </a:r>
            <a:r>
              <a:rPr lang="en-US" sz="2200" dirty="0">
                <a:solidFill>
                  <a:srgbClr val="6B7A93"/>
                </a:solidFill>
                <a:latin typeface="Courier New" pitchFamily="34" charset="0"/>
                <a:ea typeface="Courier New" pitchFamily="34" charset="-122"/>
                <a:cs typeface="Courier New" pitchFamily="34" charset="-120"/>
              </a:rPr>
              <a:t>; instructions</a:t>
            </a:r>
            <a:endParaRPr lang="en-US" sz="1400" dirty="0"/>
          </a:p>
        </p:txBody>
      </p:sp>
      <p:sp>
        <p:nvSpPr>
          <p:cNvPr id="11" name="Text 9"/>
          <p:cNvSpPr txBox="1"/>
          <p:nvPr/>
        </p:nvSpPr>
        <p:spPr>
          <a:xfrm>
            <a:off x="1005840" y="3566160"/>
            <a:ext cx="4206240" cy="457200"/>
          </a:xfrm>
          <a:prstGeom prst="rect">
            <a:avLst/>
          </a:prstGeom>
          <a:noFill/>
          <a:ln/>
        </p:spPr>
        <p:txBody>
          <a:bodyPr wrap="square" lIns="0" tIns="0" rIns="0" bIns="0" rtlCol="0" anchor="ctr"/>
          <a:lstStyle/>
          <a:p>
            <a:pPr marL="0" indent="0" algn="l">
              <a:buNone/>
            </a:pPr>
            <a:r>
              <a:rPr lang="en-US" sz="2200" b="1" dirty="0">
                <a:solidFill>
                  <a:srgbClr val="F0F3F8"/>
                </a:solidFill>
                <a:latin typeface="Courier New" pitchFamily="34" charset="0"/>
                <a:ea typeface="Courier New" pitchFamily="34" charset="-122"/>
                <a:cs typeface="Courier New" pitchFamily="34" charset="-120"/>
              </a:rPr>
              <a:t>    </a:t>
            </a:r>
            <a:r>
              <a:rPr lang="en-US" sz="2200" dirty="0">
                <a:solidFill>
                  <a:srgbClr val="6B7A93"/>
                </a:solidFill>
                <a:latin typeface="Courier New" pitchFamily="34" charset="0"/>
                <a:ea typeface="Courier New" pitchFamily="34" charset="-122"/>
                <a:cs typeface="Courier New" pitchFamily="34" charset="-120"/>
              </a:rPr>
              <a:t>; to repeat</a:t>
            </a:r>
            <a:endParaRPr lang="en-US" sz="1400" dirty="0"/>
          </a:p>
        </p:txBody>
      </p:sp>
      <p:sp>
        <p:nvSpPr>
          <p:cNvPr id="12" name="Text 10"/>
          <p:cNvSpPr txBox="1"/>
          <p:nvPr/>
        </p:nvSpPr>
        <p:spPr>
          <a:xfrm>
            <a:off x="1005840" y="4069080"/>
            <a:ext cx="4206240" cy="457200"/>
          </a:xfrm>
          <a:prstGeom prst="rect">
            <a:avLst/>
          </a:prstGeom>
          <a:noFill/>
          <a:ln/>
        </p:spPr>
        <p:txBody>
          <a:bodyPr wrap="square" lIns="0" tIns="0" rIns="0" bIns="0" rtlCol="0" anchor="ctr"/>
          <a:lstStyle/>
          <a:p>
            <a:pPr marL="0" indent="0" algn="l">
              <a:buNone/>
            </a:pPr>
            <a:r>
              <a:rPr lang="en-US" sz="2200" b="1" dirty="0">
                <a:solidFill>
                  <a:srgbClr val="F0F3F8"/>
                </a:solidFill>
                <a:latin typeface="Courier New" pitchFamily="34" charset="0"/>
                <a:ea typeface="Courier New" pitchFamily="34" charset="-122"/>
                <a:cs typeface="Courier New" pitchFamily="34" charset="-120"/>
              </a:rPr>
              <a:t>    </a:t>
            </a:r>
            <a:r>
              <a:rPr lang="en-US" sz="2200" b="1" dirty="0">
                <a:solidFill>
                  <a:srgbClr val="EDA63F"/>
                </a:solidFill>
                <a:latin typeface="Courier New" pitchFamily="34" charset="0"/>
                <a:ea typeface="Courier New" pitchFamily="34" charset="-122"/>
                <a:cs typeface="Courier New" pitchFamily="34" charset="-120"/>
              </a:rPr>
              <a:t>loop</a:t>
            </a:r>
            <a:r>
              <a:rPr lang="en-US" sz="2200" b="1" dirty="0">
                <a:solidFill>
                  <a:srgbClr val="F0F3F8"/>
                </a:solidFill>
                <a:latin typeface="Courier New" pitchFamily="34" charset="0"/>
                <a:ea typeface="Courier New" pitchFamily="34" charset="-122"/>
                <a:cs typeface="Courier New" pitchFamily="34" charset="-120"/>
              </a:rPr>
              <a:t> </a:t>
            </a:r>
            <a:r>
              <a:rPr lang="en-US" sz="2200" b="1" dirty="0">
                <a:solidFill>
                  <a:srgbClr val="58B98A"/>
                </a:solidFill>
                <a:latin typeface="Courier New" pitchFamily="34" charset="0"/>
                <a:ea typeface="Courier New" pitchFamily="34" charset="-122"/>
                <a:cs typeface="Courier New" pitchFamily="34" charset="-120"/>
              </a:rPr>
              <a:t>again</a:t>
            </a:r>
            <a:endParaRPr lang="en-US" sz="1400" dirty="0"/>
          </a:p>
        </p:txBody>
      </p:sp>
      <p:sp>
        <p:nvSpPr>
          <p:cNvPr id="13" name="Shape 11"/>
          <p:cNvSpPr/>
          <p:nvPr/>
        </p:nvSpPr>
        <p:spPr>
          <a:xfrm>
            <a:off x="3566160" y="4297680"/>
            <a:ext cx="1280160" cy="0"/>
          </a:xfrm>
          <a:prstGeom prst="line">
            <a:avLst/>
          </a:prstGeom>
          <a:noFill/>
          <a:ln w="25400">
            <a:solidFill>
              <a:srgbClr val="EDA63F"/>
            </a:solidFill>
            <a:prstDash val="solid"/>
          </a:ln>
        </p:spPr>
        <p:txBody>
          <a:bodyPr/>
          <a:lstStyle/>
          <a:p>
            <a:endParaRPr lang="en-US"/>
          </a:p>
        </p:txBody>
      </p:sp>
      <p:sp>
        <p:nvSpPr>
          <p:cNvPr id="14" name="Shape 12"/>
          <p:cNvSpPr/>
          <p:nvPr/>
        </p:nvSpPr>
        <p:spPr>
          <a:xfrm>
            <a:off x="4846320" y="2286000"/>
            <a:ext cx="0" cy="2011680"/>
          </a:xfrm>
          <a:prstGeom prst="line">
            <a:avLst/>
          </a:prstGeom>
          <a:noFill/>
          <a:ln w="25400">
            <a:solidFill>
              <a:srgbClr val="EDA63F"/>
            </a:solidFill>
            <a:prstDash val="solid"/>
          </a:ln>
        </p:spPr>
        <p:txBody>
          <a:bodyPr/>
          <a:lstStyle/>
          <a:p>
            <a:endParaRPr lang="en-US"/>
          </a:p>
        </p:txBody>
      </p:sp>
      <p:sp>
        <p:nvSpPr>
          <p:cNvPr id="15" name="Shape 13"/>
          <p:cNvSpPr/>
          <p:nvPr/>
        </p:nvSpPr>
        <p:spPr>
          <a:xfrm>
            <a:off x="2194560" y="2286000"/>
            <a:ext cx="2651760" cy="0"/>
          </a:xfrm>
          <a:prstGeom prst="line">
            <a:avLst/>
          </a:prstGeom>
          <a:noFill/>
          <a:ln w="25400">
            <a:solidFill>
              <a:srgbClr val="EDA63F"/>
            </a:solidFill>
            <a:prstDash val="solid"/>
            <a:headEnd type="triangle"/>
          </a:ln>
        </p:spPr>
        <p:txBody>
          <a:bodyPr/>
          <a:lstStyle/>
          <a:p>
            <a:endParaRPr lang="en-US"/>
          </a:p>
        </p:txBody>
      </p:sp>
      <p:sp>
        <p:nvSpPr>
          <p:cNvPr id="16" name="Text 14"/>
          <p:cNvSpPr txBox="1"/>
          <p:nvPr/>
        </p:nvSpPr>
        <p:spPr>
          <a:xfrm>
            <a:off x="4983480" y="2971800"/>
            <a:ext cx="1188720" cy="731520"/>
          </a:xfrm>
          <a:prstGeom prst="rect">
            <a:avLst/>
          </a:prstGeom>
          <a:noFill/>
          <a:ln/>
        </p:spPr>
        <p:txBody>
          <a:bodyPr wrap="square" lIns="0" tIns="0" rIns="0" bIns="0" rtlCol="0" anchor="ctr"/>
          <a:lstStyle/>
          <a:p>
            <a:pPr marL="0" indent="0" algn="l">
              <a:buNone/>
            </a:pPr>
            <a:r>
              <a:rPr lang="en-US" sz="1400" b="1" dirty="0">
                <a:solidFill>
                  <a:srgbClr val="EDA63F"/>
                </a:solidFill>
                <a:latin typeface="Courier New" pitchFamily="34" charset="0"/>
                <a:ea typeface="Courier New" pitchFamily="34" charset="-122"/>
                <a:cs typeface="Courier New" pitchFamily="34" charset="-120"/>
              </a:rPr>
              <a:t>jump</a:t>
            </a:r>
            <a:endParaRPr lang="en-US" sz="1400" dirty="0"/>
          </a:p>
          <a:p>
            <a:pPr marL="0" indent="0" algn="l">
              <a:buNone/>
            </a:pPr>
            <a:r>
              <a:rPr lang="en-US" sz="1400" b="1" dirty="0">
                <a:solidFill>
                  <a:srgbClr val="EDA63F"/>
                </a:solidFill>
                <a:latin typeface="Courier New" pitchFamily="34" charset="0"/>
                <a:ea typeface="Courier New" pitchFamily="34" charset="-122"/>
                <a:cs typeface="Courier New" pitchFamily="34" charset="-120"/>
              </a:rPr>
              <a:t>back</a:t>
            </a:r>
            <a:endParaRPr lang="en-US" sz="1400" dirty="0"/>
          </a:p>
        </p:txBody>
      </p:sp>
      <p:sp>
        <p:nvSpPr>
          <p:cNvPr id="17" name="Shape 15"/>
          <p:cNvSpPr/>
          <p:nvPr/>
        </p:nvSpPr>
        <p:spPr>
          <a:xfrm>
            <a:off x="6675120" y="1810512"/>
            <a:ext cx="4873752" cy="960120"/>
          </a:xfrm>
          <a:prstGeom prst="roundRect">
            <a:avLst>
              <a:gd name="adj" fmla="val 6670"/>
            </a:avLst>
          </a:prstGeom>
          <a:solidFill>
            <a:srgbClr val="F3F5F9"/>
          </a:solidFill>
          <a:ln w="12700">
            <a:solidFill>
              <a:srgbClr val="E2E7EF"/>
            </a:solidFill>
            <a:prstDash val="solid"/>
          </a:ln>
        </p:spPr>
        <p:txBody>
          <a:bodyPr/>
          <a:lstStyle/>
          <a:p>
            <a:endParaRPr lang="en-US"/>
          </a:p>
        </p:txBody>
      </p:sp>
      <p:sp>
        <p:nvSpPr>
          <p:cNvPr id="18" name="Shape 16"/>
          <p:cNvSpPr/>
          <p:nvPr/>
        </p:nvSpPr>
        <p:spPr>
          <a:xfrm>
            <a:off x="6675120" y="1810512"/>
            <a:ext cx="91440" cy="960120"/>
          </a:xfrm>
          <a:prstGeom prst="rect">
            <a:avLst/>
          </a:prstGeom>
          <a:solidFill>
            <a:srgbClr val="18879B"/>
          </a:solidFill>
          <a:ln/>
        </p:spPr>
        <p:txBody>
          <a:bodyPr/>
          <a:lstStyle/>
          <a:p>
            <a:endParaRPr lang="en-US"/>
          </a:p>
        </p:txBody>
      </p:sp>
      <p:sp>
        <p:nvSpPr>
          <p:cNvPr id="19" name="Text 17"/>
          <p:cNvSpPr txBox="1"/>
          <p:nvPr/>
        </p:nvSpPr>
        <p:spPr>
          <a:xfrm>
            <a:off x="6995160" y="1965960"/>
            <a:ext cx="4389120" cy="219456"/>
          </a:xfrm>
          <a:prstGeom prst="rect">
            <a:avLst/>
          </a:prstGeom>
          <a:noFill/>
          <a:ln/>
        </p:spPr>
        <p:txBody>
          <a:bodyPr wrap="square" lIns="0" tIns="0" rIns="0" bIns="0" rtlCol="0" anchor="t"/>
          <a:lstStyle/>
          <a:p>
            <a:pPr marL="0" indent="0" algn="l">
              <a:buNone/>
            </a:pPr>
            <a:r>
              <a:rPr lang="en-US" sz="950" b="1" kern="0" spc="130" dirty="0">
                <a:solidFill>
                  <a:srgbClr val="18879B"/>
                </a:solidFill>
                <a:latin typeface="Courier New" pitchFamily="34" charset="0"/>
                <a:ea typeface="Courier New" pitchFamily="34" charset="-122"/>
                <a:cs typeface="Courier New" pitchFamily="34" charset="-120"/>
              </a:rPr>
              <a:t>THE SPOT TO COME BACK TO</a:t>
            </a:r>
            <a:endParaRPr lang="en-US" sz="950" dirty="0"/>
          </a:p>
        </p:txBody>
      </p:sp>
      <p:sp>
        <p:nvSpPr>
          <p:cNvPr id="20" name="Shape 18"/>
          <p:cNvSpPr/>
          <p:nvPr/>
        </p:nvSpPr>
        <p:spPr>
          <a:xfrm>
            <a:off x="6995160" y="2258568"/>
            <a:ext cx="1737360" cy="411480"/>
          </a:xfrm>
          <a:prstGeom prst="roundRect">
            <a:avLst>
              <a:gd name="adj" fmla="val 6670"/>
            </a:avLst>
          </a:prstGeom>
          <a:solidFill>
            <a:srgbClr val="121A29"/>
          </a:solidFill>
          <a:ln w="12700">
            <a:solidFill>
              <a:srgbClr val="2B3850"/>
            </a:solidFill>
            <a:prstDash val="solid"/>
          </a:ln>
        </p:spPr>
        <p:txBody>
          <a:bodyPr/>
          <a:lstStyle/>
          <a:p>
            <a:endParaRPr lang="en-US"/>
          </a:p>
        </p:txBody>
      </p:sp>
      <p:sp>
        <p:nvSpPr>
          <p:cNvPr id="21" name="Text 19"/>
          <p:cNvSpPr txBox="1"/>
          <p:nvPr/>
        </p:nvSpPr>
        <p:spPr>
          <a:xfrm>
            <a:off x="6995160" y="2258568"/>
            <a:ext cx="1737360" cy="411480"/>
          </a:xfrm>
          <a:prstGeom prst="rect">
            <a:avLst/>
          </a:prstGeom>
          <a:noFill/>
          <a:ln/>
        </p:spPr>
        <p:txBody>
          <a:bodyPr wrap="square" lIns="0" tIns="0" rIns="0" bIns="0" rtlCol="0" anchor="ctr"/>
          <a:lstStyle/>
          <a:p>
            <a:pPr marL="0" indent="0" algn="ctr">
              <a:buNone/>
            </a:pPr>
            <a:r>
              <a:rPr lang="en-US" sz="1600" b="1" dirty="0">
                <a:solidFill>
                  <a:srgbClr val="58B98A"/>
                </a:solidFill>
                <a:latin typeface="Courier New" pitchFamily="34" charset="0"/>
                <a:ea typeface="Courier New" pitchFamily="34" charset="-122"/>
                <a:cs typeface="Courier New" pitchFamily="34" charset="-120"/>
              </a:rPr>
              <a:t>again:</a:t>
            </a:r>
            <a:endParaRPr lang="en-US" sz="1400" dirty="0"/>
          </a:p>
        </p:txBody>
      </p:sp>
      <p:sp>
        <p:nvSpPr>
          <p:cNvPr id="22" name="Text 20"/>
          <p:cNvSpPr txBox="1"/>
          <p:nvPr/>
        </p:nvSpPr>
        <p:spPr>
          <a:xfrm>
            <a:off x="8961120" y="2258568"/>
            <a:ext cx="2468880" cy="411480"/>
          </a:xfrm>
          <a:prstGeom prst="rect">
            <a:avLst/>
          </a:prstGeom>
          <a:noFill/>
          <a:ln/>
        </p:spPr>
        <p:txBody>
          <a:bodyPr wrap="square" lIns="0" tIns="0" rIns="0" bIns="0" rtlCol="0" anchor="ctr"/>
          <a:lstStyle/>
          <a:p>
            <a:pPr marL="0" indent="0" algn="l">
              <a:buNone/>
            </a:pPr>
            <a:r>
              <a:rPr lang="en-US" sz="1400" b="1" dirty="0">
                <a:solidFill>
                  <a:srgbClr val="0F1622"/>
                </a:solidFill>
                <a:latin typeface="Calibri" pitchFamily="34" charset="0"/>
                <a:ea typeface="Calibri" pitchFamily="34" charset="-122"/>
                <a:cs typeface="Calibri" pitchFamily="34" charset="-120"/>
              </a:rPr>
              <a:t>colon at the end</a:t>
            </a:r>
            <a:endParaRPr lang="en-US" sz="1400" dirty="0"/>
          </a:p>
        </p:txBody>
      </p:sp>
      <p:sp>
        <p:nvSpPr>
          <p:cNvPr id="23" name="Shape 21"/>
          <p:cNvSpPr/>
          <p:nvPr/>
        </p:nvSpPr>
        <p:spPr>
          <a:xfrm>
            <a:off x="6675120" y="2926080"/>
            <a:ext cx="4873752" cy="960120"/>
          </a:xfrm>
          <a:prstGeom prst="roundRect">
            <a:avLst>
              <a:gd name="adj" fmla="val 6670"/>
            </a:avLst>
          </a:prstGeom>
          <a:solidFill>
            <a:srgbClr val="F3F5F9"/>
          </a:solidFill>
          <a:ln w="12700">
            <a:solidFill>
              <a:srgbClr val="E2E7EF"/>
            </a:solidFill>
            <a:prstDash val="solid"/>
          </a:ln>
        </p:spPr>
        <p:txBody>
          <a:bodyPr/>
          <a:lstStyle/>
          <a:p>
            <a:endParaRPr lang="en-US"/>
          </a:p>
        </p:txBody>
      </p:sp>
      <p:sp>
        <p:nvSpPr>
          <p:cNvPr id="24" name="Shape 22"/>
          <p:cNvSpPr/>
          <p:nvPr/>
        </p:nvSpPr>
        <p:spPr>
          <a:xfrm>
            <a:off x="6675120" y="2926080"/>
            <a:ext cx="91440" cy="960120"/>
          </a:xfrm>
          <a:prstGeom prst="rect">
            <a:avLst/>
          </a:prstGeom>
          <a:solidFill>
            <a:srgbClr val="6B58CC"/>
          </a:solidFill>
          <a:ln/>
        </p:spPr>
        <p:txBody>
          <a:bodyPr/>
          <a:lstStyle/>
          <a:p>
            <a:endParaRPr lang="en-US"/>
          </a:p>
        </p:txBody>
      </p:sp>
      <p:sp>
        <p:nvSpPr>
          <p:cNvPr id="25" name="Text 23"/>
          <p:cNvSpPr txBox="1"/>
          <p:nvPr/>
        </p:nvSpPr>
        <p:spPr>
          <a:xfrm>
            <a:off x="6995160" y="3081528"/>
            <a:ext cx="4389120" cy="219456"/>
          </a:xfrm>
          <a:prstGeom prst="rect">
            <a:avLst/>
          </a:prstGeom>
          <a:noFill/>
          <a:ln/>
        </p:spPr>
        <p:txBody>
          <a:bodyPr wrap="square" lIns="0" tIns="0" rIns="0" bIns="0" rtlCol="0" anchor="t"/>
          <a:lstStyle/>
          <a:p>
            <a:pPr marL="0" indent="0" algn="l">
              <a:buNone/>
            </a:pPr>
            <a:r>
              <a:rPr lang="en-US" sz="950" b="1" kern="0" spc="130" dirty="0">
                <a:solidFill>
                  <a:srgbClr val="6B58CC"/>
                </a:solidFill>
                <a:latin typeface="Courier New" pitchFamily="34" charset="0"/>
                <a:ea typeface="Courier New" pitchFamily="34" charset="-122"/>
                <a:cs typeface="Courier New" pitchFamily="34" charset="-120"/>
              </a:rPr>
              <a:t>THE JUMP BACK</a:t>
            </a:r>
            <a:endParaRPr lang="en-US" sz="950" dirty="0"/>
          </a:p>
        </p:txBody>
      </p:sp>
      <p:sp>
        <p:nvSpPr>
          <p:cNvPr id="26" name="Shape 24"/>
          <p:cNvSpPr/>
          <p:nvPr/>
        </p:nvSpPr>
        <p:spPr>
          <a:xfrm>
            <a:off x="6995160" y="3374136"/>
            <a:ext cx="1737360" cy="411480"/>
          </a:xfrm>
          <a:prstGeom prst="roundRect">
            <a:avLst>
              <a:gd name="adj" fmla="val 6670"/>
            </a:avLst>
          </a:prstGeom>
          <a:solidFill>
            <a:srgbClr val="121A29"/>
          </a:solidFill>
          <a:ln w="12700">
            <a:solidFill>
              <a:srgbClr val="2B3850"/>
            </a:solidFill>
            <a:prstDash val="solid"/>
          </a:ln>
        </p:spPr>
        <p:txBody>
          <a:bodyPr/>
          <a:lstStyle/>
          <a:p>
            <a:endParaRPr lang="en-US"/>
          </a:p>
        </p:txBody>
      </p:sp>
      <p:sp>
        <p:nvSpPr>
          <p:cNvPr id="27" name="Text 25"/>
          <p:cNvSpPr txBox="1"/>
          <p:nvPr/>
        </p:nvSpPr>
        <p:spPr>
          <a:xfrm>
            <a:off x="6995160" y="3374136"/>
            <a:ext cx="1737360" cy="411480"/>
          </a:xfrm>
          <a:prstGeom prst="rect">
            <a:avLst/>
          </a:prstGeom>
          <a:noFill/>
          <a:ln/>
        </p:spPr>
        <p:txBody>
          <a:bodyPr wrap="square" lIns="0" tIns="0" rIns="0" bIns="0" rtlCol="0" anchor="ctr"/>
          <a:lstStyle/>
          <a:p>
            <a:pPr marL="0" indent="0" algn="ctr">
              <a:buNone/>
            </a:pPr>
            <a:r>
              <a:rPr lang="en-US" sz="1600" b="1" dirty="0">
                <a:solidFill>
                  <a:srgbClr val="EDA63F"/>
                </a:solidFill>
                <a:latin typeface="Courier New" pitchFamily="34" charset="0"/>
                <a:ea typeface="Courier New" pitchFamily="34" charset="-122"/>
                <a:cs typeface="Courier New" pitchFamily="34" charset="-120"/>
              </a:rPr>
              <a:t>loop</a:t>
            </a:r>
            <a:r>
              <a:rPr lang="en-US" sz="1600" b="1" dirty="0">
                <a:solidFill>
                  <a:srgbClr val="F0F3F8"/>
                </a:solidFill>
                <a:latin typeface="Courier New" pitchFamily="34" charset="0"/>
                <a:ea typeface="Courier New" pitchFamily="34" charset="-122"/>
                <a:cs typeface="Courier New" pitchFamily="34" charset="-120"/>
              </a:rPr>
              <a:t> </a:t>
            </a:r>
            <a:r>
              <a:rPr lang="en-US" sz="1600" b="1" dirty="0">
                <a:solidFill>
                  <a:srgbClr val="58B98A"/>
                </a:solidFill>
                <a:latin typeface="Courier New" pitchFamily="34" charset="0"/>
                <a:ea typeface="Courier New" pitchFamily="34" charset="-122"/>
                <a:cs typeface="Courier New" pitchFamily="34" charset="-120"/>
              </a:rPr>
              <a:t>again</a:t>
            </a:r>
            <a:endParaRPr lang="en-US" sz="1400" dirty="0"/>
          </a:p>
        </p:txBody>
      </p:sp>
      <p:sp>
        <p:nvSpPr>
          <p:cNvPr id="28" name="Text 26"/>
          <p:cNvSpPr txBox="1"/>
          <p:nvPr/>
        </p:nvSpPr>
        <p:spPr>
          <a:xfrm>
            <a:off x="8961120" y="3374136"/>
            <a:ext cx="2468880" cy="411480"/>
          </a:xfrm>
          <a:prstGeom prst="rect">
            <a:avLst/>
          </a:prstGeom>
          <a:noFill/>
          <a:ln/>
        </p:spPr>
        <p:txBody>
          <a:bodyPr wrap="square" lIns="0" tIns="0" rIns="0" bIns="0" rtlCol="0" anchor="ctr"/>
          <a:lstStyle/>
          <a:p>
            <a:pPr marL="0" indent="0" algn="l">
              <a:buNone/>
            </a:pPr>
            <a:r>
              <a:rPr lang="en-US" sz="1400" b="1" dirty="0">
                <a:solidFill>
                  <a:srgbClr val="0F1622"/>
                </a:solidFill>
                <a:latin typeface="Calibri" pitchFamily="34" charset="0"/>
                <a:ea typeface="Calibri" pitchFamily="34" charset="-122"/>
                <a:cs typeface="Calibri" pitchFamily="34" charset="-120"/>
              </a:rPr>
              <a:t>no colon here</a:t>
            </a:r>
            <a:endParaRPr lang="en-US" sz="1400" dirty="0"/>
          </a:p>
        </p:txBody>
      </p:sp>
      <p:sp>
        <p:nvSpPr>
          <p:cNvPr id="29" name="Shape 27"/>
          <p:cNvSpPr/>
          <p:nvPr/>
        </p:nvSpPr>
        <p:spPr>
          <a:xfrm>
            <a:off x="6675120" y="4041648"/>
            <a:ext cx="4873752" cy="877824"/>
          </a:xfrm>
          <a:prstGeom prst="roundRect">
            <a:avLst>
              <a:gd name="adj" fmla="val 6670"/>
            </a:avLst>
          </a:prstGeom>
          <a:solidFill>
            <a:srgbClr val="F3F5F9"/>
          </a:solidFill>
          <a:ln w="12700">
            <a:solidFill>
              <a:srgbClr val="E2E7EF"/>
            </a:solidFill>
            <a:prstDash val="solid"/>
          </a:ln>
        </p:spPr>
        <p:txBody>
          <a:bodyPr/>
          <a:lstStyle/>
          <a:p>
            <a:endParaRPr lang="en-US"/>
          </a:p>
        </p:txBody>
      </p:sp>
      <p:sp>
        <p:nvSpPr>
          <p:cNvPr id="30" name="Shape 28"/>
          <p:cNvSpPr/>
          <p:nvPr/>
        </p:nvSpPr>
        <p:spPr>
          <a:xfrm>
            <a:off x="6675120" y="4041648"/>
            <a:ext cx="91440" cy="877824"/>
          </a:xfrm>
          <a:prstGeom prst="rect">
            <a:avLst/>
          </a:prstGeom>
          <a:solidFill>
            <a:srgbClr val="D98A1F"/>
          </a:solidFill>
          <a:ln/>
        </p:spPr>
        <p:txBody>
          <a:bodyPr/>
          <a:lstStyle/>
          <a:p>
            <a:endParaRPr lang="en-US"/>
          </a:p>
        </p:txBody>
      </p:sp>
      <p:sp>
        <p:nvSpPr>
          <p:cNvPr id="31" name="Text 29"/>
          <p:cNvSpPr txBox="1"/>
          <p:nvPr/>
        </p:nvSpPr>
        <p:spPr>
          <a:xfrm>
            <a:off x="6995160" y="4197096"/>
            <a:ext cx="4389120" cy="219456"/>
          </a:xfrm>
          <a:prstGeom prst="rect">
            <a:avLst/>
          </a:prstGeom>
          <a:noFill/>
          <a:ln/>
        </p:spPr>
        <p:txBody>
          <a:bodyPr wrap="square" lIns="0" tIns="0" rIns="0" bIns="0" rtlCol="0" anchor="t"/>
          <a:lstStyle/>
          <a:p>
            <a:pPr marL="0" indent="0" algn="l">
              <a:buNone/>
            </a:pPr>
            <a:r>
              <a:rPr lang="en-US" sz="950" b="1" kern="0" spc="130" dirty="0">
                <a:solidFill>
                  <a:srgbClr val="D98A1F"/>
                </a:solidFill>
                <a:latin typeface="Courier New" pitchFamily="34" charset="0"/>
                <a:ea typeface="Courier New" pitchFamily="34" charset="-122"/>
                <a:cs typeface="Courier New" pitchFamily="34" charset="-120"/>
              </a:rPr>
              <a:t>ANY NAME WORKS</a:t>
            </a:r>
            <a:endParaRPr lang="en-US" sz="950" dirty="0"/>
          </a:p>
        </p:txBody>
      </p:sp>
      <p:sp>
        <p:nvSpPr>
          <p:cNvPr id="32" name="Text 30"/>
          <p:cNvSpPr txBox="1"/>
          <p:nvPr/>
        </p:nvSpPr>
        <p:spPr>
          <a:xfrm>
            <a:off x="6995160" y="4443984"/>
            <a:ext cx="4480560" cy="329184"/>
          </a:xfrm>
          <a:prstGeom prst="rect">
            <a:avLst/>
          </a:prstGeom>
          <a:noFill/>
          <a:ln/>
        </p:spPr>
        <p:txBody>
          <a:bodyPr wrap="square" lIns="0" tIns="0" rIns="0" bIns="0" rtlCol="0" anchor="ctr"/>
          <a:lstStyle/>
          <a:p>
            <a:pPr marL="0" indent="0" algn="l">
              <a:buNone/>
            </a:pPr>
            <a:r>
              <a:rPr lang="en-US" sz="1400" b="1" dirty="0">
                <a:solidFill>
                  <a:srgbClr val="D98A1F"/>
                </a:solidFill>
                <a:latin typeface="Courier New" pitchFamily="34" charset="0"/>
                <a:ea typeface="Courier New" pitchFamily="34" charset="-122"/>
                <a:cs typeface="Courier New" pitchFamily="34" charset="-120"/>
              </a:rPr>
              <a:t>again   print   L1</a:t>
            </a:r>
            <a:r>
              <a:rPr lang="en-US" sz="1400" b="1" dirty="0">
                <a:solidFill>
                  <a:srgbClr val="0F1622"/>
                </a:solidFill>
                <a:latin typeface="Calibri" pitchFamily="34" charset="0"/>
                <a:ea typeface="Calibri" pitchFamily="34" charset="-122"/>
                <a:cs typeface="Calibri" pitchFamily="34" charset="-120"/>
              </a:rPr>
              <a:t>    same name in both places</a:t>
            </a:r>
            <a:endParaRPr lang="en-US" sz="1400" dirty="0"/>
          </a:p>
        </p:txBody>
      </p:sp>
      <p:sp>
        <p:nvSpPr>
          <p:cNvPr id="33" name="Shape 31"/>
          <p:cNvSpPr/>
          <p:nvPr/>
        </p:nvSpPr>
        <p:spPr>
          <a:xfrm>
            <a:off x="640080" y="5349240"/>
            <a:ext cx="10908792" cy="566928"/>
          </a:xfrm>
          <a:prstGeom prst="roundRect">
            <a:avLst>
              <a:gd name="adj" fmla="val 6670"/>
            </a:avLst>
          </a:prstGeom>
          <a:solidFill>
            <a:srgbClr val="0F1622"/>
          </a:solidFill>
          <a:ln/>
        </p:spPr>
        <p:txBody>
          <a:bodyPr/>
          <a:lstStyle/>
          <a:p>
            <a:endParaRPr lang="en-US"/>
          </a:p>
        </p:txBody>
      </p:sp>
      <p:sp>
        <p:nvSpPr>
          <p:cNvPr id="34" name="Text 32"/>
          <p:cNvSpPr txBox="1"/>
          <p:nvPr/>
        </p:nvSpPr>
        <p:spPr>
          <a:xfrm>
            <a:off x="640080" y="5349240"/>
            <a:ext cx="10908792" cy="566928"/>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A label does nothing by itself. It is a bookmark for a line.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E1420"/>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marL="0" indent="0" algn="l">
              <a:buNone/>
            </a:pPr>
            <a:r>
              <a:rPr lang="en-US" sz="1050" b="1" kern="0" spc="160" dirty="0">
                <a:solidFill>
                  <a:srgbClr val="5C6B83"/>
                </a:solidFill>
                <a:latin typeface="Courier New" pitchFamily="34" charset="0"/>
                <a:ea typeface="Courier New" pitchFamily="34" charset="-122"/>
                <a:cs typeface="Courier New" pitchFamily="34" charset="-120"/>
              </a:rPr>
              <a:t>4 · LOOP</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marL="0" indent="0" algn="l">
              <a:buNone/>
            </a:pPr>
            <a:r>
              <a:rPr lang="en-US" sz="3200" b="1" dirty="0">
                <a:solidFill>
                  <a:srgbClr val="F0F3F8"/>
                </a:solidFill>
                <a:latin typeface="Arial" pitchFamily="34" charset="0"/>
                <a:ea typeface="Arial" pitchFamily="34" charset="-122"/>
                <a:cs typeface="Arial" pitchFamily="34" charset="-120"/>
              </a:rPr>
              <a:t>LOOP: repeat a block CX times</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marL="0" indent="0" algn="l">
              <a:buNone/>
            </a:pPr>
            <a:r>
              <a:rPr lang="en-US" sz="1500" dirty="0">
                <a:solidFill>
                  <a:srgbClr val="94A3B8"/>
                </a:solidFill>
                <a:latin typeface="Calibri" pitchFamily="34" charset="0"/>
                <a:ea typeface="Calibri" pitchFamily="34" charset="-122"/>
                <a:cs typeface="Calibri" pitchFamily="34" charset="-120"/>
              </a:rPr>
              <a:t>Set CX, mark the start with a label, end the block with loop.</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marL="0" indent="0" algn="l">
              <a:buNone/>
            </a:pPr>
            <a:r>
              <a:rPr lang="en-US" sz="900" kern="0" spc="120" dirty="0">
                <a:solidFill>
                  <a:srgbClr val="5C6B83"/>
                </a:solidFill>
                <a:latin typeface="Courier New" pitchFamily="34" charset="0"/>
                <a:ea typeface="Courier New" pitchFamily="34" charset="-122"/>
                <a:cs typeface="Courier New" pitchFamily="34" charset="-120"/>
              </a:rPr>
              <a:t>COAL  ·  LAB 04</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marL="0" indent="0" algn="r">
              <a:buNone/>
            </a:pPr>
            <a:r>
              <a:rPr lang="en-US" sz="900" dirty="0">
                <a:solidFill>
                  <a:srgbClr val="5C6B83"/>
                </a:solidFill>
                <a:latin typeface="Courier New" pitchFamily="34" charset="0"/>
                <a:ea typeface="Courier New" pitchFamily="34" charset="-122"/>
                <a:cs typeface="Courier New" pitchFamily="34" charset="-120"/>
              </a:rPr>
              <a:t>05</a:t>
            </a:r>
            <a:endParaRPr lang="en-US" sz="900" dirty="0"/>
          </a:p>
        </p:txBody>
      </p:sp>
      <p:sp>
        <p:nvSpPr>
          <p:cNvPr id="7" name="Shape 5"/>
          <p:cNvSpPr/>
          <p:nvPr/>
        </p:nvSpPr>
        <p:spPr>
          <a:xfrm>
            <a:off x="640080" y="1810512"/>
            <a:ext cx="5760720" cy="2852928"/>
          </a:xfrm>
          <a:prstGeom prst="roundRect">
            <a:avLst>
              <a:gd name="adj" fmla="val 6670"/>
            </a:avLst>
          </a:prstGeom>
          <a:solidFill>
            <a:srgbClr val="121A29"/>
          </a:solidFill>
          <a:ln w="12700">
            <a:solidFill>
              <a:srgbClr val="2B3850"/>
            </a:solidFill>
            <a:prstDash val="solid"/>
          </a:ln>
        </p:spPr>
        <p:txBody>
          <a:bodyPr/>
          <a:lstStyle/>
          <a:p>
            <a:endParaRPr lang="en-US"/>
          </a:p>
        </p:txBody>
      </p:sp>
      <p:sp>
        <p:nvSpPr>
          <p:cNvPr id="8" name="Shape 6"/>
          <p:cNvSpPr/>
          <p:nvPr/>
        </p:nvSpPr>
        <p:spPr>
          <a:xfrm>
            <a:off x="777240" y="4032504"/>
            <a:ext cx="5486400" cy="457200"/>
          </a:xfrm>
          <a:prstGeom prst="roundRect">
            <a:avLst>
              <a:gd name="adj" fmla="val 6670"/>
            </a:avLst>
          </a:prstGeom>
          <a:solidFill>
            <a:srgbClr val="2A2113"/>
          </a:solidFill>
          <a:ln w="12700">
            <a:solidFill>
              <a:srgbClr val="4A3620"/>
            </a:solidFill>
            <a:prstDash val="solid"/>
          </a:ln>
        </p:spPr>
        <p:txBody>
          <a:bodyPr/>
          <a:lstStyle/>
          <a:p>
            <a:endParaRPr lang="en-US"/>
          </a:p>
        </p:txBody>
      </p:sp>
      <p:sp>
        <p:nvSpPr>
          <p:cNvPr id="9" name="Text 7"/>
          <p:cNvSpPr txBox="1"/>
          <p:nvPr/>
        </p:nvSpPr>
        <p:spPr>
          <a:xfrm>
            <a:off x="960120" y="1965960"/>
            <a:ext cx="5349240" cy="384048"/>
          </a:xfrm>
          <a:prstGeom prst="rect">
            <a:avLst/>
          </a:prstGeom>
          <a:noFill/>
          <a:ln/>
        </p:spPr>
        <p:txBody>
          <a:bodyPr wrap="square" lIns="0" tIns="0" rIns="0" bIns="0" rtlCol="0" anchor="ctr"/>
          <a:lstStyle/>
          <a:p>
            <a:pPr marL="0" indent="0" algn="l">
              <a:buNone/>
            </a:pPr>
            <a:r>
              <a:rPr lang="en-US" sz="1550" b="1" dirty="0">
                <a:solidFill>
                  <a:srgbClr val="EDA63F"/>
                </a:solidFill>
                <a:latin typeface="Courier New" pitchFamily="34" charset="0"/>
                <a:ea typeface="Courier New" pitchFamily="34" charset="-122"/>
                <a:cs typeface="Courier New" pitchFamily="34" charset="-120"/>
              </a:rPr>
              <a:t>mov</a:t>
            </a: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3EB9CE"/>
                </a:solidFill>
                <a:latin typeface="Courier New" pitchFamily="34" charset="0"/>
                <a:ea typeface="Courier New" pitchFamily="34" charset="-122"/>
                <a:cs typeface="Courier New" pitchFamily="34" charset="-120"/>
              </a:rPr>
              <a:t>cx</a:t>
            </a: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9584E8"/>
                </a:solidFill>
                <a:latin typeface="Courier New" pitchFamily="34" charset="0"/>
                <a:ea typeface="Courier New" pitchFamily="34" charset="-122"/>
                <a:cs typeface="Courier New" pitchFamily="34" charset="-120"/>
              </a:rPr>
              <a:t>5</a:t>
            </a:r>
            <a:r>
              <a:rPr lang="en-US" sz="1550" b="1" dirty="0">
                <a:solidFill>
                  <a:srgbClr val="F0F3F8"/>
                </a:solidFill>
                <a:latin typeface="Courier New" pitchFamily="34" charset="0"/>
                <a:ea typeface="Courier New" pitchFamily="34" charset="-122"/>
                <a:cs typeface="Courier New" pitchFamily="34" charset="-120"/>
              </a:rPr>
              <a:t>        </a:t>
            </a:r>
            <a:r>
              <a:rPr lang="en-US" sz="1550" dirty="0">
                <a:solidFill>
                  <a:srgbClr val="6B7A93"/>
                </a:solidFill>
                <a:latin typeface="Courier New" pitchFamily="34" charset="0"/>
                <a:ea typeface="Courier New" pitchFamily="34" charset="-122"/>
                <a:cs typeface="Courier New" pitchFamily="34" charset="-120"/>
              </a:rPr>
              <a:t>; 5 turns</a:t>
            </a:r>
            <a:endParaRPr lang="en-US" sz="1400" dirty="0"/>
          </a:p>
        </p:txBody>
      </p:sp>
      <p:sp>
        <p:nvSpPr>
          <p:cNvPr id="10" name="Text 8"/>
          <p:cNvSpPr txBox="1"/>
          <p:nvPr/>
        </p:nvSpPr>
        <p:spPr>
          <a:xfrm>
            <a:off x="960120" y="2386584"/>
            <a:ext cx="5349240" cy="384048"/>
          </a:xfrm>
          <a:prstGeom prst="rect">
            <a:avLst/>
          </a:prstGeom>
          <a:noFill/>
          <a:ln/>
        </p:spPr>
        <p:txBody>
          <a:bodyPr wrap="square" lIns="0" tIns="0" rIns="0" bIns="0" rtlCol="0" anchor="ctr"/>
          <a:lstStyle/>
          <a:p>
            <a:pPr marL="0" indent="0" algn="l">
              <a:buNone/>
            </a:pPr>
            <a:r>
              <a:rPr lang="en-US" sz="1550" b="1" dirty="0">
                <a:solidFill>
                  <a:srgbClr val="58B98A"/>
                </a:solidFill>
                <a:latin typeface="Courier New" pitchFamily="34" charset="0"/>
                <a:ea typeface="Courier New" pitchFamily="34" charset="-122"/>
                <a:cs typeface="Courier New" pitchFamily="34" charset="-120"/>
              </a:rPr>
              <a:t>again:</a:t>
            </a:r>
            <a:endParaRPr lang="en-US" sz="1400" dirty="0"/>
          </a:p>
        </p:txBody>
      </p:sp>
      <p:sp>
        <p:nvSpPr>
          <p:cNvPr id="11" name="Text 9"/>
          <p:cNvSpPr txBox="1"/>
          <p:nvPr/>
        </p:nvSpPr>
        <p:spPr>
          <a:xfrm>
            <a:off x="960120" y="2807208"/>
            <a:ext cx="5349240" cy="384048"/>
          </a:xfrm>
          <a:prstGeom prst="rect">
            <a:avLst/>
          </a:prstGeom>
          <a:noFill/>
          <a:ln/>
        </p:spPr>
        <p:txBody>
          <a:bodyPr wrap="square" lIns="0" tIns="0" rIns="0" bIns="0" rtlCol="0" anchor="ctr"/>
          <a:lstStyle/>
          <a:p>
            <a:pPr marL="0" indent="0" algn="l">
              <a:buNone/>
            </a:pP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EDA63F"/>
                </a:solidFill>
                <a:latin typeface="Courier New" pitchFamily="34" charset="0"/>
                <a:ea typeface="Courier New" pitchFamily="34" charset="-122"/>
                <a:cs typeface="Courier New" pitchFamily="34" charset="-120"/>
              </a:rPr>
              <a:t>mov</a:t>
            </a: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3EB9CE"/>
                </a:solidFill>
                <a:latin typeface="Courier New" pitchFamily="34" charset="0"/>
                <a:ea typeface="Courier New" pitchFamily="34" charset="-122"/>
                <a:cs typeface="Courier New" pitchFamily="34" charset="-120"/>
              </a:rPr>
              <a:t>dl</a:t>
            </a: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9584E8"/>
                </a:solidFill>
                <a:latin typeface="Courier New" pitchFamily="34" charset="0"/>
                <a:ea typeface="Courier New" pitchFamily="34" charset="-122"/>
                <a:cs typeface="Courier New" pitchFamily="34" charset="-120"/>
              </a:rPr>
              <a:t>'*'</a:t>
            </a:r>
            <a:r>
              <a:rPr lang="en-US" sz="1550" b="1" dirty="0">
                <a:solidFill>
                  <a:srgbClr val="F0F3F8"/>
                </a:solidFill>
                <a:latin typeface="Courier New" pitchFamily="34" charset="0"/>
                <a:ea typeface="Courier New" pitchFamily="34" charset="-122"/>
                <a:cs typeface="Courier New" pitchFamily="34" charset="-120"/>
              </a:rPr>
              <a:t>  </a:t>
            </a:r>
            <a:r>
              <a:rPr lang="en-US" sz="1550" dirty="0">
                <a:solidFill>
                  <a:srgbClr val="6B7A93"/>
                </a:solidFill>
                <a:latin typeface="Courier New" pitchFamily="34" charset="0"/>
                <a:ea typeface="Courier New" pitchFamily="34" charset="-122"/>
                <a:cs typeface="Courier New" pitchFamily="34" charset="-120"/>
              </a:rPr>
              <a:t>; the star</a:t>
            </a:r>
            <a:endParaRPr lang="en-US" sz="1400" dirty="0"/>
          </a:p>
        </p:txBody>
      </p:sp>
      <p:sp>
        <p:nvSpPr>
          <p:cNvPr id="12" name="Text 10"/>
          <p:cNvSpPr txBox="1"/>
          <p:nvPr/>
        </p:nvSpPr>
        <p:spPr>
          <a:xfrm>
            <a:off x="960120" y="3227832"/>
            <a:ext cx="5349240" cy="384048"/>
          </a:xfrm>
          <a:prstGeom prst="rect">
            <a:avLst/>
          </a:prstGeom>
          <a:noFill/>
          <a:ln/>
        </p:spPr>
        <p:txBody>
          <a:bodyPr wrap="square" lIns="0" tIns="0" rIns="0" bIns="0" rtlCol="0" anchor="ctr"/>
          <a:lstStyle/>
          <a:p>
            <a:pPr marL="0" indent="0" algn="l">
              <a:buNone/>
            </a:pP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EDA63F"/>
                </a:solidFill>
                <a:latin typeface="Courier New" pitchFamily="34" charset="0"/>
                <a:ea typeface="Courier New" pitchFamily="34" charset="-122"/>
                <a:cs typeface="Courier New" pitchFamily="34" charset="-120"/>
              </a:rPr>
              <a:t>mov</a:t>
            </a: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3EB9CE"/>
                </a:solidFill>
                <a:latin typeface="Courier New" pitchFamily="34" charset="0"/>
                <a:ea typeface="Courier New" pitchFamily="34" charset="-122"/>
                <a:cs typeface="Courier New" pitchFamily="34" charset="-120"/>
              </a:rPr>
              <a:t>ah</a:t>
            </a: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9584E8"/>
                </a:solidFill>
                <a:latin typeface="Courier New" pitchFamily="34" charset="0"/>
                <a:ea typeface="Courier New" pitchFamily="34" charset="-122"/>
                <a:cs typeface="Courier New" pitchFamily="34" charset="-120"/>
              </a:rPr>
              <a:t>02h</a:t>
            </a:r>
            <a:r>
              <a:rPr lang="en-US" sz="1550" b="1" dirty="0">
                <a:solidFill>
                  <a:srgbClr val="F0F3F8"/>
                </a:solidFill>
                <a:latin typeface="Courier New" pitchFamily="34" charset="0"/>
                <a:ea typeface="Courier New" pitchFamily="34" charset="-122"/>
                <a:cs typeface="Courier New" pitchFamily="34" charset="-120"/>
              </a:rPr>
              <a:t>  </a:t>
            </a:r>
            <a:r>
              <a:rPr lang="en-US" sz="1550" dirty="0">
                <a:solidFill>
                  <a:srgbClr val="6B7A93"/>
                </a:solidFill>
                <a:latin typeface="Courier New" pitchFamily="34" charset="0"/>
                <a:ea typeface="Courier New" pitchFamily="34" charset="-122"/>
                <a:cs typeface="Courier New" pitchFamily="34" charset="-120"/>
              </a:rPr>
              <a:t>; print DL</a:t>
            </a:r>
            <a:endParaRPr lang="en-US" sz="1400" dirty="0"/>
          </a:p>
        </p:txBody>
      </p:sp>
      <p:sp>
        <p:nvSpPr>
          <p:cNvPr id="13" name="Text 11"/>
          <p:cNvSpPr txBox="1"/>
          <p:nvPr/>
        </p:nvSpPr>
        <p:spPr>
          <a:xfrm>
            <a:off x="960120" y="3648456"/>
            <a:ext cx="5349240" cy="384048"/>
          </a:xfrm>
          <a:prstGeom prst="rect">
            <a:avLst/>
          </a:prstGeom>
          <a:noFill/>
          <a:ln/>
        </p:spPr>
        <p:txBody>
          <a:bodyPr wrap="square" lIns="0" tIns="0" rIns="0" bIns="0" rtlCol="0" anchor="ctr"/>
          <a:lstStyle/>
          <a:p>
            <a:pPr marL="0" indent="0" algn="l">
              <a:buNone/>
            </a:pP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EDA63F"/>
                </a:solidFill>
                <a:latin typeface="Courier New" pitchFamily="34" charset="0"/>
                <a:ea typeface="Courier New" pitchFamily="34" charset="-122"/>
                <a:cs typeface="Courier New" pitchFamily="34" charset="-120"/>
              </a:rPr>
              <a:t>int</a:t>
            </a: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9584E8"/>
                </a:solidFill>
                <a:latin typeface="Courier New" pitchFamily="34" charset="0"/>
                <a:ea typeface="Courier New" pitchFamily="34" charset="-122"/>
                <a:cs typeface="Courier New" pitchFamily="34" charset="-120"/>
              </a:rPr>
              <a:t>21h</a:t>
            </a:r>
            <a:endParaRPr lang="en-US" sz="1400" dirty="0"/>
          </a:p>
        </p:txBody>
      </p:sp>
      <p:sp>
        <p:nvSpPr>
          <p:cNvPr id="14" name="Text 12"/>
          <p:cNvSpPr txBox="1"/>
          <p:nvPr/>
        </p:nvSpPr>
        <p:spPr>
          <a:xfrm>
            <a:off x="960120" y="4069080"/>
            <a:ext cx="5349240" cy="384048"/>
          </a:xfrm>
          <a:prstGeom prst="rect">
            <a:avLst/>
          </a:prstGeom>
          <a:noFill/>
          <a:ln/>
        </p:spPr>
        <p:txBody>
          <a:bodyPr wrap="square" lIns="0" tIns="0" rIns="0" bIns="0" rtlCol="0" anchor="ctr"/>
          <a:lstStyle/>
          <a:p>
            <a:pPr marL="0" indent="0" algn="l">
              <a:buNone/>
            </a:pP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EDA63F"/>
                </a:solidFill>
                <a:latin typeface="Courier New" pitchFamily="34" charset="0"/>
                <a:ea typeface="Courier New" pitchFamily="34" charset="-122"/>
                <a:cs typeface="Courier New" pitchFamily="34" charset="-120"/>
              </a:rPr>
              <a:t>loop</a:t>
            </a: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58B98A"/>
                </a:solidFill>
                <a:latin typeface="Courier New" pitchFamily="34" charset="0"/>
                <a:ea typeface="Courier New" pitchFamily="34" charset="-122"/>
                <a:cs typeface="Courier New" pitchFamily="34" charset="-120"/>
              </a:rPr>
              <a:t>again</a:t>
            </a:r>
            <a:r>
              <a:rPr lang="en-US" sz="1550" b="1" dirty="0">
                <a:solidFill>
                  <a:srgbClr val="F0F3F8"/>
                </a:solidFill>
                <a:latin typeface="Courier New" pitchFamily="34" charset="0"/>
                <a:ea typeface="Courier New" pitchFamily="34" charset="-122"/>
                <a:cs typeface="Courier New" pitchFamily="34" charset="-120"/>
              </a:rPr>
              <a:t>   </a:t>
            </a:r>
            <a:r>
              <a:rPr lang="en-US" sz="1550" dirty="0">
                <a:solidFill>
                  <a:srgbClr val="6B7A93"/>
                </a:solidFill>
                <a:latin typeface="Courier New" pitchFamily="34" charset="0"/>
                <a:ea typeface="Courier New" pitchFamily="34" charset="-122"/>
                <a:cs typeface="Courier New" pitchFamily="34" charset="-120"/>
              </a:rPr>
              <a:t>; CX - 1, go back</a:t>
            </a:r>
            <a:endParaRPr lang="en-US" sz="1400" dirty="0"/>
          </a:p>
        </p:txBody>
      </p:sp>
      <p:sp>
        <p:nvSpPr>
          <p:cNvPr id="15" name="Text 13"/>
          <p:cNvSpPr txBox="1"/>
          <p:nvPr/>
        </p:nvSpPr>
        <p:spPr>
          <a:xfrm>
            <a:off x="6812280" y="1810512"/>
            <a:ext cx="2743200" cy="219456"/>
          </a:xfrm>
          <a:prstGeom prst="rect">
            <a:avLst/>
          </a:prstGeom>
          <a:noFill/>
          <a:ln/>
        </p:spPr>
        <p:txBody>
          <a:bodyPr wrap="square" lIns="0" tIns="0" rIns="0" bIns="0" rtlCol="0" anchor="t"/>
          <a:lstStyle/>
          <a:p>
            <a:pPr marL="0" indent="0" algn="l">
              <a:buNone/>
            </a:pPr>
            <a:r>
              <a:rPr lang="en-US" sz="950" b="1" kern="0" spc="130" dirty="0">
                <a:solidFill>
                  <a:srgbClr val="5C6B83"/>
                </a:solidFill>
                <a:latin typeface="Courier New" pitchFamily="34" charset="0"/>
                <a:ea typeface="Courier New" pitchFamily="34" charset="-122"/>
                <a:cs typeface="Courier New" pitchFamily="34" charset="-120"/>
              </a:rPr>
              <a:t>OUTPUT</a:t>
            </a:r>
            <a:endParaRPr lang="en-US" sz="950" dirty="0"/>
          </a:p>
        </p:txBody>
      </p:sp>
      <p:sp>
        <p:nvSpPr>
          <p:cNvPr id="16" name="Shape 14"/>
          <p:cNvSpPr/>
          <p:nvPr/>
        </p:nvSpPr>
        <p:spPr>
          <a:xfrm>
            <a:off x="6812280" y="2103120"/>
            <a:ext cx="4736592" cy="731520"/>
          </a:xfrm>
          <a:prstGeom prst="roundRect">
            <a:avLst>
              <a:gd name="adj" fmla="val 6670"/>
            </a:avLst>
          </a:prstGeom>
          <a:solidFill>
            <a:srgbClr val="070B12"/>
          </a:solidFill>
          <a:ln w="12700">
            <a:solidFill>
              <a:srgbClr val="2B3850"/>
            </a:solidFill>
            <a:prstDash val="solid"/>
          </a:ln>
        </p:spPr>
        <p:txBody>
          <a:bodyPr/>
          <a:lstStyle/>
          <a:p>
            <a:endParaRPr lang="en-US"/>
          </a:p>
        </p:txBody>
      </p:sp>
      <p:sp>
        <p:nvSpPr>
          <p:cNvPr id="17" name="Text 15"/>
          <p:cNvSpPr txBox="1"/>
          <p:nvPr/>
        </p:nvSpPr>
        <p:spPr>
          <a:xfrm>
            <a:off x="7040880" y="2103120"/>
            <a:ext cx="1828800" cy="731520"/>
          </a:xfrm>
          <a:prstGeom prst="rect">
            <a:avLst/>
          </a:prstGeom>
          <a:noFill/>
          <a:ln/>
        </p:spPr>
        <p:txBody>
          <a:bodyPr wrap="square" lIns="0" tIns="0" rIns="0" bIns="0" rtlCol="0" anchor="ctr"/>
          <a:lstStyle/>
          <a:p>
            <a:pPr marL="0" indent="0" algn="l">
              <a:buNone/>
            </a:pPr>
            <a:r>
              <a:rPr lang="en-US" sz="2600" b="1" dirty="0">
                <a:solidFill>
                  <a:srgbClr val="F0F3F8"/>
                </a:solidFill>
                <a:latin typeface="Courier New" pitchFamily="34" charset="0"/>
                <a:ea typeface="Courier New" pitchFamily="34" charset="-122"/>
                <a:cs typeface="Courier New" pitchFamily="34" charset="-120"/>
              </a:rPr>
              <a:t>*****</a:t>
            </a:r>
            <a:endParaRPr lang="en-US" sz="2600" dirty="0"/>
          </a:p>
        </p:txBody>
      </p:sp>
      <p:sp>
        <p:nvSpPr>
          <p:cNvPr id="18" name="Shape 16"/>
          <p:cNvSpPr/>
          <p:nvPr/>
        </p:nvSpPr>
        <p:spPr>
          <a:xfrm>
            <a:off x="8119872" y="2313432"/>
            <a:ext cx="128016" cy="310896"/>
          </a:xfrm>
          <a:prstGeom prst="rect">
            <a:avLst/>
          </a:prstGeom>
          <a:solidFill>
            <a:srgbClr val="EDA63F"/>
          </a:solidFill>
          <a:ln/>
        </p:spPr>
        <p:txBody>
          <a:bodyPr/>
          <a:lstStyle/>
          <a:p>
            <a:endParaRPr lang="en-US"/>
          </a:p>
        </p:txBody>
      </p:sp>
      <p:sp>
        <p:nvSpPr>
          <p:cNvPr id="19" name="Shape 17"/>
          <p:cNvSpPr/>
          <p:nvPr/>
        </p:nvSpPr>
        <p:spPr>
          <a:xfrm>
            <a:off x="6812280" y="3017520"/>
            <a:ext cx="4736592" cy="1645920"/>
          </a:xfrm>
          <a:prstGeom prst="roundRect">
            <a:avLst>
              <a:gd name="adj" fmla="val 6670"/>
            </a:avLst>
          </a:prstGeom>
          <a:solidFill>
            <a:srgbClr val="182132"/>
          </a:solidFill>
          <a:ln w="12700">
            <a:solidFill>
              <a:srgbClr val="2A3548"/>
            </a:solidFill>
            <a:prstDash val="solid"/>
          </a:ln>
        </p:spPr>
        <p:txBody>
          <a:bodyPr/>
          <a:lstStyle/>
          <a:p>
            <a:endParaRPr lang="en-US"/>
          </a:p>
        </p:txBody>
      </p:sp>
      <p:sp>
        <p:nvSpPr>
          <p:cNvPr id="20" name="Text 18"/>
          <p:cNvSpPr txBox="1"/>
          <p:nvPr/>
        </p:nvSpPr>
        <p:spPr>
          <a:xfrm>
            <a:off x="7086600" y="3182112"/>
            <a:ext cx="4206240" cy="219456"/>
          </a:xfrm>
          <a:prstGeom prst="rect">
            <a:avLst/>
          </a:prstGeom>
          <a:noFill/>
          <a:ln/>
        </p:spPr>
        <p:txBody>
          <a:bodyPr wrap="square" lIns="0" tIns="0" rIns="0" bIns="0" rtlCol="0" anchor="t"/>
          <a:lstStyle/>
          <a:p>
            <a:pPr marL="0" indent="0" algn="l">
              <a:buNone/>
            </a:pPr>
            <a:r>
              <a:rPr lang="en-US" sz="950" b="1" kern="0" spc="130" dirty="0">
                <a:solidFill>
                  <a:srgbClr val="EDA63F"/>
                </a:solidFill>
                <a:latin typeface="Courier New" pitchFamily="34" charset="0"/>
                <a:ea typeface="Courier New" pitchFamily="34" charset="-122"/>
                <a:cs typeface="Courier New" pitchFamily="34" charset="-120"/>
              </a:rPr>
              <a:t>WHAT  loop again  DOES</a:t>
            </a:r>
            <a:endParaRPr lang="en-US" sz="950" dirty="0"/>
          </a:p>
        </p:txBody>
      </p:sp>
      <p:sp>
        <p:nvSpPr>
          <p:cNvPr id="21" name="Shape 19"/>
          <p:cNvSpPr/>
          <p:nvPr/>
        </p:nvSpPr>
        <p:spPr>
          <a:xfrm>
            <a:off x="7086600" y="3547872"/>
            <a:ext cx="256032" cy="256032"/>
          </a:xfrm>
          <a:prstGeom prst="ellipse">
            <a:avLst/>
          </a:prstGeom>
          <a:solidFill>
            <a:srgbClr val="233049"/>
          </a:solidFill>
          <a:ln/>
        </p:spPr>
        <p:txBody>
          <a:bodyPr/>
          <a:lstStyle/>
          <a:p>
            <a:endParaRPr lang="en-US"/>
          </a:p>
        </p:txBody>
      </p:sp>
      <p:sp>
        <p:nvSpPr>
          <p:cNvPr id="22" name="Text 20"/>
          <p:cNvSpPr txBox="1"/>
          <p:nvPr/>
        </p:nvSpPr>
        <p:spPr>
          <a:xfrm>
            <a:off x="7086600" y="3547872"/>
            <a:ext cx="256032" cy="256032"/>
          </a:xfrm>
          <a:prstGeom prst="rect">
            <a:avLst/>
          </a:prstGeom>
          <a:noFill/>
          <a:ln/>
        </p:spPr>
        <p:txBody>
          <a:bodyPr wrap="square" lIns="0" tIns="0" rIns="0" bIns="0" rtlCol="0" anchor="ctr"/>
          <a:lstStyle/>
          <a:p>
            <a:pPr marL="0" indent="0" algn="ctr">
              <a:buNone/>
            </a:pPr>
            <a:r>
              <a:rPr lang="en-US" sz="1000" b="1" dirty="0">
                <a:solidFill>
                  <a:srgbClr val="3EB9CE"/>
                </a:solidFill>
                <a:latin typeface="Courier New" pitchFamily="34" charset="0"/>
                <a:ea typeface="Courier New" pitchFamily="34" charset="-122"/>
                <a:cs typeface="Courier New" pitchFamily="34" charset="-120"/>
              </a:rPr>
              <a:t>1</a:t>
            </a:r>
            <a:endParaRPr lang="en-US" sz="1000" dirty="0"/>
          </a:p>
        </p:txBody>
      </p:sp>
      <p:sp>
        <p:nvSpPr>
          <p:cNvPr id="23" name="Text 21"/>
          <p:cNvSpPr txBox="1"/>
          <p:nvPr/>
        </p:nvSpPr>
        <p:spPr>
          <a:xfrm>
            <a:off x="7498080" y="3520440"/>
            <a:ext cx="3840480" cy="310896"/>
          </a:xfrm>
          <a:prstGeom prst="rect">
            <a:avLst/>
          </a:prstGeom>
          <a:noFill/>
          <a:ln/>
        </p:spPr>
        <p:txBody>
          <a:bodyPr wrap="square" lIns="0" tIns="0" rIns="0" bIns="0" rtlCol="0" anchor="ctr"/>
          <a:lstStyle/>
          <a:p>
            <a:pPr marL="0" indent="0" algn="l">
              <a:buNone/>
            </a:pPr>
            <a:r>
              <a:rPr lang="en-US" sz="1400" b="1" dirty="0">
                <a:solidFill>
                  <a:srgbClr val="F0F3F8"/>
                </a:solidFill>
                <a:latin typeface="Courier New" pitchFamily="34" charset="0"/>
                <a:ea typeface="Courier New" pitchFamily="34" charset="-122"/>
                <a:cs typeface="Courier New" pitchFamily="34" charset="-120"/>
              </a:rPr>
              <a:t>CX = CX − 1</a:t>
            </a:r>
            <a:endParaRPr lang="en-US" sz="1400" dirty="0"/>
          </a:p>
        </p:txBody>
      </p:sp>
      <p:sp>
        <p:nvSpPr>
          <p:cNvPr id="24" name="Shape 22"/>
          <p:cNvSpPr/>
          <p:nvPr/>
        </p:nvSpPr>
        <p:spPr>
          <a:xfrm>
            <a:off x="7086600" y="3913632"/>
            <a:ext cx="256032" cy="256032"/>
          </a:xfrm>
          <a:prstGeom prst="ellipse">
            <a:avLst/>
          </a:prstGeom>
          <a:solidFill>
            <a:srgbClr val="233049"/>
          </a:solidFill>
          <a:ln/>
        </p:spPr>
        <p:txBody>
          <a:bodyPr/>
          <a:lstStyle/>
          <a:p>
            <a:endParaRPr lang="en-US"/>
          </a:p>
        </p:txBody>
      </p:sp>
      <p:sp>
        <p:nvSpPr>
          <p:cNvPr id="25" name="Text 23"/>
          <p:cNvSpPr txBox="1"/>
          <p:nvPr/>
        </p:nvSpPr>
        <p:spPr>
          <a:xfrm>
            <a:off x="7086600" y="3913632"/>
            <a:ext cx="256032" cy="256032"/>
          </a:xfrm>
          <a:prstGeom prst="rect">
            <a:avLst/>
          </a:prstGeom>
          <a:noFill/>
          <a:ln/>
        </p:spPr>
        <p:txBody>
          <a:bodyPr wrap="square" lIns="0" tIns="0" rIns="0" bIns="0" rtlCol="0" anchor="ctr"/>
          <a:lstStyle/>
          <a:p>
            <a:pPr marL="0" indent="0" algn="ctr">
              <a:buNone/>
            </a:pPr>
            <a:r>
              <a:rPr lang="en-US" sz="1000" b="1" dirty="0">
                <a:solidFill>
                  <a:srgbClr val="3EB9CE"/>
                </a:solidFill>
                <a:latin typeface="Courier New" pitchFamily="34" charset="0"/>
                <a:ea typeface="Courier New" pitchFamily="34" charset="-122"/>
                <a:cs typeface="Courier New" pitchFamily="34" charset="-120"/>
              </a:rPr>
              <a:t>2</a:t>
            </a:r>
            <a:endParaRPr lang="en-US" sz="1000" dirty="0"/>
          </a:p>
        </p:txBody>
      </p:sp>
      <p:sp>
        <p:nvSpPr>
          <p:cNvPr id="26" name="Text 24"/>
          <p:cNvSpPr txBox="1"/>
          <p:nvPr/>
        </p:nvSpPr>
        <p:spPr>
          <a:xfrm>
            <a:off x="7498080" y="3886200"/>
            <a:ext cx="3840480" cy="310896"/>
          </a:xfrm>
          <a:prstGeom prst="rect">
            <a:avLst/>
          </a:prstGeom>
          <a:noFill/>
          <a:ln/>
        </p:spPr>
        <p:txBody>
          <a:bodyPr wrap="square" lIns="0" tIns="0" rIns="0" bIns="0" rtlCol="0" anchor="ctr"/>
          <a:lstStyle/>
          <a:p>
            <a:pPr marL="0" indent="0" algn="l">
              <a:buNone/>
            </a:pPr>
            <a:r>
              <a:rPr lang="en-US" sz="1400" b="1" dirty="0">
                <a:solidFill>
                  <a:srgbClr val="F0F3F8"/>
                </a:solidFill>
                <a:latin typeface="Calibri" pitchFamily="34" charset="0"/>
                <a:ea typeface="Calibri" pitchFamily="34" charset="-122"/>
                <a:cs typeface="Calibri" pitchFamily="34" charset="-120"/>
              </a:rPr>
              <a:t>CX not 0?  </a:t>
            </a:r>
            <a:r>
              <a:rPr lang="en-US" sz="1400" dirty="0">
                <a:solidFill>
                  <a:srgbClr val="94A3B8"/>
                </a:solidFill>
                <a:latin typeface="Calibri" pitchFamily="34" charset="0"/>
                <a:ea typeface="Calibri" pitchFamily="34" charset="-122"/>
                <a:cs typeface="Calibri" pitchFamily="34" charset="-120"/>
              </a:rPr>
              <a:t>Jump back to again.</a:t>
            </a:r>
            <a:endParaRPr lang="en-US" sz="1400" dirty="0"/>
          </a:p>
        </p:txBody>
      </p:sp>
      <p:sp>
        <p:nvSpPr>
          <p:cNvPr id="27" name="Shape 25"/>
          <p:cNvSpPr/>
          <p:nvPr/>
        </p:nvSpPr>
        <p:spPr>
          <a:xfrm>
            <a:off x="7086600" y="4279392"/>
            <a:ext cx="256032" cy="256032"/>
          </a:xfrm>
          <a:prstGeom prst="ellipse">
            <a:avLst/>
          </a:prstGeom>
          <a:solidFill>
            <a:srgbClr val="233049"/>
          </a:solidFill>
          <a:ln/>
        </p:spPr>
        <p:txBody>
          <a:bodyPr/>
          <a:lstStyle/>
          <a:p>
            <a:endParaRPr lang="en-US"/>
          </a:p>
        </p:txBody>
      </p:sp>
      <p:sp>
        <p:nvSpPr>
          <p:cNvPr id="28" name="Text 26"/>
          <p:cNvSpPr txBox="1"/>
          <p:nvPr/>
        </p:nvSpPr>
        <p:spPr>
          <a:xfrm>
            <a:off x="7086600" y="4279392"/>
            <a:ext cx="256032" cy="256032"/>
          </a:xfrm>
          <a:prstGeom prst="rect">
            <a:avLst/>
          </a:prstGeom>
          <a:noFill/>
          <a:ln/>
        </p:spPr>
        <p:txBody>
          <a:bodyPr wrap="square" lIns="0" tIns="0" rIns="0" bIns="0" rtlCol="0" anchor="ctr"/>
          <a:lstStyle/>
          <a:p>
            <a:pPr marL="0" indent="0" algn="ctr">
              <a:buNone/>
            </a:pPr>
            <a:r>
              <a:rPr lang="en-US" sz="1000" b="1" dirty="0">
                <a:solidFill>
                  <a:srgbClr val="3EB9CE"/>
                </a:solidFill>
                <a:latin typeface="Courier New" pitchFamily="34" charset="0"/>
                <a:ea typeface="Courier New" pitchFamily="34" charset="-122"/>
                <a:cs typeface="Courier New" pitchFamily="34" charset="-120"/>
              </a:rPr>
              <a:t>3</a:t>
            </a:r>
            <a:endParaRPr lang="en-US" sz="1000" dirty="0"/>
          </a:p>
        </p:txBody>
      </p:sp>
      <p:sp>
        <p:nvSpPr>
          <p:cNvPr id="29" name="Text 27"/>
          <p:cNvSpPr txBox="1"/>
          <p:nvPr/>
        </p:nvSpPr>
        <p:spPr>
          <a:xfrm>
            <a:off x="7498080" y="4251960"/>
            <a:ext cx="3840480" cy="310896"/>
          </a:xfrm>
          <a:prstGeom prst="rect">
            <a:avLst/>
          </a:prstGeom>
          <a:noFill/>
          <a:ln/>
        </p:spPr>
        <p:txBody>
          <a:bodyPr wrap="square" lIns="0" tIns="0" rIns="0" bIns="0" rtlCol="0" anchor="ctr"/>
          <a:lstStyle/>
          <a:p>
            <a:pPr marL="0" indent="0" algn="l">
              <a:buNone/>
            </a:pPr>
            <a:r>
              <a:rPr lang="en-US" sz="1400" b="1" dirty="0">
                <a:solidFill>
                  <a:srgbClr val="F0F3F8"/>
                </a:solidFill>
                <a:latin typeface="Calibri" pitchFamily="34" charset="0"/>
                <a:ea typeface="Calibri" pitchFamily="34" charset="-122"/>
                <a:cs typeface="Calibri" pitchFamily="34" charset="-120"/>
              </a:rPr>
              <a:t>CX is 0?  </a:t>
            </a:r>
            <a:r>
              <a:rPr lang="en-US" sz="1400" dirty="0">
                <a:solidFill>
                  <a:srgbClr val="94A3B8"/>
                </a:solidFill>
                <a:latin typeface="Calibri" pitchFamily="34" charset="0"/>
                <a:ea typeface="Calibri" pitchFamily="34" charset="-122"/>
                <a:cs typeface="Calibri" pitchFamily="34" charset="-120"/>
              </a:rPr>
              <a:t>Go on to the next line.</a:t>
            </a:r>
            <a:endParaRPr lang="en-US" sz="1400" dirty="0"/>
          </a:p>
        </p:txBody>
      </p:sp>
      <p:sp>
        <p:nvSpPr>
          <p:cNvPr id="30" name="Shape 28"/>
          <p:cNvSpPr/>
          <p:nvPr/>
        </p:nvSpPr>
        <p:spPr>
          <a:xfrm>
            <a:off x="640080" y="4919472"/>
            <a:ext cx="1463040" cy="502920"/>
          </a:xfrm>
          <a:prstGeom prst="roundRect">
            <a:avLst>
              <a:gd name="adj" fmla="val 6670"/>
            </a:avLst>
          </a:prstGeom>
          <a:solidFill>
            <a:srgbClr val="182132"/>
          </a:solidFill>
          <a:ln w="12700">
            <a:solidFill>
              <a:srgbClr val="2A3548"/>
            </a:solidFill>
            <a:prstDash val="solid"/>
          </a:ln>
        </p:spPr>
        <p:txBody>
          <a:bodyPr/>
          <a:lstStyle/>
          <a:p>
            <a:endParaRPr lang="en-US"/>
          </a:p>
        </p:txBody>
      </p:sp>
      <p:sp>
        <p:nvSpPr>
          <p:cNvPr id="31" name="Text 29"/>
          <p:cNvSpPr txBox="1"/>
          <p:nvPr/>
        </p:nvSpPr>
        <p:spPr>
          <a:xfrm>
            <a:off x="640080" y="4919472"/>
            <a:ext cx="1463040" cy="502920"/>
          </a:xfrm>
          <a:prstGeom prst="rect">
            <a:avLst/>
          </a:prstGeom>
          <a:noFill/>
          <a:ln/>
        </p:spPr>
        <p:txBody>
          <a:bodyPr wrap="square" lIns="0" tIns="0" rIns="0" bIns="0" rtlCol="0" anchor="ctr"/>
          <a:lstStyle/>
          <a:p>
            <a:pPr marL="0" indent="0" algn="ctr">
              <a:buNone/>
            </a:pPr>
            <a:r>
              <a:rPr lang="en-US" sz="1500" b="1" dirty="0">
                <a:solidFill>
                  <a:srgbClr val="F0F3F8"/>
                </a:solidFill>
                <a:latin typeface="Courier New" pitchFamily="34" charset="0"/>
                <a:ea typeface="Courier New" pitchFamily="34" charset="-122"/>
                <a:cs typeface="Courier New" pitchFamily="34" charset="-120"/>
              </a:rPr>
              <a:t>CX = 5</a:t>
            </a:r>
            <a:endParaRPr lang="en-US" sz="1500" dirty="0"/>
          </a:p>
        </p:txBody>
      </p:sp>
      <p:sp>
        <p:nvSpPr>
          <p:cNvPr id="32" name="Shape 30"/>
          <p:cNvSpPr/>
          <p:nvPr/>
        </p:nvSpPr>
        <p:spPr>
          <a:xfrm>
            <a:off x="2194560" y="5170932"/>
            <a:ext cx="640080" cy="0"/>
          </a:xfrm>
          <a:prstGeom prst="line">
            <a:avLst/>
          </a:prstGeom>
          <a:noFill/>
          <a:ln w="19050">
            <a:solidFill>
              <a:srgbClr val="5C6B83"/>
            </a:solidFill>
            <a:prstDash val="solid"/>
            <a:tailEnd type="triangle"/>
          </a:ln>
        </p:spPr>
        <p:txBody>
          <a:bodyPr/>
          <a:lstStyle/>
          <a:p>
            <a:endParaRPr lang="en-US"/>
          </a:p>
        </p:txBody>
      </p:sp>
      <p:sp>
        <p:nvSpPr>
          <p:cNvPr id="33" name="Shape 31"/>
          <p:cNvSpPr/>
          <p:nvPr/>
        </p:nvSpPr>
        <p:spPr>
          <a:xfrm>
            <a:off x="2926080" y="4919472"/>
            <a:ext cx="1463040" cy="502920"/>
          </a:xfrm>
          <a:prstGeom prst="roundRect">
            <a:avLst>
              <a:gd name="adj" fmla="val 6670"/>
            </a:avLst>
          </a:prstGeom>
          <a:solidFill>
            <a:srgbClr val="182132"/>
          </a:solidFill>
          <a:ln w="12700">
            <a:solidFill>
              <a:srgbClr val="2A3548"/>
            </a:solidFill>
            <a:prstDash val="solid"/>
          </a:ln>
        </p:spPr>
        <p:txBody>
          <a:bodyPr/>
          <a:lstStyle/>
          <a:p>
            <a:endParaRPr lang="en-US"/>
          </a:p>
        </p:txBody>
      </p:sp>
      <p:sp>
        <p:nvSpPr>
          <p:cNvPr id="34" name="Text 32"/>
          <p:cNvSpPr txBox="1"/>
          <p:nvPr/>
        </p:nvSpPr>
        <p:spPr>
          <a:xfrm>
            <a:off x="2926080" y="4919472"/>
            <a:ext cx="1463040" cy="502920"/>
          </a:xfrm>
          <a:prstGeom prst="rect">
            <a:avLst/>
          </a:prstGeom>
          <a:noFill/>
          <a:ln/>
        </p:spPr>
        <p:txBody>
          <a:bodyPr wrap="square" lIns="0" tIns="0" rIns="0" bIns="0" rtlCol="0" anchor="ctr"/>
          <a:lstStyle/>
          <a:p>
            <a:pPr marL="0" indent="0" algn="ctr">
              <a:buNone/>
            </a:pPr>
            <a:r>
              <a:rPr lang="en-US" sz="1500" b="1" dirty="0">
                <a:solidFill>
                  <a:srgbClr val="F0F3F8"/>
                </a:solidFill>
                <a:latin typeface="Courier New" pitchFamily="34" charset="0"/>
                <a:ea typeface="Courier New" pitchFamily="34" charset="-122"/>
                <a:cs typeface="Courier New" pitchFamily="34" charset="-120"/>
              </a:rPr>
              <a:t>print *</a:t>
            </a:r>
            <a:endParaRPr lang="en-US" sz="1500" dirty="0"/>
          </a:p>
        </p:txBody>
      </p:sp>
      <p:sp>
        <p:nvSpPr>
          <p:cNvPr id="35" name="Shape 33"/>
          <p:cNvSpPr/>
          <p:nvPr/>
        </p:nvSpPr>
        <p:spPr>
          <a:xfrm>
            <a:off x="4480560" y="5170932"/>
            <a:ext cx="640080" cy="0"/>
          </a:xfrm>
          <a:prstGeom prst="line">
            <a:avLst/>
          </a:prstGeom>
          <a:noFill/>
          <a:ln w="19050">
            <a:solidFill>
              <a:srgbClr val="5C6B83"/>
            </a:solidFill>
            <a:prstDash val="solid"/>
            <a:tailEnd type="triangle"/>
          </a:ln>
        </p:spPr>
        <p:txBody>
          <a:bodyPr/>
          <a:lstStyle/>
          <a:p>
            <a:endParaRPr lang="en-US"/>
          </a:p>
        </p:txBody>
      </p:sp>
      <p:sp>
        <p:nvSpPr>
          <p:cNvPr id="36" name="Shape 34"/>
          <p:cNvSpPr/>
          <p:nvPr/>
        </p:nvSpPr>
        <p:spPr>
          <a:xfrm>
            <a:off x="5212080" y="4919472"/>
            <a:ext cx="1463040" cy="502920"/>
          </a:xfrm>
          <a:prstGeom prst="roundRect">
            <a:avLst>
              <a:gd name="adj" fmla="val 6670"/>
            </a:avLst>
          </a:prstGeom>
          <a:solidFill>
            <a:srgbClr val="182132"/>
          </a:solidFill>
          <a:ln w="12700">
            <a:solidFill>
              <a:srgbClr val="2A3548"/>
            </a:solidFill>
            <a:prstDash val="solid"/>
          </a:ln>
        </p:spPr>
        <p:txBody>
          <a:bodyPr/>
          <a:lstStyle/>
          <a:p>
            <a:endParaRPr lang="en-US"/>
          </a:p>
        </p:txBody>
      </p:sp>
      <p:sp>
        <p:nvSpPr>
          <p:cNvPr id="37" name="Text 35"/>
          <p:cNvSpPr txBox="1"/>
          <p:nvPr/>
        </p:nvSpPr>
        <p:spPr>
          <a:xfrm>
            <a:off x="5212080" y="4919472"/>
            <a:ext cx="1463040" cy="502920"/>
          </a:xfrm>
          <a:prstGeom prst="rect">
            <a:avLst/>
          </a:prstGeom>
          <a:noFill/>
          <a:ln/>
        </p:spPr>
        <p:txBody>
          <a:bodyPr wrap="square" lIns="0" tIns="0" rIns="0" bIns="0" rtlCol="0" anchor="ctr"/>
          <a:lstStyle/>
          <a:p>
            <a:pPr marL="0" indent="0" algn="ctr">
              <a:buNone/>
            </a:pPr>
            <a:r>
              <a:rPr lang="en-US" sz="1500" b="1" dirty="0">
                <a:solidFill>
                  <a:srgbClr val="F0F3F8"/>
                </a:solidFill>
                <a:latin typeface="Courier New" pitchFamily="34" charset="0"/>
                <a:ea typeface="Courier New" pitchFamily="34" charset="-122"/>
                <a:cs typeface="Courier New" pitchFamily="34" charset="-120"/>
              </a:rPr>
              <a:t>CX − 1</a:t>
            </a:r>
            <a:endParaRPr lang="en-US" sz="1500" dirty="0"/>
          </a:p>
        </p:txBody>
      </p:sp>
      <p:sp>
        <p:nvSpPr>
          <p:cNvPr id="38" name="Shape 36"/>
          <p:cNvSpPr/>
          <p:nvPr/>
        </p:nvSpPr>
        <p:spPr>
          <a:xfrm>
            <a:off x="6766560" y="5170932"/>
            <a:ext cx="640080" cy="0"/>
          </a:xfrm>
          <a:prstGeom prst="line">
            <a:avLst/>
          </a:prstGeom>
          <a:noFill/>
          <a:ln w="19050">
            <a:solidFill>
              <a:srgbClr val="5C6B83"/>
            </a:solidFill>
            <a:prstDash val="solid"/>
            <a:tailEnd type="triangle"/>
          </a:ln>
        </p:spPr>
        <p:txBody>
          <a:bodyPr/>
          <a:lstStyle/>
          <a:p>
            <a:endParaRPr lang="en-US"/>
          </a:p>
        </p:txBody>
      </p:sp>
      <p:sp>
        <p:nvSpPr>
          <p:cNvPr id="39" name="Shape 37"/>
          <p:cNvSpPr/>
          <p:nvPr/>
        </p:nvSpPr>
        <p:spPr>
          <a:xfrm>
            <a:off x="7498080" y="4919472"/>
            <a:ext cx="1463040" cy="502920"/>
          </a:xfrm>
          <a:prstGeom prst="roundRect">
            <a:avLst>
              <a:gd name="adj" fmla="val 6670"/>
            </a:avLst>
          </a:prstGeom>
          <a:solidFill>
            <a:srgbClr val="1E1A33"/>
          </a:solidFill>
          <a:ln w="12700">
            <a:solidFill>
              <a:srgbClr val="9584E8"/>
            </a:solidFill>
            <a:prstDash val="solid"/>
          </a:ln>
        </p:spPr>
        <p:txBody>
          <a:bodyPr/>
          <a:lstStyle/>
          <a:p>
            <a:endParaRPr lang="en-US"/>
          </a:p>
        </p:txBody>
      </p:sp>
      <p:sp>
        <p:nvSpPr>
          <p:cNvPr id="40" name="Text 38"/>
          <p:cNvSpPr txBox="1"/>
          <p:nvPr/>
        </p:nvSpPr>
        <p:spPr>
          <a:xfrm>
            <a:off x="7498080" y="4919472"/>
            <a:ext cx="1463040" cy="502920"/>
          </a:xfrm>
          <a:prstGeom prst="rect">
            <a:avLst/>
          </a:prstGeom>
          <a:noFill/>
          <a:ln/>
        </p:spPr>
        <p:txBody>
          <a:bodyPr wrap="square" lIns="0" tIns="0" rIns="0" bIns="0" rtlCol="0" anchor="ctr"/>
          <a:lstStyle/>
          <a:p>
            <a:pPr marL="0" indent="0" algn="ctr">
              <a:buNone/>
            </a:pPr>
            <a:r>
              <a:rPr lang="en-US" sz="1500" b="1" dirty="0">
                <a:solidFill>
                  <a:srgbClr val="9584E8"/>
                </a:solidFill>
                <a:latin typeface="Courier New" pitchFamily="34" charset="0"/>
                <a:ea typeface="Courier New" pitchFamily="34" charset="-122"/>
                <a:cs typeface="Courier New" pitchFamily="34" charset="-120"/>
              </a:rPr>
              <a:t>CX = 0 ?</a:t>
            </a:r>
            <a:endParaRPr lang="en-US" sz="1500" dirty="0"/>
          </a:p>
        </p:txBody>
      </p:sp>
      <p:sp>
        <p:nvSpPr>
          <p:cNvPr id="41" name="Shape 39"/>
          <p:cNvSpPr/>
          <p:nvPr/>
        </p:nvSpPr>
        <p:spPr>
          <a:xfrm>
            <a:off x="9052560" y="5170932"/>
            <a:ext cx="640080" cy="0"/>
          </a:xfrm>
          <a:prstGeom prst="line">
            <a:avLst/>
          </a:prstGeom>
          <a:noFill/>
          <a:ln w="19050">
            <a:solidFill>
              <a:srgbClr val="5C6B83"/>
            </a:solidFill>
            <a:prstDash val="solid"/>
            <a:tailEnd type="triangle"/>
          </a:ln>
        </p:spPr>
        <p:txBody>
          <a:bodyPr/>
          <a:lstStyle/>
          <a:p>
            <a:endParaRPr lang="en-US"/>
          </a:p>
        </p:txBody>
      </p:sp>
      <p:sp>
        <p:nvSpPr>
          <p:cNvPr id="42" name="Shape 40"/>
          <p:cNvSpPr/>
          <p:nvPr/>
        </p:nvSpPr>
        <p:spPr>
          <a:xfrm>
            <a:off x="9784080" y="4919472"/>
            <a:ext cx="1188720" cy="502920"/>
          </a:xfrm>
          <a:prstGeom prst="roundRect">
            <a:avLst>
              <a:gd name="adj" fmla="val 6670"/>
            </a:avLst>
          </a:prstGeom>
          <a:solidFill>
            <a:srgbClr val="2A2113"/>
          </a:solidFill>
          <a:ln w="12700">
            <a:solidFill>
              <a:srgbClr val="EDA63F"/>
            </a:solidFill>
            <a:prstDash val="solid"/>
          </a:ln>
        </p:spPr>
        <p:txBody>
          <a:bodyPr/>
          <a:lstStyle/>
          <a:p>
            <a:endParaRPr lang="en-US"/>
          </a:p>
        </p:txBody>
      </p:sp>
      <p:sp>
        <p:nvSpPr>
          <p:cNvPr id="43" name="Text 41"/>
          <p:cNvSpPr txBox="1"/>
          <p:nvPr/>
        </p:nvSpPr>
        <p:spPr>
          <a:xfrm>
            <a:off x="9784080" y="4919472"/>
            <a:ext cx="1188720" cy="502920"/>
          </a:xfrm>
          <a:prstGeom prst="rect">
            <a:avLst/>
          </a:prstGeom>
          <a:noFill/>
          <a:ln/>
        </p:spPr>
        <p:txBody>
          <a:bodyPr wrap="square" lIns="0" tIns="0" rIns="0" bIns="0" rtlCol="0" anchor="ctr"/>
          <a:lstStyle/>
          <a:p>
            <a:pPr marL="0" indent="0" algn="ctr">
              <a:buNone/>
            </a:pPr>
            <a:r>
              <a:rPr lang="en-US" sz="1500" b="1" dirty="0">
                <a:solidFill>
                  <a:srgbClr val="EDA63F"/>
                </a:solidFill>
                <a:latin typeface="Courier New" pitchFamily="34" charset="0"/>
                <a:ea typeface="Courier New" pitchFamily="34" charset="-122"/>
                <a:cs typeface="Courier New" pitchFamily="34" charset="-120"/>
              </a:rPr>
              <a:t>stop</a:t>
            </a:r>
            <a:endParaRPr lang="en-US" sz="1500" dirty="0"/>
          </a:p>
        </p:txBody>
      </p:sp>
      <p:sp>
        <p:nvSpPr>
          <p:cNvPr id="44" name="Text 42"/>
          <p:cNvSpPr txBox="1"/>
          <p:nvPr/>
        </p:nvSpPr>
        <p:spPr>
          <a:xfrm>
            <a:off x="8961120" y="4901184"/>
            <a:ext cx="822960" cy="219456"/>
          </a:xfrm>
          <a:prstGeom prst="rect">
            <a:avLst/>
          </a:prstGeom>
          <a:noFill/>
          <a:ln/>
        </p:spPr>
        <p:txBody>
          <a:bodyPr wrap="square" lIns="0" tIns="0" rIns="0" bIns="0" rtlCol="0" anchor="t"/>
          <a:lstStyle/>
          <a:p>
            <a:pPr marL="0" indent="0" algn="ctr">
              <a:buNone/>
            </a:pPr>
            <a:r>
              <a:rPr lang="en-US" sz="1100" b="1" dirty="0">
                <a:solidFill>
                  <a:srgbClr val="EDA63F"/>
                </a:solidFill>
                <a:latin typeface="Courier New" pitchFamily="34" charset="0"/>
                <a:ea typeface="Courier New" pitchFamily="34" charset="-122"/>
                <a:cs typeface="Courier New" pitchFamily="34" charset="-120"/>
              </a:rPr>
              <a:t>yes</a:t>
            </a:r>
            <a:endParaRPr lang="en-US" sz="1100" dirty="0"/>
          </a:p>
        </p:txBody>
      </p:sp>
      <p:sp>
        <p:nvSpPr>
          <p:cNvPr id="45" name="Shape 43"/>
          <p:cNvSpPr/>
          <p:nvPr/>
        </p:nvSpPr>
        <p:spPr>
          <a:xfrm>
            <a:off x="8229600" y="5468112"/>
            <a:ext cx="0" cy="274320"/>
          </a:xfrm>
          <a:prstGeom prst="line">
            <a:avLst/>
          </a:prstGeom>
          <a:noFill/>
          <a:ln w="19050">
            <a:solidFill>
              <a:srgbClr val="5C6B83"/>
            </a:solidFill>
            <a:prstDash val="solid"/>
          </a:ln>
        </p:spPr>
        <p:txBody>
          <a:bodyPr/>
          <a:lstStyle/>
          <a:p>
            <a:endParaRPr lang="en-US"/>
          </a:p>
        </p:txBody>
      </p:sp>
      <p:sp>
        <p:nvSpPr>
          <p:cNvPr id="46" name="Shape 44"/>
          <p:cNvSpPr/>
          <p:nvPr/>
        </p:nvSpPr>
        <p:spPr>
          <a:xfrm>
            <a:off x="3657600" y="5742432"/>
            <a:ext cx="4572000" cy="0"/>
          </a:xfrm>
          <a:prstGeom prst="line">
            <a:avLst/>
          </a:prstGeom>
          <a:noFill/>
          <a:ln w="19050">
            <a:solidFill>
              <a:srgbClr val="5C6B83"/>
            </a:solidFill>
            <a:prstDash val="solid"/>
          </a:ln>
        </p:spPr>
        <p:txBody>
          <a:bodyPr/>
          <a:lstStyle/>
          <a:p>
            <a:endParaRPr lang="en-US"/>
          </a:p>
        </p:txBody>
      </p:sp>
      <p:sp>
        <p:nvSpPr>
          <p:cNvPr id="47" name="Shape 45"/>
          <p:cNvSpPr/>
          <p:nvPr/>
        </p:nvSpPr>
        <p:spPr>
          <a:xfrm>
            <a:off x="3657600" y="5468112"/>
            <a:ext cx="0" cy="274320"/>
          </a:xfrm>
          <a:prstGeom prst="line">
            <a:avLst/>
          </a:prstGeom>
          <a:noFill/>
          <a:ln w="19050">
            <a:solidFill>
              <a:srgbClr val="5C6B83"/>
            </a:solidFill>
            <a:prstDash val="solid"/>
            <a:headEnd type="triangle"/>
          </a:ln>
        </p:spPr>
        <p:txBody>
          <a:bodyPr/>
          <a:lstStyle/>
          <a:p>
            <a:endParaRPr lang="en-US"/>
          </a:p>
        </p:txBody>
      </p:sp>
      <p:sp>
        <p:nvSpPr>
          <p:cNvPr id="48" name="Text 46"/>
          <p:cNvSpPr txBox="1"/>
          <p:nvPr/>
        </p:nvSpPr>
        <p:spPr>
          <a:xfrm>
            <a:off x="3749040" y="5788152"/>
            <a:ext cx="4389120" cy="256032"/>
          </a:xfrm>
          <a:prstGeom prst="rect">
            <a:avLst/>
          </a:prstGeom>
          <a:noFill/>
          <a:ln/>
        </p:spPr>
        <p:txBody>
          <a:bodyPr wrap="square" lIns="0" tIns="0" rIns="0" bIns="0" rtlCol="0" anchor="t"/>
          <a:lstStyle/>
          <a:p>
            <a:pPr marL="0" indent="0" algn="ctr">
              <a:buNone/>
            </a:pPr>
            <a:r>
              <a:rPr lang="en-US" sz="1100" b="1" dirty="0">
                <a:solidFill>
                  <a:srgbClr val="94A3B8"/>
                </a:solidFill>
                <a:latin typeface="Courier New" pitchFamily="34" charset="0"/>
                <a:ea typeface="Courier New" pitchFamily="34" charset="-122"/>
                <a:cs typeface="Courier New" pitchFamily="34" charset="-120"/>
              </a:rPr>
              <a:t>no: go back and repeat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marL="0" indent="0" algn="l">
              <a:buNone/>
            </a:pPr>
            <a:r>
              <a:rPr lang="en-US" sz="1050" b="1" kern="0" spc="160" dirty="0">
                <a:solidFill>
                  <a:srgbClr val="93A0B2"/>
                </a:solidFill>
                <a:latin typeface="Courier New" pitchFamily="34" charset="0"/>
                <a:ea typeface="Courier New" pitchFamily="34" charset="-122"/>
                <a:cs typeface="Courier New" pitchFamily="34" charset="-120"/>
              </a:rPr>
              <a:t>5 · TRACING</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marL="0" indent="0" algn="l">
              <a:buNone/>
            </a:pPr>
            <a:r>
              <a:rPr lang="en-US" sz="3200" b="1" dirty="0">
                <a:solidFill>
                  <a:srgbClr val="0F1622"/>
                </a:solidFill>
                <a:latin typeface="Arial" pitchFamily="34" charset="0"/>
                <a:ea typeface="Arial" pitchFamily="34" charset="-122"/>
                <a:cs typeface="Arial" pitchFamily="34" charset="-120"/>
              </a:rPr>
              <a:t>Follow CX one turn at a time</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marL="0" indent="0" algn="l">
              <a:buNone/>
            </a:pPr>
            <a:r>
              <a:rPr lang="en-US" sz="1500" dirty="0">
                <a:solidFill>
                  <a:srgbClr val="5B6779"/>
                </a:solidFill>
                <a:latin typeface="Calibri" pitchFamily="34" charset="0"/>
                <a:ea typeface="Calibri" pitchFamily="34" charset="-122"/>
                <a:cs typeface="Calibri" pitchFamily="34" charset="-120"/>
              </a:rPr>
              <a:t>Read top to bottom. This is what single step shows you.</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marL="0" indent="0" algn="l">
              <a:buNone/>
            </a:pPr>
            <a:r>
              <a:rPr lang="en-US" sz="900" kern="0" spc="120" dirty="0">
                <a:solidFill>
                  <a:srgbClr val="93A0B2"/>
                </a:solidFill>
                <a:latin typeface="Courier New" pitchFamily="34" charset="0"/>
                <a:ea typeface="Courier New" pitchFamily="34" charset="-122"/>
                <a:cs typeface="Courier New" pitchFamily="34" charset="-120"/>
              </a:rPr>
              <a:t>COAL  ·  LAB 04</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marL="0" indent="0" algn="r">
              <a:buNone/>
            </a:pPr>
            <a:r>
              <a:rPr lang="en-US" sz="900" dirty="0">
                <a:solidFill>
                  <a:srgbClr val="93A0B2"/>
                </a:solidFill>
                <a:latin typeface="Courier New" pitchFamily="34" charset="0"/>
                <a:ea typeface="Courier New" pitchFamily="34" charset="-122"/>
                <a:cs typeface="Courier New" pitchFamily="34" charset="-120"/>
              </a:rPr>
              <a:t>06</a:t>
            </a:r>
            <a:endParaRPr lang="en-US" sz="900" dirty="0"/>
          </a:p>
        </p:txBody>
      </p:sp>
      <p:sp>
        <p:nvSpPr>
          <p:cNvPr id="7" name="Text 5"/>
          <p:cNvSpPr txBox="1"/>
          <p:nvPr/>
        </p:nvSpPr>
        <p:spPr>
          <a:xfrm>
            <a:off x="868680" y="1810512"/>
            <a:ext cx="3200400" cy="219456"/>
          </a:xfrm>
          <a:prstGeom prst="rect">
            <a:avLst/>
          </a:prstGeom>
          <a:noFill/>
          <a:ln/>
        </p:spPr>
        <p:txBody>
          <a:bodyPr wrap="square" lIns="0" tIns="0" rIns="0" bIns="0" rtlCol="0" anchor="t"/>
          <a:lstStyle/>
          <a:p>
            <a:pPr marL="0" indent="0" algn="l">
              <a:buNone/>
            </a:pPr>
            <a:r>
              <a:rPr lang="en-US" sz="950" b="1" kern="0" spc="130" dirty="0">
                <a:solidFill>
                  <a:srgbClr val="93A0B2"/>
                </a:solidFill>
                <a:latin typeface="Courier New" pitchFamily="34" charset="0"/>
                <a:ea typeface="Courier New" pitchFamily="34" charset="-122"/>
                <a:cs typeface="Courier New" pitchFamily="34" charset="-120"/>
              </a:rPr>
              <a:t>TURN</a:t>
            </a:r>
            <a:endParaRPr lang="en-US" sz="950" dirty="0"/>
          </a:p>
        </p:txBody>
      </p:sp>
      <p:sp>
        <p:nvSpPr>
          <p:cNvPr id="8" name="Text 6"/>
          <p:cNvSpPr txBox="1"/>
          <p:nvPr/>
        </p:nvSpPr>
        <p:spPr>
          <a:xfrm>
            <a:off x="1783080" y="1810512"/>
            <a:ext cx="3200400" cy="219456"/>
          </a:xfrm>
          <a:prstGeom prst="rect">
            <a:avLst/>
          </a:prstGeom>
          <a:noFill/>
          <a:ln/>
        </p:spPr>
        <p:txBody>
          <a:bodyPr wrap="square" lIns="0" tIns="0" rIns="0" bIns="0" rtlCol="0" anchor="t"/>
          <a:lstStyle/>
          <a:p>
            <a:pPr marL="0" indent="0" algn="l">
              <a:buNone/>
            </a:pPr>
            <a:r>
              <a:rPr lang="en-US" sz="950" b="1" kern="0" spc="130" dirty="0">
                <a:solidFill>
                  <a:srgbClr val="93A0B2"/>
                </a:solidFill>
                <a:latin typeface="Courier New" pitchFamily="34" charset="0"/>
                <a:ea typeface="Courier New" pitchFamily="34" charset="-122"/>
                <a:cs typeface="Courier New" pitchFamily="34" charset="-120"/>
              </a:rPr>
              <a:t>CX</a:t>
            </a:r>
            <a:endParaRPr lang="en-US" sz="950" dirty="0"/>
          </a:p>
        </p:txBody>
      </p:sp>
      <p:sp>
        <p:nvSpPr>
          <p:cNvPr id="9" name="Text 7"/>
          <p:cNvSpPr txBox="1"/>
          <p:nvPr/>
        </p:nvSpPr>
        <p:spPr>
          <a:xfrm>
            <a:off x="2834640" y="1810512"/>
            <a:ext cx="3200400" cy="219456"/>
          </a:xfrm>
          <a:prstGeom prst="rect">
            <a:avLst/>
          </a:prstGeom>
          <a:noFill/>
          <a:ln/>
        </p:spPr>
        <p:txBody>
          <a:bodyPr wrap="square" lIns="0" tIns="0" rIns="0" bIns="0" rtlCol="0" anchor="t"/>
          <a:lstStyle/>
          <a:p>
            <a:pPr marL="0" indent="0" algn="l">
              <a:buNone/>
            </a:pPr>
            <a:r>
              <a:rPr lang="en-US" sz="950" b="1" kern="0" spc="130" dirty="0">
                <a:solidFill>
                  <a:srgbClr val="93A0B2"/>
                </a:solidFill>
                <a:latin typeface="Courier New" pitchFamily="34" charset="0"/>
                <a:ea typeface="Courier New" pitchFamily="34" charset="-122"/>
                <a:cs typeface="Courier New" pitchFamily="34" charset="-120"/>
              </a:rPr>
              <a:t>PRINTS</a:t>
            </a:r>
            <a:endParaRPr lang="en-US" sz="950" dirty="0"/>
          </a:p>
        </p:txBody>
      </p:sp>
      <p:sp>
        <p:nvSpPr>
          <p:cNvPr id="10" name="Text 8"/>
          <p:cNvSpPr txBox="1"/>
          <p:nvPr/>
        </p:nvSpPr>
        <p:spPr>
          <a:xfrm>
            <a:off x="4069080" y="1810512"/>
            <a:ext cx="3200400" cy="219456"/>
          </a:xfrm>
          <a:prstGeom prst="rect">
            <a:avLst/>
          </a:prstGeom>
          <a:noFill/>
          <a:ln/>
        </p:spPr>
        <p:txBody>
          <a:bodyPr wrap="square" lIns="0" tIns="0" rIns="0" bIns="0" rtlCol="0" anchor="t"/>
          <a:lstStyle/>
          <a:p>
            <a:pPr marL="0" indent="0" algn="l">
              <a:buNone/>
            </a:pPr>
            <a:r>
              <a:rPr lang="en-US" sz="950" b="1" kern="0" spc="130" dirty="0">
                <a:solidFill>
                  <a:srgbClr val="93A0B2"/>
                </a:solidFill>
                <a:latin typeface="Courier New" pitchFamily="34" charset="0"/>
                <a:ea typeface="Courier New" pitchFamily="34" charset="-122"/>
                <a:cs typeface="Courier New" pitchFamily="34" charset="-120"/>
              </a:rPr>
              <a:t>AFTER  loop again</a:t>
            </a:r>
            <a:endParaRPr lang="en-US" sz="950" dirty="0"/>
          </a:p>
        </p:txBody>
      </p:sp>
      <p:sp>
        <p:nvSpPr>
          <p:cNvPr id="11" name="Text 9"/>
          <p:cNvSpPr txBox="1"/>
          <p:nvPr/>
        </p:nvSpPr>
        <p:spPr>
          <a:xfrm>
            <a:off x="8229600" y="1810512"/>
            <a:ext cx="3200400" cy="219456"/>
          </a:xfrm>
          <a:prstGeom prst="rect">
            <a:avLst/>
          </a:prstGeom>
          <a:noFill/>
          <a:ln/>
        </p:spPr>
        <p:txBody>
          <a:bodyPr wrap="square" lIns="0" tIns="0" rIns="0" bIns="0" rtlCol="0" anchor="t"/>
          <a:lstStyle/>
          <a:p>
            <a:pPr marL="0" indent="0" algn="l">
              <a:buNone/>
            </a:pPr>
            <a:r>
              <a:rPr lang="en-US" sz="950" b="1" kern="0" spc="130" dirty="0">
                <a:solidFill>
                  <a:srgbClr val="93A0B2"/>
                </a:solidFill>
                <a:latin typeface="Courier New" pitchFamily="34" charset="0"/>
                <a:ea typeface="Courier New" pitchFamily="34" charset="-122"/>
                <a:cs typeface="Courier New" pitchFamily="34" charset="-120"/>
              </a:rPr>
              <a:t>SCREEN</a:t>
            </a:r>
            <a:endParaRPr lang="en-US" sz="950" dirty="0"/>
          </a:p>
        </p:txBody>
      </p:sp>
      <p:sp>
        <p:nvSpPr>
          <p:cNvPr id="12" name="Shape 10"/>
          <p:cNvSpPr/>
          <p:nvPr/>
        </p:nvSpPr>
        <p:spPr>
          <a:xfrm>
            <a:off x="8001000" y="2194560"/>
            <a:ext cx="3547872" cy="2651760"/>
          </a:xfrm>
          <a:prstGeom prst="roundRect">
            <a:avLst>
              <a:gd name="adj" fmla="val 6670"/>
            </a:avLst>
          </a:prstGeom>
          <a:solidFill>
            <a:srgbClr val="070B12"/>
          </a:solidFill>
          <a:ln w="12700">
            <a:solidFill>
              <a:srgbClr val="2B3850"/>
            </a:solidFill>
            <a:prstDash val="solid"/>
          </a:ln>
        </p:spPr>
        <p:txBody>
          <a:bodyPr/>
          <a:lstStyle/>
          <a:p>
            <a:endParaRPr lang="en-US"/>
          </a:p>
        </p:txBody>
      </p:sp>
      <p:sp>
        <p:nvSpPr>
          <p:cNvPr id="13" name="Shape 11"/>
          <p:cNvSpPr/>
          <p:nvPr/>
        </p:nvSpPr>
        <p:spPr>
          <a:xfrm>
            <a:off x="640080" y="2194560"/>
            <a:ext cx="7086600" cy="457200"/>
          </a:xfrm>
          <a:prstGeom prst="roundRect">
            <a:avLst>
              <a:gd name="adj" fmla="val 6670"/>
            </a:avLst>
          </a:prstGeom>
          <a:solidFill>
            <a:srgbClr val="F3F5F9"/>
          </a:solidFill>
          <a:ln w="12700">
            <a:solidFill>
              <a:srgbClr val="E2E7EF"/>
            </a:solidFill>
            <a:prstDash val="solid"/>
          </a:ln>
        </p:spPr>
        <p:txBody>
          <a:bodyPr/>
          <a:lstStyle/>
          <a:p>
            <a:endParaRPr lang="en-US"/>
          </a:p>
        </p:txBody>
      </p:sp>
      <p:sp>
        <p:nvSpPr>
          <p:cNvPr id="14" name="Shape 12"/>
          <p:cNvSpPr/>
          <p:nvPr/>
        </p:nvSpPr>
        <p:spPr>
          <a:xfrm>
            <a:off x="896112" y="2258568"/>
            <a:ext cx="329184" cy="329184"/>
          </a:xfrm>
          <a:prstGeom prst="ellipse">
            <a:avLst/>
          </a:prstGeom>
          <a:solidFill>
            <a:srgbClr val="D7EEF2"/>
          </a:solidFill>
          <a:ln/>
        </p:spPr>
        <p:txBody>
          <a:bodyPr/>
          <a:lstStyle/>
          <a:p>
            <a:endParaRPr lang="en-US"/>
          </a:p>
        </p:txBody>
      </p:sp>
      <p:sp>
        <p:nvSpPr>
          <p:cNvPr id="15" name="Text 13"/>
          <p:cNvSpPr txBox="1"/>
          <p:nvPr/>
        </p:nvSpPr>
        <p:spPr>
          <a:xfrm>
            <a:off x="896112" y="2258568"/>
            <a:ext cx="329184" cy="329184"/>
          </a:xfrm>
          <a:prstGeom prst="rect">
            <a:avLst/>
          </a:prstGeom>
          <a:noFill/>
          <a:ln/>
        </p:spPr>
        <p:txBody>
          <a:bodyPr wrap="square" lIns="0" tIns="0" rIns="0" bIns="0" rtlCol="0" anchor="ctr"/>
          <a:lstStyle/>
          <a:p>
            <a:pPr marL="0" indent="0" algn="ctr">
              <a:buNone/>
            </a:pPr>
            <a:r>
              <a:rPr lang="en-US" sz="1300" b="1" dirty="0">
                <a:solidFill>
                  <a:srgbClr val="18879B"/>
                </a:solidFill>
                <a:latin typeface="Courier New" pitchFamily="34" charset="0"/>
                <a:ea typeface="Courier New" pitchFamily="34" charset="-122"/>
                <a:cs typeface="Courier New" pitchFamily="34" charset="-120"/>
              </a:rPr>
              <a:t>1</a:t>
            </a:r>
            <a:endParaRPr lang="en-US" sz="1300" dirty="0"/>
          </a:p>
        </p:txBody>
      </p:sp>
      <p:sp>
        <p:nvSpPr>
          <p:cNvPr id="16" name="Text 14"/>
          <p:cNvSpPr txBox="1"/>
          <p:nvPr/>
        </p:nvSpPr>
        <p:spPr>
          <a:xfrm>
            <a:off x="1783080" y="2194560"/>
            <a:ext cx="731520" cy="457200"/>
          </a:xfrm>
          <a:prstGeom prst="rect">
            <a:avLst/>
          </a:prstGeom>
          <a:noFill/>
          <a:ln/>
        </p:spPr>
        <p:txBody>
          <a:bodyPr wrap="square" lIns="0" tIns="0" rIns="0" bIns="0" rtlCol="0" anchor="ctr"/>
          <a:lstStyle/>
          <a:p>
            <a:pPr marL="0" indent="0" algn="l">
              <a:buNone/>
            </a:pPr>
            <a:r>
              <a:rPr lang="en-US" sz="2000" b="1" dirty="0">
                <a:solidFill>
                  <a:srgbClr val="18879B"/>
                </a:solidFill>
                <a:latin typeface="Courier New" pitchFamily="34" charset="0"/>
                <a:ea typeface="Courier New" pitchFamily="34" charset="-122"/>
                <a:cs typeface="Courier New" pitchFamily="34" charset="-120"/>
              </a:rPr>
              <a:t>5</a:t>
            </a:r>
            <a:endParaRPr lang="en-US" sz="2000" dirty="0"/>
          </a:p>
        </p:txBody>
      </p:sp>
      <p:sp>
        <p:nvSpPr>
          <p:cNvPr id="17" name="Text 15"/>
          <p:cNvSpPr txBox="1"/>
          <p:nvPr/>
        </p:nvSpPr>
        <p:spPr>
          <a:xfrm>
            <a:off x="2834640" y="2194560"/>
            <a:ext cx="731520" cy="457200"/>
          </a:xfrm>
          <a:prstGeom prst="rect">
            <a:avLst/>
          </a:prstGeom>
          <a:noFill/>
          <a:ln/>
        </p:spPr>
        <p:txBody>
          <a:bodyPr wrap="square" lIns="0" tIns="0" rIns="0" bIns="0" rtlCol="0" anchor="ctr"/>
          <a:lstStyle/>
          <a:p>
            <a:pPr marL="0" indent="0" algn="l">
              <a:buNone/>
            </a:pPr>
            <a:r>
              <a:rPr lang="en-US" sz="2000" b="1" dirty="0">
                <a:solidFill>
                  <a:srgbClr val="0F1622"/>
                </a:solidFill>
                <a:latin typeface="Courier New" pitchFamily="34" charset="0"/>
                <a:ea typeface="Courier New" pitchFamily="34" charset="-122"/>
                <a:cs typeface="Courier New" pitchFamily="34" charset="-120"/>
              </a:rPr>
              <a:t>*</a:t>
            </a:r>
            <a:endParaRPr lang="en-US" sz="2000" dirty="0"/>
          </a:p>
        </p:txBody>
      </p:sp>
      <p:sp>
        <p:nvSpPr>
          <p:cNvPr id="18" name="Text 16"/>
          <p:cNvSpPr txBox="1"/>
          <p:nvPr/>
        </p:nvSpPr>
        <p:spPr>
          <a:xfrm>
            <a:off x="4069080" y="2194560"/>
            <a:ext cx="3566160" cy="457200"/>
          </a:xfrm>
          <a:prstGeom prst="rect">
            <a:avLst/>
          </a:prstGeom>
          <a:noFill/>
          <a:ln/>
        </p:spPr>
        <p:txBody>
          <a:bodyPr wrap="square" lIns="0" tIns="0" rIns="0" bIns="0" rtlCol="0" anchor="ctr"/>
          <a:lstStyle/>
          <a:p>
            <a:pPr marL="0" indent="0" algn="l">
              <a:buNone/>
            </a:pPr>
            <a:r>
              <a:rPr lang="en-US" sz="1400" b="1" dirty="0">
                <a:solidFill>
                  <a:srgbClr val="0F1622"/>
                </a:solidFill>
                <a:latin typeface="Courier New" pitchFamily="34" charset="0"/>
                <a:ea typeface="Courier New" pitchFamily="34" charset="-122"/>
                <a:cs typeface="Courier New" pitchFamily="34" charset="-120"/>
              </a:rPr>
              <a:t>CX = 4</a:t>
            </a:r>
            <a:r>
              <a:rPr lang="en-US" sz="1400" dirty="0">
                <a:solidFill>
                  <a:srgbClr val="5B6779"/>
                </a:solidFill>
                <a:latin typeface="Calibri" pitchFamily="34" charset="0"/>
                <a:ea typeface="Calibri" pitchFamily="34" charset="-122"/>
                <a:cs typeface="Calibri" pitchFamily="34" charset="-120"/>
              </a:rPr>
              <a:t>    back to again</a:t>
            </a:r>
            <a:endParaRPr lang="en-US" sz="1400" dirty="0"/>
          </a:p>
        </p:txBody>
      </p:sp>
      <p:sp>
        <p:nvSpPr>
          <p:cNvPr id="19" name="Text 17"/>
          <p:cNvSpPr txBox="1"/>
          <p:nvPr/>
        </p:nvSpPr>
        <p:spPr>
          <a:xfrm>
            <a:off x="8229600" y="2194560"/>
            <a:ext cx="3108960" cy="457200"/>
          </a:xfrm>
          <a:prstGeom prst="rect">
            <a:avLst/>
          </a:prstGeom>
          <a:noFill/>
          <a:ln/>
        </p:spPr>
        <p:txBody>
          <a:bodyPr wrap="square" lIns="0" tIns="0" rIns="0" bIns="0" rtlCol="0" anchor="ctr"/>
          <a:lstStyle/>
          <a:p>
            <a:pPr marL="0" indent="0" algn="l">
              <a:buNone/>
            </a:pPr>
            <a:r>
              <a:rPr lang="en-US" sz="2000" b="1" dirty="0">
                <a:solidFill>
                  <a:srgbClr val="F0F3F8"/>
                </a:solidFill>
                <a:latin typeface="Courier New" pitchFamily="34" charset="0"/>
                <a:ea typeface="Courier New" pitchFamily="34" charset="-122"/>
                <a:cs typeface="Courier New" pitchFamily="34" charset="-120"/>
              </a:rPr>
              <a:t>*</a:t>
            </a:r>
            <a:endParaRPr lang="en-US" sz="2000" dirty="0"/>
          </a:p>
        </p:txBody>
      </p:sp>
      <p:sp>
        <p:nvSpPr>
          <p:cNvPr id="20" name="Shape 18"/>
          <p:cNvSpPr/>
          <p:nvPr/>
        </p:nvSpPr>
        <p:spPr>
          <a:xfrm>
            <a:off x="640080" y="2743200"/>
            <a:ext cx="7086600" cy="457200"/>
          </a:xfrm>
          <a:prstGeom prst="roundRect">
            <a:avLst>
              <a:gd name="adj" fmla="val 6670"/>
            </a:avLst>
          </a:prstGeom>
          <a:solidFill>
            <a:srgbClr val="F3F5F9"/>
          </a:solidFill>
          <a:ln w="12700">
            <a:solidFill>
              <a:srgbClr val="E2E7EF"/>
            </a:solidFill>
            <a:prstDash val="solid"/>
          </a:ln>
        </p:spPr>
        <p:txBody>
          <a:bodyPr/>
          <a:lstStyle/>
          <a:p>
            <a:endParaRPr lang="en-US"/>
          </a:p>
        </p:txBody>
      </p:sp>
      <p:sp>
        <p:nvSpPr>
          <p:cNvPr id="21" name="Shape 19"/>
          <p:cNvSpPr/>
          <p:nvPr/>
        </p:nvSpPr>
        <p:spPr>
          <a:xfrm>
            <a:off x="896112" y="2807208"/>
            <a:ext cx="329184" cy="329184"/>
          </a:xfrm>
          <a:prstGeom prst="ellipse">
            <a:avLst/>
          </a:prstGeom>
          <a:solidFill>
            <a:srgbClr val="D7EEF2"/>
          </a:solidFill>
          <a:ln/>
        </p:spPr>
        <p:txBody>
          <a:bodyPr/>
          <a:lstStyle/>
          <a:p>
            <a:endParaRPr lang="en-US"/>
          </a:p>
        </p:txBody>
      </p:sp>
      <p:sp>
        <p:nvSpPr>
          <p:cNvPr id="22" name="Text 20"/>
          <p:cNvSpPr txBox="1"/>
          <p:nvPr/>
        </p:nvSpPr>
        <p:spPr>
          <a:xfrm>
            <a:off x="896112" y="2807208"/>
            <a:ext cx="329184" cy="329184"/>
          </a:xfrm>
          <a:prstGeom prst="rect">
            <a:avLst/>
          </a:prstGeom>
          <a:noFill/>
          <a:ln/>
        </p:spPr>
        <p:txBody>
          <a:bodyPr wrap="square" lIns="0" tIns="0" rIns="0" bIns="0" rtlCol="0" anchor="ctr"/>
          <a:lstStyle/>
          <a:p>
            <a:pPr marL="0" indent="0" algn="ctr">
              <a:buNone/>
            </a:pPr>
            <a:r>
              <a:rPr lang="en-US" sz="1300" b="1" dirty="0">
                <a:solidFill>
                  <a:srgbClr val="18879B"/>
                </a:solidFill>
                <a:latin typeface="Courier New" pitchFamily="34" charset="0"/>
                <a:ea typeface="Courier New" pitchFamily="34" charset="-122"/>
                <a:cs typeface="Courier New" pitchFamily="34" charset="-120"/>
              </a:rPr>
              <a:t>2</a:t>
            </a:r>
            <a:endParaRPr lang="en-US" sz="1300" dirty="0"/>
          </a:p>
        </p:txBody>
      </p:sp>
      <p:sp>
        <p:nvSpPr>
          <p:cNvPr id="23" name="Text 21"/>
          <p:cNvSpPr txBox="1"/>
          <p:nvPr/>
        </p:nvSpPr>
        <p:spPr>
          <a:xfrm>
            <a:off x="1783080" y="2743200"/>
            <a:ext cx="731520" cy="457200"/>
          </a:xfrm>
          <a:prstGeom prst="rect">
            <a:avLst/>
          </a:prstGeom>
          <a:noFill/>
          <a:ln/>
        </p:spPr>
        <p:txBody>
          <a:bodyPr wrap="square" lIns="0" tIns="0" rIns="0" bIns="0" rtlCol="0" anchor="ctr"/>
          <a:lstStyle/>
          <a:p>
            <a:pPr marL="0" indent="0" algn="l">
              <a:buNone/>
            </a:pPr>
            <a:r>
              <a:rPr lang="en-US" sz="2000" b="1" dirty="0">
                <a:solidFill>
                  <a:srgbClr val="18879B"/>
                </a:solidFill>
                <a:latin typeface="Courier New" pitchFamily="34" charset="0"/>
                <a:ea typeface="Courier New" pitchFamily="34" charset="-122"/>
                <a:cs typeface="Courier New" pitchFamily="34" charset="-120"/>
              </a:rPr>
              <a:t>4</a:t>
            </a:r>
            <a:endParaRPr lang="en-US" sz="2000" dirty="0"/>
          </a:p>
        </p:txBody>
      </p:sp>
      <p:sp>
        <p:nvSpPr>
          <p:cNvPr id="24" name="Text 22"/>
          <p:cNvSpPr txBox="1"/>
          <p:nvPr/>
        </p:nvSpPr>
        <p:spPr>
          <a:xfrm>
            <a:off x="2834640" y="2743200"/>
            <a:ext cx="731520" cy="457200"/>
          </a:xfrm>
          <a:prstGeom prst="rect">
            <a:avLst/>
          </a:prstGeom>
          <a:noFill/>
          <a:ln/>
        </p:spPr>
        <p:txBody>
          <a:bodyPr wrap="square" lIns="0" tIns="0" rIns="0" bIns="0" rtlCol="0" anchor="ctr"/>
          <a:lstStyle/>
          <a:p>
            <a:pPr marL="0" indent="0" algn="l">
              <a:buNone/>
            </a:pPr>
            <a:r>
              <a:rPr lang="en-US" sz="2000" b="1" dirty="0">
                <a:solidFill>
                  <a:srgbClr val="0F1622"/>
                </a:solidFill>
                <a:latin typeface="Courier New" pitchFamily="34" charset="0"/>
                <a:ea typeface="Courier New" pitchFamily="34" charset="-122"/>
                <a:cs typeface="Courier New" pitchFamily="34" charset="-120"/>
              </a:rPr>
              <a:t>*</a:t>
            </a:r>
            <a:endParaRPr lang="en-US" sz="2000" dirty="0"/>
          </a:p>
        </p:txBody>
      </p:sp>
      <p:sp>
        <p:nvSpPr>
          <p:cNvPr id="25" name="Text 23"/>
          <p:cNvSpPr txBox="1"/>
          <p:nvPr/>
        </p:nvSpPr>
        <p:spPr>
          <a:xfrm>
            <a:off x="4069080" y="2743200"/>
            <a:ext cx="3566160" cy="457200"/>
          </a:xfrm>
          <a:prstGeom prst="rect">
            <a:avLst/>
          </a:prstGeom>
          <a:noFill/>
          <a:ln/>
        </p:spPr>
        <p:txBody>
          <a:bodyPr wrap="square" lIns="0" tIns="0" rIns="0" bIns="0" rtlCol="0" anchor="ctr"/>
          <a:lstStyle/>
          <a:p>
            <a:pPr marL="0" indent="0" algn="l">
              <a:buNone/>
            </a:pPr>
            <a:r>
              <a:rPr lang="en-US" sz="1400" b="1" dirty="0">
                <a:solidFill>
                  <a:srgbClr val="0F1622"/>
                </a:solidFill>
                <a:latin typeface="Courier New" pitchFamily="34" charset="0"/>
                <a:ea typeface="Courier New" pitchFamily="34" charset="-122"/>
                <a:cs typeface="Courier New" pitchFamily="34" charset="-120"/>
              </a:rPr>
              <a:t>CX = 3</a:t>
            </a:r>
            <a:r>
              <a:rPr lang="en-US" sz="1400" dirty="0">
                <a:solidFill>
                  <a:srgbClr val="5B6779"/>
                </a:solidFill>
                <a:latin typeface="Calibri" pitchFamily="34" charset="0"/>
                <a:ea typeface="Calibri" pitchFamily="34" charset="-122"/>
                <a:cs typeface="Calibri" pitchFamily="34" charset="-120"/>
              </a:rPr>
              <a:t>    back to again</a:t>
            </a:r>
            <a:endParaRPr lang="en-US" sz="1400" dirty="0"/>
          </a:p>
        </p:txBody>
      </p:sp>
      <p:sp>
        <p:nvSpPr>
          <p:cNvPr id="26" name="Text 24"/>
          <p:cNvSpPr txBox="1"/>
          <p:nvPr/>
        </p:nvSpPr>
        <p:spPr>
          <a:xfrm>
            <a:off x="8229600" y="2743200"/>
            <a:ext cx="3108960" cy="457200"/>
          </a:xfrm>
          <a:prstGeom prst="rect">
            <a:avLst/>
          </a:prstGeom>
          <a:noFill/>
          <a:ln/>
        </p:spPr>
        <p:txBody>
          <a:bodyPr wrap="square" lIns="0" tIns="0" rIns="0" bIns="0" rtlCol="0" anchor="ctr"/>
          <a:lstStyle/>
          <a:p>
            <a:pPr marL="0" indent="0" algn="l">
              <a:buNone/>
            </a:pPr>
            <a:r>
              <a:rPr lang="en-US" sz="2000" b="1" dirty="0">
                <a:solidFill>
                  <a:srgbClr val="F0F3F8"/>
                </a:solidFill>
                <a:latin typeface="Courier New" pitchFamily="34" charset="0"/>
                <a:ea typeface="Courier New" pitchFamily="34" charset="-122"/>
                <a:cs typeface="Courier New" pitchFamily="34" charset="-120"/>
              </a:rPr>
              <a:t>**</a:t>
            </a:r>
            <a:endParaRPr lang="en-US" sz="2000" dirty="0"/>
          </a:p>
        </p:txBody>
      </p:sp>
      <p:sp>
        <p:nvSpPr>
          <p:cNvPr id="27" name="Shape 25"/>
          <p:cNvSpPr/>
          <p:nvPr/>
        </p:nvSpPr>
        <p:spPr>
          <a:xfrm>
            <a:off x="640080" y="3291840"/>
            <a:ext cx="7086600" cy="457200"/>
          </a:xfrm>
          <a:prstGeom prst="roundRect">
            <a:avLst>
              <a:gd name="adj" fmla="val 6670"/>
            </a:avLst>
          </a:prstGeom>
          <a:solidFill>
            <a:srgbClr val="F3F5F9"/>
          </a:solidFill>
          <a:ln w="12700">
            <a:solidFill>
              <a:srgbClr val="E2E7EF"/>
            </a:solidFill>
            <a:prstDash val="solid"/>
          </a:ln>
        </p:spPr>
        <p:txBody>
          <a:bodyPr/>
          <a:lstStyle/>
          <a:p>
            <a:endParaRPr lang="en-US"/>
          </a:p>
        </p:txBody>
      </p:sp>
      <p:sp>
        <p:nvSpPr>
          <p:cNvPr id="28" name="Shape 26"/>
          <p:cNvSpPr/>
          <p:nvPr/>
        </p:nvSpPr>
        <p:spPr>
          <a:xfrm>
            <a:off x="896112" y="3355848"/>
            <a:ext cx="329184" cy="329184"/>
          </a:xfrm>
          <a:prstGeom prst="ellipse">
            <a:avLst/>
          </a:prstGeom>
          <a:solidFill>
            <a:srgbClr val="D7EEF2"/>
          </a:solidFill>
          <a:ln/>
        </p:spPr>
        <p:txBody>
          <a:bodyPr/>
          <a:lstStyle/>
          <a:p>
            <a:endParaRPr lang="en-US"/>
          </a:p>
        </p:txBody>
      </p:sp>
      <p:sp>
        <p:nvSpPr>
          <p:cNvPr id="29" name="Text 27"/>
          <p:cNvSpPr txBox="1"/>
          <p:nvPr/>
        </p:nvSpPr>
        <p:spPr>
          <a:xfrm>
            <a:off x="896112" y="3355848"/>
            <a:ext cx="329184" cy="329184"/>
          </a:xfrm>
          <a:prstGeom prst="rect">
            <a:avLst/>
          </a:prstGeom>
          <a:noFill/>
          <a:ln/>
        </p:spPr>
        <p:txBody>
          <a:bodyPr wrap="square" lIns="0" tIns="0" rIns="0" bIns="0" rtlCol="0" anchor="ctr"/>
          <a:lstStyle/>
          <a:p>
            <a:pPr marL="0" indent="0" algn="ctr">
              <a:buNone/>
            </a:pPr>
            <a:r>
              <a:rPr lang="en-US" sz="1300" b="1" dirty="0">
                <a:solidFill>
                  <a:srgbClr val="18879B"/>
                </a:solidFill>
                <a:latin typeface="Courier New" pitchFamily="34" charset="0"/>
                <a:ea typeface="Courier New" pitchFamily="34" charset="-122"/>
                <a:cs typeface="Courier New" pitchFamily="34" charset="-120"/>
              </a:rPr>
              <a:t>3</a:t>
            </a:r>
            <a:endParaRPr lang="en-US" sz="1300" dirty="0"/>
          </a:p>
        </p:txBody>
      </p:sp>
      <p:sp>
        <p:nvSpPr>
          <p:cNvPr id="30" name="Text 28"/>
          <p:cNvSpPr txBox="1"/>
          <p:nvPr/>
        </p:nvSpPr>
        <p:spPr>
          <a:xfrm>
            <a:off x="1783080" y="3291840"/>
            <a:ext cx="731520" cy="457200"/>
          </a:xfrm>
          <a:prstGeom prst="rect">
            <a:avLst/>
          </a:prstGeom>
          <a:noFill/>
          <a:ln/>
        </p:spPr>
        <p:txBody>
          <a:bodyPr wrap="square" lIns="0" tIns="0" rIns="0" bIns="0" rtlCol="0" anchor="ctr"/>
          <a:lstStyle/>
          <a:p>
            <a:pPr marL="0" indent="0" algn="l">
              <a:buNone/>
            </a:pPr>
            <a:r>
              <a:rPr lang="en-US" sz="2000" b="1" dirty="0">
                <a:solidFill>
                  <a:srgbClr val="18879B"/>
                </a:solidFill>
                <a:latin typeface="Courier New" pitchFamily="34" charset="0"/>
                <a:ea typeface="Courier New" pitchFamily="34" charset="-122"/>
                <a:cs typeface="Courier New" pitchFamily="34" charset="-120"/>
              </a:rPr>
              <a:t>3</a:t>
            </a:r>
            <a:endParaRPr lang="en-US" sz="2000" dirty="0"/>
          </a:p>
        </p:txBody>
      </p:sp>
      <p:sp>
        <p:nvSpPr>
          <p:cNvPr id="31" name="Text 29"/>
          <p:cNvSpPr txBox="1"/>
          <p:nvPr/>
        </p:nvSpPr>
        <p:spPr>
          <a:xfrm>
            <a:off x="2834640" y="3291840"/>
            <a:ext cx="731520" cy="457200"/>
          </a:xfrm>
          <a:prstGeom prst="rect">
            <a:avLst/>
          </a:prstGeom>
          <a:noFill/>
          <a:ln/>
        </p:spPr>
        <p:txBody>
          <a:bodyPr wrap="square" lIns="0" tIns="0" rIns="0" bIns="0" rtlCol="0" anchor="ctr"/>
          <a:lstStyle/>
          <a:p>
            <a:pPr marL="0" indent="0" algn="l">
              <a:buNone/>
            </a:pPr>
            <a:r>
              <a:rPr lang="en-US" sz="2000" b="1" dirty="0">
                <a:solidFill>
                  <a:srgbClr val="0F1622"/>
                </a:solidFill>
                <a:latin typeface="Courier New" pitchFamily="34" charset="0"/>
                <a:ea typeface="Courier New" pitchFamily="34" charset="-122"/>
                <a:cs typeface="Courier New" pitchFamily="34" charset="-120"/>
              </a:rPr>
              <a:t>*</a:t>
            </a:r>
            <a:endParaRPr lang="en-US" sz="2000" dirty="0"/>
          </a:p>
        </p:txBody>
      </p:sp>
      <p:sp>
        <p:nvSpPr>
          <p:cNvPr id="32" name="Text 30"/>
          <p:cNvSpPr txBox="1"/>
          <p:nvPr/>
        </p:nvSpPr>
        <p:spPr>
          <a:xfrm>
            <a:off x="4069080" y="3291840"/>
            <a:ext cx="3566160" cy="457200"/>
          </a:xfrm>
          <a:prstGeom prst="rect">
            <a:avLst/>
          </a:prstGeom>
          <a:noFill/>
          <a:ln/>
        </p:spPr>
        <p:txBody>
          <a:bodyPr wrap="square" lIns="0" tIns="0" rIns="0" bIns="0" rtlCol="0" anchor="ctr"/>
          <a:lstStyle/>
          <a:p>
            <a:pPr marL="0" indent="0" algn="l">
              <a:buNone/>
            </a:pPr>
            <a:r>
              <a:rPr lang="en-US" sz="1400" b="1" dirty="0">
                <a:solidFill>
                  <a:srgbClr val="0F1622"/>
                </a:solidFill>
                <a:latin typeface="Courier New" pitchFamily="34" charset="0"/>
                <a:ea typeface="Courier New" pitchFamily="34" charset="-122"/>
                <a:cs typeface="Courier New" pitchFamily="34" charset="-120"/>
              </a:rPr>
              <a:t>CX = 2</a:t>
            </a:r>
            <a:r>
              <a:rPr lang="en-US" sz="1400" dirty="0">
                <a:solidFill>
                  <a:srgbClr val="5B6779"/>
                </a:solidFill>
                <a:latin typeface="Calibri" pitchFamily="34" charset="0"/>
                <a:ea typeface="Calibri" pitchFamily="34" charset="-122"/>
                <a:cs typeface="Calibri" pitchFamily="34" charset="-120"/>
              </a:rPr>
              <a:t>    back to again</a:t>
            </a:r>
            <a:endParaRPr lang="en-US" sz="1400" dirty="0"/>
          </a:p>
        </p:txBody>
      </p:sp>
      <p:sp>
        <p:nvSpPr>
          <p:cNvPr id="33" name="Text 31"/>
          <p:cNvSpPr txBox="1"/>
          <p:nvPr/>
        </p:nvSpPr>
        <p:spPr>
          <a:xfrm>
            <a:off x="8229600" y="3291840"/>
            <a:ext cx="3108960" cy="457200"/>
          </a:xfrm>
          <a:prstGeom prst="rect">
            <a:avLst/>
          </a:prstGeom>
          <a:noFill/>
          <a:ln/>
        </p:spPr>
        <p:txBody>
          <a:bodyPr wrap="square" lIns="0" tIns="0" rIns="0" bIns="0" rtlCol="0" anchor="ctr"/>
          <a:lstStyle/>
          <a:p>
            <a:pPr marL="0" indent="0" algn="l">
              <a:buNone/>
            </a:pPr>
            <a:r>
              <a:rPr lang="en-US" sz="2000" b="1" dirty="0">
                <a:solidFill>
                  <a:srgbClr val="F0F3F8"/>
                </a:solidFill>
                <a:latin typeface="Courier New" pitchFamily="34" charset="0"/>
                <a:ea typeface="Courier New" pitchFamily="34" charset="-122"/>
                <a:cs typeface="Courier New" pitchFamily="34" charset="-120"/>
              </a:rPr>
              <a:t>***</a:t>
            </a:r>
            <a:endParaRPr lang="en-US" sz="2000" dirty="0"/>
          </a:p>
        </p:txBody>
      </p:sp>
      <p:sp>
        <p:nvSpPr>
          <p:cNvPr id="34" name="Shape 32"/>
          <p:cNvSpPr/>
          <p:nvPr/>
        </p:nvSpPr>
        <p:spPr>
          <a:xfrm>
            <a:off x="640080" y="3840480"/>
            <a:ext cx="7086600" cy="457200"/>
          </a:xfrm>
          <a:prstGeom prst="roundRect">
            <a:avLst>
              <a:gd name="adj" fmla="val 6670"/>
            </a:avLst>
          </a:prstGeom>
          <a:solidFill>
            <a:srgbClr val="F3F5F9"/>
          </a:solidFill>
          <a:ln w="12700">
            <a:solidFill>
              <a:srgbClr val="E2E7EF"/>
            </a:solidFill>
            <a:prstDash val="solid"/>
          </a:ln>
        </p:spPr>
        <p:txBody>
          <a:bodyPr/>
          <a:lstStyle/>
          <a:p>
            <a:endParaRPr lang="en-US"/>
          </a:p>
        </p:txBody>
      </p:sp>
      <p:sp>
        <p:nvSpPr>
          <p:cNvPr id="35" name="Shape 33"/>
          <p:cNvSpPr/>
          <p:nvPr/>
        </p:nvSpPr>
        <p:spPr>
          <a:xfrm>
            <a:off x="896112" y="3904488"/>
            <a:ext cx="329184" cy="329184"/>
          </a:xfrm>
          <a:prstGeom prst="ellipse">
            <a:avLst/>
          </a:prstGeom>
          <a:solidFill>
            <a:srgbClr val="D7EEF2"/>
          </a:solidFill>
          <a:ln/>
        </p:spPr>
        <p:txBody>
          <a:bodyPr/>
          <a:lstStyle/>
          <a:p>
            <a:endParaRPr lang="en-US"/>
          </a:p>
        </p:txBody>
      </p:sp>
      <p:sp>
        <p:nvSpPr>
          <p:cNvPr id="36" name="Text 34"/>
          <p:cNvSpPr txBox="1"/>
          <p:nvPr/>
        </p:nvSpPr>
        <p:spPr>
          <a:xfrm>
            <a:off x="896112" y="3904488"/>
            <a:ext cx="329184" cy="329184"/>
          </a:xfrm>
          <a:prstGeom prst="rect">
            <a:avLst/>
          </a:prstGeom>
          <a:noFill/>
          <a:ln/>
        </p:spPr>
        <p:txBody>
          <a:bodyPr wrap="square" lIns="0" tIns="0" rIns="0" bIns="0" rtlCol="0" anchor="ctr"/>
          <a:lstStyle/>
          <a:p>
            <a:pPr marL="0" indent="0" algn="ctr">
              <a:buNone/>
            </a:pPr>
            <a:r>
              <a:rPr lang="en-US" sz="1300" b="1" dirty="0">
                <a:solidFill>
                  <a:srgbClr val="18879B"/>
                </a:solidFill>
                <a:latin typeface="Courier New" pitchFamily="34" charset="0"/>
                <a:ea typeface="Courier New" pitchFamily="34" charset="-122"/>
                <a:cs typeface="Courier New" pitchFamily="34" charset="-120"/>
              </a:rPr>
              <a:t>4</a:t>
            </a:r>
            <a:endParaRPr lang="en-US" sz="1300" dirty="0"/>
          </a:p>
        </p:txBody>
      </p:sp>
      <p:sp>
        <p:nvSpPr>
          <p:cNvPr id="37" name="Text 35"/>
          <p:cNvSpPr txBox="1"/>
          <p:nvPr/>
        </p:nvSpPr>
        <p:spPr>
          <a:xfrm>
            <a:off x="1783080" y="3840480"/>
            <a:ext cx="731520" cy="457200"/>
          </a:xfrm>
          <a:prstGeom prst="rect">
            <a:avLst/>
          </a:prstGeom>
          <a:noFill/>
          <a:ln/>
        </p:spPr>
        <p:txBody>
          <a:bodyPr wrap="square" lIns="0" tIns="0" rIns="0" bIns="0" rtlCol="0" anchor="ctr"/>
          <a:lstStyle/>
          <a:p>
            <a:pPr marL="0" indent="0" algn="l">
              <a:buNone/>
            </a:pPr>
            <a:r>
              <a:rPr lang="en-US" sz="2000" b="1" dirty="0">
                <a:solidFill>
                  <a:srgbClr val="18879B"/>
                </a:solidFill>
                <a:latin typeface="Courier New" pitchFamily="34" charset="0"/>
                <a:ea typeface="Courier New" pitchFamily="34" charset="-122"/>
                <a:cs typeface="Courier New" pitchFamily="34" charset="-120"/>
              </a:rPr>
              <a:t>2</a:t>
            </a:r>
            <a:endParaRPr lang="en-US" sz="2000" dirty="0"/>
          </a:p>
        </p:txBody>
      </p:sp>
      <p:sp>
        <p:nvSpPr>
          <p:cNvPr id="38" name="Text 36"/>
          <p:cNvSpPr txBox="1"/>
          <p:nvPr/>
        </p:nvSpPr>
        <p:spPr>
          <a:xfrm>
            <a:off x="2834640" y="3840480"/>
            <a:ext cx="731520" cy="457200"/>
          </a:xfrm>
          <a:prstGeom prst="rect">
            <a:avLst/>
          </a:prstGeom>
          <a:noFill/>
          <a:ln/>
        </p:spPr>
        <p:txBody>
          <a:bodyPr wrap="square" lIns="0" tIns="0" rIns="0" bIns="0" rtlCol="0" anchor="ctr"/>
          <a:lstStyle/>
          <a:p>
            <a:pPr marL="0" indent="0" algn="l">
              <a:buNone/>
            </a:pPr>
            <a:r>
              <a:rPr lang="en-US" sz="2000" b="1" dirty="0">
                <a:solidFill>
                  <a:srgbClr val="0F1622"/>
                </a:solidFill>
                <a:latin typeface="Courier New" pitchFamily="34" charset="0"/>
                <a:ea typeface="Courier New" pitchFamily="34" charset="-122"/>
                <a:cs typeface="Courier New" pitchFamily="34" charset="-120"/>
              </a:rPr>
              <a:t>*</a:t>
            </a:r>
            <a:endParaRPr lang="en-US" sz="2000" dirty="0"/>
          </a:p>
        </p:txBody>
      </p:sp>
      <p:sp>
        <p:nvSpPr>
          <p:cNvPr id="39" name="Text 37"/>
          <p:cNvSpPr txBox="1"/>
          <p:nvPr/>
        </p:nvSpPr>
        <p:spPr>
          <a:xfrm>
            <a:off x="4069080" y="3840480"/>
            <a:ext cx="3566160" cy="457200"/>
          </a:xfrm>
          <a:prstGeom prst="rect">
            <a:avLst/>
          </a:prstGeom>
          <a:noFill/>
          <a:ln/>
        </p:spPr>
        <p:txBody>
          <a:bodyPr wrap="square" lIns="0" tIns="0" rIns="0" bIns="0" rtlCol="0" anchor="ctr"/>
          <a:lstStyle/>
          <a:p>
            <a:pPr marL="0" indent="0" algn="l">
              <a:buNone/>
            </a:pPr>
            <a:r>
              <a:rPr lang="en-US" sz="1400" b="1" dirty="0">
                <a:solidFill>
                  <a:srgbClr val="0F1622"/>
                </a:solidFill>
                <a:latin typeface="Courier New" pitchFamily="34" charset="0"/>
                <a:ea typeface="Courier New" pitchFamily="34" charset="-122"/>
                <a:cs typeface="Courier New" pitchFamily="34" charset="-120"/>
              </a:rPr>
              <a:t>CX = 1</a:t>
            </a:r>
            <a:r>
              <a:rPr lang="en-US" sz="1400" dirty="0">
                <a:solidFill>
                  <a:srgbClr val="5B6779"/>
                </a:solidFill>
                <a:latin typeface="Calibri" pitchFamily="34" charset="0"/>
                <a:ea typeface="Calibri" pitchFamily="34" charset="-122"/>
                <a:cs typeface="Calibri" pitchFamily="34" charset="-120"/>
              </a:rPr>
              <a:t>    back to again</a:t>
            </a:r>
            <a:endParaRPr lang="en-US" sz="1400" dirty="0"/>
          </a:p>
        </p:txBody>
      </p:sp>
      <p:sp>
        <p:nvSpPr>
          <p:cNvPr id="40" name="Text 38"/>
          <p:cNvSpPr txBox="1"/>
          <p:nvPr/>
        </p:nvSpPr>
        <p:spPr>
          <a:xfrm>
            <a:off x="8229600" y="3840480"/>
            <a:ext cx="3108960" cy="457200"/>
          </a:xfrm>
          <a:prstGeom prst="rect">
            <a:avLst/>
          </a:prstGeom>
          <a:noFill/>
          <a:ln/>
        </p:spPr>
        <p:txBody>
          <a:bodyPr wrap="square" lIns="0" tIns="0" rIns="0" bIns="0" rtlCol="0" anchor="ctr"/>
          <a:lstStyle/>
          <a:p>
            <a:pPr marL="0" indent="0" algn="l">
              <a:buNone/>
            </a:pPr>
            <a:r>
              <a:rPr lang="en-US" sz="2000" b="1" dirty="0">
                <a:solidFill>
                  <a:srgbClr val="F0F3F8"/>
                </a:solidFill>
                <a:latin typeface="Courier New" pitchFamily="34" charset="0"/>
                <a:ea typeface="Courier New" pitchFamily="34" charset="-122"/>
                <a:cs typeface="Courier New" pitchFamily="34" charset="-120"/>
              </a:rPr>
              <a:t>****</a:t>
            </a:r>
            <a:endParaRPr lang="en-US" sz="2000" dirty="0"/>
          </a:p>
        </p:txBody>
      </p:sp>
      <p:sp>
        <p:nvSpPr>
          <p:cNvPr id="41" name="Shape 39"/>
          <p:cNvSpPr/>
          <p:nvPr/>
        </p:nvSpPr>
        <p:spPr>
          <a:xfrm>
            <a:off x="640080" y="4389120"/>
            <a:ext cx="7086600" cy="457200"/>
          </a:xfrm>
          <a:prstGeom prst="roundRect">
            <a:avLst>
              <a:gd name="adj" fmla="val 6670"/>
            </a:avLst>
          </a:prstGeom>
          <a:solidFill>
            <a:srgbClr val="FBEBD2"/>
          </a:solidFill>
          <a:ln w="12700">
            <a:solidFill>
              <a:srgbClr val="D98A1F"/>
            </a:solidFill>
            <a:prstDash val="solid"/>
          </a:ln>
        </p:spPr>
        <p:txBody>
          <a:bodyPr/>
          <a:lstStyle/>
          <a:p>
            <a:endParaRPr lang="en-US"/>
          </a:p>
        </p:txBody>
      </p:sp>
      <p:sp>
        <p:nvSpPr>
          <p:cNvPr id="42" name="Shape 40"/>
          <p:cNvSpPr/>
          <p:nvPr/>
        </p:nvSpPr>
        <p:spPr>
          <a:xfrm>
            <a:off x="896112" y="4453128"/>
            <a:ext cx="329184" cy="329184"/>
          </a:xfrm>
          <a:prstGeom prst="ellipse">
            <a:avLst/>
          </a:prstGeom>
          <a:solidFill>
            <a:srgbClr val="D7EEF2"/>
          </a:solidFill>
          <a:ln/>
        </p:spPr>
        <p:txBody>
          <a:bodyPr/>
          <a:lstStyle/>
          <a:p>
            <a:endParaRPr lang="en-US"/>
          </a:p>
        </p:txBody>
      </p:sp>
      <p:sp>
        <p:nvSpPr>
          <p:cNvPr id="43" name="Text 41"/>
          <p:cNvSpPr txBox="1"/>
          <p:nvPr/>
        </p:nvSpPr>
        <p:spPr>
          <a:xfrm>
            <a:off x="896112" y="4453128"/>
            <a:ext cx="329184" cy="329184"/>
          </a:xfrm>
          <a:prstGeom prst="rect">
            <a:avLst/>
          </a:prstGeom>
          <a:noFill/>
          <a:ln/>
        </p:spPr>
        <p:txBody>
          <a:bodyPr wrap="square" lIns="0" tIns="0" rIns="0" bIns="0" rtlCol="0" anchor="ctr"/>
          <a:lstStyle/>
          <a:p>
            <a:pPr marL="0" indent="0" algn="ctr">
              <a:buNone/>
            </a:pPr>
            <a:r>
              <a:rPr lang="en-US" sz="1300" b="1" dirty="0">
                <a:solidFill>
                  <a:srgbClr val="18879B"/>
                </a:solidFill>
                <a:latin typeface="Courier New" pitchFamily="34" charset="0"/>
                <a:ea typeface="Courier New" pitchFamily="34" charset="-122"/>
                <a:cs typeface="Courier New" pitchFamily="34" charset="-120"/>
              </a:rPr>
              <a:t>5</a:t>
            </a:r>
            <a:endParaRPr lang="en-US" sz="1300" dirty="0"/>
          </a:p>
        </p:txBody>
      </p:sp>
      <p:sp>
        <p:nvSpPr>
          <p:cNvPr id="44" name="Text 42"/>
          <p:cNvSpPr txBox="1"/>
          <p:nvPr/>
        </p:nvSpPr>
        <p:spPr>
          <a:xfrm>
            <a:off x="1783080" y="4389120"/>
            <a:ext cx="731520" cy="457200"/>
          </a:xfrm>
          <a:prstGeom prst="rect">
            <a:avLst/>
          </a:prstGeom>
          <a:noFill/>
          <a:ln/>
        </p:spPr>
        <p:txBody>
          <a:bodyPr wrap="square" lIns="0" tIns="0" rIns="0" bIns="0" rtlCol="0" anchor="ctr"/>
          <a:lstStyle/>
          <a:p>
            <a:pPr marL="0" indent="0" algn="l">
              <a:buNone/>
            </a:pPr>
            <a:r>
              <a:rPr lang="en-US" sz="2000" b="1" dirty="0">
                <a:solidFill>
                  <a:srgbClr val="18879B"/>
                </a:solidFill>
                <a:latin typeface="Courier New" pitchFamily="34" charset="0"/>
                <a:ea typeface="Courier New" pitchFamily="34" charset="-122"/>
                <a:cs typeface="Courier New" pitchFamily="34" charset="-120"/>
              </a:rPr>
              <a:t>1</a:t>
            </a:r>
            <a:endParaRPr lang="en-US" sz="2000" dirty="0"/>
          </a:p>
        </p:txBody>
      </p:sp>
      <p:sp>
        <p:nvSpPr>
          <p:cNvPr id="45" name="Text 43"/>
          <p:cNvSpPr txBox="1"/>
          <p:nvPr/>
        </p:nvSpPr>
        <p:spPr>
          <a:xfrm>
            <a:off x="2834640" y="4389120"/>
            <a:ext cx="731520" cy="457200"/>
          </a:xfrm>
          <a:prstGeom prst="rect">
            <a:avLst/>
          </a:prstGeom>
          <a:noFill/>
          <a:ln/>
        </p:spPr>
        <p:txBody>
          <a:bodyPr wrap="square" lIns="0" tIns="0" rIns="0" bIns="0" rtlCol="0" anchor="ctr"/>
          <a:lstStyle/>
          <a:p>
            <a:pPr marL="0" indent="0" algn="l">
              <a:buNone/>
            </a:pPr>
            <a:r>
              <a:rPr lang="en-US" sz="2000" b="1" dirty="0">
                <a:solidFill>
                  <a:srgbClr val="0F1622"/>
                </a:solidFill>
                <a:latin typeface="Courier New" pitchFamily="34" charset="0"/>
                <a:ea typeface="Courier New" pitchFamily="34" charset="-122"/>
                <a:cs typeface="Courier New" pitchFamily="34" charset="-120"/>
              </a:rPr>
              <a:t>*</a:t>
            </a:r>
            <a:endParaRPr lang="en-US" sz="2000" dirty="0"/>
          </a:p>
        </p:txBody>
      </p:sp>
      <p:sp>
        <p:nvSpPr>
          <p:cNvPr id="46" name="Text 44"/>
          <p:cNvSpPr txBox="1"/>
          <p:nvPr/>
        </p:nvSpPr>
        <p:spPr>
          <a:xfrm>
            <a:off x="4069080" y="4389120"/>
            <a:ext cx="3566160" cy="457200"/>
          </a:xfrm>
          <a:prstGeom prst="rect">
            <a:avLst/>
          </a:prstGeom>
          <a:noFill/>
          <a:ln/>
        </p:spPr>
        <p:txBody>
          <a:bodyPr wrap="square" lIns="0" tIns="0" rIns="0" bIns="0" rtlCol="0" anchor="ctr"/>
          <a:lstStyle/>
          <a:p>
            <a:pPr marL="0" indent="0" algn="l">
              <a:buNone/>
            </a:pPr>
            <a:r>
              <a:rPr lang="en-US" sz="1400" b="1" dirty="0">
                <a:solidFill>
                  <a:srgbClr val="D98A1F"/>
                </a:solidFill>
                <a:latin typeface="Courier New" pitchFamily="34" charset="0"/>
                <a:ea typeface="Courier New" pitchFamily="34" charset="-122"/>
                <a:cs typeface="Courier New" pitchFamily="34" charset="-120"/>
              </a:rPr>
              <a:t>CX = 0</a:t>
            </a:r>
            <a:r>
              <a:rPr lang="en-US" sz="1400" b="1" dirty="0">
                <a:solidFill>
                  <a:srgbClr val="D98A1F"/>
                </a:solidFill>
                <a:latin typeface="Calibri" pitchFamily="34" charset="0"/>
                <a:ea typeface="Calibri" pitchFamily="34" charset="-122"/>
                <a:cs typeface="Calibri" pitchFamily="34" charset="-120"/>
              </a:rPr>
              <a:t>    stop, go to the next line</a:t>
            </a:r>
            <a:endParaRPr lang="en-US" sz="1400" dirty="0"/>
          </a:p>
        </p:txBody>
      </p:sp>
      <p:sp>
        <p:nvSpPr>
          <p:cNvPr id="47" name="Text 45"/>
          <p:cNvSpPr txBox="1"/>
          <p:nvPr/>
        </p:nvSpPr>
        <p:spPr>
          <a:xfrm>
            <a:off x="8229600" y="4389120"/>
            <a:ext cx="3108960" cy="457200"/>
          </a:xfrm>
          <a:prstGeom prst="rect">
            <a:avLst/>
          </a:prstGeom>
          <a:noFill/>
          <a:ln/>
        </p:spPr>
        <p:txBody>
          <a:bodyPr wrap="square" lIns="0" tIns="0" rIns="0" bIns="0" rtlCol="0" anchor="ctr"/>
          <a:lstStyle/>
          <a:p>
            <a:pPr marL="0" indent="0" algn="l">
              <a:buNone/>
            </a:pPr>
            <a:r>
              <a:rPr lang="en-US" sz="2000" b="1" dirty="0">
                <a:solidFill>
                  <a:srgbClr val="F0F3F8"/>
                </a:solidFill>
                <a:latin typeface="Courier New" pitchFamily="34" charset="0"/>
                <a:ea typeface="Courier New" pitchFamily="34" charset="-122"/>
                <a:cs typeface="Courier New" pitchFamily="34" charset="-120"/>
              </a:rPr>
              <a:t>*****</a:t>
            </a:r>
            <a:endParaRPr lang="en-US" sz="2000" dirty="0"/>
          </a:p>
        </p:txBody>
      </p:sp>
      <p:sp>
        <p:nvSpPr>
          <p:cNvPr id="48" name="Shape 46"/>
          <p:cNvSpPr/>
          <p:nvPr/>
        </p:nvSpPr>
        <p:spPr>
          <a:xfrm>
            <a:off x="640080" y="5138928"/>
            <a:ext cx="10908792" cy="566928"/>
          </a:xfrm>
          <a:prstGeom prst="roundRect">
            <a:avLst>
              <a:gd name="adj" fmla="val 6670"/>
            </a:avLst>
          </a:prstGeom>
          <a:solidFill>
            <a:srgbClr val="0F1622"/>
          </a:solidFill>
          <a:ln/>
        </p:spPr>
        <p:txBody>
          <a:bodyPr/>
          <a:lstStyle/>
          <a:p>
            <a:endParaRPr lang="en-US"/>
          </a:p>
        </p:txBody>
      </p:sp>
      <p:sp>
        <p:nvSpPr>
          <p:cNvPr id="49" name="Text 47"/>
          <p:cNvSpPr txBox="1"/>
          <p:nvPr/>
        </p:nvSpPr>
        <p:spPr>
          <a:xfrm>
            <a:off x="640080" y="5138928"/>
            <a:ext cx="10908792" cy="566928"/>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5 turns, 5 stars. </a:t>
            </a:r>
            <a:r>
              <a:rPr lang="en-US" sz="1500" b="1" dirty="0">
                <a:solidFill>
                  <a:srgbClr val="EDA63F"/>
                </a:solidFill>
                <a:latin typeface="Courier New" pitchFamily="34" charset="0"/>
                <a:ea typeface="Courier New" pitchFamily="34" charset="-122"/>
                <a:cs typeface="Courier New" pitchFamily="34" charset="-120"/>
              </a:rPr>
              <a:t>loop</a:t>
            </a:r>
            <a:r>
              <a:rPr lang="en-US" sz="1500" dirty="0">
                <a:solidFill>
                  <a:srgbClr val="FFFFFF"/>
                </a:solidFill>
                <a:latin typeface="Calibri" pitchFamily="34" charset="0"/>
                <a:ea typeface="Calibri" pitchFamily="34" charset="-122"/>
                <a:cs typeface="Calibri" pitchFamily="34" charset="-120"/>
              </a:rPr>
              <a:t> takes 1 from CX first, then checks for 0.</a:t>
            </a:r>
            <a:endParaRPr lang="en-US" sz="1500" dirty="0"/>
          </a:p>
        </p:txBody>
      </p:sp>
      <p:sp>
        <p:nvSpPr>
          <p:cNvPr id="50" name="Text 48"/>
          <p:cNvSpPr txBox="1"/>
          <p:nvPr/>
        </p:nvSpPr>
        <p:spPr>
          <a:xfrm>
            <a:off x="640080" y="5852160"/>
            <a:ext cx="10908792" cy="274320"/>
          </a:xfrm>
          <a:prstGeom prst="rect">
            <a:avLst/>
          </a:prstGeom>
          <a:noFill/>
          <a:ln/>
        </p:spPr>
        <p:txBody>
          <a:bodyPr wrap="square" lIns="0" tIns="0" rIns="0" bIns="0" rtlCol="0" anchor="t"/>
          <a:lstStyle/>
          <a:p>
            <a:pPr marL="0" indent="0" algn="l">
              <a:buNone/>
            </a:pPr>
            <a:r>
              <a:rPr lang="en-US" sz="1200" dirty="0">
                <a:solidFill>
                  <a:srgbClr val="5B6779"/>
                </a:solidFill>
                <a:latin typeface="Calibri" pitchFamily="34" charset="0"/>
                <a:ea typeface="Calibri" pitchFamily="34" charset="-122"/>
                <a:cs typeface="Calibri" pitchFamily="34" charset="-120"/>
              </a:rPr>
              <a:t>In EMU8086, click single step and watch CX in the registers panel: 0005, 0004, 0003, 0002, 0001, 0000.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marL="0" indent="0" algn="l">
              <a:buNone/>
            </a:pPr>
            <a:r>
              <a:rPr lang="en-US" sz="1050" b="1" kern="0" spc="160" dirty="0">
                <a:solidFill>
                  <a:srgbClr val="93A0B2"/>
                </a:solidFill>
                <a:latin typeface="Courier New" pitchFamily="34" charset="0"/>
                <a:ea typeface="Courier New" pitchFamily="34" charset="-122"/>
                <a:cs typeface="Courier New" pitchFamily="34" charset="-120"/>
              </a:rPr>
              <a:t>6 · INC AND DEC</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marL="0" indent="0" algn="l">
              <a:buNone/>
            </a:pPr>
            <a:r>
              <a:rPr lang="en-US" sz="3200" b="1" dirty="0">
                <a:solidFill>
                  <a:srgbClr val="0F1622"/>
                </a:solidFill>
                <a:latin typeface="Arial" pitchFamily="34" charset="0"/>
                <a:ea typeface="Arial" pitchFamily="34" charset="-122"/>
                <a:cs typeface="Arial" pitchFamily="34" charset="-120"/>
              </a:rPr>
              <a:t>INC and DEC: one up, one down</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marL="0" indent="0" algn="l">
              <a:buNone/>
            </a:pPr>
            <a:r>
              <a:rPr lang="en-US" sz="1500" dirty="0">
                <a:solidFill>
                  <a:srgbClr val="5B6779"/>
                </a:solidFill>
                <a:latin typeface="Calibri" pitchFamily="34" charset="0"/>
                <a:ea typeface="Calibri" pitchFamily="34" charset="-122"/>
                <a:cs typeface="Calibri" pitchFamily="34" charset="-120"/>
              </a:rPr>
              <a:t>Short ways to add 1 or take 1 away.</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marL="0" indent="0" algn="l">
              <a:buNone/>
            </a:pPr>
            <a:r>
              <a:rPr lang="en-US" sz="900" kern="0" spc="120" dirty="0">
                <a:solidFill>
                  <a:srgbClr val="93A0B2"/>
                </a:solidFill>
                <a:latin typeface="Courier New" pitchFamily="34" charset="0"/>
                <a:ea typeface="Courier New" pitchFamily="34" charset="-122"/>
                <a:cs typeface="Courier New" pitchFamily="34" charset="-120"/>
              </a:rPr>
              <a:t>COAL  ·  LAB 04</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marL="0" indent="0" algn="r">
              <a:buNone/>
            </a:pPr>
            <a:r>
              <a:rPr lang="en-US" sz="900" dirty="0">
                <a:solidFill>
                  <a:srgbClr val="93A0B2"/>
                </a:solidFill>
                <a:latin typeface="Courier New" pitchFamily="34" charset="0"/>
                <a:ea typeface="Courier New" pitchFamily="34" charset="-122"/>
                <a:cs typeface="Courier New" pitchFamily="34" charset="-120"/>
              </a:rPr>
              <a:t>07</a:t>
            </a:r>
            <a:endParaRPr lang="en-US" sz="900" dirty="0"/>
          </a:p>
        </p:txBody>
      </p:sp>
      <p:sp>
        <p:nvSpPr>
          <p:cNvPr id="7" name="Shape 5"/>
          <p:cNvSpPr/>
          <p:nvPr/>
        </p:nvSpPr>
        <p:spPr>
          <a:xfrm>
            <a:off x="640080" y="1810512"/>
            <a:ext cx="5303520" cy="3108960"/>
          </a:xfrm>
          <a:prstGeom prst="roundRect">
            <a:avLst>
              <a:gd name="adj" fmla="val 6670"/>
            </a:avLst>
          </a:prstGeom>
          <a:solidFill>
            <a:srgbClr val="FBEBD2"/>
          </a:solidFill>
          <a:ln w="12700">
            <a:solidFill>
              <a:srgbClr val="D98A1F"/>
            </a:solidFill>
            <a:prstDash val="solid"/>
          </a:ln>
        </p:spPr>
        <p:txBody>
          <a:bodyPr/>
          <a:lstStyle/>
          <a:p>
            <a:endParaRPr lang="en-US"/>
          </a:p>
        </p:txBody>
      </p:sp>
      <p:sp>
        <p:nvSpPr>
          <p:cNvPr id="8" name="Text 6"/>
          <p:cNvSpPr txBox="1"/>
          <p:nvPr/>
        </p:nvSpPr>
        <p:spPr>
          <a:xfrm>
            <a:off x="914400" y="1993392"/>
            <a:ext cx="4754880" cy="219456"/>
          </a:xfrm>
          <a:prstGeom prst="rect">
            <a:avLst/>
          </a:prstGeom>
          <a:noFill/>
          <a:ln/>
        </p:spPr>
        <p:txBody>
          <a:bodyPr wrap="square" lIns="0" tIns="0" rIns="0" bIns="0" rtlCol="0" anchor="t"/>
          <a:lstStyle/>
          <a:p>
            <a:pPr marL="0" indent="0" algn="l">
              <a:buNone/>
            </a:pPr>
            <a:r>
              <a:rPr lang="en-US" sz="950" b="1" kern="0" spc="130" dirty="0">
                <a:solidFill>
                  <a:srgbClr val="D98A1F"/>
                </a:solidFill>
                <a:latin typeface="Courier New" pitchFamily="34" charset="0"/>
                <a:ea typeface="Courier New" pitchFamily="34" charset="-122"/>
                <a:cs typeface="Courier New" pitchFamily="34" charset="-120"/>
              </a:rPr>
              <a:t>INC  ·  ONE UP</a:t>
            </a:r>
            <a:endParaRPr lang="en-US" sz="950" dirty="0"/>
          </a:p>
        </p:txBody>
      </p:sp>
      <p:sp>
        <p:nvSpPr>
          <p:cNvPr id="9" name="Shape 7"/>
          <p:cNvSpPr/>
          <p:nvPr/>
        </p:nvSpPr>
        <p:spPr>
          <a:xfrm>
            <a:off x="914400" y="2331720"/>
            <a:ext cx="4754880" cy="914400"/>
          </a:xfrm>
          <a:prstGeom prst="roundRect">
            <a:avLst>
              <a:gd name="adj" fmla="val 6670"/>
            </a:avLst>
          </a:prstGeom>
          <a:solidFill>
            <a:srgbClr val="121A29"/>
          </a:solidFill>
          <a:ln w="12700">
            <a:solidFill>
              <a:srgbClr val="2B3850"/>
            </a:solidFill>
            <a:prstDash val="solid"/>
          </a:ln>
        </p:spPr>
        <p:txBody>
          <a:bodyPr/>
          <a:lstStyle/>
          <a:p>
            <a:endParaRPr lang="en-US"/>
          </a:p>
        </p:txBody>
      </p:sp>
      <p:sp>
        <p:nvSpPr>
          <p:cNvPr id="10" name="Text 8"/>
          <p:cNvSpPr txBox="1"/>
          <p:nvPr/>
        </p:nvSpPr>
        <p:spPr>
          <a:xfrm>
            <a:off x="1188720" y="2359152"/>
            <a:ext cx="4206240" cy="420624"/>
          </a:xfrm>
          <a:prstGeom prst="rect">
            <a:avLst/>
          </a:prstGeom>
          <a:noFill/>
          <a:ln/>
        </p:spPr>
        <p:txBody>
          <a:bodyPr wrap="square" lIns="0" tIns="0" rIns="0" bIns="0" rtlCol="0" anchor="ctr"/>
          <a:lstStyle/>
          <a:p>
            <a:pPr marL="0" indent="0" algn="l">
              <a:buNone/>
            </a:pPr>
            <a:r>
              <a:rPr lang="en-US" sz="2000" b="1" dirty="0">
                <a:solidFill>
                  <a:srgbClr val="EDA63F"/>
                </a:solidFill>
                <a:latin typeface="Courier New" pitchFamily="34" charset="0"/>
                <a:ea typeface="Courier New" pitchFamily="34" charset="-122"/>
                <a:cs typeface="Courier New" pitchFamily="34" charset="-120"/>
              </a:rPr>
              <a:t>mov</a:t>
            </a:r>
            <a:r>
              <a:rPr lang="en-US" sz="2000" b="1" dirty="0">
                <a:solidFill>
                  <a:srgbClr val="F0F3F8"/>
                </a:solidFill>
                <a:latin typeface="Courier New" pitchFamily="34" charset="0"/>
                <a:ea typeface="Courier New" pitchFamily="34" charset="-122"/>
                <a:cs typeface="Courier New" pitchFamily="34" charset="-120"/>
              </a:rPr>
              <a:t> </a:t>
            </a:r>
            <a:r>
              <a:rPr lang="en-US" sz="2000" b="1" dirty="0">
                <a:solidFill>
                  <a:srgbClr val="3EB9CE"/>
                </a:solidFill>
                <a:latin typeface="Courier New" pitchFamily="34" charset="0"/>
                <a:ea typeface="Courier New" pitchFamily="34" charset="-122"/>
                <a:cs typeface="Courier New" pitchFamily="34" charset="-120"/>
              </a:rPr>
              <a:t>dl</a:t>
            </a:r>
            <a:r>
              <a:rPr lang="en-US" sz="2000" b="1" dirty="0">
                <a:solidFill>
                  <a:srgbClr val="F0F3F8"/>
                </a:solidFill>
                <a:latin typeface="Courier New" pitchFamily="34" charset="0"/>
                <a:ea typeface="Courier New" pitchFamily="34" charset="-122"/>
                <a:cs typeface="Courier New" pitchFamily="34" charset="-120"/>
              </a:rPr>
              <a:t>, </a:t>
            </a:r>
            <a:r>
              <a:rPr lang="en-US" sz="2000" b="1" dirty="0">
                <a:solidFill>
                  <a:srgbClr val="9584E8"/>
                </a:solidFill>
                <a:latin typeface="Courier New" pitchFamily="34" charset="0"/>
                <a:ea typeface="Courier New" pitchFamily="34" charset="-122"/>
                <a:cs typeface="Courier New" pitchFamily="34" charset="-120"/>
              </a:rPr>
              <a:t>'1'</a:t>
            </a:r>
            <a:endParaRPr lang="en-US" sz="1400" dirty="0"/>
          </a:p>
        </p:txBody>
      </p:sp>
      <p:sp>
        <p:nvSpPr>
          <p:cNvPr id="11" name="Text 9"/>
          <p:cNvSpPr txBox="1"/>
          <p:nvPr/>
        </p:nvSpPr>
        <p:spPr>
          <a:xfrm>
            <a:off x="1188720" y="2761488"/>
            <a:ext cx="4206240" cy="420624"/>
          </a:xfrm>
          <a:prstGeom prst="rect">
            <a:avLst/>
          </a:prstGeom>
          <a:noFill/>
          <a:ln/>
        </p:spPr>
        <p:txBody>
          <a:bodyPr wrap="square" lIns="0" tIns="0" rIns="0" bIns="0" rtlCol="0" anchor="ctr"/>
          <a:lstStyle/>
          <a:p>
            <a:pPr marL="0" indent="0" algn="l">
              <a:buNone/>
            </a:pPr>
            <a:r>
              <a:rPr lang="en-US" sz="2000" b="1" dirty="0">
                <a:solidFill>
                  <a:srgbClr val="EDA63F"/>
                </a:solidFill>
                <a:latin typeface="Courier New" pitchFamily="34" charset="0"/>
                <a:ea typeface="Courier New" pitchFamily="34" charset="-122"/>
                <a:cs typeface="Courier New" pitchFamily="34" charset="-120"/>
              </a:rPr>
              <a:t>inc</a:t>
            </a:r>
            <a:r>
              <a:rPr lang="en-US" sz="2000" b="1" dirty="0">
                <a:solidFill>
                  <a:srgbClr val="F0F3F8"/>
                </a:solidFill>
                <a:latin typeface="Courier New" pitchFamily="34" charset="0"/>
                <a:ea typeface="Courier New" pitchFamily="34" charset="-122"/>
                <a:cs typeface="Courier New" pitchFamily="34" charset="-120"/>
              </a:rPr>
              <a:t> </a:t>
            </a:r>
            <a:r>
              <a:rPr lang="en-US" sz="2000" b="1" dirty="0">
                <a:solidFill>
                  <a:srgbClr val="3EB9CE"/>
                </a:solidFill>
                <a:latin typeface="Courier New" pitchFamily="34" charset="0"/>
                <a:ea typeface="Courier New" pitchFamily="34" charset="-122"/>
                <a:cs typeface="Courier New" pitchFamily="34" charset="-120"/>
              </a:rPr>
              <a:t>dl</a:t>
            </a:r>
            <a:endParaRPr lang="en-US" sz="1400" dirty="0"/>
          </a:p>
        </p:txBody>
      </p:sp>
      <p:sp>
        <p:nvSpPr>
          <p:cNvPr id="12" name="Shape 10"/>
          <p:cNvSpPr/>
          <p:nvPr/>
        </p:nvSpPr>
        <p:spPr>
          <a:xfrm>
            <a:off x="914400" y="3474720"/>
            <a:ext cx="1737360" cy="685800"/>
          </a:xfrm>
          <a:prstGeom prst="roundRect">
            <a:avLst>
              <a:gd name="adj" fmla="val 6670"/>
            </a:avLst>
          </a:prstGeom>
          <a:solidFill>
            <a:srgbClr val="FFFFFF"/>
          </a:solidFill>
          <a:ln w="12700">
            <a:solidFill>
              <a:srgbClr val="D98A1F"/>
            </a:solidFill>
            <a:prstDash val="solid"/>
          </a:ln>
        </p:spPr>
        <p:txBody>
          <a:bodyPr/>
          <a:lstStyle/>
          <a:p>
            <a:endParaRPr lang="en-US"/>
          </a:p>
        </p:txBody>
      </p:sp>
      <p:sp>
        <p:nvSpPr>
          <p:cNvPr id="13" name="Text 11"/>
          <p:cNvSpPr txBox="1"/>
          <p:nvPr/>
        </p:nvSpPr>
        <p:spPr>
          <a:xfrm>
            <a:off x="1051560" y="3474720"/>
            <a:ext cx="640080" cy="685800"/>
          </a:xfrm>
          <a:prstGeom prst="rect">
            <a:avLst/>
          </a:prstGeom>
          <a:noFill/>
          <a:ln/>
        </p:spPr>
        <p:txBody>
          <a:bodyPr wrap="square" lIns="0" tIns="0" rIns="0" bIns="0" rtlCol="0" anchor="ctr"/>
          <a:lstStyle/>
          <a:p>
            <a:pPr marL="0" indent="0" algn="l">
              <a:buNone/>
            </a:pPr>
            <a:r>
              <a:rPr lang="en-US" sz="1800" b="1" dirty="0">
                <a:solidFill>
                  <a:srgbClr val="D98A1F"/>
                </a:solidFill>
                <a:latin typeface="Courier New" pitchFamily="34" charset="0"/>
                <a:ea typeface="Courier New" pitchFamily="34" charset="-122"/>
                <a:cs typeface="Courier New" pitchFamily="34" charset="-120"/>
              </a:rPr>
              <a:t>DL</a:t>
            </a:r>
            <a:endParaRPr lang="en-US" sz="1800" dirty="0"/>
          </a:p>
        </p:txBody>
      </p:sp>
      <p:sp>
        <p:nvSpPr>
          <p:cNvPr id="14" name="Shape 12"/>
          <p:cNvSpPr/>
          <p:nvPr/>
        </p:nvSpPr>
        <p:spPr>
          <a:xfrm>
            <a:off x="1691640" y="3575304"/>
            <a:ext cx="822960" cy="484632"/>
          </a:xfrm>
          <a:prstGeom prst="roundRect">
            <a:avLst>
              <a:gd name="adj" fmla="val 6670"/>
            </a:avLst>
          </a:prstGeom>
          <a:solidFill>
            <a:srgbClr val="F3F5F9"/>
          </a:solidFill>
          <a:ln w="12700">
            <a:solidFill>
              <a:srgbClr val="E2E7EF"/>
            </a:solidFill>
            <a:prstDash val="solid"/>
          </a:ln>
        </p:spPr>
        <p:txBody>
          <a:bodyPr/>
          <a:lstStyle/>
          <a:p>
            <a:endParaRPr lang="en-US"/>
          </a:p>
        </p:txBody>
      </p:sp>
      <p:sp>
        <p:nvSpPr>
          <p:cNvPr id="15" name="Text 13"/>
          <p:cNvSpPr txBox="1"/>
          <p:nvPr/>
        </p:nvSpPr>
        <p:spPr>
          <a:xfrm>
            <a:off x="1691640" y="3575304"/>
            <a:ext cx="822960" cy="484632"/>
          </a:xfrm>
          <a:prstGeom prst="rect">
            <a:avLst/>
          </a:prstGeom>
          <a:noFill/>
          <a:ln/>
        </p:spPr>
        <p:txBody>
          <a:bodyPr wrap="square" lIns="0" tIns="0" rIns="0" bIns="0" rtlCol="0" anchor="ctr"/>
          <a:lstStyle/>
          <a:p>
            <a:pPr marL="0" indent="0" algn="ctr">
              <a:buNone/>
            </a:pPr>
            <a:r>
              <a:rPr lang="en-US" sz="1800" b="1" dirty="0">
                <a:solidFill>
                  <a:srgbClr val="0F1622"/>
                </a:solidFill>
                <a:latin typeface="Courier New" pitchFamily="34" charset="0"/>
                <a:ea typeface="Courier New" pitchFamily="34" charset="-122"/>
                <a:cs typeface="Courier New" pitchFamily="34" charset="-120"/>
              </a:rPr>
              <a:t>'1'</a:t>
            </a:r>
            <a:endParaRPr lang="en-US" sz="1800" dirty="0"/>
          </a:p>
        </p:txBody>
      </p:sp>
      <p:sp>
        <p:nvSpPr>
          <p:cNvPr id="16" name="Shape 14"/>
          <p:cNvSpPr/>
          <p:nvPr/>
        </p:nvSpPr>
        <p:spPr>
          <a:xfrm>
            <a:off x="2761488" y="3817620"/>
            <a:ext cx="786384" cy="0"/>
          </a:xfrm>
          <a:prstGeom prst="line">
            <a:avLst/>
          </a:prstGeom>
          <a:noFill/>
          <a:ln w="25400">
            <a:solidFill>
              <a:srgbClr val="93A0B2"/>
            </a:solidFill>
            <a:prstDash val="solid"/>
            <a:tailEnd type="triangle"/>
          </a:ln>
        </p:spPr>
        <p:txBody>
          <a:bodyPr/>
          <a:lstStyle/>
          <a:p>
            <a:endParaRPr lang="en-US"/>
          </a:p>
        </p:txBody>
      </p:sp>
      <p:sp>
        <p:nvSpPr>
          <p:cNvPr id="17" name="Text 15"/>
          <p:cNvSpPr txBox="1"/>
          <p:nvPr/>
        </p:nvSpPr>
        <p:spPr>
          <a:xfrm>
            <a:off x="2697480" y="3493008"/>
            <a:ext cx="914400" cy="256032"/>
          </a:xfrm>
          <a:prstGeom prst="rect">
            <a:avLst/>
          </a:prstGeom>
          <a:noFill/>
          <a:ln/>
        </p:spPr>
        <p:txBody>
          <a:bodyPr wrap="square" lIns="0" tIns="0" rIns="0" bIns="0" rtlCol="0" anchor="t"/>
          <a:lstStyle/>
          <a:p>
            <a:pPr marL="0" indent="0" algn="ctr">
              <a:buNone/>
            </a:pPr>
            <a:r>
              <a:rPr lang="en-US" sz="1200" b="1" dirty="0">
                <a:solidFill>
                  <a:srgbClr val="D98A1F"/>
                </a:solidFill>
                <a:latin typeface="Courier New" pitchFamily="34" charset="0"/>
                <a:ea typeface="Courier New" pitchFamily="34" charset="-122"/>
                <a:cs typeface="Courier New" pitchFamily="34" charset="-120"/>
              </a:rPr>
              <a:t>inc</a:t>
            </a:r>
            <a:endParaRPr lang="en-US" sz="1200" dirty="0"/>
          </a:p>
        </p:txBody>
      </p:sp>
      <p:sp>
        <p:nvSpPr>
          <p:cNvPr id="18" name="Shape 16"/>
          <p:cNvSpPr/>
          <p:nvPr/>
        </p:nvSpPr>
        <p:spPr>
          <a:xfrm>
            <a:off x="3657600" y="3474720"/>
            <a:ext cx="1737360" cy="685800"/>
          </a:xfrm>
          <a:prstGeom prst="roundRect">
            <a:avLst>
              <a:gd name="adj" fmla="val 6670"/>
            </a:avLst>
          </a:prstGeom>
          <a:solidFill>
            <a:srgbClr val="FFFFFF"/>
          </a:solidFill>
          <a:ln w="12700">
            <a:solidFill>
              <a:srgbClr val="D98A1F"/>
            </a:solidFill>
            <a:prstDash val="solid"/>
          </a:ln>
        </p:spPr>
        <p:txBody>
          <a:bodyPr/>
          <a:lstStyle/>
          <a:p>
            <a:endParaRPr lang="en-US"/>
          </a:p>
        </p:txBody>
      </p:sp>
      <p:sp>
        <p:nvSpPr>
          <p:cNvPr id="19" name="Text 17"/>
          <p:cNvSpPr txBox="1"/>
          <p:nvPr/>
        </p:nvSpPr>
        <p:spPr>
          <a:xfrm>
            <a:off x="3794760" y="3474720"/>
            <a:ext cx="640080" cy="685800"/>
          </a:xfrm>
          <a:prstGeom prst="rect">
            <a:avLst/>
          </a:prstGeom>
          <a:noFill/>
          <a:ln/>
        </p:spPr>
        <p:txBody>
          <a:bodyPr wrap="square" lIns="0" tIns="0" rIns="0" bIns="0" rtlCol="0" anchor="ctr"/>
          <a:lstStyle/>
          <a:p>
            <a:pPr marL="0" indent="0" algn="l">
              <a:buNone/>
            </a:pPr>
            <a:r>
              <a:rPr lang="en-US" sz="1800" b="1" dirty="0">
                <a:solidFill>
                  <a:srgbClr val="D98A1F"/>
                </a:solidFill>
                <a:latin typeface="Courier New" pitchFamily="34" charset="0"/>
                <a:ea typeface="Courier New" pitchFamily="34" charset="-122"/>
                <a:cs typeface="Courier New" pitchFamily="34" charset="-120"/>
              </a:rPr>
              <a:t>DL</a:t>
            </a:r>
            <a:endParaRPr lang="en-US" sz="1800" dirty="0"/>
          </a:p>
        </p:txBody>
      </p:sp>
      <p:sp>
        <p:nvSpPr>
          <p:cNvPr id="20" name="Shape 18"/>
          <p:cNvSpPr/>
          <p:nvPr/>
        </p:nvSpPr>
        <p:spPr>
          <a:xfrm>
            <a:off x="4434840" y="3575304"/>
            <a:ext cx="822960" cy="484632"/>
          </a:xfrm>
          <a:prstGeom prst="roundRect">
            <a:avLst>
              <a:gd name="adj" fmla="val 6670"/>
            </a:avLst>
          </a:prstGeom>
          <a:solidFill>
            <a:srgbClr val="F3F5F9"/>
          </a:solidFill>
          <a:ln w="12700">
            <a:solidFill>
              <a:srgbClr val="E2E7EF"/>
            </a:solidFill>
            <a:prstDash val="solid"/>
          </a:ln>
        </p:spPr>
        <p:txBody>
          <a:bodyPr/>
          <a:lstStyle/>
          <a:p>
            <a:endParaRPr lang="en-US"/>
          </a:p>
        </p:txBody>
      </p:sp>
      <p:sp>
        <p:nvSpPr>
          <p:cNvPr id="21" name="Text 19"/>
          <p:cNvSpPr txBox="1"/>
          <p:nvPr/>
        </p:nvSpPr>
        <p:spPr>
          <a:xfrm>
            <a:off x="4434840" y="3575304"/>
            <a:ext cx="822960" cy="484632"/>
          </a:xfrm>
          <a:prstGeom prst="rect">
            <a:avLst/>
          </a:prstGeom>
          <a:noFill/>
          <a:ln/>
        </p:spPr>
        <p:txBody>
          <a:bodyPr wrap="square" lIns="0" tIns="0" rIns="0" bIns="0" rtlCol="0" anchor="ctr"/>
          <a:lstStyle/>
          <a:p>
            <a:pPr marL="0" indent="0" algn="ctr">
              <a:buNone/>
            </a:pPr>
            <a:r>
              <a:rPr lang="en-US" sz="1800" b="1" dirty="0">
                <a:solidFill>
                  <a:srgbClr val="0F1622"/>
                </a:solidFill>
                <a:latin typeface="Courier New" pitchFamily="34" charset="0"/>
                <a:ea typeface="Courier New" pitchFamily="34" charset="-122"/>
                <a:cs typeface="Courier New" pitchFamily="34" charset="-120"/>
              </a:rPr>
              <a:t>'2'</a:t>
            </a:r>
            <a:endParaRPr lang="en-US" sz="1800" dirty="0"/>
          </a:p>
        </p:txBody>
      </p:sp>
      <p:sp>
        <p:nvSpPr>
          <p:cNvPr id="22" name="Text 20"/>
          <p:cNvSpPr txBox="1"/>
          <p:nvPr/>
        </p:nvSpPr>
        <p:spPr>
          <a:xfrm>
            <a:off x="914400" y="4206240"/>
            <a:ext cx="1737360" cy="237744"/>
          </a:xfrm>
          <a:prstGeom prst="rect">
            <a:avLst/>
          </a:prstGeom>
          <a:noFill/>
          <a:ln/>
        </p:spPr>
        <p:txBody>
          <a:bodyPr wrap="square" lIns="0" tIns="0" rIns="0" bIns="0" rtlCol="0" anchor="t"/>
          <a:lstStyle/>
          <a:p>
            <a:pPr marL="0" indent="0" algn="ctr">
              <a:buNone/>
            </a:pPr>
            <a:r>
              <a:rPr lang="en-US" sz="1100" dirty="0">
                <a:solidFill>
                  <a:srgbClr val="5B6779"/>
                </a:solidFill>
                <a:latin typeface="Calibri" pitchFamily="34" charset="0"/>
                <a:ea typeface="Calibri" pitchFamily="34" charset="-122"/>
                <a:cs typeface="Calibri" pitchFamily="34" charset="-120"/>
              </a:rPr>
              <a:t>code 49</a:t>
            </a:r>
            <a:endParaRPr lang="en-US" sz="1100" dirty="0"/>
          </a:p>
        </p:txBody>
      </p:sp>
      <p:sp>
        <p:nvSpPr>
          <p:cNvPr id="23" name="Text 21"/>
          <p:cNvSpPr txBox="1"/>
          <p:nvPr/>
        </p:nvSpPr>
        <p:spPr>
          <a:xfrm>
            <a:off x="3657600" y="4206240"/>
            <a:ext cx="1737360" cy="237744"/>
          </a:xfrm>
          <a:prstGeom prst="rect">
            <a:avLst/>
          </a:prstGeom>
          <a:noFill/>
          <a:ln/>
        </p:spPr>
        <p:txBody>
          <a:bodyPr wrap="square" lIns="0" tIns="0" rIns="0" bIns="0" rtlCol="0" anchor="t"/>
          <a:lstStyle/>
          <a:p>
            <a:pPr marL="0" indent="0" algn="ctr">
              <a:buNone/>
            </a:pPr>
            <a:r>
              <a:rPr lang="en-US" sz="1100" dirty="0">
                <a:solidFill>
                  <a:srgbClr val="5B6779"/>
                </a:solidFill>
                <a:latin typeface="Calibri" pitchFamily="34" charset="0"/>
                <a:ea typeface="Calibri" pitchFamily="34" charset="-122"/>
                <a:cs typeface="Calibri" pitchFamily="34" charset="-120"/>
              </a:rPr>
              <a:t>code 50</a:t>
            </a:r>
            <a:endParaRPr lang="en-US" sz="1100" dirty="0"/>
          </a:p>
        </p:txBody>
      </p:sp>
      <p:sp>
        <p:nvSpPr>
          <p:cNvPr id="24" name="Text 22"/>
          <p:cNvSpPr txBox="1"/>
          <p:nvPr/>
        </p:nvSpPr>
        <p:spPr>
          <a:xfrm>
            <a:off x="914400" y="4507992"/>
            <a:ext cx="4754880" cy="329184"/>
          </a:xfrm>
          <a:prstGeom prst="rect">
            <a:avLst/>
          </a:prstGeom>
          <a:noFill/>
          <a:ln/>
        </p:spPr>
        <p:txBody>
          <a:bodyPr wrap="square" lIns="0" tIns="0" rIns="0" bIns="0" rtlCol="0" anchor="ctr"/>
          <a:lstStyle/>
          <a:p>
            <a:pPr marL="0" indent="0" algn="l">
              <a:buNone/>
            </a:pPr>
            <a:r>
              <a:rPr lang="en-US" sz="1400" b="1" dirty="0">
                <a:solidFill>
                  <a:srgbClr val="0F1622"/>
                </a:solidFill>
                <a:latin typeface="Calibri" pitchFamily="34" charset="0"/>
                <a:ea typeface="Calibri" pitchFamily="34" charset="-122"/>
                <a:cs typeface="Calibri" pitchFamily="34" charset="-120"/>
              </a:rPr>
              <a:t>inc dl is the same as add dl, 1</a:t>
            </a:r>
            <a:endParaRPr lang="en-US" sz="1400" dirty="0"/>
          </a:p>
        </p:txBody>
      </p:sp>
      <p:sp>
        <p:nvSpPr>
          <p:cNvPr id="25" name="Shape 23"/>
          <p:cNvSpPr/>
          <p:nvPr/>
        </p:nvSpPr>
        <p:spPr>
          <a:xfrm>
            <a:off x="6245352" y="1810512"/>
            <a:ext cx="5303520" cy="3108960"/>
          </a:xfrm>
          <a:prstGeom prst="roundRect">
            <a:avLst>
              <a:gd name="adj" fmla="val 6670"/>
            </a:avLst>
          </a:prstGeom>
          <a:solidFill>
            <a:srgbClr val="F8E1DB"/>
          </a:solidFill>
          <a:ln w="12700">
            <a:solidFill>
              <a:srgbClr val="C4543F"/>
            </a:solidFill>
            <a:prstDash val="solid"/>
          </a:ln>
        </p:spPr>
        <p:txBody>
          <a:bodyPr/>
          <a:lstStyle/>
          <a:p>
            <a:endParaRPr lang="en-US"/>
          </a:p>
        </p:txBody>
      </p:sp>
      <p:sp>
        <p:nvSpPr>
          <p:cNvPr id="26" name="Text 24"/>
          <p:cNvSpPr txBox="1"/>
          <p:nvPr/>
        </p:nvSpPr>
        <p:spPr>
          <a:xfrm>
            <a:off x="6519672" y="1993392"/>
            <a:ext cx="4754880" cy="219456"/>
          </a:xfrm>
          <a:prstGeom prst="rect">
            <a:avLst/>
          </a:prstGeom>
          <a:noFill/>
          <a:ln/>
        </p:spPr>
        <p:txBody>
          <a:bodyPr wrap="square" lIns="0" tIns="0" rIns="0" bIns="0" rtlCol="0" anchor="t"/>
          <a:lstStyle/>
          <a:p>
            <a:pPr marL="0" indent="0" algn="l">
              <a:buNone/>
            </a:pPr>
            <a:r>
              <a:rPr lang="en-US" sz="950" b="1" kern="0" spc="130" dirty="0">
                <a:solidFill>
                  <a:srgbClr val="C4543F"/>
                </a:solidFill>
                <a:latin typeface="Courier New" pitchFamily="34" charset="0"/>
                <a:ea typeface="Courier New" pitchFamily="34" charset="-122"/>
                <a:cs typeface="Courier New" pitchFamily="34" charset="-120"/>
              </a:rPr>
              <a:t>DEC  ·  ONE DOWN</a:t>
            </a:r>
            <a:endParaRPr lang="en-US" sz="950" dirty="0"/>
          </a:p>
        </p:txBody>
      </p:sp>
      <p:sp>
        <p:nvSpPr>
          <p:cNvPr id="27" name="Shape 25"/>
          <p:cNvSpPr/>
          <p:nvPr/>
        </p:nvSpPr>
        <p:spPr>
          <a:xfrm>
            <a:off x="6519672" y="2331720"/>
            <a:ext cx="4754880" cy="914400"/>
          </a:xfrm>
          <a:prstGeom prst="roundRect">
            <a:avLst>
              <a:gd name="adj" fmla="val 6670"/>
            </a:avLst>
          </a:prstGeom>
          <a:solidFill>
            <a:srgbClr val="121A29"/>
          </a:solidFill>
          <a:ln w="12700">
            <a:solidFill>
              <a:srgbClr val="2B3850"/>
            </a:solidFill>
            <a:prstDash val="solid"/>
          </a:ln>
        </p:spPr>
        <p:txBody>
          <a:bodyPr/>
          <a:lstStyle/>
          <a:p>
            <a:endParaRPr lang="en-US"/>
          </a:p>
        </p:txBody>
      </p:sp>
      <p:sp>
        <p:nvSpPr>
          <p:cNvPr id="28" name="Text 26"/>
          <p:cNvSpPr txBox="1"/>
          <p:nvPr/>
        </p:nvSpPr>
        <p:spPr>
          <a:xfrm>
            <a:off x="6793992" y="2359152"/>
            <a:ext cx="4206240" cy="420624"/>
          </a:xfrm>
          <a:prstGeom prst="rect">
            <a:avLst/>
          </a:prstGeom>
          <a:noFill/>
          <a:ln/>
        </p:spPr>
        <p:txBody>
          <a:bodyPr wrap="square" lIns="0" tIns="0" rIns="0" bIns="0" rtlCol="0" anchor="ctr"/>
          <a:lstStyle/>
          <a:p>
            <a:pPr marL="0" indent="0" algn="l">
              <a:buNone/>
            </a:pPr>
            <a:r>
              <a:rPr lang="en-US" sz="2000" b="1" dirty="0">
                <a:solidFill>
                  <a:srgbClr val="EDA63F"/>
                </a:solidFill>
                <a:latin typeface="Courier New" pitchFamily="34" charset="0"/>
                <a:ea typeface="Courier New" pitchFamily="34" charset="-122"/>
                <a:cs typeface="Courier New" pitchFamily="34" charset="-120"/>
              </a:rPr>
              <a:t>mov</a:t>
            </a:r>
            <a:r>
              <a:rPr lang="en-US" sz="2000" b="1" dirty="0">
                <a:solidFill>
                  <a:srgbClr val="F0F3F8"/>
                </a:solidFill>
                <a:latin typeface="Courier New" pitchFamily="34" charset="0"/>
                <a:ea typeface="Courier New" pitchFamily="34" charset="-122"/>
                <a:cs typeface="Courier New" pitchFamily="34" charset="-120"/>
              </a:rPr>
              <a:t> </a:t>
            </a:r>
            <a:r>
              <a:rPr lang="en-US" sz="2000" b="1" dirty="0">
                <a:solidFill>
                  <a:srgbClr val="3EB9CE"/>
                </a:solidFill>
                <a:latin typeface="Courier New" pitchFamily="34" charset="0"/>
                <a:ea typeface="Courier New" pitchFamily="34" charset="-122"/>
                <a:cs typeface="Courier New" pitchFamily="34" charset="-120"/>
              </a:rPr>
              <a:t>dl</a:t>
            </a:r>
            <a:r>
              <a:rPr lang="en-US" sz="2000" b="1" dirty="0">
                <a:solidFill>
                  <a:srgbClr val="F0F3F8"/>
                </a:solidFill>
                <a:latin typeface="Courier New" pitchFamily="34" charset="0"/>
                <a:ea typeface="Courier New" pitchFamily="34" charset="-122"/>
                <a:cs typeface="Courier New" pitchFamily="34" charset="-120"/>
              </a:rPr>
              <a:t>, </a:t>
            </a:r>
            <a:r>
              <a:rPr lang="en-US" sz="2000" b="1" dirty="0">
                <a:solidFill>
                  <a:srgbClr val="9584E8"/>
                </a:solidFill>
                <a:latin typeface="Courier New" pitchFamily="34" charset="0"/>
                <a:ea typeface="Courier New" pitchFamily="34" charset="-122"/>
                <a:cs typeface="Courier New" pitchFamily="34" charset="-120"/>
              </a:rPr>
              <a:t>'5'</a:t>
            </a:r>
            <a:endParaRPr lang="en-US" sz="1400" dirty="0"/>
          </a:p>
        </p:txBody>
      </p:sp>
      <p:sp>
        <p:nvSpPr>
          <p:cNvPr id="29" name="Text 27"/>
          <p:cNvSpPr txBox="1"/>
          <p:nvPr/>
        </p:nvSpPr>
        <p:spPr>
          <a:xfrm>
            <a:off x="6793992" y="2761488"/>
            <a:ext cx="4206240" cy="420624"/>
          </a:xfrm>
          <a:prstGeom prst="rect">
            <a:avLst/>
          </a:prstGeom>
          <a:noFill/>
          <a:ln/>
        </p:spPr>
        <p:txBody>
          <a:bodyPr wrap="square" lIns="0" tIns="0" rIns="0" bIns="0" rtlCol="0" anchor="ctr"/>
          <a:lstStyle/>
          <a:p>
            <a:pPr marL="0" indent="0" algn="l">
              <a:buNone/>
            </a:pPr>
            <a:r>
              <a:rPr lang="en-US" sz="2000" b="1" dirty="0">
                <a:solidFill>
                  <a:srgbClr val="EDA63F"/>
                </a:solidFill>
                <a:latin typeface="Courier New" pitchFamily="34" charset="0"/>
                <a:ea typeface="Courier New" pitchFamily="34" charset="-122"/>
                <a:cs typeface="Courier New" pitchFamily="34" charset="-120"/>
              </a:rPr>
              <a:t>dec</a:t>
            </a:r>
            <a:r>
              <a:rPr lang="en-US" sz="2000" b="1" dirty="0">
                <a:solidFill>
                  <a:srgbClr val="F0F3F8"/>
                </a:solidFill>
                <a:latin typeface="Courier New" pitchFamily="34" charset="0"/>
                <a:ea typeface="Courier New" pitchFamily="34" charset="-122"/>
                <a:cs typeface="Courier New" pitchFamily="34" charset="-120"/>
              </a:rPr>
              <a:t> </a:t>
            </a:r>
            <a:r>
              <a:rPr lang="en-US" sz="2000" b="1" dirty="0">
                <a:solidFill>
                  <a:srgbClr val="3EB9CE"/>
                </a:solidFill>
                <a:latin typeface="Courier New" pitchFamily="34" charset="0"/>
                <a:ea typeface="Courier New" pitchFamily="34" charset="-122"/>
                <a:cs typeface="Courier New" pitchFamily="34" charset="-120"/>
              </a:rPr>
              <a:t>dl</a:t>
            </a:r>
            <a:endParaRPr lang="en-US" sz="1400" dirty="0"/>
          </a:p>
        </p:txBody>
      </p:sp>
      <p:sp>
        <p:nvSpPr>
          <p:cNvPr id="30" name="Shape 28"/>
          <p:cNvSpPr/>
          <p:nvPr/>
        </p:nvSpPr>
        <p:spPr>
          <a:xfrm>
            <a:off x="6519672" y="3474720"/>
            <a:ext cx="1737360" cy="685800"/>
          </a:xfrm>
          <a:prstGeom prst="roundRect">
            <a:avLst>
              <a:gd name="adj" fmla="val 6670"/>
            </a:avLst>
          </a:prstGeom>
          <a:solidFill>
            <a:srgbClr val="FFFFFF"/>
          </a:solidFill>
          <a:ln w="12700">
            <a:solidFill>
              <a:srgbClr val="C4543F"/>
            </a:solidFill>
            <a:prstDash val="solid"/>
          </a:ln>
        </p:spPr>
        <p:txBody>
          <a:bodyPr/>
          <a:lstStyle/>
          <a:p>
            <a:endParaRPr lang="en-US"/>
          </a:p>
        </p:txBody>
      </p:sp>
      <p:sp>
        <p:nvSpPr>
          <p:cNvPr id="31" name="Text 29"/>
          <p:cNvSpPr txBox="1"/>
          <p:nvPr/>
        </p:nvSpPr>
        <p:spPr>
          <a:xfrm>
            <a:off x="6656832" y="3474720"/>
            <a:ext cx="640080" cy="685800"/>
          </a:xfrm>
          <a:prstGeom prst="rect">
            <a:avLst/>
          </a:prstGeom>
          <a:noFill/>
          <a:ln/>
        </p:spPr>
        <p:txBody>
          <a:bodyPr wrap="square" lIns="0" tIns="0" rIns="0" bIns="0" rtlCol="0" anchor="ctr"/>
          <a:lstStyle/>
          <a:p>
            <a:pPr marL="0" indent="0" algn="l">
              <a:buNone/>
            </a:pPr>
            <a:r>
              <a:rPr lang="en-US" sz="1800" b="1" dirty="0">
                <a:solidFill>
                  <a:srgbClr val="C4543F"/>
                </a:solidFill>
                <a:latin typeface="Courier New" pitchFamily="34" charset="0"/>
                <a:ea typeface="Courier New" pitchFamily="34" charset="-122"/>
                <a:cs typeface="Courier New" pitchFamily="34" charset="-120"/>
              </a:rPr>
              <a:t>DL</a:t>
            </a:r>
            <a:endParaRPr lang="en-US" sz="1800" dirty="0"/>
          </a:p>
        </p:txBody>
      </p:sp>
      <p:sp>
        <p:nvSpPr>
          <p:cNvPr id="32" name="Shape 30"/>
          <p:cNvSpPr/>
          <p:nvPr/>
        </p:nvSpPr>
        <p:spPr>
          <a:xfrm>
            <a:off x="7296912" y="3575304"/>
            <a:ext cx="822960" cy="484632"/>
          </a:xfrm>
          <a:prstGeom prst="roundRect">
            <a:avLst>
              <a:gd name="adj" fmla="val 6670"/>
            </a:avLst>
          </a:prstGeom>
          <a:solidFill>
            <a:srgbClr val="F3F5F9"/>
          </a:solidFill>
          <a:ln w="12700">
            <a:solidFill>
              <a:srgbClr val="E2E7EF"/>
            </a:solidFill>
            <a:prstDash val="solid"/>
          </a:ln>
        </p:spPr>
        <p:txBody>
          <a:bodyPr/>
          <a:lstStyle/>
          <a:p>
            <a:endParaRPr lang="en-US"/>
          </a:p>
        </p:txBody>
      </p:sp>
      <p:sp>
        <p:nvSpPr>
          <p:cNvPr id="33" name="Text 31"/>
          <p:cNvSpPr txBox="1"/>
          <p:nvPr/>
        </p:nvSpPr>
        <p:spPr>
          <a:xfrm>
            <a:off x="7296912" y="3575304"/>
            <a:ext cx="822960" cy="484632"/>
          </a:xfrm>
          <a:prstGeom prst="rect">
            <a:avLst/>
          </a:prstGeom>
          <a:noFill/>
          <a:ln/>
        </p:spPr>
        <p:txBody>
          <a:bodyPr wrap="square" lIns="0" tIns="0" rIns="0" bIns="0" rtlCol="0" anchor="ctr"/>
          <a:lstStyle/>
          <a:p>
            <a:pPr marL="0" indent="0" algn="ctr">
              <a:buNone/>
            </a:pPr>
            <a:r>
              <a:rPr lang="en-US" sz="1800" b="1" dirty="0">
                <a:solidFill>
                  <a:srgbClr val="0F1622"/>
                </a:solidFill>
                <a:latin typeface="Courier New" pitchFamily="34" charset="0"/>
                <a:ea typeface="Courier New" pitchFamily="34" charset="-122"/>
                <a:cs typeface="Courier New" pitchFamily="34" charset="-120"/>
              </a:rPr>
              <a:t>'5'</a:t>
            </a:r>
            <a:endParaRPr lang="en-US" sz="1800" dirty="0"/>
          </a:p>
        </p:txBody>
      </p:sp>
      <p:sp>
        <p:nvSpPr>
          <p:cNvPr id="34" name="Shape 32"/>
          <p:cNvSpPr/>
          <p:nvPr/>
        </p:nvSpPr>
        <p:spPr>
          <a:xfrm>
            <a:off x="8366760" y="3817620"/>
            <a:ext cx="786384" cy="0"/>
          </a:xfrm>
          <a:prstGeom prst="line">
            <a:avLst/>
          </a:prstGeom>
          <a:noFill/>
          <a:ln w="25400">
            <a:solidFill>
              <a:srgbClr val="93A0B2"/>
            </a:solidFill>
            <a:prstDash val="solid"/>
            <a:tailEnd type="triangle"/>
          </a:ln>
        </p:spPr>
        <p:txBody>
          <a:bodyPr/>
          <a:lstStyle/>
          <a:p>
            <a:endParaRPr lang="en-US"/>
          </a:p>
        </p:txBody>
      </p:sp>
      <p:sp>
        <p:nvSpPr>
          <p:cNvPr id="35" name="Text 33"/>
          <p:cNvSpPr txBox="1"/>
          <p:nvPr/>
        </p:nvSpPr>
        <p:spPr>
          <a:xfrm>
            <a:off x="8302752" y="3493008"/>
            <a:ext cx="914400" cy="256032"/>
          </a:xfrm>
          <a:prstGeom prst="rect">
            <a:avLst/>
          </a:prstGeom>
          <a:noFill/>
          <a:ln/>
        </p:spPr>
        <p:txBody>
          <a:bodyPr wrap="square" lIns="0" tIns="0" rIns="0" bIns="0" rtlCol="0" anchor="t"/>
          <a:lstStyle/>
          <a:p>
            <a:pPr marL="0" indent="0" algn="ctr">
              <a:buNone/>
            </a:pPr>
            <a:r>
              <a:rPr lang="en-US" sz="1200" b="1" dirty="0">
                <a:solidFill>
                  <a:srgbClr val="C4543F"/>
                </a:solidFill>
                <a:latin typeface="Courier New" pitchFamily="34" charset="0"/>
                <a:ea typeface="Courier New" pitchFamily="34" charset="-122"/>
                <a:cs typeface="Courier New" pitchFamily="34" charset="-120"/>
              </a:rPr>
              <a:t>dec</a:t>
            </a:r>
            <a:endParaRPr lang="en-US" sz="1200" dirty="0"/>
          </a:p>
        </p:txBody>
      </p:sp>
      <p:sp>
        <p:nvSpPr>
          <p:cNvPr id="36" name="Shape 34"/>
          <p:cNvSpPr/>
          <p:nvPr/>
        </p:nvSpPr>
        <p:spPr>
          <a:xfrm>
            <a:off x="9262872" y="3474720"/>
            <a:ext cx="1737360" cy="685800"/>
          </a:xfrm>
          <a:prstGeom prst="roundRect">
            <a:avLst>
              <a:gd name="adj" fmla="val 6670"/>
            </a:avLst>
          </a:prstGeom>
          <a:solidFill>
            <a:srgbClr val="FFFFFF"/>
          </a:solidFill>
          <a:ln w="12700">
            <a:solidFill>
              <a:srgbClr val="C4543F"/>
            </a:solidFill>
            <a:prstDash val="solid"/>
          </a:ln>
        </p:spPr>
        <p:txBody>
          <a:bodyPr/>
          <a:lstStyle/>
          <a:p>
            <a:endParaRPr lang="en-US"/>
          </a:p>
        </p:txBody>
      </p:sp>
      <p:sp>
        <p:nvSpPr>
          <p:cNvPr id="37" name="Text 35"/>
          <p:cNvSpPr txBox="1"/>
          <p:nvPr/>
        </p:nvSpPr>
        <p:spPr>
          <a:xfrm>
            <a:off x="9400032" y="3474720"/>
            <a:ext cx="640080" cy="685800"/>
          </a:xfrm>
          <a:prstGeom prst="rect">
            <a:avLst/>
          </a:prstGeom>
          <a:noFill/>
          <a:ln/>
        </p:spPr>
        <p:txBody>
          <a:bodyPr wrap="square" lIns="0" tIns="0" rIns="0" bIns="0" rtlCol="0" anchor="ctr"/>
          <a:lstStyle/>
          <a:p>
            <a:pPr marL="0" indent="0" algn="l">
              <a:buNone/>
            </a:pPr>
            <a:r>
              <a:rPr lang="en-US" sz="1800" b="1" dirty="0">
                <a:solidFill>
                  <a:srgbClr val="C4543F"/>
                </a:solidFill>
                <a:latin typeface="Courier New" pitchFamily="34" charset="0"/>
                <a:ea typeface="Courier New" pitchFamily="34" charset="-122"/>
                <a:cs typeface="Courier New" pitchFamily="34" charset="-120"/>
              </a:rPr>
              <a:t>DL</a:t>
            </a:r>
            <a:endParaRPr lang="en-US" sz="1800" dirty="0"/>
          </a:p>
        </p:txBody>
      </p:sp>
      <p:sp>
        <p:nvSpPr>
          <p:cNvPr id="38" name="Shape 36"/>
          <p:cNvSpPr/>
          <p:nvPr/>
        </p:nvSpPr>
        <p:spPr>
          <a:xfrm>
            <a:off x="10040112" y="3575304"/>
            <a:ext cx="822960" cy="484632"/>
          </a:xfrm>
          <a:prstGeom prst="roundRect">
            <a:avLst>
              <a:gd name="adj" fmla="val 6670"/>
            </a:avLst>
          </a:prstGeom>
          <a:solidFill>
            <a:srgbClr val="F3F5F9"/>
          </a:solidFill>
          <a:ln w="12700">
            <a:solidFill>
              <a:srgbClr val="E2E7EF"/>
            </a:solidFill>
            <a:prstDash val="solid"/>
          </a:ln>
        </p:spPr>
        <p:txBody>
          <a:bodyPr/>
          <a:lstStyle/>
          <a:p>
            <a:endParaRPr lang="en-US"/>
          </a:p>
        </p:txBody>
      </p:sp>
      <p:sp>
        <p:nvSpPr>
          <p:cNvPr id="39" name="Text 37"/>
          <p:cNvSpPr txBox="1"/>
          <p:nvPr/>
        </p:nvSpPr>
        <p:spPr>
          <a:xfrm>
            <a:off x="10040112" y="3575304"/>
            <a:ext cx="822960" cy="484632"/>
          </a:xfrm>
          <a:prstGeom prst="rect">
            <a:avLst/>
          </a:prstGeom>
          <a:noFill/>
          <a:ln/>
        </p:spPr>
        <p:txBody>
          <a:bodyPr wrap="square" lIns="0" tIns="0" rIns="0" bIns="0" rtlCol="0" anchor="ctr"/>
          <a:lstStyle/>
          <a:p>
            <a:pPr marL="0" indent="0" algn="ctr">
              <a:buNone/>
            </a:pPr>
            <a:r>
              <a:rPr lang="en-US" sz="1800" b="1" dirty="0">
                <a:solidFill>
                  <a:srgbClr val="0F1622"/>
                </a:solidFill>
                <a:latin typeface="Courier New" pitchFamily="34" charset="0"/>
                <a:ea typeface="Courier New" pitchFamily="34" charset="-122"/>
                <a:cs typeface="Courier New" pitchFamily="34" charset="-120"/>
              </a:rPr>
              <a:t>'4'</a:t>
            </a:r>
            <a:endParaRPr lang="en-US" sz="1800" dirty="0"/>
          </a:p>
        </p:txBody>
      </p:sp>
      <p:sp>
        <p:nvSpPr>
          <p:cNvPr id="40" name="Text 38"/>
          <p:cNvSpPr txBox="1"/>
          <p:nvPr/>
        </p:nvSpPr>
        <p:spPr>
          <a:xfrm>
            <a:off x="6519672" y="4206240"/>
            <a:ext cx="1737360" cy="237744"/>
          </a:xfrm>
          <a:prstGeom prst="rect">
            <a:avLst/>
          </a:prstGeom>
          <a:noFill/>
          <a:ln/>
        </p:spPr>
        <p:txBody>
          <a:bodyPr wrap="square" lIns="0" tIns="0" rIns="0" bIns="0" rtlCol="0" anchor="t"/>
          <a:lstStyle/>
          <a:p>
            <a:pPr marL="0" indent="0" algn="ctr">
              <a:buNone/>
            </a:pPr>
            <a:r>
              <a:rPr lang="en-US" sz="1100" dirty="0">
                <a:solidFill>
                  <a:srgbClr val="5B6779"/>
                </a:solidFill>
                <a:latin typeface="Calibri" pitchFamily="34" charset="0"/>
                <a:ea typeface="Calibri" pitchFamily="34" charset="-122"/>
                <a:cs typeface="Calibri" pitchFamily="34" charset="-120"/>
              </a:rPr>
              <a:t>code 53</a:t>
            </a:r>
            <a:endParaRPr lang="en-US" sz="1100" dirty="0"/>
          </a:p>
        </p:txBody>
      </p:sp>
      <p:sp>
        <p:nvSpPr>
          <p:cNvPr id="41" name="Text 39"/>
          <p:cNvSpPr txBox="1"/>
          <p:nvPr/>
        </p:nvSpPr>
        <p:spPr>
          <a:xfrm>
            <a:off x="9262872" y="4206240"/>
            <a:ext cx="1737360" cy="237744"/>
          </a:xfrm>
          <a:prstGeom prst="rect">
            <a:avLst/>
          </a:prstGeom>
          <a:noFill/>
          <a:ln/>
        </p:spPr>
        <p:txBody>
          <a:bodyPr wrap="square" lIns="0" tIns="0" rIns="0" bIns="0" rtlCol="0" anchor="t"/>
          <a:lstStyle/>
          <a:p>
            <a:pPr marL="0" indent="0" algn="ctr">
              <a:buNone/>
            </a:pPr>
            <a:r>
              <a:rPr lang="en-US" sz="1100" dirty="0">
                <a:solidFill>
                  <a:srgbClr val="5B6779"/>
                </a:solidFill>
                <a:latin typeface="Calibri" pitchFamily="34" charset="0"/>
                <a:ea typeface="Calibri" pitchFamily="34" charset="-122"/>
                <a:cs typeface="Calibri" pitchFamily="34" charset="-120"/>
              </a:rPr>
              <a:t>code 52</a:t>
            </a:r>
            <a:endParaRPr lang="en-US" sz="1100" dirty="0"/>
          </a:p>
        </p:txBody>
      </p:sp>
      <p:sp>
        <p:nvSpPr>
          <p:cNvPr id="42" name="Text 40"/>
          <p:cNvSpPr txBox="1"/>
          <p:nvPr/>
        </p:nvSpPr>
        <p:spPr>
          <a:xfrm>
            <a:off x="6519672" y="4507992"/>
            <a:ext cx="4754880" cy="329184"/>
          </a:xfrm>
          <a:prstGeom prst="rect">
            <a:avLst/>
          </a:prstGeom>
          <a:noFill/>
          <a:ln/>
        </p:spPr>
        <p:txBody>
          <a:bodyPr wrap="square" lIns="0" tIns="0" rIns="0" bIns="0" rtlCol="0" anchor="ctr"/>
          <a:lstStyle/>
          <a:p>
            <a:pPr marL="0" indent="0" algn="l">
              <a:buNone/>
            </a:pPr>
            <a:r>
              <a:rPr lang="en-US" sz="1400" b="1" dirty="0">
                <a:solidFill>
                  <a:srgbClr val="0F1622"/>
                </a:solidFill>
                <a:latin typeface="Calibri" pitchFamily="34" charset="0"/>
                <a:ea typeface="Calibri" pitchFamily="34" charset="-122"/>
                <a:cs typeface="Calibri" pitchFamily="34" charset="-120"/>
              </a:rPr>
              <a:t>dec dl is the same as sub dl, 1</a:t>
            </a:r>
            <a:endParaRPr lang="en-US" sz="1400" dirty="0"/>
          </a:p>
        </p:txBody>
      </p:sp>
      <p:sp>
        <p:nvSpPr>
          <p:cNvPr id="43" name="Shape 41"/>
          <p:cNvSpPr/>
          <p:nvPr/>
        </p:nvSpPr>
        <p:spPr>
          <a:xfrm>
            <a:off x="640080" y="5212080"/>
            <a:ext cx="10908792" cy="566928"/>
          </a:xfrm>
          <a:prstGeom prst="roundRect">
            <a:avLst>
              <a:gd name="adj" fmla="val 6670"/>
            </a:avLst>
          </a:prstGeom>
          <a:solidFill>
            <a:srgbClr val="0F1622"/>
          </a:solidFill>
          <a:ln/>
        </p:spPr>
        <p:txBody>
          <a:bodyPr/>
          <a:lstStyle/>
          <a:p>
            <a:endParaRPr lang="en-US"/>
          </a:p>
        </p:txBody>
      </p:sp>
      <p:sp>
        <p:nvSpPr>
          <p:cNvPr id="44" name="Text 42"/>
          <p:cNvSpPr txBox="1"/>
          <p:nvPr/>
        </p:nvSpPr>
        <p:spPr>
          <a:xfrm>
            <a:off x="640080" y="5212080"/>
            <a:ext cx="10908792" cy="566928"/>
          </a:xfrm>
          <a:prstGeom prst="rect">
            <a:avLst/>
          </a:prstGeom>
          <a:noFill/>
          <a:ln/>
        </p:spPr>
        <p:txBody>
          <a:bodyPr wrap="square" lIns="0" tIns="0" rIns="0" bIns="0" rtlCol="0" anchor="ctr"/>
          <a:lstStyle/>
          <a:p>
            <a:pPr marL="0" indent="0" algn="ctr">
              <a:buNone/>
            </a:pPr>
            <a:r>
              <a:rPr lang="en-US" sz="1500" b="1" dirty="0">
                <a:solidFill>
                  <a:srgbClr val="EDA63F"/>
                </a:solidFill>
                <a:latin typeface="Courier New" pitchFamily="34" charset="0"/>
                <a:ea typeface="Courier New" pitchFamily="34" charset="-122"/>
                <a:cs typeface="Courier New" pitchFamily="34" charset="-120"/>
              </a:rPr>
              <a:t>inc</a:t>
            </a:r>
            <a:r>
              <a:rPr lang="en-US" sz="1500" dirty="0">
                <a:solidFill>
                  <a:srgbClr val="FFFFFF"/>
                </a:solidFill>
                <a:latin typeface="Calibri" pitchFamily="34" charset="0"/>
                <a:ea typeface="Calibri" pitchFamily="34" charset="-122"/>
                <a:cs typeface="Calibri" pitchFamily="34" charset="-120"/>
              </a:rPr>
              <a:t> adds 1 to the ASCII code, so </a:t>
            </a:r>
            <a:r>
              <a:rPr lang="en-US" sz="1500" b="1" dirty="0">
                <a:solidFill>
                  <a:srgbClr val="EDA63F"/>
                </a:solidFill>
                <a:latin typeface="Courier New" pitchFamily="34" charset="0"/>
                <a:ea typeface="Courier New" pitchFamily="34" charset="-122"/>
                <a:cs typeface="Courier New" pitchFamily="34" charset="-120"/>
              </a:rPr>
              <a:t>'A'</a:t>
            </a:r>
            <a:r>
              <a:rPr lang="en-US" sz="1500" dirty="0">
                <a:solidFill>
                  <a:srgbClr val="FFFFFF"/>
                </a:solidFill>
                <a:latin typeface="Calibri" pitchFamily="34" charset="0"/>
                <a:ea typeface="Calibri" pitchFamily="34" charset="-122"/>
                <a:cs typeface="Calibri" pitchFamily="34" charset="-120"/>
              </a:rPr>
              <a:t> becomes </a:t>
            </a:r>
            <a:r>
              <a:rPr lang="en-US" sz="1500" b="1" dirty="0">
                <a:solidFill>
                  <a:srgbClr val="EDA63F"/>
                </a:solidFill>
                <a:latin typeface="Courier New" pitchFamily="34" charset="0"/>
                <a:ea typeface="Courier New" pitchFamily="34" charset="-122"/>
                <a:cs typeface="Courier New" pitchFamily="34" charset="-120"/>
              </a:rPr>
              <a:t>'B'</a:t>
            </a:r>
            <a:r>
              <a:rPr lang="en-US" sz="1500" dirty="0">
                <a:solidFill>
                  <a:srgbClr val="FFFFFF"/>
                </a:solidFill>
                <a:latin typeface="Calibri" pitchFamily="34" charset="0"/>
                <a:ea typeface="Calibri" pitchFamily="34" charset="-122"/>
                <a:cs typeface="Calibri" pitchFamily="34" charset="-120"/>
              </a:rPr>
              <a:t> and </a:t>
            </a:r>
            <a:r>
              <a:rPr lang="en-US" sz="1500" b="1" dirty="0">
                <a:solidFill>
                  <a:srgbClr val="EDA63F"/>
                </a:solidFill>
                <a:latin typeface="Courier New" pitchFamily="34" charset="0"/>
                <a:ea typeface="Courier New" pitchFamily="34" charset="-122"/>
                <a:cs typeface="Courier New" pitchFamily="34" charset="-120"/>
              </a:rPr>
              <a:t>'1'</a:t>
            </a:r>
            <a:r>
              <a:rPr lang="en-US" sz="1500" dirty="0">
                <a:solidFill>
                  <a:srgbClr val="FFFFFF"/>
                </a:solidFill>
                <a:latin typeface="Calibri" pitchFamily="34" charset="0"/>
                <a:ea typeface="Calibri" pitchFamily="34" charset="-122"/>
                <a:cs typeface="Calibri" pitchFamily="34" charset="-120"/>
              </a:rPr>
              <a:t> becomes </a:t>
            </a:r>
            <a:r>
              <a:rPr lang="en-US" sz="1500" b="1" dirty="0">
                <a:solidFill>
                  <a:srgbClr val="EDA63F"/>
                </a:solidFill>
                <a:latin typeface="Courier New" pitchFamily="34" charset="0"/>
                <a:ea typeface="Courier New" pitchFamily="34" charset="-122"/>
                <a:cs typeface="Courier New" pitchFamily="34" charset="-120"/>
              </a:rPr>
              <a:t>'2'</a:t>
            </a:r>
            <a:r>
              <a:rPr lang="en-US" sz="1500" dirty="0">
                <a:solidFill>
                  <a:srgbClr val="FFFFFF"/>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E1420"/>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marL="0" indent="0" algn="l">
              <a:buNone/>
            </a:pPr>
            <a:r>
              <a:rPr lang="en-US" sz="1050" b="1" kern="0" spc="160" dirty="0">
                <a:solidFill>
                  <a:srgbClr val="5C6B83"/>
                </a:solidFill>
                <a:latin typeface="Courier New" pitchFamily="34" charset="0"/>
                <a:ea typeface="Courier New" pitchFamily="34" charset="-122"/>
                <a:cs typeface="Courier New" pitchFamily="34" charset="-120"/>
              </a:rPr>
              <a:t>7 · PUTTING IT TOGETHER</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marL="0" indent="0" algn="l">
              <a:buNone/>
            </a:pPr>
            <a:r>
              <a:rPr lang="en-US" sz="3200" b="1" dirty="0">
                <a:solidFill>
                  <a:srgbClr val="F0F3F8"/>
                </a:solidFill>
                <a:latin typeface="Arial" pitchFamily="34" charset="0"/>
                <a:ea typeface="Arial" pitchFamily="34" charset="-122"/>
                <a:cs typeface="Arial" pitchFamily="34" charset="-120"/>
              </a:rPr>
              <a:t>Print 12345 with one loop</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marL="0" indent="0" algn="l">
              <a:buNone/>
            </a:pPr>
            <a:r>
              <a:rPr lang="en-US" sz="1500" dirty="0">
                <a:solidFill>
                  <a:srgbClr val="94A3B8"/>
                </a:solidFill>
                <a:latin typeface="Calibri" pitchFamily="34" charset="0"/>
                <a:ea typeface="Calibri" pitchFamily="34" charset="-122"/>
                <a:cs typeface="Calibri" pitchFamily="34" charset="-120"/>
              </a:rPr>
              <a:t>LOOP repeats the block. INC changes the character each turn.</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marL="0" indent="0" algn="l">
              <a:buNone/>
            </a:pPr>
            <a:r>
              <a:rPr lang="en-US" sz="900" kern="0" spc="120" dirty="0">
                <a:solidFill>
                  <a:srgbClr val="5C6B83"/>
                </a:solidFill>
                <a:latin typeface="Courier New" pitchFamily="34" charset="0"/>
                <a:ea typeface="Courier New" pitchFamily="34" charset="-122"/>
                <a:cs typeface="Courier New" pitchFamily="34" charset="-120"/>
              </a:rPr>
              <a:t>COAL  ·  LAB 04</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marL="0" indent="0" algn="r">
              <a:buNone/>
            </a:pPr>
            <a:r>
              <a:rPr lang="en-US" sz="900" dirty="0">
                <a:solidFill>
                  <a:srgbClr val="5C6B83"/>
                </a:solidFill>
                <a:latin typeface="Courier New" pitchFamily="34" charset="0"/>
                <a:ea typeface="Courier New" pitchFamily="34" charset="-122"/>
                <a:cs typeface="Courier New" pitchFamily="34" charset="-120"/>
              </a:rPr>
              <a:t>08</a:t>
            </a:r>
            <a:endParaRPr lang="en-US" sz="900" dirty="0"/>
          </a:p>
        </p:txBody>
      </p:sp>
      <p:sp>
        <p:nvSpPr>
          <p:cNvPr id="7" name="Shape 5"/>
          <p:cNvSpPr/>
          <p:nvPr/>
        </p:nvSpPr>
        <p:spPr>
          <a:xfrm>
            <a:off x="640080" y="1810512"/>
            <a:ext cx="5760720" cy="3200400"/>
          </a:xfrm>
          <a:prstGeom prst="roundRect">
            <a:avLst>
              <a:gd name="adj" fmla="val 6670"/>
            </a:avLst>
          </a:prstGeom>
          <a:solidFill>
            <a:srgbClr val="121A29"/>
          </a:solidFill>
          <a:ln w="12700">
            <a:solidFill>
              <a:srgbClr val="2B3850"/>
            </a:solidFill>
            <a:prstDash val="solid"/>
          </a:ln>
        </p:spPr>
        <p:txBody>
          <a:bodyPr/>
          <a:lstStyle/>
          <a:p>
            <a:endParaRPr lang="en-US"/>
          </a:p>
        </p:txBody>
      </p:sp>
      <p:sp>
        <p:nvSpPr>
          <p:cNvPr id="8" name="Shape 6"/>
          <p:cNvSpPr/>
          <p:nvPr/>
        </p:nvSpPr>
        <p:spPr>
          <a:xfrm>
            <a:off x="777240" y="4032504"/>
            <a:ext cx="5486400" cy="457200"/>
          </a:xfrm>
          <a:prstGeom prst="roundRect">
            <a:avLst>
              <a:gd name="adj" fmla="val 6670"/>
            </a:avLst>
          </a:prstGeom>
          <a:solidFill>
            <a:srgbClr val="2A2113"/>
          </a:solidFill>
          <a:ln w="12700">
            <a:solidFill>
              <a:srgbClr val="4A3620"/>
            </a:solidFill>
            <a:prstDash val="solid"/>
          </a:ln>
        </p:spPr>
        <p:txBody>
          <a:bodyPr/>
          <a:lstStyle/>
          <a:p>
            <a:endParaRPr lang="en-US"/>
          </a:p>
        </p:txBody>
      </p:sp>
      <p:sp>
        <p:nvSpPr>
          <p:cNvPr id="9" name="Text 7"/>
          <p:cNvSpPr txBox="1"/>
          <p:nvPr/>
        </p:nvSpPr>
        <p:spPr>
          <a:xfrm>
            <a:off x="960120" y="1965960"/>
            <a:ext cx="5349240" cy="384048"/>
          </a:xfrm>
          <a:prstGeom prst="rect">
            <a:avLst/>
          </a:prstGeom>
          <a:noFill/>
          <a:ln/>
        </p:spPr>
        <p:txBody>
          <a:bodyPr wrap="square" lIns="0" tIns="0" rIns="0" bIns="0" rtlCol="0" anchor="ctr"/>
          <a:lstStyle/>
          <a:p>
            <a:pPr marL="0" indent="0" algn="l">
              <a:buNone/>
            </a:pPr>
            <a:r>
              <a:rPr lang="en-US" sz="1550" b="1" dirty="0">
                <a:solidFill>
                  <a:srgbClr val="EDA63F"/>
                </a:solidFill>
                <a:latin typeface="Courier New" pitchFamily="34" charset="0"/>
                <a:ea typeface="Courier New" pitchFamily="34" charset="-122"/>
                <a:cs typeface="Courier New" pitchFamily="34" charset="-120"/>
              </a:rPr>
              <a:t>mov</a:t>
            </a: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3EB9CE"/>
                </a:solidFill>
                <a:latin typeface="Courier New" pitchFamily="34" charset="0"/>
                <a:ea typeface="Courier New" pitchFamily="34" charset="-122"/>
                <a:cs typeface="Courier New" pitchFamily="34" charset="-120"/>
              </a:rPr>
              <a:t>cx</a:t>
            </a: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9584E8"/>
                </a:solidFill>
                <a:latin typeface="Courier New" pitchFamily="34" charset="0"/>
                <a:ea typeface="Courier New" pitchFamily="34" charset="-122"/>
                <a:cs typeface="Courier New" pitchFamily="34" charset="-120"/>
              </a:rPr>
              <a:t>5</a:t>
            </a:r>
            <a:r>
              <a:rPr lang="en-US" sz="1550" b="1" dirty="0">
                <a:solidFill>
                  <a:srgbClr val="F0F3F8"/>
                </a:solidFill>
                <a:latin typeface="Courier New" pitchFamily="34" charset="0"/>
                <a:ea typeface="Courier New" pitchFamily="34" charset="-122"/>
                <a:cs typeface="Courier New" pitchFamily="34" charset="-120"/>
              </a:rPr>
              <a:t>        </a:t>
            </a:r>
            <a:r>
              <a:rPr lang="en-US" sz="1550" dirty="0">
                <a:solidFill>
                  <a:srgbClr val="6B7A93"/>
                </a:solidFill>
                <a:latin typeface="Courier New" pitchFamily="34" charset="0"/>
                <a:ea typeface="Courier New" pitchFamily="34" charset="-122"/>
                <a:cs typeface="Courier New" pitchFamily="34" charset="-120"/>
              </a:rPr>
              <a:t>; 5 turns</a:t>
            </a:r>
            <a:endParaRPr lang="en-US" sz="1400" dirty="0"/>
          </a:p>
        </p:txBody>
      </p:sp>
      <p:sp>
        <p:nvSpPr>
          <p:cNvPr id="10" name="Text 8"/>
          <p:cNvSpPr txBox="1"/>
          <p:nvPr/>
        </p:nvSpPr>
        <p:spPr>
          <a:xfrm>
            <a:off x="960120" y="2386584"/>
            <a:ext cx="5349240" cy="384048"/>
          </a:xfrm>
          <a:prstGeom prst="rect">
            <a:avLst/>
          </a:prstGeom>
          <a:noFill/>
          <a:ln/>
        </p:spPr>
        <p:txBody>
          <a:bodyPr wrap="square" lIns="0" tIns="0" rIns="0" bIns="0" rtlCol="0" anchor="ctr"/>
          <a:lstStyle/>
          <a:p>
            <a:pPr marL="0" indent="0" algn="l">
              <a:buNone/>
            </a:pPr>
            <a:r>
              <a:rPr lang="en-US" sz="1550" b="1" dirty="0">
                <a:solidFill>
                  <a:srgbClr val="EDA63F"/>
                </a:solidFill>
                <a:latin typeface="Courier New" pitchFamily="34" charset="0"/>
                <a:ea typeface="Courier New" pitchFamily="34" charset="-122"/>
                <a:cs typeface="Courier New" pitchFamily="34" charset="-120"/>
              </a:rPr>
              <a:t>mov</a:t>
            </a: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3EB9CE"/>
                </a:solidFill>
                <a:latin typeface="Courier New" pitchFamily="34" charset="0"/>
                <a:ea typeface="Courier New" pitchFamily="34" charset="-122"/>
                <a:cs typeface="Courier New" pitchFamily="34" charset="-120"/>
              </a:rPr>
              <a:t>dl</a:t>
            </a: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9584E8"/>
                </a:solidFill>
                <a:latin typeface="Courier New" pitchFamily="34" charset="0"/>
                <a:ea typeface="Courier New" pitchFamily="34" charset="-122"/>
                <a:cs typeface="Courier New" pitchFamily="34" charset="-120"/>
              </a:rPr>
              <a:t>'1'</a:t>
            </a:r>
            <a:r>
              <a:rPr lang="en-US" sz="1550" b="1" dirty="0">
                <a:solidFill>
                  <a:srgbClr val="F0F3F8"/>
                </a:solidFill>
                <a:latin typeface="Courier New" pitchFamily="34" charset="0"/>
                <a:ea typeface="Courier New" pitchFamily="34" charset="-122"/>
                <a:cs typeface="Courier New" pitchFamily="34" charset="-120"/>
              </a:rPr>
              <a:t>      </a:t>
            </a:r>
            <a:r>
              <a:rPr lang="en-US" sz="1550" dirty="0">
                <a:solidFill>
                  <a:srgbClr val="6B7A93"/>
                </a:solidFill>
                <a:latin typeface="Courier New" pitchFamily="34" charset="0"/>
                <a:ea typeface="Courier New" pitchFamily="34" charset="-122"/>
                <a:cs typeface="Courier New" pitchFamily="34" charset="-120"/>
              </a:rPr>
              <a:t>; start at '1'</a:t>
            </a:r>
            <a:endParaRPr lang="en-US" sz="1400" dirty="0"/>
          </a:p>
        </p:txBody>
      </p:sp>
      <p:sp>
        <p:nvSpPr>
          <p:cNvPr id="11" name="Text 9"/>
          <p:cNvSpPr txBox="1"/>
          <p:nvPr/>
        </p:nvSpPr>
        <p:spPr>
          <a:xfrm>
            <a:off x="960120" y="2807208"/>
            <a:ext cx="5349240" cy="384048"/>
          </a:xfrm>
          <a:prstGeom prst="rect">
            <a:avLst/>
          </a:prstGeom>
          <a:noFill/>
          <a:ln/>
        </p:spPr>
        <p:txBody>
          <a:bodyPr wrap="square" lIns="0" tIns="0" rIns="0" bIns="0" rtlCol="0" anchor="ctr"/>
          <a:lstStyle/>
          <a:p>
            <a:pPr marL="0" indent="0" algn="l">
              <a:buNone/>
            </a:pPr>
            <a:r>
              <a:rPr lang="en-US" sz="1550" b="1" dirty="0">
                <a:solidFill>
                  <a:srgbClr val="58B98A"/>
                </a:solidFill>
                <a:latin typeface="Courier New" pitchFamily="34" charset="0"/>
                <a:ea typeface="Courier New" pitchFamily="34" charset="-122"/>
                <a:cs typeface="Courier New" pitchFamily="34" charset="-120"/>
              </a:rPr>
              <a:t>again:</a:t>
            </a:r>
            <a:endParaRPr lang="en-US" sz="1400" dirty="0"/>
          </a:p>
        </p:txBody>
      </p:sp>
      <p:sp>
        <p:nvSpPr>
          <p:cNvPr id="12" name="Text 10"/>
          <p:cNvSpPr txBox="1"/>
          <p:nvPr/>
        </p:nvSpPr>
        <p:spPr>
          <a:xfrm>
            <a:off x="960120" y="3227832"/>
            <a:ext cx="5349240" cy="384048"/>
          </a:xfrm>
          <a:prstGeom prst="rect">
            <a:avLst/>
          </a:prstGeom>
          <a:noFill/>
          <a:ln/>
        </p:spPr>
        <p:txBody>
          <a:bodyPr wrap="square" lIns="0" tIns="0" rIns="0" bIns="0" rtlCol="0" anchor="ctr"/>
          <a:lstStyle/>
          <a:p>
            <a:pPr marL="0" indent="0" algn="l">
              <a:buNone/>
            </a:pP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EDA63F"/>
                </a:solidFill>
                <a:latin typeface="Courier New" pitchFamily="34" charset="0"/>
                <a:ea typeface="Courier New" pitchFamily="34" charset="-122"/>
                <a:cs typeface="Courier New" pitchFamily="34" charset="-120"/>
              </a:rPr>
              <a:t>mov</a:t>
            </a: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3EB9CE"/>
                </a:solidFill>
                <a:latin typeface="Courier New" pitchFamily="34" charset="0"/>
                <a:ea typeface="Courier New" pitchFamily="34" charset="-122"/>
                <a:cs typeface="Courier New" pitchFamily="34" charset="-120"/>
              </a:rPr>
              <a:t>ah</a:t>
            </a: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9584E8"/>
                </a:solidFill>
                <a:latin typeface="Courier New" pitchFamily="34" charset="0"/>
                <a:ea typeface="Courier New" pitchFamily="34" charset="-122"/>
                <a:cs typeface="Courier New" pitchFamily="34" charset="-120"/>
              </a:rPr>
              <a:t>02h</a:t>
            </a:r>
            <a:r>
              <a:rPr lang="en-US" sz="1550" b="1" dirty="0">
                <a:solidFill>
                  <a:srgbClr val="F0F3F8"/>
                </a:solidFill>
                <a:latin typeface="Courier New" pitchFamily="34" charset="0"/>
                <a:ea typeface="Courier New" pitchFamily="34" charset="-122"/>
                <a:cs typeface="Courier New" pitchFamily="34" charset="-120"/>
              </a:rPr>
              <a:t>  </a:t>
            </a:r>
            <a:r>
              <a:rPr lang="en-US" sz="1550" dirty="0">
                <a:solidFill>
                  <a:srgbClr val="6B7A93"/>
                </a:solidFill>
                <a:latin typeface="Courier New" pitchFamily="34" charset="0"/>
                <a:ea typeface="Courier New" pitchFamily="34" charset="-122"/>
                <a:cs typeface="Courier New" pitchFamily="34" charset="-120"/>
              </a:rPr>
              <a:t>; print DL</a:t>
            </a:r>
            <a:endParaRPr lang="en-US" sz="1400" dirty="0"/>
          </a:p>
        </p:txBody>
      </p:sp>
      <p:sp>
        <p:nvSpPr>
          <p:cNvPr id="13" name="Text 11"/>
          <p:cNvSpPr txBox="1"/>
          <p:nvPr/>
        </p:nvSpPr>
        <p:spPr>
          <a:xfrm>
            <a:off x="960120" y="3648456"/>
            <a:ext cx="5349240" cy="384048"/>
          </a:xfrm>
          <a:prstGeom prst="rect">
            <a:avLst/>
          </a:prstGeom>
          <a:noFill/>
          <a:ln/>
        </p:spPr>
        <p:txBody>
          <a:bodyPr wrap="square" lIns="0" tIns="0" rIns="0" bIns="0" rtlCol="0" anchor="ctr"/>
          <a:lstStyle/>
          <a:p>
            <a:pPr marL="0" indent="0" algn="l">
              <a:buNone/>
            </a:pP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EDA63F"/>
                </a:solidFill>
                <a:latin typeface="Courier New" pitchFamily="34" charset="0"/>
                <a:ea typeface="Courier New" pitchFamily="34" charset="-122"/>
                <a:cs typeface="Courier New" pitchFamily="34" charset="-120"/>
              </a:rPr>
              <a:t>int</a:t>
            </a: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9584E8"/>
                </a:solidFill>
                <a:latin typeface="Courier New" pitchFamily="34" charset="0"/>
                <a:ea typeface="Courier New" pitchFamily="34" charset="-122"/>
                <a:cs typeface="Courier New" pitchFamily="34" charset="-120"/>
              </a:rPr>
              <a:t>21h</a:t>
            </a:r>
            <a:endParaRPr lang="en-US" sz="1400" dirty="0"/>
          </a:p>
        </p:txBody>
      </p:sp>
      <p:sp>
        <p:nvSpPr>
          <p:cNvPr id="14" name="Text 12"/>
          <p:cNvSpPr txBox="1"/>
          <p:nvPr/>
        </p:nvSpPr>
        <p:spPr>
          <a:xfrm>
            <a:off x="960120" y="4069080"/>
            <a:ext cx="5349240" cy="384048"/>
          </a:xfrm>
          <a:prstGeom prst="rect">
            <a:avLst/>
          </a:prstGeom>
          <a:noFill/>
          <a:ln/>
        </p:spPr>
        <p:txBody>
          <a:bodyPr wrap="square" lIns="0" tIns="0" rIns="0" bIns="0" rtlCol="0" anchor="ctr"/>
          <a:lstStyle/>
          <a:p>
            <a:pPr marL="0" indent="0" algn="l">
              <a:buNone/>
            </a:pP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EDA63F"/>
                </a:solidFill>
                <a:latin typeface="Courier New" pitchFamily="34" charset="0"/>
                <a:ea typeface="Courier New" pitchFamily="34" charset="-122"/>
                <a:cs typeface="Courier New" pitchFamily="34" charset="-120"/>
              </a:rPr>
              <a:t>inc</a:t>
            </a: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3EB9CE"/>
                </a:solidFill>
                <a:latin typeface="Courier New" pitchFamily="34" charset="0"/>
                <a:ea typeface="Courier New" pitchFamily="34" charset="-122"/>
                <a:cs typeface="Courier New" pitchFamily="34" charset="-120"/>
              </a:rPr>
              <a:t>dl</a:t>
            </a:r>
            <a:r>
              <a:rPr lang="en-US" sz="1550" b="1" dirty="0">
                <a:solidFill>
                  <a:srgbClr val="F0F3F8"/>
                </a:solidFill>
                <a:latin typeface="Courier New" pitchFamily="34" charset="0"/>
                <a:ea typeface="Courier New" pitchFamily="34" charset="-122"/>
                <a:cs typeface="Courier New" pitchFamily="34" charset="-120"/>
              </a:rPr>
              <a:t>       </a:t>
            </a:r>
            <a:r>
              <a:rPr lang="en-US" sz="1550" dirty="0">
                <a:solidFill>
                  <a:srgbClr val="6B7A93"/>
                </a:solidFill>
                <a:latin typeface="Courier New" pitchFamily="34" charset="0"/>
                <a:ea typeface="Courier New" pitchFamily="34" charset="-122"/>
                <a:cs typeface="Courier New" pitchFamily="34" charset="-120"/>
              </a:rPr>
              <a:t>; next digit</a:t>
            </a:r>
            <a:endParaRPr lang="en-US" sz="1400" dirty="0"/>
          </a:p>
        </p:txBody>
      </p:sp>
      <p:sp>
        <p:nvSpPr>
          <p:cNvPr id="15" name="Text 13"/>
          <p:cNvSpPr txBox="1"/>
          <p:nvPr/>
        </p:nvSpPr>
        <p:spPr>
          <a:xfrm>
            <a:off x="960120" y="4489704"/>
            <a:ext cx="5349240" cy="384048"/>
          </a:xfrm>
          <a:prstGeom prst="rect">
            <a:avLst/>
          </a:prstGeom>
          <a:noFill/>
          <a:ln/>
        </p:spPr>
        <p:txBody>
          <a:bodyPr wrap="square" lIns="0" tIns="0" rIns="0" bIns="0" rtlCol="0" anchor="ctr"/>
          <a:lstStyle/>
          <a:p>
            <a:pPr marL="0" indent="0" algn="l">
              <a:buNone/>
            </a:pP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EDA63F"/>
                </a:solidFill>
                <a:latin typeface="Courier New" pitchFamily="34" charset="0"/>
                <a:ea typeface="Courier New" pitchFamily="34" charset="-122"/>
                <a:cs typeface="Courier New" pitchFamily="34" charset="-120"/>
              </a:rPr>
              <a:t>loop</a:t>
            </a:r>
            <a:r>
              <a:rPr lang="en-US" sz="1550" b="1" dirty="0">
                <a:solidFill>
                  <a:srgbClr val="F0F3F8"/>
                </a:solidFill>
                <a:latin typeface="Courier New" pitchFamily="34" charset="0"/>
                <a:ea typeface="Courier New" pitchFamily="34" charset="-122"/>
                <a:cs typeface="Courier New" pitchFamily="34" charset="-120"/>
              </a:rPr>
              <a:t> </a:t>
            </a:r>
            <a:r>
              <a:rPr lang="en-US" sz="1550" b="1" dirty="0">
                <a:solidFill>
                  <a:srgbClr val="58B98A"/>
                </a:solidFill>
                <a:latin typeface="Courier New" pitchFamily="34" charset="0"/>
                <a:ea typeface="Courier New" pitchFamily="34" charset="-122"/>
                <a:cs typeface="Courier New" pitchFamily="34" charset="-120"/>
              </a:rPr>
              <a:t>again</a:t>
            </a:r>
            <a:r>
              <a:rPr lang="en-US" sz="1550" b="1" dirty="0">
                <a:solidFill>
                  <a:srgbClr val="F0F3F8"/>
                </a:solidFill>
                <a:latin typeface="Courier New" pitchFamily="34" charset="0"/>
                <a:ea typeface="Courier New" pitchFamily="34" charset="-122"/>
                <a:cs typeface="Courier New" pitchFamily="34" charset="-120"/>
              </a:rPr>
              <a:t>   </a:t>
            </a:r>
            <a:r>
              <a:rPr lang="en-US" sz="1550" dirty="0">
                <a:solidFill>
                  <a:srgbClr val="6B7A93"/>
                </a:solidFill>
                <a:latin typeface="Courier New" pitchFamily="34" charset="0"/>
                <a:ea typeface="Courier New" pitchFamily="34" charset="-122"/>
                <a:cs typeface="Courier New" pitchFamily="34" charset="-120"/>
              </a:rPr>
              <a:t>; CX - 1, go back</a:t>
            </a:r>
            <a:endParaRPr lang="en-US" sz="1400" dirty="0"/>
          </a:p>
        </p:txBody>
      </p:sp>
      <p:sp>
        <p:nvSpPr>
          <p:cNvPr id="16" name="Text 14"/>
          <p:cNvSpPr txBox="1"/>
          <p:nvPr/>
        </p:nvSpPr>
        <p:spPr>
          <a:xfrm>
            <a:off x="6812280" y="1810512"/>
            <a:ext cx="4572000" cy="219456"/>
          </a:xfrm>
          <a:prstGeom prst="rect">
            <a:avLst/>
          </a:prstGeom>
          <a:noFill/>
          <a:ln/>
        </p:spPr>
        <p:txBody>
          <a:bodyPr wrap="square" lIns="0" tIns="0" rIns="0" bIns="0" rtlCol="0" anchor="t"/>
          <a:lstStyle/>
          <a:p>
            <a:pPr marL="0" indent="0" algn="l">
              <a:buNone/>
            </a:pPr>
            <a:r>
              <a:rPr lang="en-US" sz="950" b="1" kern="0" spc="130" dirty="0">
                <a:solidFill>
                  <a:srgbClr val="5C6B83"/>
                </a:solidFill>
                <a:latin typeface="Courier New" pitchFamily="34" charset="0"/>
                <a:ea typeface="Courier New" pitchFamily="34" charset="-122"/>
                <a:cs typeface="Courier New" pitchFamily="34" charset="-120"/>
              </a:rPr>
              <a:t>DL ON EACH TURN</a:t>
            </a:r>
            <a:endParaRPr lang="en-US" sz="950" dirty="0"/>
          </a:p>
        </p:txBody>
      </p:sp>
      <p:sp>
        <p:nvSpPr>
          <p:cNvPr id="17" name="Shape 15"/>
          <p:cNvSpPr/>
          <p:nvPr/>
        </p:nvSpPr>
        <p:spPr>
          <a:xfrm>
            <a:off x="6812280" y="2148840"/>
            <a:ext cx="804672" cy="713232"/>
          </a:xfrm>
          <a:prstGeom prst="roundRect">
            <a:avLst>
              <a:gd name="adj" fmla="val 6670"/>
            </a:avLst>
          </a:prstGeom>
          <a:solidFill>
            <a:srgbClr val="122A31"/>
          </a:solidFill>
          <a:ln w="12700">
            <a:solidFill>
              <a:srgbClr val="3EB9CE"/>
            </a:solidFill>
            <a:prstDash val="solid"/>
          </a:ln>
        </p:spPr>
        <p:txBody>
          <a:bodyPr/>
          <a:lstStyle/>
          <a:p>
            <a:endParaRPr lang="en-US"/>
          </a:p>
        </p:txBody>
      </p:sp>
      <p:sp>
        <p:nvSpPr>
          <p:cNvPr id="18" name="Text 16"/>
          <p:cNvSpPr txBox="1"/>
          <p:nvPr/>
        </p:nvSpPr>
        <p:spPr>
          <a:xfrm>
            <a:off x="6812280" y="2148840"/>
            <a:ext cx="804672" cy="713232"/>
          </a:xfrm>
          <a:prstGeom prst="rect">
            <a:avLst/>
          </a:prstGeom>
          <a:noFill/>
          <a:ln/>
        </p:spPr>
        <p:txBody>
          <a:bodyPr wrap="square" lIns="0" tIns="0" rIns="0" bIns="0" rtlCol="0" anchor="ctr"/>
          <a:lstStyle/>
          <a:p>
            <a:pPr marL="0" indent="0" algn="ctr">
              <a:buNone/>
            </a:pPr>
            <a:r>
              <a:rPr lang="en-US" sz="1800" b="1" dirty="0">
                <a:solidFill>
                  <a:srgbClr val="F0F3F8"/>
                </a:solidFill>
                <a:latin typeface="Courier New" pitchFamily="34" charset="0"/>
                <a:ea typeface="Courier New" pitchFamily="34" charset="-122"/>
                <a:cs typeface="Courier New" pitchFamily="34" charset="-120"/>
              </a:rPr>
              <a:t>'1'</a:t>
            </a:r>
            <a:endParaRPr lang="en-US" sz="1800" dirty="0"/>
          </a:p>
        </p:txBody>
      </p:sp>
      <p:sp>
        <p:nvSpPr>
          <p:cNvPr id="19" name="Text 17"/>
          <p:cNvSpPr txBox="1"/>
          <p:nvPr/>
        </p:nvSpPr>
        <p:spPr>
          <a:xfrm>
            <a:off x="6812280" y="2926080"/>
            <a:ext cx="804672" cy="237744"/>
          </a:xfrm>
          <a:prstGeom prst="rect">
            <a:avLst/>
          </a:prstGeom>
          <a:noFill/>
          <a:ln/>
        </p:spPr>
        <p:txBody>
          <a:bodyPr wrap="square" lIns="0" tIns="0" rIns="0" bIns="0" rtlCol="0" anchor="t"/>
          <a:lstStyle/>
          <a:p>
            <a:pPr marL="0" indent="0" algn="ctr">
              <a:buNone/>
            </a:pPr>
            <a:r>
              <a:rPr lang="en-US" sz="1200" b="1" dirty="0">
                <a:solidFill>
                  <a:srgbClr val="9584E8"/>
                </a:solidFill>
                <a:latin typeface="Courier New" pitchFamily="34" charset="0"/>
                <a:ea typeface="Courier New" pitchFamily="34" charset="-122"/>
                <a:cs typeface="Courier New" pitchFamily="34" charset="-120"/>
              </a:rPr>
              <a:t>49</a:t>
            </a:r>
            <a:endParaRPr lang="en-US" sz="1200" dirty="0"/>
          </a:p>
        </p:txBody>
      </p:sp>
      <p:sp>
        <p:nvSpPr>
          <p:cNvPr id="20" name="Text 18"/>
          <p:cNvSpPr txBox="1"/>
          <p:nvPr/>
        </p:nvSpPr>
        <p:spPr>
          <a:xfrm>
            <a:off x="6812280" y="3182112"/>
            <a:ext cx="804672" cy="237744"/>
          </a:xfrm>
          <a:prstGeom prst="rect">
            <a:avLst/>
          </a:prstGeom>
          <a:noFill/>
          <a:ln/>
        </p:spPr>
        <p:txBody>
          <a:bodyPr wrap="square" lIns="0" tIns="0" rIns="0" bIns="0" rtlCol="0" anchor="t"/>
          <a:lstStyle/>
          <a:p>
            <a:pPr marL="0" indent="0" algn="ctr">
              <a:buNone/>
            </a:pPr>
            <a:r>
              <a:rPr lang="en-US" sz="1100" dirty="0">
                <a:solidFill>
                  <a:srgbClr val="94A3B8"/>
                </a:solidFill>
                <a:latin typeface="Courier New" pitchFamily="34" charset="0"/>
                <a:ea typeface="Courier New" pitchFamily="34" charset="-122"/>
                <a:cs typeface="Courier New" pitchFamily="34" charset="-120"/>
              </a:rPr>
              <a:t>CX 5</a:t>
            </a:r>
            <a:endParaRPr lang="en-US" sz="1100" dirty="0"/>
          </a:p>
        </p:txBody>
      </p:sp>
      <p:sp>
        <p:nvSpPr>
          <p:cNvPr id="21" name="Shape 19"/>
          <p:cNvSpPr/>
          <p:nvPr/>
        </p:nvSpPr>
        <p:spPr>
          <a:xfrm>
            <a:off x="7804404" y="2148840"/>
            <a:ext cx="804672" cy="713232"/>
          </a:xfrm>
          <a:prstGeom prst="roundRect">
            <a:avLst>
              <a:gd name="adj" fmla="val 6670"/>
            </a:avLst>
          </a:prstGeom>
          <a:solidFill>
            <a:srgbClr val="122A31"/>
          </a:solidFill>
          <a:ln w="12700">
            <a:solidFill>
              <a:srgbClr val="3EB9CE"/>
            </a:solidFill>
            <a:prstDash val="solid"/>
          </a:ln>
        </p:spPr>
        <p:txBody>
          <a:bodyPr/>
          <a:lstStyle/>
          <a:p>
            <a:endParaRPr lang="en-US"/>
          </a:p>
        </p:txBody>
      </p:sp>
      <p:sp>
        <p:nvSpPr>
          <p:cNvPr id="22" name="Text 20"/>
          <p:cNvSpPr txBox="1"/>
          <p:nvPr/>
        </p:nvSpPr>
        <p:spPr>
          <a:xfrm>
            <a:off x="7804404" y="2148840"/>
            <a:ext cx="804672" cy="713232"/>
          </a:xfrm>
          <a:prstGeom prst="rect">
            <a:avLst/>
          </a:prstGeom>
          <a:noFill/>
          <a:ln/>
        </p:spPr>
        <p:txBody>
          <a:bodyPr wrap="square" lIns="0" tIns="0" rIns="0" bIns="0" rtlCol="0" anchor="ctr"/>
          <a:lstStyle/>
          <a:p>
            <a:pPr marL="0" indent="0" algn="ctr">
              <a:buNone/>
            </a:pPr>
            <a:r>
              <a:rPr lang="en-US" sz="1800" b="1" dirty="0">
                <a:solidFill>
                  <a:srgbClr val="F0F3F8"/>
                </a:solidFill>
                <a:latin typeface="Courier New" pitchFamily="34" charset="0"/>
                <a:ea typeface="Courier New" pitchFamily="34" charset="-122"/>
                <a:cs typeface="Courier New" pitchFamily="34" charset="-120"/>
              </a:rPr>
              <a:t>'2'</a:t>
            </a:r>
            <a:endParaRPr lang="en-US" sz="1800" dirty="0"/>
          </a:p>
        </p:txBody>
      </p:sp>
      <p:sp>
        <p:nvSpPr>
          <p:cNvPr id="23" name="Text 21"/>
          <p:cNvSpPr txBox="1"/>
          <p:nvPr/>
        </p:nvSpPr>
        <p:spPr>
          <a:xfrm>
            <a:off x="7804404" y="2926080"/>
            <a:ext cx="804672" cy="237744"/>
          </a:xfrm>
          <a:prstGeom prst="rect">
            <a:avLst/>
          </a:prstGeom>
          <a:noFill/>
          <a:ln/>
        </p:spPr>
        <p:txBody>
          <a:bodyPr wrap="square" lIns="0" tIns="0" rIns="0" bIns="0" rtlCol="0" anchor="t"/>
          <a:lstStyle/>
          <a:p>
            <a:pPr marL="0" indent="0" algn="ctr">
              <a:buNone/>
            </a:pPr>
            <a:r>
              <a:rPr lang="en-US" sz="1200" b="1" dirty="0">
                <a:solidFill>
                  <a:srgbClr val="9584E8"/>
                </a:solidFill>
                <a:latin typeface="Courier New" pitchFamily="34" charset="0"/>
                <a:ea typeface="Courier New" pitchFamily="34" charset="-122"/>
                <a:cs typeface="Courier New" pitchFamily="34" charset="-120"/>
              </a:rPr>
              <a:t>50</a:t>
            </a:r>
            <a:endParaRPr lang="en-US" sz="1200" dirty="0"/>
          </a:p>
        </p:txBody>
      </p:sp>
      <p:sp>
        <p:nvSpPr>
          <p:cNvPr id="24" name="Text 22"/>
          <p:cNvSpPr txBox="1"/>
          <p:nvPr/>
        </p:nvSpPr>
        <p:spPr>
          <a:xfrm>
            <a:off x="7804404" y="3182112"/>
            <a:ext cx="804672" cy="237744"/>
          </a:xfrm>
          <a:prstGeom prst="rect">
            <a:avLst/>
          </a:prstGeom>
          <a:noFill/>
          <a:ln/>
        </p:spPr>
        <p:txBody>
          <a:bodyPr wrap="square" lIns="0" tIns="0" rIns="0" bIns="0" rtlCol="0" anchor="t"/>
          <a:lstStyle/>
          <a:p>
            <a:pPr marL="0" indent="0" algn="ctr">
              <a:buNone/>
            </a:pPr>
            <a:r>
              <a:rPr lang="en-US" sz="1100" dirty="0">
                <a:solidFill>
                  <a:srgbClr val="94A3B8"/>
                </a:solidFill>
                <a:latin typeface="Courier New" pitchFamily="34" charset="0"/>
                <a:ea typeface="Courier New" pitchFamily="34" charset="-122"/>
                <a:cs typeface="Courier New" pitchFamily="34" charset="-120"/>
              </a:rPr>
              <a:t>CX 4</a:t>
            </a:r>
            <a:endParaRPr lang="en-US" sz="1100" dirty="0"/>
          </a:p>
        </p:txBody>
      </p:sp>
      <p:sp>
        <p:nvSpPr>
          <p:cNvPr id="25" name="Shape 23"/>
          <p:cNvSpPr/>
          <p:nvPr/>
        </p:nvSpPr>
        <p:spPr>
          <a:xfrm>
            <a:off x="8796528" y="2148840"/>
            <a:ext cx="804672" cy="713232"/>
          </a:xfrm>
          <a:prstGeom prst="roundRect">
            <a:avLst>
              <a:gd name="adj" fmla="val 6670"/>
            </a:avLst>
          </a:prstGeom>
          <a:solidFill>
            <a:srgbClr val="122A31"/>
          </a:solidFill>
          <a:ln w="12700">
            <a:solidFill>
              <a:srgbClr val="3EB9CE"/>
            </a:solidFill>
            <a:prstDash val="solid"/>
          </a:ln>
        </p:spPr>
        <p:txBody>
          <a:bodyPr/>
          <a:lstStyle/>
          <a:p>
            <a:endParaRPr lang="en-US"/>
          </a:p>
        </p:txBody>
      </p:sp>
      <p:sp>
        <p:nvSpPr>
          <p:cNvPr id="26" name="Text 24"/>
          <p:cNvSpPr txBox="1"/>
          <p:nvPr/>
        </p:nvSpPr>
        <p:spPr>
          <a:xfrm>
            <a:off x="8796528" y="2148840"/>
            <a:ext cx="804672" cy="713232"/>
          </a:xfrm>
          <a:prstGeom prst="rect">
            <a:avLst/>
          </a:prstGeom>
          <a:noFill/>
          <a:ln/>
        </p:spPr>
        <p:txBody>
          <a:bodyPr wrap="square" lIns="0" tIns="0" rIns="0" bIns="0" rtlCol="0" anchor="ctr"/>
          <a:lstStyle/>
          <a:p>
            <a:pPr marL="0" indent="0" algn="ctr">
              <a:buNone/>
            </a:pPr>
            <a:r>
              <a:rPr lang="en-US" sz="1800" b="1" dirty="0">
                <a:solidFill>
                  <a:srgbClr val="F0F3F8"/>
                </a:solidFill>
                <a:latin typeface="Courier New" pitchFamily="34" charset="0"/>
                <a:ea typeface="Courier New" pitchFamily="34" charset="-122"/>
                <a:cs typeface="Courier New" pitchFamily="34" charset="-120"/>
              </a:rPr>
              <a:t>'3'</a:t>
            </a:r>
            <a:endParaRPr lang="en-US" sz="1800" dirty="0"/>
          </a:p>
        </p:txBody>
      </p:sp>
      <p:sp>
        <p:nvSpPr>
          <p:cNvPr id="27" name="Text 25"/>
          <p:cNvSpPr txBox="1"/>
          <p:nvPr/>
        </p:nvSpPr>
        <p:spPr>
          <a:xfrm>
            <a:off x="8796528" y="2926080"/>
            <a:ext cx="804672" cy="237744"/>
          </a:xfrm>
          <a:prstGeom prst="rect">
            <a:avLst/>
          </a:prstGeom>
          <a:noFill/>
          <a:ln/>
        </p:spPr>
        <p:txBody>
          <a:bodyPr wrap="square" lIns="0" tIns="0" rIns="0" bIns="0" rtlCol="0" anchor="t"/>
          <a:lstStyle/>
          <a:p>
            <a:pPr marL="0" indent="0" algn="ctr">
              <a:buNone/>
            </a:pPr>
            <a:r>
              <a:rPr lang="en-US" sz="1200" b="1" dirty="0">
                <a:solidFill>
                  <a:srgbClr val="9584E8"/>
                </a:solidFill>
                <a:latin typeface="Courier New" pitchFamily="34" charset="0"/>
                <a:ea typeface="Courier New" pitchFamily="34" charset="-122"/>
                <a:cs typeface="Courier New" pitchFamily="34" charset="-120"/>
              </a:rPr>
              <a:t>51</a:t>
            </a:r>
            <a:endParaRPr lang="en-US" sz="1200" dirty="0"/>
          </a:p>
        </p:txBody>
      </p:sp>
      <p:sp>
        <p:nvSpPr>
          <p:cNvPr id="28" name="Text 26"/>
          <p:cNvSpPr txBox="1"/>
          <p:nvPr/>
        </p:nvSpPr>
        <p:spPr>
          <a:xfrm>
            <a:off x="8796528" y="3182112"/>
            <a:ext cx="804672" cy="237744"/>
          </a:xfrm>
          <a:prstGeom prst="rect">
            <a:avLst/>
          </a:prstGeom>
          <a:noFill/>
          <a:ln/>
        </p:spPr>
        <p:txBody>
          <a:bodyPr wrap="square" lIns="0" tIns="0" rIns="0" bIns="0" rtlCol="0" anchor="t"/>
          <a:lstStyle/>
          <a:p>
            <a:pPr marL="0" indent="0" algn="ctr">
              <a:buNone/>
            </a:pPr>
            <a:r>
              <a:rPr lang="en-US" sz="1100" dirty="0">
                <a:solidFill>
                  <a:srgbClr val="94A3B8"/>
                </a:solidFill>
                <a:latin typeface="Courier New" pitchFamily="34" charset="0"/>
                <a:ea typeface="Courier New" pitchFamily="34" charset="-122"/>
                <a:cs typeface="Courier New" pitchFamily="34" charset="-120"/>
              </a:rPr>
              <a:t>CX 3</a:t>
            </a:r>
            <a:endParaRPr lang="en-US" sz="1100" dirty="0"/>
          </a:p>
        </p:txBody>
      </p:sp>
      <p:sp>
        <p:nvSpPr>
          <p:cNvPr id="29" name="Shape 27"/>
          <p:cNvSpPr/>
          <p:nvPr/>
        </p:nvSpPr>
        <p:spPr>
          <a:xfrm>
            <a:off x="9788652" y="2148840"/>
            <a:ext cx="804672" cy="713232"/>
          </a:xfrm>
          <a:prstGeom prst="roundRect">
            <a:avLst>
              <a:gd name="adj" fmla="val 6670"/>
            </a:avLst>
          </a:prstGeom>
          <a:solidFill>
            <a:srgbClr val="122A31"/>
          </a:solidFill>
          <a:ln w="12700">
            <a:solidFill>
              <a:srgbClr val="3EB9CE"/>
            </a:solidFill>
            <a:prstDash val="solid"/>
          </a:ln>
        </p:spPr>
        <p:txBody>
          <a:bodyPr/>
          <a:lstStyle/>
          <a:p>
            <a:endParaRPr lang="en-US"/>
          </a:p>
        </p:txBody>
      </p:sp>
      <p:sp>
        <p:nvSpPr>
          <p:cNvPr id="30" name="Text 28"/>
          <p:cNvSpPr txBox="1"/>
          <p:nvPr/>
        </p:nvSpPr>
        <p:spPr>
          <a:xfrm>
            <a:off x="9788652" y="2148840"/>
            <a:ext cx="804672" cy="713232"/>
          </a:xfrm>
          <a:prstGeom prst="rect">
            <a:avLst/>
          </a:prstGeom>
          <a:noFill/>
          <a:ln/>
        </p:spPr>
        <p:txBody>
          <a:bodyPr wrap="square" lIns="0" tIns="0" rIns="0" bIns="0" rtlCol="0" anchor="ctr"/>
          <a:lstStyle/>
          <a:p>
            <a:pPr marL="0" indent="0" algn="ctr">
              <a:buNone/>
            </a:pPr>
            <a:r>
              <a:rPr lang="en-US" sz="1800" b="1" dirty="0">
                <a:solidFill>
                  <a:srgbClr val="F0F3F8"/>
                </a:solidFill>
                <a:latin typeface="Courier New" pitchFamily="34" charset="0"/>
                <a:ea typeface="Courier New" pitchFamily="34" charset="-122"/>
                <a:cs typeface="Courier New" pitchFamily="34" charset="-120"/>
              </a:rPr>
              <a:t>'4'</a:t>
            </a:r>
            <a:endParaRPr lang="en-US" sz="1800" dirty="0"/>
          </a:p>
        </p:txBody>
      </p:sp>
      <p:sp>
        <p:nvSpPr>
          <p:cNvPr id="31" name="Text 29"/>
          <p:cNvSpPr txBox="1"/>
          <p:nvPr/>
        </p:nvSpPr>
        <p:spPr>
          <a:xfrm>
            <a:off x="9788652" y="2926080"/>
            <a:ext cx="804672" cy="237744"/>
          </a:xfrm>
          <a:prstGeom prst="rect">
            <a:avLst/>
          </a:prstGeom>
          <a:noFill/>
          <a:ln/>
        </p:spPr>
        <p:txBody>
          <a:bodyPr wrap="square" lIns="0" tIns="0" rIns="0" bIns="0" rtlCol="0" anchor="t"/>
          <a:lstStyle/>
          <a:p>
            <a:pPr marL="0" indent="0" algn="ctr">
              <a:buNone/>
            </a:pPr>
            <a:r>
              <a:rPr lang="en-US" sz="1200" b="1" dirty="0">
                <a:solidFill>
                  <a:srgbClr val="9584E8"/>
                </a:solidFill>
                <a:latin typeface="Courier New" pitchFamily="34" charset="0"/>
                <a:ea typeface="Courier New" pitchFamily="34" charset="-122"/>
                <a:cs typeface="Courier New" pitchFamily="34" charset="-120"/>
              </a:rPr>
              <a:t>52</a:t>
            </a:r>
            <a:endParaRPr lang="en-US" sz="1200" dirty="0"/>
          </a:p>
        </p:txBody>
      </p:sp>
      <p:sp>
        <p:nvSpPr>
          <p:cNvPr id="32" name="Text 30"/>
          <p:cNvSpPr txBox="1"/>
          <p:nvPr/>
        </p:nvSpPr>
        <p:spPr>
          <a:xfrm>
            <a:off x="9788652" y="3182112"/>
            <a:ext cx="804672" cy="237744"/>
          </a:xfrm>
          <a:prstGeom prst="rect">
            <a:avLst/>
          </a:prstGeom>
          <a:noFill/>
          <a:ln/>
        </p:spPr>
        <p:txBody>
          <a:bodyPr wrap="square" lIns="0" tIns="0" rIns="0" bIns="0" rtlCol="0" anchor="t"/>
          <a:lstStyle/>
          <a:p>
            <a:pPr marL="0" indent="0" algn="ctr">
              <a:buNone/>
            </a:pPr>
            <a:r>
              <a:rPr lang="en-US" sz="1100" dirty="0">
                <a:solidFill>
                  <a:srgbClr val="94A3B8"/>
                </a:solidFill>
                <a:latin typeface="Courier New" pitchFamily="34" charset="0"/>
                <a:ea typeface="Courier New" pitchFamily="34" charset="-122"/>
                <a:cs typeface="Courier New" pitchFamily="34" charset="-120"/>
              </a:rPr>
              <a:t>CX 2</a:t>
            </a:r>
            <a:endParaRPr lang="en-US" sz="1100" dirty="0"/>
          </a:p>
        </p:txBody>
      </p:sp>
      <p:sp>
        <p:nvSpPr>
          <p:cNvPr id="33" name="Shape 31"/>
          <p:cNvSpPr/>
          <p:nvPr/>
        </p:nvSpPr>
        <p:spPr>
          <a:xfrm>
            <a:off x="10780776" y="2148840"/>
            <a:ext cx="804672" cy="713232"/>
          </a:xfrm>
          <a:prstGeom prst="roundRect">
            <a:avLst>
              <a:gd name="adj" fmla="val 6670"/>
            </a:avLst>
          </a:prstGeom>
          <a:solidFill>
            <a:srgbClr val="122A31"/>
          </a:solidFill>
          <a:ln w="12700">
            <a:solidFill>
              <a:srgbClr val="3EB9CE"/>
            </a:solidFill>
            <a:prstDash val="solid"/>
          </a:ln>
        </p:spPr>
        <p:txBody>
          <a:bodyPr/>
          <a:lstStyle/>
          <a:p>
            <a:endParaRPr lang="en-US"/>
          </a:p>
        </p:txBody>
      </p:sp>
      <p:sp>
        <p:nvSpPr>
          <p:cNvPr id="34" name="Text 32"/>
          <p:cNvSpPr txBox="1"/>
          <p:nvPr/>
        </p:nvSpPr>
        <p:spPr>
          <a:xfrm>
            <a:off x="10780776" y="2148840"/>
            <a:ext cx="804672" cy="713232"/>
          </a:xfrm>
          <a:prstGeom prst="rect">
            <a:avLst/>
          </a:prstGeom>
          <a:noFill/>
          <a:ln/>
        </p:spPr>
        <p:txBody>
          <a:bodyPr wrap="square" lIns="0" tIns="0" rIns="0" bIns="0" rtlCol="0" anchor="ctr"/>
          <a:lstStyle/>
          <a:p>
            <a:pPr marL="0" indent="0" algn="ctr">
              <a:buNone/>
            </a:pPr>
            <a:r>
              <a:rPr lang="en-US" sz="1800" b="1" dirty="0">
                <a:solidFill>
                  <a:srgbClr val="F0F3F8"/>
                </a:solidFill>
                <a:latin typeface="Courier New" pitchFamily="34" charset="0"/>
                <a:ea typeface="Courier New" pitchFamily="34" charset="-122"/>
                <a:cs typeface="Courier New" pitchFamily="34" charset="-120"/>
              </a:rPr>
              <a:t>'5'</a:t>
            </a:r>
            <a:endParaRPr lang="en-US" sz="1800" dirty="0"/>
          </a:p>
        </p:txBody>
      </p:sp>
      <p:sp>
        <p:nvSpPr>
          <p:cNvPr id="35" name="Text 33"/>
          <p:cNvSpPr txBox="1"/>
          <p:nvPr/>
        </p:nvSpPr>
        <p:spPr>
          <a:xfrm>
            <a:off x="10780776" y="2926080"/>
            <a:ext cx="804672" cy="237744"/>
          </a:xfrm>
          <a:prstGeom prst="rect">
            <a:avLst/>
          </a:prstGeom>
          <a:noFill/>
          <a:ln/>
        </p:spPr>
        <p:txBody>
          <a:bodyPr wrap="square" lIns="0" tIns="0" rIns="0" bIns="0" rtlCol="0" anchor="t"/>
          <a:lstStyle/>
          <a:p>
            <a:pPr marL="0" indent="0" algn="ctr">
              <a:buNone/>
            </a:pPr>
            <a:r>
              <a:rPr lang="en-US" sz="1200" b="1" dirty="0">
                <a:solidFill>
                  <a:srgbClr val="9584E8"/>
                </a:solidFill>
                <a:latin typeface="Courier New" pitchFamily="34" charset="0"/>
                <a:ea typeface="Courier New" pitchFamily="34" charset="-122"/>
                <a:cs typeface="Courier New" pitchFamily="34" charset="-120"/>
              </a:rPr>
              <a:t>53</a:t>
            </a:r>
            <a:endParaRPr lang="en-US" sz="1200" dirty="0"/>
          </a:p>
        </p:txBody>
      </p:sp>
      <p:sp>
        <p:nvSpPr>
          <p:cNvPr id="36" name="Text 34"/>
          <p:cNvSpPr txBox="1"/>
          <p:nvPr/>
        </p:nvSpPr>
        <p:spPr>
          <a:xfrm>
            <a:off x="10780776" y="3182112"/>
            <a:ext cx="804672" cy="237744"/>
          </a:xfrm>
          <a:prstGeom prst="rect">
            <a:avLst/>
          </a:prstGeom>
          <a:noFill/>
          <a:ln/>
        </p:spPr>
        <p:txBody>
          <a:bodyPr wrap="square" lIns="0" tIns="0" rIns="0" bIns="0" rtlCol="0" anchor="t"/>
          <a:lstStyle/>
          <a:p>
            <a:pPr marL="0" indent="0" algn="ctr">
              <a:buNone/>
            </a:pPr>
            <a:r>
              <a:rPr lang="en-US" sz="1100" dirty="0">
                <a:solidFill>
                  <a:srgbClr val="94A3B8"/>
                </a:solidFill>
                <a:latin typeface="Courier New" pitchFamily="34" charset="0"/>
                <a:ea typeface="Courier New" pitchFamily="34" charset="-122"/>
                <a:cs typeface="Courier New" pitchFamily="34" charset="-120"/>
              </a:rPr>
              <a:t>CX 1</a:t>
            </a:r>
            <a:endParaRPr lang="en-US" sz="1100" dirty="0"/>
          </a:p>
        </p:txBody>
      </p:sp>
      <p:sp>
        <p:nvSpPr>
          <p:cNvPr id="37" name="Shape 35"/>
          <p:cNvSpPr/>
          <p:nvPr/>
        </p:nvSpPr>
        <p:spPr>
          <a:xfrm>
            <a:off x="9180576" y="3520440"/>
            <a:ext cx="0" cy="292608"/>
          </a:xfrm>
          <a:prstGeom prst="line">
            <a:avLst/>
          </a:prstGeom>
          <a:noFill/>
          <a:ln w="19050">
            <a:solidFill>
              <a:srgbClr val="5C6B83"/>
            </a:solidFill>
            <a:prstDash val="solid"/>
            <a:tailEnd type="triangle"/>
          </a:ln>
        </p:spPr>
        <p:txBody>
          <a:bodyPr/>
          <a:lstStyle/>
          <a:p>
            <a:endParaRPr lang="en-US"/>
          </a:p>
        </p:txBody>
      </p:sp>
      <p:sp>
        <p:nvSpPr>
          <p:cNvPr id="38" name="Shape 36"/>
          <p:cNvSpPr/>
          <p:nvPr/>
        </p:nvSpPr>
        <p:spPr>
          <a:xfrm>
            <a:off x="6812280" y="3886200"/>
            <a:ext cx="4736592" cy="777240"/>
          </a:xfrm>
          <a:prstGeom prst="roundRect">
            <a:avLst>
              <a:gd name="adj" fmla="val 6670"/>
            </a:avLst>
          </a:prstGeom>
          <a:solidFill>
            <a:srgbClr val="070B12"/>
          </a:solidFill>
          <a:ln w="12700">
            <a:solidFill>
              <a:srgbClr val="2B3850"/>
            </a:solidFill>
            <a:prstDash val="solid"/>
          </a:ln>
        </p:spPr>
        <p:txBody>
          <a:bodyPr/>
          <a:lstStyle/>
          <a:p>
            <a:endParaRPr lang="en-US"/>
          </a:p>
        </p:txBody>
      </p:sp>
      <p:sp>
        <p:nvSpPr>
          <p:cNvPr id="39" name="Text 37"/>
          <p:cNvSpPr txBox="1"/>
          <p:nvPr/>
        </p:nvSpPr>
        <p:spPr>
          <a:xfrm>
            <a:off x="7040880" y="3886200"/>
            <a:ext cx="1828800" cy="777240"/>
          </a:xfrm>
          <a:prstGeom prst="rect">
            <a:avLst/>
          </a:prstGeom>
          <a:noFill/>
          <a:ln/>
        </p:spPr>
        <p:txBody>
          <a:bodyPr wrap="square" lIns="0" tIns="0" rIns="0" bIns="0" rtlCol="0" anchor="ctr"/>
          <a:lstStyle/>
          <a:p>
            <a:pPr marL="0" indent="0" algn="l">
              <a:buNone/>
            </a:pPr>
            <a:r>
              <a:rPr lang="en-US" sz="2600" b="1" dirty="0">
                <a:solidFill>
                  <a:srgbClr val="F0F3F8"/>
                </a:solidFill>
                <a:latin typeface="Courier New" pitchFamily="34" charset="0"/>
                <a:ea typeface="Courier New" pitchFamily="34" charset="-122"/>
                <a:cs typeface="Courier New" pitchFamily="34" charset="-120"/>
              </a:rPr>
              <a:t>12345</a:t>
            </a:r>
            <a:endParaRPr lang="en-US" sz="2600" dirty="0"/>
          </a:p>
        </p:txBody>
      </p:sp>
      <p:sp>
        <p:nvSpPr>
          <p:cNvPr id="40" name="Shape 38"/>
          <p:cNvSpPr/>
          <p:nvPr/>
        </p:nvSpPr>
        <p:spPr>
          <a:xfrm>
            <a:off x="8119872" y="4114800"/>
            <a:ext cx="128016" cy="329184"/>
          </a:xfrm>
          <a:prstGeom prst="rect">
            <a:avLst/>
          </a:prstGeom>
          <a:solidFill>
            <a:srgbClr val="EDA63F"/>
          </a:solidFill>
          <a:ln/>
        </p:spPr>
        <p:txBody>
          <a:bodyPr/>
          <a:lstStyle/>
          <a:p>
            <a:endParaRPr lang="en-US"/>
          </a:p>
        </p:txBody>
      </p:sp>
      <p:sp>
        <p:nvSpPr>
          <p:cNvPr id="41" name="Text 39"/>
          <p:cNvSpPr txBox="1"/>
          <p:nvPr/>
        </p:nvSpPr>
        <p:spPr>
          <a:xfrm>
            <a:off x="6812280" y="4736592"/>
            <a:ext cx="4736592" cy="256032"/>
          </a:xfrm>
          <a:prstGeom prst="rect">
            <a:avLst/>
          </a:prstGeom>
          <a:noFill/>
          <a:ln/>
        </p:spPr>
        <p:txBody>
          <a:bodyPr wrap="square" lIns="0" tIns="0" rIns="0" bIns="0" rtlCol="0" anchor="t"/>
          <a:lstStyle/>
          <a:p>
            <a:pPr marL="0" indent="0" algn="ctr">
              <a:buNone/>
            </a:pPr>
            <a:r>
              <a:rPr lang="en-US" sz="1200" dirty="0">
                <a:solidFill>
                  <a:srgbClr val="94A3B8"/>
                </a:solidFill>
                <a:latin typeface="Calibri" pitchFamily="34" charset="0"/>
                <a:ea typeface="Calibri" pitchFamily="34" charset="-122"/>
                <a:cs typeface="Calibri" pitchFamily="34" charset="-120"/>
              </a:rPr>
              <a:t>one loop, five different characters</a:t>
            </a:r>
            <a:endParaRPr lang="en-US" sz="1200" dirty="0"/>
          </a:p>
        </p:txBody>
      </p:sp>
      <p:sp>
        <p:nvSpPr>
          <p:cNvPr id="42" name="Shape 40"/>
          <p:cNvSpPr/>
          <p:nvPr/>
        </p:nvSpPr>
        <p:spPr>
          <a:xfrm>
            <a:off x="640080" y="5230368"/>
            <a:ext cx="10908792" cy="731520"/>
          </a:xfrm>
          <a:prstGeom prst="roundRect">
            <a:avLst>
              <a:gd name="adj" fmla="val 6670"/>
            </a:avLst>
          </a:prstGeom>
          <a:solidFill>
            <a:srgbClr val="182132"/>
          </a:solidFill>
          <a:ln w="12700">
            <a:solidFill>
              <a:srgbClr val="2A3548"/>
            </a:solidFill>
            <a:prstDash val="solid"/>
          </a:ln>
        </p:spPr>
        <p:txBody>
          <a:bodyPr/>
          <a:lstStyle/>
          <a:p>
            <a:endParaRPr lang="en-US"/>
          </a:p>
        </p:txBody>
      </p:sp>
      <p:sp>
        <p:nvSpPr>
          <p:cNvPr id="43" name="Text 41"/>
          <p:cNvSpPr txBox="1"/>
          <p:nvPr/>
        </p:nvSpPr>
        <p:spPr>
          <a:xfrm>
            <a:off x="914400" y="5230368"/>
            <a:ext cx="10424160" cy="731520"/>
          </a:xfrm>
          <a:prstGeom prst="rect">
            <a:avLst/>
          </a:prstGeom>
          <a:noFill/>
          <a:ln/>
        </p:spPr>
        <p:txBody>
          <a:bodyPr wrap="square" lIns="0" tIns="0" rIns="0" bIns="0" rtlCol="0" anchor="ctr"/>
          <a:lstStyle/>
          <a:p>
            <a:pPr marL="0" indent="0" algn="l">
              <a:buNone/>
            </a:pPr>
            <a:r>
              <a:rPr lang="en-US" sz="1400" b="1" dirty="0">
                <a:solidFill>
                  <a:srgbClr val="F0F3F8"/>
                </a:solidFill>
                <a:latin typeface="Calibri" pitchFamily="34" charset="0"/>
                <a:ea typeface="Calibri" pitchFamily="34" charset="-122"/>
                <a:cs typeface="Calibri" pitchFamily="34" charset="-120"/>
              </a:rPr>
              <a:t>Keep </a:t>
            </a:r>
            <a:r>
              <a:rPr lang="en-US" sz="1400" b="1" dirty="0">
                <a:solidFill>
                  <a:srgbClr val="3EB9CE"/>
                </a:solidFill>
                <a:latin typeface="Courier New" pitchFamily="34" charset="0"/>
                <a:ea typeface="Courier New" pitchFamily="34" charset="-122"/>
                <a:cs typeface="Courier New" pitchFamily="34" charset="-120"/>
              </a:rPr>
              <a:t>mov dl, '1'</a:t>
            </a:r>
            <a:r>
              <a:rPr lang="en-US" sz="1400" b="1" dirty="0">
                <a:solidFill>
                  <a:srgbClr val="F0F3F8"/>
                </a:solidFill>
                <a:latin typeface="Calibri" pitchFamily="34" charset="0"/>
                <a:ea typeface="Calibri" pitchFamily="34" charset="-122"/>
                <a:cs typeface="Calibri" pitchFamily="34" charset="-120"/>
              </a:rPr>
              <a:t> above the label. </a:t>
            </a:r>
            <a:r>
              <a:rPr lang="en-US" sz="1400" dirty="0">
                <a:solidFill>
                  <a:srgbClr val="94A3B8"/>
                </a:solidFill>
                <a:latin typeface="Calibri" pitchFamily="34" charset="0"/>
                <a:ea typeface="Calibri" pitchFamily="34" charset="-122"/>
                <a:cs typeface="Calibri" pitchFamily="34" charset="-120"/>
              </a:rPr>
              <a:t>Inside the loop it would reset DL every turn, and you would get 11111.</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E1420"/>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marL="0" indent="0" algn="l">
              <a:buNone/>
            </a:pPr>
            <a:r>
              <a:rPr lang="en-US" sz="1050" b="1" kern="0" spc="160" dirty="0">
                <a:solidFill>
                  <a:srgbClr val="5C6B83"/>
                </a:solidFill>
                <a:latin typeface="Courier New" pitchFamily="34" charset="0"/>
                <a:ea typeface="Courier New" pitchFamily="34" charset="-122"/>
                <a:cs typeface="Courier New" pitchFamily="34" charset="-120"/>
              </a:rPr>
              <a:t>PRACTICAL</a:t>
            </a:r>
            <a:endParaRPr lang="en-US" sz="1050" dirty="0"/>
          </a:p>
        </p:txBody>
      </p:sp>
      <p:sp>
        <p:nvSpPr>
          <p:cNvPr id="3" name="Text 1"/>
          <p:cNvSpPr txBox="1"/>
          <p:nvPr/>
        </p:nvSpPr>
        <p:spPr>
          <a:xfrm>
            <a:off x="640080" y="6336792"/>
            <a:ext cx="3657600" cy="237744"/>
          </a:xfrm>
          <a:prstGeom prst="rect">
            <a:avLst/>
          </a:prstGeom>
          <a:noFill/>
          <a:ln/>
        </p:spPr>
        <p:txBody>
          <a:bodyPr wrap="square" lIns="0" tIns="0" rIns="0" bIns="0" rtlCol="0" anchor="t"/>
          <a:lstStyle/>
          <a:p>
            <a:pPr marL="0" indent="0" algn="l">
              <a:buNone/>
            </a:pPr>
            <a:r>
              <a:rPr lang="en-US" sz="900" kern="0" spc="120" dirty="0">
                <a:solidFill>
                  <a:srgbClr val="5C6B83"/>
                </a:solidFill>
                <a:latin typeface="Courier New" pitchFamily="34" charset="0"/>
                <a:ea typeface="Courier New" pitchFamily="34" charset="-122"/>
                <a:cs typeface="Courier New" pitchFamily="34" charset="-120"/>
              </a:rPr>
              <a:t>COAL  ·  LAB 04</a:t>
            </a:r>
            <a:endParaRPr lang="en-US" sz="900" dirty="0"/>
          </a:p>
        </p:txBody>
      </p:sp>
      <p:sp>
        <p:nvSpPr>
          <p:cNvPr id="4" name="Text 2"/>
          <p:cNvSpPr txBox="1"/>
          <p:nvPr/>
        </p:nvSpPr>
        <p:spPr>
          <a:xfrm>
            <a:off x="10634472" y="6336792"/>
            <a:ext cx="914400" cy="237744"/>
          </a:xfrm>
          <a:prstGeom prst="rect">
            <a:avLst/>
          </a:prstGeom>
          <a:noFill/>
          <a:ln/>
        </p:spPr>
        <p:txBody>
          <a:bodyPr wrap="square" lIns="0" tIns="0" rIns="0" bIns="0" rtlCol="0" anchor="t"/>
          <a:lstStyle/>
          <a:p>
            <a:pPr marL="0" indent="0" algn="r">
              <a:buNone/>
            </a:pPr>
            <a:r>
              <a:rPr lang="en-US" sz="900" dirty="0">
                <a:solidFill>
                  <a:srgbClr val="5C6B83"/>
                </a:solidFill>
                <a:latin typeface="Courier New" pitchFamily="34" charset="0"/>
                <a:ea typeface="Courier New" pitchFamily="34" charset="-122"/>
                <a:cs typeface="Courier New" pitchFamily="34" charset="-120"/>
              </a:rPr>
              <a:t>09</a:t>
            </a:r>
            <a:endParaRPr lang="en-US" sz="900" dirty="0"/>
          </a:p>
        </p:txBody>
      </p:sp>
      <p:sp>
        <p:nvSpPr>
          <p:cNvPr id="5" name="Text 3"/>
          <p:cNvSpPr txBox="1"/>
          <p:nvPr/>
        </p:nvSpPr>
        <p:spPr>
          <a:xfrm>
            <a:off x="640080" y="777240"/>
            <a:ext cx="10908792" cy="822960"/>
          </a:xfrm>
          <a:prstGeom prst="rect">
            <a:avLst/>
          </a:prstGeom>
          <a:noFill/>
          <a:ln/>
        </p:spPr>
        <p:txBody>
          <a:bodyPr wrap="square" lIns="0" tIns="0" rIns="0" bIns="0" rtlCol="0" anchor="t"/>
          <a:lstStyle/>
          <a:p>
            <a:pPr marL="0" indent="0" algn="l">
              <a:buNone/>
            </a:pPr>
            <a:r>
              <a:rPr lang="en-US" sz="4400" b="1" dirty="0">
                <a:solidFill>
                  <a:srgbClr val="F0F3F8"/>
                </a:solidFill>
                <a:latin typeface="Arial" pitchFamily="34" charset="0"/>
                <a:ea typeface="Arial" pitchFamily="34" charset="-122"/>
                <a:cs typeface="Arial" pitchFamily="34" charset="-120"/>
              </a:rPr>
              <a:t>Now you code.</a:t>
            </a:r>
            <a:endParaRPr lang="en-US" sz="4400" dirty="0"/>
          </a:p>
        </p:txBody>
      </p:sp>
      <p:sp>
        <p:nvSpPr>
          <p:cNvPr id="6" name="Text 4"/>
          <p:cNvSpPr txBox="1"/>
          <p:nvPr/>
        </p:nvSpPr>
        <p:spPr>
          <a:xfrm>
            <a:off x="640080" y="1645920"/>
            <a:ext cx="10908792" cy="365760"/>
          </a:xfrm>
          <a:prstGeom prst="rect">
            <a:avLst/>
          </a:prstGeom>
          <a:noFill/>
          <a:ln/>
        </p:spPr>
        <p:txBody>
          <a:bodyPr wrap="square" lIns="0" tIns="0" rIns="0" bIns="0" rtlCol="0" anchor="t"/>
          <a:lstStyle/>
          <a:p>
            <a:pPr marL="0" indent="0" algn="l">
              <a:buNone/>
            </a:pPr>
            <a:r>
              <a:rPr lang="en-US" sz="1600" dirty="0">
                <a:solidFill>
                  <a:srgbClr val="94A3B8"/>
                </a:solidFill>
                <a:latin typeface="Calibri" pitchFamily="34" charset="0"/>
                <a:ea typeface="Calibri" pitchFamily="34" charset="-122"/>
                <a:cs typeface="Calibri" pitchFamily="34" charset="-120"/>
              </a:rPr>
              <a:t>Open EMU8086 and type every example yourself. No copy and paste: typing it is how it sticks.</a:t>
            </a:r>
            <a:endParaRPr lang="en-US" sz="1600" dirty="0"/>
          </a:p>
        </p:txBody>
      </p:sp>
      <p:sp>
        <p:nvSpPr>
          <p:cNvPr id="7" name="Shape 5"/>
          <p:cNvSpPr/>
          <p:nvPr/>
        </p:nvSpPr>
        <p:spPr>
          <a:xfrm>
            <a:off x="640080" y="2377440"/>
            <a:ext cx="5394960" cy="2926080"/>
          </a:xfrm>
          <a:prstGeom prst="roundRect">
            <a:avLst>
              <a:gd name="adj" fmla="val 6670"/>
            </a:avLst>
          </a:prstGeom>
          <a:solidFill>
            <a:srgbClr val="182132"/>
          </a:solidFill>
          <a:ln w="12700">
            <a:solidFill>
              <a:srgbClr val="2A3548"/>
            </a:solidFill>
            <a:prstDash val="solid"/>
          </a:ln>
        </p:spPr>
        <p:txBody>
          <a:bodyPr/>
          <a:lstStyle/>
          <a:p>
            <a:endParaRPr lang="en-US"/>
          </a:p>
        </p:txBody>
      </p:sp>
      <p:sp>
        <p:nvSpPr>
          <p:cNvPr id="8" name="Text 6"/>
          <p:cNvSpPr txBox="1"/>
          <p:nvPr/>
        </p:nvSpPr>
        <p:spPr>
          <a:xfrm>
            <a:off x="950976" y="2596896"/>
            <a:ext cx="3657600" cy="219456"/>
          </a:xfrm>
          <a:prstGeom prst="rect">
            <a:avLst/>
          </a:prstGeom>
          <a:noFill/>
          <a:ln/>
        </p:spPr>
        <p:txBody>
          <a:bodyPr wrap="square" lIns="0" tIns="0" rIns="0" bIns="0" rtlCol="0" anchor="t"/>
          <a:lstStyle/>
          <a:p>
            <a:pPr marL="0" indent="0" algn="l">
              <a:buNone/>
            </a:pPr>
            <a:r>
              <a:rPr lang="en-US" sz="950" b="1" kern="0" spc="130" dirty="0">
                <a:solidFill>
                  <a:srgbClr val="EDA63F"/>
                </a:solidFill>
                <a:latin typeface="Courier New" pitchFamily="34" charset="0"/>
                <a:ea typeface="Courier New" pitchFamily="34" charset="-122"/>
                <a:cs typeface="Courier New" pitchFamily="34" charset="-120"/>
              </a:rPr>
              <a:t>TODAY IN EMU8086</a:t>
            </a:r>
            <a:endParaRPr lang="en-US" sz="950" dirty="0"/>
          </a:p>
        </p:txBody>
      </p:sp>
      <p:sp>
        <p:nvSpPr>
          <p:cNvPr id="9" name="Shape 7"/>
          <p:cNvSpPr/>
          <p:nvPr/>
        </p:nvSpPr>
        <p:spPr>
          <a:xfrm>
            <a:off x="950976" y="3035808"/>
            <a:ext cx="274320" cy="274320"/>
          </a:xfrm>
          <a:prstGeom prst="ellipse">
            <a:avLst/>
          </a:prstGeom>
          <a:solidFill>
            <a:srgbClr val="0E1420"/>
          </a:solidFill>
          <a:ln/>
        </p:spPr>
        <p:txBody>
          <a:bodyPr/>
          <a:lstStyle/>
          <a:p>
            <a:endParaRPr lang="en-US"/>
          </a:p>
        </p:txBody>
      </p:sp>
      <p:sp>
        <p:nvSpPr>
          <p:cNvPr id="10" name="Text 8"/>
          <p:cNvSpPr txBox="1"/>
          <p:nvPr/>
        </p:nvSpPr>
        <p:spPr>
          <a:xfrm>
            <a:off x="950976" y="3035808"/>
            <a:ext cx="274320" cy="274320"/>
          </a:xfrm>
          <a:prstGeom prst="rect">
            <a:avLst/>
          </a:prstGeom>
          <a:noFill/>
          <a:ln/>
        </p:spPr>
        <p:txBody>
          <a:bodyPr wrap="square" lIns="0" tIns="0" rIns="0" bIns="0" rtlCol="0" anchor="ctr"/>
          <a:lstStyle/>
          <a:p>
            <a:pPr marL="0" indent="0" algn="ctr">
              <a:buNone/>
            </a:pPr>
            <a:r>
              <a:rPr lang="en-US" sz="1000" b="1" dirty="0">
                <a:solidFill>
                  <a:srgbClr val="3EB9CE"/>
                </a:solidFill>
                <a:latin typeface="Courier New" pitchFamily="34" charset="0"/>
                <a:ea typeface="Courier New" pitchFamily="34" charset="-122"/>
                <a:cs typeface="Courier New" pitchFamily="34" charset="-120"/>
              </a:rPr>
              <a:t>1</a:t>
            </a:r>
            <a:endParaRPr lang="en-US" sz="1000" dirty="0"/>
          </a:p>
        </p:txBody>
      </p:sp>
      <p:sp>
        <p:nvSpPr>
          <p:cNvPr id="11" name="Text 9"/>
          <p:cNvSpPr txBox="1"/>
          <p:nvPr/>
        </p:nvSpPr>
        <p:spPr>
          <a:xfrm>
            <a:off x="1371600" y="2953512"/>
            <a:ext cx="4572000" cy="438912"/>
          </a:xfrm>
          <a:prstGeom prst="rect">
            <a:avLst/>
          </a:prstGeom>
          <a:noFill/>
          <a:ln/>
        </p:spPr>
        <p:txBody>
          <a:bodyPr wrap="square" lIns="0" tIns="0" rIns="0" bIns="0" rtlCol="0" anchor="ctr"/>
          <a:lstStyle/>
          <a:p>
            <a:pPr marL="0" indent="0" algn="l">
              <a:buNone/>
            </a:pPr>
            <a:r>
              <a:rPr lang="en-US" sz="1350" dirty="0">
                <a:solidFill>
                  <a:srgbClr val="94A3B8"/>
                </a:solidFill>
                <a:latin typeface="Calibri" pitchFamily="34" charset="0"/>
                <a:ea typeface="Calibri" pitchFamily="34" charset="-122"/>
                <a:cs typeface="Calibri" pitchFamily="34" charset="-120"/>
              </a:rPr>
              <a:t>Set CX </a:t>
            </a:r>
            <a:r>
              <a:rPr lang="en-US" sz="1350" b="1" dirty="0">
                <a:solidFill>
                  <a:srgbClr val="F0F3F8"/>
                </a:solidFill>
                <a:latin typeface="Calibri" pitchFamily="34" charset="0"/>
                <a:ea typeface="Calibri" pitchFamily="34" charset="-122"/>
                <a:cs typeface="Calibri" pitchFamily="34" charset="-120"/>
              </a:rPr>
              <a:t>before</a:t>
            </a:r>
            <a:r>
              <a:rPr lang="en-US" sz="1350" dirty="0">
                <a:solidFill>
                  <a:srgbClr val="94A3B8"/>
                </a:solidFill>
                <a:latin typeface="Calibri" pitchFamily="34" charset="0"/>
                <a:ea typeface="Calibri" pitchFamily="34" charset="-122"/>
                <a:cs typeface="Calibri" pitchFamily="34" charset="-120"/>
              </a:rPr>
              <a:t> the label. Set it inside and the loop never ends.</a:t>
            </a:r>
            <a:endParaRPr lang="en-US" sz="1350" dirty="0"/>
          </a:p>
        </p:txBody>
      </p:sp>
      <p:sp>
        <p:nvSpPr>
          <p:cNvPr id="12" name="Shape 10"/>
          <p:cNvSpPr/>
          <p:nvPr/>
        </p:nvSpPr>
        <p:spPr>
          <a:xfrm>
            <a:off x="950976" y="3584448"/>
            <a:ext cx="274320" cy="274320"/>
          </a:xfrm>
          <a:prstGeom prst="ellipse">
            <a:avLst/>
          </a:prstGeom>
          <a:solidFill>
            <a:srgbClr val="0E1420"/>
          </a:solidFill>
          <a:ln/>
        </p:spPr>
        <p:txBody>
          <a:bodyPr/>
          <a:lstStyle/>
          <a:p>
            <a:endParaRPr lang="en-US"/>
          </a:p>
        </p:txBody>
      </p:sp>
      <p:sp>
        <p:nvSpPr>
          <p:cNvPr id="13" name="Text 11"/>
          <p:cNvSpPr txBox="1"/>
          <p:nvPr/>
        </p:nvSpPr>
        <p:spPr>
          <a:xfrm>
            <a:off x="950976" y="3584448"/>
            <a:ext cx="274320" cy="274320"/>
          </a:xfrm>
          <a:prstGeom prst="rect">
            <a:avLst/>
          </a:prstGeom>
          <a:noFill/>
          <a:ln/>
        </p:spPr>
        <p:txBody>
          <a:bodyPr wrap="square" lIns="0" tIns="0" rIns="0" bIns="0" rtlCol="0" anchor="ctr"/>
          <a:lstStyle/>
          <a:p>
            <a:pPr marL="0" indent="0" algn="ctr">
              <a:buNone/>
            </a:pPr>
            <a:r>
              <a:rPr lang="en-US" sz="1000" b="1" dirty="0">
                <a:solidFill>
                  <a:srgbClr val="3EB9CE"/>
                </a:solidFill>
                <a:latin typeface="Courier New" pitchFamily="34" charset="0"/>
                <a:ea typeface="Courier New" pitchFamily="34" charset="-122"/>
                <a:cs typeface="Courier New" pitchFamily="34" charset="-120"/>
              </a:rPr>
              <a:t>2</a:t>
            </a:r>
            <a:endParaRPr lang="en-US" sz="1000" dirty="0"/>
          </a:p>
        </p:txBody>
      </p:sp>
      <p:sp>
        <p:nvSpPr>
          <p:cNvPr id="14" name="Text 12"/>
          <p:cNvSpPr txBox="1"/>
          <p:nvPr/>
        </p:nvSpPr>
        <p:spPr>
          <a:xfrm>
            <a:off x="1371600" y="3502152"/>
            <a:ext cx="4572000" cy="438912"/>
          </a:xfrm>
          <a:prstGeom prst="rect">
            <a:avLst/>
          </a:prstGeom>
          <a:noFill/>
          <a:ln/>
        </p:spPr>
        <p:txBody>
          <a:bodyPr wrap="square" lIns="0" tIns="0" rIns="0" bIns="0" rtlCol="0" anchor="ctr"/>
          <a:lstStyle/>
          <a:p>
            <a:pPr marL="0" indent="0" algn="l">
              <a:buNone/>
            </a:pPr>
            <a:r>
              <a:rPr lang="en-US" sz="1350" dirty="0">
                <a:solidFill>
                  <a:srgbClr val="94A3B8"/>
                </a:solidFill>
                <a:latin typeface="Calibri" pitchFamily="34" charset="0"/>
                <a:ea typeface="Calibri" pitchFamily="34" charset="-122"/>
                <a:cs typeface="Calibri" pitchFamily="34" charset="-120"/>
              </a:rPr>
              <a:t>Click </a:t>
            </a:r>
            <a:r>
              <a:rPr lang="en-US" sz="1350" b="1" dirty="0">
                <a:solidFill>
                  <a:srgbClr val="F0F3F8"/>
                </a:solidFill>
                <a:latin typeface="Courier New" pitchFamily="34" charset="0"/>
                <a:ea typeface="Courier New" pitchFamily="34" charset="-122"/>
                <a:cs typeface="Courier New" pitchFamily="34" charset="-120"/>
              </a:rPr>
              <a:t>single step</a:t>
            </a:r>
            <a:r>
              <a:rPr lang="en-US" sz="1350" dirty="0">
                <a:solidFill>
                  <a:srgbClr val="94A3B8"/>
                </a:solidFill>
                <a:latin typeface="Calibri" pitchFamily="34" charset="0"/>
                <a:ea typeface="Calibri" pitchFamily="34" charset="-122"/>
                <a:cs typeface="Calibri" pitchFamily="34" charset="-120"/>
              </a:rPr>
              <a:t> and watch CX drop by 1 each turn.</a:t>
            </a:r>
            <a:endParaRPr lang="en-US" sz="1350" dirty="0"/>
          </a:p>
        </p:txBody>
      </p:sp>
      <p:sp>
        <p:nvSpPr>
          <p:cNvPr id="15" name="Shape 13"/>
          <p:cNvSpPr/>
          <p:nvPr/>
        </p:nvSpPr>
        <p:spPr>
          <a:xfrm>
            <a:off x="950976" y="4133088"/>
            <a:ext cx="274320" cy="274320"/>
          </a:xfrm>
          <a:prstGeom prst="ellipse">
            <a:avLst/>
          </a:prstGeom>
          <a:solidFill>
            <a:srgbClr val="0E1420"/>
          </a:solidFill>
          <a:ln/>
        </p:spPr>
        <p:txBody>
          <a:bodyPr/>
          <a:lstStyle/>
          <a:p>
            <a:endParaRPr lang="en-US"/>
          </a:p>
        </p:txBody>
      </p:sp>
      <p:sp>
        <p:nvSpPr>
          <p:cNvPr id="16" name="Text 14"/>
          <p:cNvSpPr txBox="1"/>
          <p:nvPr/>
        </p:nvSpPr>
        <p:spPr>
          <a:xfrm>
            <a:off x="950976" y="4133088"/>
            <a:ext cx="274320" cy="274320"/>
          </a:xfrm>
          <a:prstGeom prst="rect">
            <a:avLst/>
          </a:prstGeom>
          <a:noFill/>
          <a:ln/>
        </p:spPr>
        <p:txBody>
          <a:bodyPr wrap="square" lIns="0" tIns="0" rIns="0" bIns="0" rtlCol="0" anchor="ctr"/>
          <a:lstStyle/>
          <a:p>
            <a:pPr marL="0" indent="0" algn="ctr">
              <a:buNone/>
            </a:pPr>
            <a:r>
              <a:rPr lang="en-US" sz="1000" b="1" dirty="0">
                <a:solidFill>
                  <a:srgbClr val="3EB9CE"/>
                </a:solidFill>
                <a:latin typeface="Courier New" pitchFamily="34" charset="0"/>
                <a:ea typeface="Courier New" pitchFamily="34" charset="-122"/>
                <a:cs typeface="Courier New" pitchFamily="34" charset="-120"/>
              </a:rPr>
              <a:t>3</a:t>
            </a:r>
            <a:endParaRPr lang="en-US" sz="1000" dirty="0"/>
          </a:p>
        </p:txBody>
      </p:sp>
      <p:sp>
        <p:nvSpPr>
          <p:cNvPr id="17" name="Text 15"/>
          <p:cNvSpPr txBox="1"/>
          <p:nvPr/>
        </p:nvSpPr>
        <p:spPr>
          <a:xfrm>
            <a:off x="1371600" y="4050792"/>
            <a:ext cx="4572000" cy="438912"/>
          </a:xfrm>
          <a:prstGeom prst="rect">
            <a:avLst/>
          </a:prstGeom>
          <a:noFill/>
          <a:ln/>
        </p:spPr>
        <p:txBody>
          <a:bodyPr wrap="square" lIns="0" tIns="0" rIns="0" bIns="0" rtlCol="0" anchor="ctr"/>
          <a:lstStyle/>
          <a:p>
            <a:pPr marL="0" indent="0" algn="l">
              <a:buNone/>
            </a:pPr>
            <a:r>
              <a:rPr lang="en-US" sz="1350" dirty="0">
                <a:solidFill>
                  <a:srgbClr val="94A3B8"/>
                </a:solidFill>
                <a:latin typeface="Calibri" pitchFamily="34" charset="0"/>
                <a:ea typeface="Calibri" pitchFamily="34" charset="-122"/>
                <a:cs typeface="Calibri" pitchFamily="34" charset="-120"/>
              </a:rPr>
              <a:t>Registers show hex: </a:t>
            </a:r>
            <a:r>
              <a:rPr lang="en-US" sz="1350" b="1" dirty="0">
                <a:solidFill>
                  <a:srgbClr val="F0F3F8"/>
                </a:solidFill>
                <a:latin typeface="Courier New" pitchFamily="34" charset="0"/>
                <a:ea typeface="Courier New" pitchFamily="34" charset="-122"/>
                <a:cs typeface="Courier New" pitchFamily="34" charset="-120"/>
              </a:rPr>
              <a:t>mov cx, 10</a:t>
            </a:r>
            <a:r>
              <a:rPr lang="en-US" sz="1350" dirty="0">
                <a:solidFill>
                  <a:srgbClr val="94A3B8"/>
                </a:solidFill>
                <a:latin typeface="Calibri" pitchFamily="34" charset="0"/>
                <a:ea typeface="Calibri" pitchFamily="34" charset="-122"/>
                <a:cs typeface="Calibri" pitchFamily="34" charset="-120"/>
              </a:rPr>
              <a:t> shows CX as 000A.</a:t>
            </a:r>
            <a:endParaRPr lang="en-US" sz="1350" dirty="0"/>
          </a:p>
        </p:txBody>
      </p:sp>
      <p:sp>
        <p:nvSpPr>
          <p:cNvPr id="18" name="Shape 16"/>
          <p:cNvSpPr/>
          <p:nvPr/>
        </p:nvSpPr>
        <p:spPr>
          <a:xfrm>
            <a:off x="950976" y="4681728"/>
            <a:ext cx="274320" cy="274320"/>
          </a:xfrm>
          <a:prstGeom prst="ellipse">
            <a:avLst/>
          </a:prstGeom>
          <a:solidFill>
            <a:srgbClr val="0E1420"/>
          </a:solidFill>
          <a:ln/>
        </p:spPr>
        <p:txBody>
          <a:bodyPr/>
          <a:lstStyle/>
          <a:p>
            <a:endParaRPr lang="en-US"/>
          </a:p>
        </p:txBody>
      </p:sp>
      <p:sp>
        <p:nvSpPr>
          <p:cNvPr id="19" name="Text 17"/>
          <p:cNvSpPr txBox="1"/>
          <p:nvPr/>
        </p:nvSpPr>
        <p:spPr>
          <a:xfrm>
            <a:off x="950976" y="4681728"/>
            <a:ext cx="274320" cy="274320"/>
          </a:xfrm>
          <a:prstGeom prst="rect">
            <a:avLst/>
          </a:prstGeom>
          <a:noFill/>
          <a:ln/>
        </p:spPr>
        <p:txBody>
          <a:bodyPr wrap="square" lIns="0" tIns="0" rIns="0" bIns="0" rtlCol="0" anchor="ctr"/>
          <a:lstStyle/>
          <a:p>
            <a:pPr marL="0" indent="0" algn="ctr">
              <a:buNone/>
            </a:pPr>
            <a:r>
              <a:rPr lang="en-US" sz="1000" b="1" dirty="0">
                <a:solidFill>
                  <a:srgbClr val="3EB9CE"/>
                </a:solidFill>
                <a:latin typeface="Courier New" pitchFamily="34" charset="0"/>
                <a:ea typeface="Courier New" pitchFamily="34" charset="-122"/>
                <a:cs typeface="Courier New" pitchFamily="34" charset="-120"/>
              </a:rPr>
              <a:t>4</a:t>
            </a:r>
            <a:endParaRPr lang="en-US" sz="1000" dirty="0"/>
          </a:p>
        </p:txBody>
      </p:sp>
      <p:sp>
        <p:nvSpPr>
          <p:cNvPr id="20" name="Text 18"/>
          <p:cNvSpPr txBox="1"/>
          <p:nvPr/>
        </p:nvSpPr>
        <p:spPr>
          <a:xfrm>
            <a:off x="1371600" y="4599432"/>
            <a:ext cx="4572000" cy="438912"/>
          </a:xfrm>
          <a:prstGeom prst="rect">
            <a:avLst/>
          </a:prstGeom>
          <a:noFill/>
          <a:ln/>
        </p:spPr>
        <p:txBody>
          <a:bodyPr wrap="square" lIns="0" tIns="0" rIns="0" bIns="0" rtlCol="0" anchor="ctr"/>
          <a:lstStyle/>
          <a:p>
            <a:pPr marL="0" indent="0" algn="l">
              <a:buNone/>
            </a:pPr>
            <a:r>
              <a:rPr lang="en-US" sz="1350" dirty="0">
                <a:solidFill>
                  <a:srgbClr val="94A3B8"/>
                </a:solidFill>
                <a:latin typeface="Calibri" pitchFamily="34" charset="0"/>
                <a:ea typeface="Calibri" pitchFamily="34" charset="-122"/>
                <a:cs typeface="Calibri" pitchFamily="34" charset="-120"/>
              </a:rPr>
              <a:t>Do not store a key in CL inside a loop. </a:t>
            </a:r>
            <a:r>
              <a:rPr lang="en-US" sz="1350" b="1" dirty="0">
                <a:solidFill>
                  <a:srgbClr val="F0F3F8"/>
                </a:solidFill>
                <a:latin typeface="Courier New" pitchFamily="34" charset="0"/>
                <a:ea typeface="Courier New" pitchFamily="34" charset="-122"/>
                <a:cs typeface="Courier New" pitchFamily="34" charset="-120"/>
              </a:rPr>
              <a:t>CL</a:t>
            </a:r>
            <a:r>
              <a:rPr lang="en-US" sz="1350" dirty="0">
                <a:solidFill>
                  <a:srgbClr val="94A3B8"/>
                </a:solidFill>
                <a:latin typeface="Calibri" pitchFamily="34" charset="0"/>
                <a:ea typeface="Calibri" pitchFamily="34" charset="-122"/>
                <a:cs typeface="Calibri" pitchFamily="34" charset="-120"/>
              </a:rPr>
              <a:t> is part of CX.</a:t>
            </a:r>
            <a:endParaRPr lang="en-US" sz="1350" dirty="0"/>
          </a:p>
        </p:txBody>
      </p:sp>
      <p:sp>
        <p:nvSpPr>
          <p:cNvPr id="21" name="Shape 19"/>
          <p:cNvSpPr/>
          <p:nvPr/>
        </p:nvSpPr>
        <p:spPr>
          <a:xfrm>
            <a:off x="6153912" y="2377440"/>
            <a:ext cx="5394960" cy="2926080"/>
          </a:xfrm>
          <a:prstGeom prst="roundRect">
            <a:avLst>
              <a:gd name="adj" fmla="val 6670"/>
            </a:avLst>
          </a:prstGeom>
          <a:solidFill>
            <a:srgbClr val="122A31"/>
          </a:solidFill>
          <a:ln w="12700">
            <a:solidFill>
              <a:srgbClr val="27505B"/>
            </a:solidFill>
            <a:prstDash val="solid"/>
          </a:ln>
        </p:spPr>
        <p:txBody>
          <a:bodyPr/>
          <a:lstStyle/>
          <a:p>
            <a:endParaRPr lang="en-US"/>
          </a:p>
        </p:txBody>
      </p:sp>
      <p:sp>
        <p:nvSpPr>
          <p:cNvPr id="22" name="Text 20"/>
          <p:cNvSpPr txBox="1"/>
          <p:nvPr/>
        </p:nvSpPr>
        <p:spPr>
          <a:xfrm>
            <a:off x="6464808" y="2596896"/>
            <a:ext cx="3657600" cy="219456"/>
          </a:xfrm>
          <a:prstGeom prst="rect">
            <a:avLst/>
          </a:prstGeom>
          <a:noFill/>
          <a:ln/>
        </p:spPr>
        <p:txBody>
          <a:bodyPr wrap="square" lIns="0" tIns="0" rIns="0" bIns="0" rtlCol="0" anchor="t"/>
          <a:lstStyle/>
          <a:p>
            <a:pPr marL="0" indent="0" algn="l">
              <a:buNone/>
            </a:pPr>
            <a:r>
              <a:rPr lang="en-US" sz="950" b="1" kern="0" spc="130" dirty="0">
                <a:solidFill>
                  <a:srgbClr val="3EB9CE"/>
                </a:solidFill>
                <a:latin typeface="Courier New" pitchFamily="34" charset="0"/>
                <a:ea typeface="Courier New" pitchFamily="34" charset="-122"/>
                <a:cs typeface="Courier New" pitchFamily="34" charset="-120"/>
              </a:rPr>
              <a:t>FOR EVERY EXAMPLE</a:t>
            </a:r>
            <a:endParaRPr lang="en-US" sz="950" dirty="0"/>
          </a:p>
        </p:txBody>
      </p:sp>
      <p:sp>
        <p:nvSpPr>
          <p:cNvPr id="23" name="Shape 21"/>
          <p:cNvSpPr/>
          <p:nvPr/>
        </p:nvSpPr>
        <p:spPr>
          <a:xfrm>
            <a:off x="6464808" y="3063240"/>
            <a:ext cx="2103120" cy="502920"/>
          </a:xfrm>
          <a:prstGeom prst="roundRect">
            <a:avLst>
              <a:gd name="adj" fmla="val 6670"/>
            </a:avLst>
          </a:prstGeom>
          <a:solidFill>
            <a:srgbClr val="0E1420"/>
          </a:solidFill>
          <a:ln w="12700">
            <a:solidFill>
              <a:srgbClr val="27505B"/>
            </a:solidFill>
            <a:prstDash val="solid"/>
          </a:ln>
        </p:spPr>
        <p:txBody>
          <a:bodyPr/>
          <a:lstStyle/>
          <a:p>
            <a:endParaRPr lang="en-US"/>
          </a:p>
        </p:txBody>
      </p:sp>
      <p:sp>
        <p:nvSpPr>
          <p:cNvPr id="24" name="Text 22"/>
          <p:cNvSpPr txBox="1"/>
          <p:nvPr/>
        </p:nvSpPr>
        <p:spPr>
          <a:xfrm>
            <a:off x="6464808" y="3063240"/>
            <a:ext cx="2103120" cy="502920"/>
          </a:xfrm>
          <a:prstGeom prst="rect">
            <a:avLst/>
          </a:prstGeom>
          <a:noFill/>
          <a:ln/>
        </p:spPr>
        <p:txBody>
          <a:bodyPr wrap="square" lIns="0" tIns="0" rIns="0" bIns="0" rtlCol="0" anchor="ctr"/>
          <a:lstStyle/>
          <a:p>
            <a:pPr marL="0" indent="0" algn="ctr">
              <a:buNone/>
            </a:pPr>
            <a:r>
              <a:rPr lang="en-US" sz="1400" b="1" dirty="0">
                <a:solidFill>
                  <a:srgbClr val="F0F3F8"/>
                </a:solidFill>
                <a:latin typeface="Calibri" pitchFamily="34" charset="0"/>
                <a:ea typeface="Calibri" pitchFamily="34" charset="-122"/>
                <a:cs typeface="Calibri" pitchFamily="34" charset="-120"/>
              </a:rPr>
              <a:t>1  Type it</a:t>
            </a:r>
            <a:endParaRPr lang="en-US" sz="1400" dirty="0"/>
          </a:p>
        </p:txBody>
      </p:sp>
      <p:sp>
        <p:nvSpPr>
          <p:cNvPr id="25" name="Shape 23"/>
          <p:cNvSpPr/>
          <p:nvPr/>
        </p:nvSpPr>
        <p:spPr>
          <a:xfrm>
            <a:off x="9116568" y="3063240"/>
            <a:ext cx="2103120" cy="502920"/>
          </a:xfrm>
          <a:prstGeom prst="roundRect">
            <a:avLst>
              <a:gd name="adj" fmla="val 6670"/>
            </a:avLst>
          </a:prstGeom>
          <a:solidFill>
            <a:srgbClr val="0E1420"/>
          </a:solidFill>
          <a:ln w="12700">
            <a:solidFill>
              <a:srgbClr val="27505B"/>
            </a:solidFill>
            <a:prstDash val="solid"/>
          </a:ln>
        </p:spPr>
        <p:txBody>
          <a:bodyPr/>
          <a:lstStyle/>
          <a:p>
            <a:endParaRPr lang="en-US"/>
          </a:p>
        </p:txBody>
      </p:sp>
      <p:sp>
        <p:nvSpPr>
          <p:cNvPr id="26" name="Text 24"/>
          <p:cNvSpPr txBox="1"/>
          <p:nvPr/>
        </p:nvSpPr>
        <p:spPr>
          <a:xfrm>
            <a:off x="9116568" y="3063240"/>
            <a:ext cx="2103120" cy="502920"/>
          </a:xfrm>
          <a:prstGeom prst="rect">
            <a:avLst/>
          </a:prstGeom>
          <a:noFill/>
          <a:ln/>
        </p:spPr>
        <p:txBody>
          <a:bodyPr wrap="square" lIns="0" tIns="0" rIns="0" bIns="0" rtlCol="0" anchor="ctr"/>
          <a:lstStyle/>
          <a:p>
            <a:pPr marL="0" indent="0" algn="ctr">
              <a:buNone/>
            </a:pPr>
            <a:r>
              <a:rPr lang="en-US" sz="1400" b="1" dirty="0">
                <a:solidFill>
                  <a:srgbClr val="F0F3F8"/>
                </a:solidFill>
                <a:latin typeface="Calibri" pitchFamily="34" charset="0"/>
                <a:ea typeface="Calibri" pitchFamily="34" charset="-122"/>
                <a:cs typeface="Calibri" pitchFamily="34" charset="-120"/>
              </a:rPr>
              <a:t>2  Run it</a:t>
            </a:r>
            <a:endParaRPr lang="en-US" sz="1400" dirty="0"/>
          </a:p>
        </p:txBody>
      </p:sp>
      <p:sp>
        <p:nvSpPr>
          <p:cNvPr id="27" name="Shape 25"/>
          <p:cNvSpPr/>
          <p:nvPr/>
        </p:nvSpPr>
        <p:spPr>
          <a:xfrm>
            <a:off x="9116568" y="4343400"/>
            <a:ext cx="2103120" cy="502920"/>
          </a:xfrm>
          <a:prstGeom prst="roundRect">
            <a:avLst>
              <a:gd name="adj" fmla="val 6670"/>
            </a:avLst>
          </a:prstGeom>
          <a:solidFill>
            <a:srgbClr val="0E1420"/>
          </a:solidFill>
          <a:ln w="12700">
            <a:solidFill>
              <a:srgbClr val="27505B"/>
            </a:solidFill>
            <a:prstDash val="solid"/>
          </a:ln>
        </p:spPr>
        <p:txBody>
          <a:bodyPr/>
          <a:lstStyle/>
          <a:p>
            <a:endParaRPr lang="en-US"/>
          </a:p>
        </p:txBody>
      </p:sp>
      <p:sp>
        <p:nvSpPr>
          <p:cNvPr id="28" name="Text 26"/>
          <p:cNvSpPr txBox="1"/>
          <p:nvPr/>
        </p:nvSpPr>
        <p:spPr>
          <a:xfrm>
            <a:off x="9116568" y="4343400"/>
            <a:ext cx="2103120" cy="502920"/>
          </a:xfrm>
          <a:prstGeom prst="rect">
            <a:avLst/>
          </a:prstGeom>
          <a:noFill/>
          <a:ln/>
        </p:spPr>
        <p:txBody>
          <a:bodyPr wrap="square" lIns="0" tIns="0" rIns="0" bIns="0" rtlCol="0" anchor="ctr"/>
          <a:lstStyle/>
          <a:p>
            <a:pPr marL="0" indent="0" algn="ctr">
              <a:buNone/>
            </a:pPr>
            <a:r>
              <a:rPr lang="en-US" sz="1400" b="1" dirty="0">
                <a:solidFill>
                  <a:srgbClr val="F0F3F8"/>
                </a:solidFill>
                <a:latin typeface="Calibri" pitchFamily="34" charset="0"/>
                <a:ea typeface="Calibri" pitchFamily="34" charset="-122"/>
                <a:cs typeface="Calibri" pitchFamily="34" charset="-120"/>
              </a:rPr>
              <a:t>3  Change one thing</a:t>
            </a:r>
            <a:endParaRPr lang="en-US" sz="1400" dirty="0"/>
          </a:p>
        </p:txBody>
      </p:sp>
      <p:sp>
        <p:nvSpPr>
          <p:cNvPr id="29" name="Shape 27"/>
          <p:cNvSpPr/>
          <p:nvPr/>
        </p:nvSpPr>
        <p:spPr>
          <a:xfrm>
            <a:off x="6464808" y="4343400"/>
            <a:ext cx="2103120" cy="502920"/>
          </a:xfrm>
          <a:prstGeom prst="roundRect">
            <a:avLst>
              <a:gd name="adj" fmla="val 6670"/>
            </a:avLst>
          </a:prstGeom>
          <a:solidFill>
            <a:srgbClr val="0E1420"/>
          </a:solidFill>
          <a:ln w="12700">
            <a:solidFill>
              <a:srgbClr val="27505B"/>
            </a:solidFill>
            <a:prstDash val="solid"/>
          </a:ln>
        </p:spPr>
        <p:txBody>
          <a:bodyPr/>
          <a:lstStyle/>
          <a:p>
            <a:endParaRPr lang="en-US"/>
          </a:p>
        </p:txBody>
      </p:sp>
      <p:sp>
        <p:nvSpPr>
          <p:cNvPr id="30" name="Text 28"/>
          <p:cNvSpPr txBox="1"/>
          <p:nvPr/>
        </p:nvSpPr>
        <p:spPr>
          <a:xfrm>
            <a:off x="6464808" y="4343400"/>
            <a:ext cx="2103120" cy="502920"/>
          </a:xfrm>
          <a:prstGeom prst="rect">
            <a:avLst/>
          </a:prstGeom>
          <a:noFill/>
          <a:ln/>
        </p:spPr>
        <p:txBody>
          <a:bodyPr wrap="square" lIns="0" tIns="0" rIns="0" bIns="0" rtlCol="0" anchor="ctr"/>
          <a:lstStyle/>
          <a:p>
            <a:pPr marL="0" indent="0" algn="ctr">
              <a:buNone/>
            </a:pPr>
            <a:r>
              <a:rPr lang="en-US" sz="1400" b="1" dirty="0">
                <a:solidFill>
                  <a:srgbClr val="F0F3F8"/>
                </a:solidFill>
                <a:latin typeface="Calibri" pitchFamily="34" charset="0"/>
                <a:ea typeface="Calibri" pitchFamily="34" charset="-122"/>
                <a:cs typeface="Calibri" pitchFamily="34" charset="-120"/>
              </a:rPr>
              <a:t>4  Run it again</a:t>
            </a:r>
            <a:endParaRPr lang="en-US" sz="1400" dirty="0"/>
          </a:p>
        </p:txBody>
      </p:sp>
      <p:sp>
        <p:nvSpPr>
          <p:cNvPr id="31" name="Shape 29"/>
          <p:cNvSpPr/>
          <p:nvPr/>
        </p:nvSpPr>
        <p:spPr>
          <a:xfrm>
            <a:off x="8641080" y="3314700"/>
            <a:ext cx="402336" cy="0"/>
          </a:xfrm>
          <a:prstGeom prst="line">
            <a:avLst/>
          </a:prstGeom>
          <a:noFill/>
          <a:ln w="19050">
            <a:solidFill>
              <a:srgbClr val="3EB9CE"/>
            </a:solidFill>
            <a:prstDash val="solid"/>
            <a:tailEnd type="triangle"/>
          </a:ln>
        </p:spPr>
        <p:txBody>
          <a:bodyPr/>
          <a:lstStyle/>
          <a:p>
            <a:endParaRPr lang="en-US"/>
          </a:p>
        </p:txBody>
      </p:sp>
      <p:sp>
        <p:nvSpPr>
          <p:cNvPr id="32" name="Shape 30"/>
          <p:cNvSpPr/>
          <p:nvPr/>
        </p:nvSpPr>
        <p:spPr>
          <a:xfrm>
            <a:off x="10168128" y="3639312"/>
            <a:ext cx="0" cy="630936"/>
          </a:xfrm>
          <a:prstGeom prst="line">
            <a:avLst/>
          </a:prstGeom>
          <a:noFill/>
          <a:ln w="19050">
            <a:solidFill>
              <a:srgbClr val="3EB9CE"/>
            </a:solidFill>
            <a:prstDash val="solid"/>
            <a:tailEnd type="triangle"/>
          </a:ln>
        </p:spPr>
        <p:txBody>
          <a:bodyPr/>
          <a:lstStyle/>
          <a:p>
            <a:endParaRPr lang="en-US"/>
          </a:p>
        </p:txBody>
      </p:sp>
      <p:sp>
        <p:nvSpPr>
          <p:cNvPr id="33" name="Shape 31"/>
          <p:cNvSpPr/>
          <p:nvPr/>
        </p:nvSpPr>
        <p:spPr>
          <a:xfrm>
            <a:off x="8641080" y="4594860"/>
            <a:ext cx="402336" cy="0"/>
          </a:xfrm>
          <a:prstGeom prst="line">
            <a:avLst/>
          </a:prstGeom>
          <a:noFill/>
          <a:ln w="19050">
            <a:solidFill>
              <a:srgbClr val="3EB9CE"/>
            </a:solidFill>
            <a:prstDash val="solid"/>
            <a:headEnd type="triangle"/>
          </a:ln>
        </p:spPr>
        <p:txBody>
          <a:bodyPr/>
          <a:lstStyle/>
          <a:p>
            <a:endParaRPr lang="en-US"/>
          </a:p>
        </p:txBody>
      </p:sp>
      <p:sp>
        <p:nvSpPr>
          <p:cNvPr id="34" name="Shape 32"/>
          <p:cNvSpPr/>
          <p:nvPr/>
        </p:nvSpPr>
        <p:spPr>
          <a:xfrm>
            <a:off x="7516368" y="3639312"/>
            <a:ext cx="0" cy="630936"/>
          </a:xfrm>
          <a:prstGeom prst="line">
            <a:avLst/>
          </a:prstGeom>
          <a:noFill/>
          <a:ln w="19050">
            <a:solidFill>
              <a:srgbClr val="3EB9CE"/>
            </a:solidFill>
            <a:prstDash val="solid"/>
            <a:headEnd type="triangle"/>
          </a:ln>
        </p:spPr>
        <p:txBody>
          <a:bodyPr/>
          <a:lstStyle/>
          <a:p>
            <a:endParaRPr lang="en-US"/>
          </a:p>
        </p:txBody>
      </p:sp>
      <p:sp>
        <p:nvSpPr>
          <p:cNvPr id="35" name="Text 33"/>
          <p:cNvSpPr txBox="1"/>
          <p:nvPr/>
        </p:nvSpPr>
        <p:spPr>
          <a:xfrm>
            <a:off x="7626096" y="3822192"/>
            <a:ext cx="1463040" cy="274320"/>
          </a:xfrm>
          <a:prstGeom prst="rect">
            <a:avLst/>
          </a:prstGeom>
          <a:noFill/>
          <a:ln/>
        </p:spPr>
        <p:txBody>
          <a:bodyPr wrap="square" lIns="0" tIns="0" rIns="0" bIns="0" rtlCol="0" anchor="t"/>
          <a:lstStyle/>
          <a:p>
            <a:pPr marL="0" indent="0" algn="l">
              <a:buNone/>
            </a:pPr>
            <a:r>
              <a:rPr lang="en-US" sz="1100" dirty="0">
                <a:solidFill>
                  <a:srgbClr val="94A3B8"/>
                </a:solidFill>
                <a:latin typeface="Calibri" pitchFamily="34" charset="0"/>
                <a:ea typeface="Calibri" pitchFamily="34" charset="-122"/>
                <a:cs typeface="Calibri" pitchFamily="34" charset="-120"/>
              </a:rPr>
              <a:t>next example</a:t>
            </a:r>
            <a:endParaRPr lang="en-US" sz="1100" dirty="0"/>
          </a:p>
        </p:txBody>
      </p:sp>
      <p:sp>
        <p:nvSpPr>
          <p:cNvPr id="36" name="Text 34"/>
          <p:cNvSpPr txBox="1"/>
          <p:nvPr/>
        </p:nvSpPr>
        <p:spPr>
          <a:xfrm>
            <a:off x="640080" y="5577840"/>
            <a:ext cx="10908792" cy="411480"/>
          </a:xfrm>
          <a:prstGeom prst="rect">
            <a:avLst/>
          </a:prstGeom>
          <a:noFill/>
          <a:ln/>
        </p:spPr>
        <p:txBody>
          <a:bodyPr wrap="square" lIns="0" tIns="0" rIns="0" bIns="0" rtlCol="0" anchor="ctr"/>
          <a:lstStyle/>
          <a:p>
            <a:pPr marL="0" indent="0" algn="ctr">
              <a:buNone/>
            </a:pPr>
            <a:r>
              <a:rPr lang="en-US" sz="1600" b="1" dirty="0">
                <a:solidFill>
                  <a:srgbClr val="EDA63F"/>
                </a:solidFill>
                <a:latin typeface="Courier New" pitchFamily="34" charset="0"/>
                <a:ea typeface="Courier New" pitchFamily="34" charset="-122"/>
                <a:cs typeface="Courier New" pitchFamily="34" charset="-120"/>
              </a:rPr>
              <a:t>Examples   →   Practice tasks   →   Final task   →   Submit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1845</Words>
  <Application>Microsoft Office PowerPoint</Application>
  <PresentationFormat>Widescreen</PresentationFormat>
  <Paragraphs>265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COAL Lab 4: Loops in 8086 Assembly</dc:title>
  <dc:subject>PptxGenJS Presentation</dc:subject>
  <dc:creator>Muhammad Hashir Shaikh</dc:creator>
  <cp:lastModifiedBy>Hashir Shaikh</cp:lastModifiedBy>
  <cp:revision>4</cp:revision>
  <dcterms:created xsi:type="dcterms:W3CDTF">2026-10-12T19:00:43Z</dcterms:created>
  <dcterms:modified xsi:type="dcterms:W3CDTF">2026-10-13T02:33:31Z</dcterms:modified>
</cp:coreProperties>
</file>