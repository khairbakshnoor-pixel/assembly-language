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This is the first lab where students write and run real code.
Keep the slides to about 20 minutes. The rest of the session is the practical.
Point at the screen on the right: by the end of today they will have printed a letter, a word, and their own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chain left to right.
We write instructions. They put values into two registers. We ask DOS to do the printing. The character shows up.
Every program today is this same chain, repeated.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explain every directive in depth. They only need to know this frame is always the same.
The top four lines set things up. main proc and main endp wrap our code. end main closes the file.
Lab 1 used UPPERCASE. Today we write lowercase. The assembler accepts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A register is a small box inside the CPU. We use two boxes today.
AH holds a job number for DOS. DL holds the character.
Do not go through the other registers. Lab 1 already showed the full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 copies a value into a register. Destination first, source second, like Lab 1 showed.
The easiest way to read it: mov dl, 'A' means DL = 'A'.
Nothing is printed yet. MOV only fills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the lab. Three lines print one character.
Line 1 puts the character in DL. Line 2 puts the job number 2 in AH. Line 3, INT 21h, hands control to DOS.
DOS looks at AH to know the job, and at DL to know the character.
Ask: what happens if we swap line 1 and line 2? Nothing changes. Both are ready before INT 21h.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this one live in EMU8086 if you can. Emulate, then run.
The amber part prints. The green part ends the program: 4Ch is the DOS service for "stop and return".
Without those two lines the CPU keeps running whatever bytes come next, and the program does not end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new here. Just repetition.
Point out that only the character in DL changes. Lines 2 and 3 are identical every time.
If a student asks about a shorter way: yes, loops, in a later lab. Not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mistake, so show it now.
With quotes, the assembler puts the code for the character 5 into DL. That code is 53, from the ASCII ranges in Lab 1.
Without quotes, DL gets the plain number 5, which is not a digit character. You get an odd symbol.
Do not go into conversion or arithmetic. That comes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and 10 are character codes, but they do not draw anything. They move the cursor.
13, carriage return: back to the start of the current line. 10, line feed: down one line.
Use both, 13 then 10, to start a fresh line. The names come from old typewriters.
In Example 6 they will see what happens with only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to the practical. Nothing new, only combining.
Each amber tile is one character, which means three lines of code. The teal block is the new line. The green block ends the program.
Point out the space: it is a character like any other, written ' ' with a space between the quotes.
The full code for programs like this is in the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 character we want to print, in quotes, for example 'A'.
2. It picks DOS service 2: print the character in DL.
3. It calls DOS, which does the job that AH asks for.
4. Print 13 (carriage return), then 10 (line feed), each with AH = 2 and INT 21h.
Bonus if there is time: what does mov dl, 5 print? A strange symbol, not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practical sheet now.
Insist on typing, not pasting. Typos are part of learning where the errors come from.
Walk around. The most common problems: missing quotes, missing int 21h, and forgetting the 4Ch exit.
The final task is in the handout. Students submit the .asm file and a screenshot of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566928"/>
            <a:ext cx="9144000" cy="237744"/>
          </a:xfrm>
          <a:prstGeom prst="rect">
            <a:avLst/>
          </a:prstGeom>
          <a:noFill/>
          <a:ln/>
        </p:spPr>
        <p:txBody>
          <a:bodyPr wrap="square" lIns="0" tIns="0" rIns="0" bIns="0" rtlCol="0" anchor="t"/>
          <a:lstStyle/>
          <a:p>
            <a:pPr algn="l" indent="0" marL="0">
              <a:buNone/>
            </a:pPr>
            <a:r>
              <a:rPr lang="en-US" sz="1050" b="1" spc="160" kern="0" dirty="0">
                <a:solidFill>
                  <a:srgbClr val="5C6B83"/>
                </a:solidFill>
                <a:latin typeface="Courier New" pitchFamily="34" charset="0"/>
                <a:ea typeface="Courier New" pitchFamily="34" charset="-122"/>
                <a:cs typeface="Courier New" pitchFamily="34" charset="-120"/>
              </a:rPr>
              <a:t>LAB 02  ·  FIRST HANDS-ON SESSION</a:t>
            </a:r>
            <a:endParaRPr lang="en-US" sz="1050" dirty="0"/>
          </a:p>
        </p:txBody>
      </p:sp>
      <p:sp>
        <p:nvSpPr>
          <p:cNvPr id="3" name="Text 1"/>
          <p:cNvSpPr txBox="1"/>
          <p:nvPr/>
        </p:nvSpPr>
        <p:spPr>
          <a:xfrm>
            <a:off x="640080" y="1417320"/>
            <a:ext cx="6949440" cy="2103120"/>
          </a:xfrm>
          <a:prstGeom prst="rect">
            <a:avLst/>
          </a:prstGeom>
          <a:noFill/>
          <a:ln/>
        </p:spPr>
        <p:txBody>
          <a:bodyPr wrap="square" lIns="0" tIns="0" rIns="0" bIns="0" rtlCol="0" anchor="b"/>
          <a:lstStyle/>
          <a:p>
            <a:pPr algn="l" indent="0" marL="0">
              <a:buNone/>
            </a:pPr>
            <a:r>
              <a:rPr lang="en-US" sz="4000" b="1" dirty="0">
                <a:solidFill>
                  <a:srgbClr val="F0F3F8"/>
                </a:solidFill>
                <a:latin typeface="Arial" pitchFamily="34" charset="0"/>
                <a:ea typeface="Arial" pitchFamily="34" charset="-122"/>
                <a:cs typeface="Arial" pitchFamily="34" charset="-120"/>
              </a:rPr>
              <a:t>COAL Lab 2:</a:t>
            </a:r>
            <a:endParaRPr lang="en-US" sz="4000" dirty="0"/>
          </a:p>
          <a:p>
            <a:pPr algn="l" indent="0" marL="0">
              <a:buNone/>
            </a:pPr>
            <a:r>
              <a:rPr lang="en-US" sz="4000" b="1" dirty="0">
                <a:solidFill>
                  <a:srgbClr val="F0F3F8"/>
                </a:solidFill>
                <a:latin typeface="Arial" pitchFamily="34" charset="0"/>
                <a:ea typeface="Arial" pitchFamily="34" charset="-122"/>
                <a:cs typeface="Arial" pitchFamily="34" charset="-120"/>
              </a:rPr>
              <a:t>Basic Assembly</a:t>
            </a:r>
            <a:endParaRPr lang="en-US" sz="4000" dirty="0"/>
          </a:p>
          <a:p>
            <a:pPr algn="l" indent="0" marL="0">
              <a:buNone/>
            </a:pPr>
            <a:r>
              <a:rPr lang="en-US" sz="4000" b="1" dirty="0">
                <a:solidFill>
                  <a:srgbClr val="F0F3F8"/>
                </a:solidFill>
                <a:latin typeface="Arial" pitchFamily="34" charset="0"/>
                <a:ea typeface="Arial" pitchFamily="34" charset="-122"/>
                <a:cs typeface="Arial" pitchFamily="34" charset="-120"/>
              </a:rPr>
              <a:t>Programming</a:t>
            </a:r>
            <a:endParaRPr lang="en-US" sz="4000" dirty="0"/>
          </a:p>
        </p:txBody>
      </p:sp>
      <p:sp>
        <p:nvSpPr>
          <p:cNvPr id="4" name="Text 2"/>
          <p:cNvSpPr txBox="1"/>
          <p:nvPr/>
        </p:nvSpPr>
        <p:spPr>
          <a:xfrm>
            <a:off x="640080" y="3840480"/>
            <a:ext cx="6675120" cy="329184"/>
          </a:xfrm>
          <a:prstGeom prst="rect">
            <a:avLst/>
          </a:prstGeom>
          <a:noFill/>
          <a:ln/>
        </p:spPr>
        <p:txBody>
          <a:bodyPr wrap="square" lIns="0" tIns="0" rIns="0" bIns="0" rtlCol="0" anchor="t"/>
          <a:lstStyle/>
          <a:p>
            <a:pPr algn="l" indent="0" marL="0">
              <a:buNone/>
            </a:pPr>
            <a:r>
              <a:rPr lang="en-US" sz="1700" b="1" dirty="0">
                <a:solidFill>
                  <a:srgbClr val="EDA63F"/>
                </a:solidFill>
                <a:latin typeface="Arial" pitchFamily="34" charset="0"/>
                <a:ea typeface="Arial" pitchFamily="34" charset="-122"/>
                <a:cs typeface="Arial" pitchFamily="34" charset="-120"/>
              </a:rPr>
              <a:t>Muhammad Hashir Shaikh</a:t>
            </a:r>
            <a:endParaRPr lang="en-US" sz="1700" dirty="0"/>
          </a:p>
        </p:txBody>
      </p:sp>
      <p:sp>
        <p:nvSpPr>
          <p:cNvPr id="5" name="Text 3"/>
          <p:cNvSpPr txBox="1"/>
          <p:nvPr/>
        </p:nvSpPr>
        <p:spPr>
          <a:xfrm>
            <a:off x="640080" y="4224528"/>
            <a:ext cx="6675120" cy="329184"/>
          </a:xfrm>
          <a:prstGeom prst="rect">
            <a:avLst/>
          </a:prstGeom>
          <a:noFill/>
          <a:ln/>
        </p:spPr>
        <p:txBody>
          <a:bodyPr wrap="square" lIns="0" tIns="0" rIns="0" bIns="0" rtlCol="0" anchor="t"/>
          <a:lstStyle/>
          <a:p>
            <a:pPr algn="l" indent="0" marL="0">
              <a:buNone/>
            </a:pPr>
            <a:r>
              <a:rPr lang="en-US" sz="1500" dirty="0">
                <a:solidFill>
                  <a:srgbClr val="94A3B8"/>
                </a:solidFill>
                <a:latin typeface="Calibri" pitchFamily="34" charset="0"/>
                <a:ea typeface="Calibri" pitchFamily="34" charset="-122"/>
                <a:cs typeface="Calibri" pitchFamily="34" charset="-120"/>
              </a:rPr>
              <a:t>Our first programs that put characters on the screen.</a:t>
            </a:r>
            <a:endParaRPr lang="en-US" sz="1500" dirty="0"/>
          </a:p>
        </p:txBody>
      </p:sp>
      <p:sp>
        <p:nvSpPr>
          <p:cNvPr id="6" name="Shape 4"/>
          <p:cNvSpPr/>
          <p:nvPr/>
        </p:nvSpPr>
        <p:spPr>
          <a:xfrm>
            <a:off x="640080" y="4956048"/>
            <a:ext cx="1242568" cy="329184"/>
          </a:xfrm>
          <a:prstGeom prst="roundRect">
            <a:avLst>
              <a:gd name="adj" fmla="val 6670"/>
            </a:avLst>
          </a:prstGeom>
          <a:solidFill>
            <a:srgbClr val="182132"/>
          </a:solidFill>
          <a:ln w="12700">
            <a:solidFill>
              <a:srgbClr val="2A3548"/>
            </a:solidFill>
            <a:prstDash val="solid"/>
          </a:ln>
        </p:spPr>
      </p:sp>
      <p:sp>
        <p:nvSpPr>
          <p:cNvPr id="7" name="Text 5"/>
          <p:cNvSpPr txBox="1"/>
          <p:nvPr/>
        </p:nvSpPr>
        <p:spPr>
          <a:xfrm>
            <a:off x="640080" y="4956048"/>
            <a:ext cx="1242568" cy="329184"/>
          </a:xfrm>
          <a:prstGeom prst="rect">
            <a:avLst/>
          </a:prstGeom>
          <a:noFill/>
          <a:ln/>
        </p:spPr>
        <p:txBody>
          <a:bodyPr wrap="square" lIns="0" tIns="0" rIns="0" bIns="0" rtlCol="0" anchor="ctr"/>
          <a:lstStyle/>
          <a:p>
            <a:pPr algn="ctr" indent="0" marL="0">
              <a:buNone/>
            </a:pPr>
            <a:r>
              <a:rPr lang="en-US" sz="1000" b="1" spc="160" kern="0" dirty="0">
                <a:solidFill>
                  <a:srgbClr val="3EB9CE"/>
                </a:solidFill>
                <a:latin typeface="Courier New" pitchFamily="34" charset="0"/>
                <a:ea typeface="Courier New" pitchFamily="34" charset="-122"/>
                <a:cs typeface="Courier New" pitchFamily="34" charset="-120"/>
              </a:rPr>
              <a:t>AH &amp; DL</a:t>
            </a:r>
            <a:endParaRPr lang="en-US" sz="1000" dirty="0"/>
          </a:p>
        </p:txBody>
      </p:sp>
      <p:sp>
        <p:nvSpPr>
          <p:cNvPr id="8" name="Shape 6"/>
          <p:cNvSpPr/>
          <p:nvPr/>
        </p:nvSpPr>
        <p:spPr>
          <a:xfrm>
            <a:off x="2047240" y="4956048"/>
            <a:ext cx="856488" cy="329184"/>
          </a:xfrm>
          <a:prstGeom prst="roundRect">
            <a:avLst>
              <a:gd name="adj" fmla="val 6670"/>
            </a:avLst>
          </a:prstGeom>
          <a:solidFill>
            <a:srgbClr val="182132"/>
          </a:solidFill>
          <a:ln w="12700">
            <a:solidFill>
              <a:srgbClr val="2A3548"/>
            </a:solidFill>
            <a:prstDash val="solid"/>
          </a:ln>
        </p:spPr>
      </p:sp>
      <p:sp>
        <p:nvSpPr>
          <p:cNvPr id="9" name="Text 7"/>
          <p:cNvSpPr txBox="1"/>
          <p:nvPr/>
        </p:nvSpPr>
        <p:spPr>
          <a:xfrm>
            <a:off x="2047240" y="4956048"/>
            <a:ext cx="856488" cy="329184"/>
          </a:xfrm>
          <a:prstGeom prst="rect">
            <a:avLst/>
          </a:prstGeom>
          <a:noFill/>
          <a:ln/>
        </p:spPr>
        <p:txBody>
          <a:bodyPr wrap="square" lIns="0" tIns="0" rIns="0" bIns="0" rtlCol="0" anchor="ctr"/>
          <a:lstStyle/>
          <a:p>
            <a:pPr algn="ctr" indent="0" marL="0">
              <a:buNone/>
            </a:pPr>
            <a:r>
              <a:rPr lang="en-US" sz="1000" b="1" spc="160" kern="0" dirty="0">
                <a:solidFill>
                  <a:srgbClr val="EDA63F"/>
                </a:solidFill>
                <a:latin typeface="Courier New" pitchFamily="34" charset="0"/>
                <a:ea typeface="Courier New" pitchFamily="34" charset="-122"/>
                <a:cs typeface="Courier New" pitchFamily="34" charset="-120"/>
              </a:rPr>
              <a:t>MOV</a:t>
            </a:r>
            <a:endParaRPr lang="en-US" sz="1000" dirty="0"/>
          </a:p>
        </p:txBody>
      </p:sp>
      <p:sp>
        <p:nvSpPr>
          <p:cNvPr id="10" name="Shape 8"/>
          <p:cNvSpPr/>
          <p:nvPr/>
        </p:nvSpPr>
        <p:spPr>
          <a:xfrm>
            <a:off x="3068320" y="4956048"/>
            <a:ext cx="1242568" cy="329184"/>
          </a:xfrm>
          <a:prstGeom prst="roundRect">
            <a:avLst>
              <a:gd name="adj" fmla="val 6670"/>
            </a:avLst>
          </a:prstGeom>
          <a:solidFill>
            <a:srgbClr val="182132"/>
          </a:solidFill>
          <a:ln w="12700">
            <a:solidFill>
              <a:srgbClr val="2A3548"/>
            </a:solidFill>
            <a:prstDash val="solid"/>
          </a:ln>
        </p:spPr>
      </p:sp>
      <p:sp>
        <p:nvSpPr>
          <p:cNvPr id="11" name="Text 9"/>
          <p:cNvSpPr txBox="1"/>
          <p:nvPr/>
        </p:nvSpPr>
        <p:spPr>
          <a:xfrm>
            <a:off x="3068320" y="4956048"/>
            <a:ext cx="1242568" cy="329184"/>
          </a:xfrm>
          <a:prstGeom prst="rect">
            <a:avLst/>
          </a:prstGeom>
          <a:noFill/>
          <a:ln/>
        </p:spPr>
        <p:txBody>
          <a:bodyPr wrap="square" lIns="0" tIns="0" rIns="0" bIns="0" rtlCol="0" anchor="ctr"/>
          <a:lstStyle/>
          <a:p>
            <a:pPr algn="ctr" indent="0" marL="0">
              <a:buNone/>
            </a:pPr>
            <a:r>
              <a:rPr lang="en-US" sz="1000" b="1" spc="160" kern="0" dirty="0">
                <a:solidFill>
                  <a:srgbClr val="9584E8"/>
                </a:solidFill>
                <a:latin typeface="Courier New" pitchFamily="34" charset="0"/>
                <a:ea typeface="Courier New" pitchFamily="34" charset="-122"/>
                <a:cs typeface="Courier New" pitchFamily="34" charset="-120"/>
              </a:rPr>
              <a:t>INT 21H</a:t>
            </a:r>
            <a:endParaRPr lang="en-US" sz="1000" dirty="0"/>
          </a:p>
        </p:txBody>
      </p:sp>
      <p:sp>
        <p:nvSpPr>
          <p:cNvPr id="12" name="Shape 10"/>
          <p:cNvSpPr/>
          <p:nvPr/>
        </p:nvSpPr>
        <p:spPr>
          <a:xfrm>
            <a:off x="4475480" y="4956048"/>
            <a:ext cx="1242568" cy="329184"/>
          </a:xfrm>
          <a:prstGeom prst="roundRect">
            <a:avLst>
              <a:gd name="adj" fmla="val 6670"/>
            </a:avLst>
          </a:prstGeom>
          <a:solidFill>
            <a:srgbClr val="182132"/>
          </a:solidFill>
          <a:ln w="12700">
            <a:solidFill>
              <a:srgbClr val="2A3548"/>
            </a:solidFill>
            <a:prstDash val="solid"/>
          </a:ln>
        </p:spPr>
      </p:sp>
      <p:sp>
        <p:nvSpPr>
          <p:cNvPr id="13" name="Text 11"/>
          <p:cNvSpPr txBox="1"/>
          <p:nvPr/>
        </p:nvSpPr>
        <p:spPr>
          <a:xfrm>
            <a:off x="4475480" y="4956048"/>
            <a:ext cx="1242568" cy="329184"/>
          </a:xfrm>
          <a:prstGeom prst="rect">
            <a:avLst/>
          </a:prstGeom>
          <a:noFill/>
          <a:ln/>
        </p:spPr>
        <p:txBody>
          <a:bodyPr wrap="square" lIns="0" tIns="0" rIns="0" bIns="0" rtlCol="0" anchor="ctr"/>
          <a:lstStyle/>
          <a:p>
            <a:pPr algn="ctr" indent="0" marL="0">
              <a:buNone/>
            </a:pPr>
            <a:r>
              <a:rPr lang="en-US" sz="1000" b="1" spc="160" kern="0" dirty="0">
                <a:solidFill>
                  <a:srgbClr val="58B98A"/>
                </a:solidFill>
                <a:latin typeface="Courier New" pitchFamily="34" charset="0"/>
                <a:ea typeface="Courier New" pitchFamily="34" charset="-122"/>
                <a:cs typeface="Courier New" pitchFamily="34" charset="-120"/>
              </a:rPr>
              <a:t>EMU8086</a:t>
            </a:r>
            <a:endParaRPr lang="en-US" sz="1000" dirty="0"/>
          </a:p>
        </p:txBody>
      </p:sp>
      <p:sp>
        <p:nvSpPr>
          <p:cNvPr id="14" name="Shape 12"/>
          <p:cNvSpPr/>
          <p:nvPr/>
        </p:nvSpPr>
        <p:spPr>
          <a:xfrm>
            <a:off x="7818120" y="1783080"/>
            <a:ext cx="3730752" cy="2514600"/>
          </a:xfrm>
          <a:prstGeom prst="roundRect">
            <a:avLst>
              <a:gd name="adj" fmla="val 6670"/>
            </a:avLst>
          </a:prstGeom>
          <a:solidFill>
            <a:srgbClr val="182132"/>
          </a:solidFill>
          <a:ln w="12700">
            <a:solidFill>
              <a:srgbClr val="2A3548"/>
            </a:solidFill>
            <a:prstDash val="solid"/>
          </a:ln>
        </p:spPr>
      </p:sp>
      <p:sp>
        <p:nvSpPr>
          <p:cNvPr id="15" name="Shape 13"/>
          <p:cNvSpPr/>
          <p:nvPr/>
        </p:nvSpPr>
        <p:spPr>
          <a:xfrm>
            <a:off x="7982712" y="1920240"/>
            <a:ext cx="100584" cy="100584"/>
          </a:xfrm>
          <a:prstGeom prst="ellipse">
            <a:avLst/>
          </a:prstGeom>
          <a:solidFill>
            <a:srgbClr val="E27B66"/>
          </a:solidFill>
          <a:ln/>
        </p:spPr>
      </p:sp>
      <p:sp>
        <p:nvSpPr>
          <p:cNvPr id="16" name="Shape 14"/>
          <p:cNvSpPr/>
          <p:nvPr/>
        </p:nvSpPr>
        <p:spPr>
          <a:xfrm>
            <a:off x="8156448" y="1920240"/>
            <a:ext cx="100584" cy="100584"/>
          </a:xfrm>
          <a:prstGeom prst="ellipse">
            <a:avLst/>
          </a:prstGeom>
          <a:solidFill>
            <a:srgbClr val="EDA63F"/>
          </a:solidFill>
          <a:ln/>
        </p:spPr>
      </p:sp>
      <p:sp>
        <p:nvSpPr>
          <p:cNvPr id="17" name="Shape 15"/>
          <p:cNvSpPr/>
          <p:nvPr/>
        </p:nvSpPr>
        <p:spPr>
          <a:xfrm>
            <a:off x="8330184" y="1920240"/>
            <a:ext cx="100584" cy="100584"/>
          </a:xfrm>
          <a:prstGeom prst="ellipse">
            <a:avLst/>
          </a:prstGeom>
          <a:solidFill>
            <a:srgbClr val="58B98A"/>
          </a:solidFill>
          <a:ln/>
        </p:spPr>
      </p:sp>
      <p:sp>
        <p:nvSpPr>
          <p:cNvPr id="18" name="Text 16"/>
          <p:cNvSpPr txBox="1"/>
          <p:nvPr/>
        </p:nvSpPr>
        <p:spPr>
          <a:xfrm>
            <a:off x="8549640" y="1856232"/>
            <a:ext cx="2816352" cy="219456"/>
          </a:xfrm>
          <a:prstGeom prst="rect">
            <a:avLst/>
          </a:prstGeom>
          <a:noFill/>
          <a:ln/>
        </p:spPr>
        <p:txBody>
          <a:bodyPr wrap="square" lIns="0" tIns="0" rIns="0" bIns="0" rtlCol="0" anchor="t"/>
          <a:lstStyle/>
          <a:p>
            <a:pPr algn="l" indent="0" marL="0">
              <a:buNone/>
            </a:pPr>
            <a:r>
              <a:rPr lang="en-US" sz="900" dirty="0">
                <a:solidFill>
                  <a:srgbClr val="5C6B83"/>
                </a:solidFill>
                <a:latin typeface="Courier New" pitchFamily="34" charset="0"/>
                <a:ea typeface="Courier New" pitchFamily="34" charset="-122"/>
                <a:cs typeface="Courier New" pitchFamily="34" charset="-120"/>
              </a:rPr>
              <a:t>emulator screen</a:t>
            </a:r>
            <a:endParaRPr lang="en-US" sz="900" dirty="0"/>
          </a:p>
        </p:txBody>
      </p:sp>
      <p:sp>
        <p:nvSpPr>
          <p:cNvPr id="19" name="Shape 17"/>
          <p:cNvSpPr/>
          <p:nvPr/>
        </p:nvSpPr>
        <p:spPr>
          <a:xfrm>
            <a:off x="7946136" y="2148840"/>
            <a:ext cx="3474720" cy="2020824"/>
          </a:xfrm>
          <a:prstGeom prst="roundRect">
            <a:avLst>
              <a:gd name="adj" fmla="val 6670"/>
            </a:avLst>
          </a:prstGeom>
          <a:solidFill>
            <a:srgbClr val="070B12"/>
          </a:solidFill>
          <a:ln w="12700">
            <a:solidFill>
              <a:srgbClr val="2B3850"/>
            </a:solidFill>
            <a:prstDash val="solid"/>
          </a:ln>
        </p:spPr>
      </p:sp>
      <p:sp>
        <p:nvSpPr>
          <p:cNvPr id="20" name="Text 18"/>
          <p:cNvSpPr txBox="1"/>
          <p:nvPr/>
        </p:nvSpPr>
        <p:spPr>
          <a:xfrm>
            <a:off x="8220456" y="2350008"/>
            <a:ext cx="2743200" cy="411480"/>
          </a:xfrm>
          <a:prstGeom prst="rect">
            <a:avLst/>
          </a:prstGeom>
          <a:noFill/>
          <a:ln/>
        </p:spPr>
        <p:txBody>
          <a:bodyPr wrap="square" lIns="0" tIns="0" rIns="0" bIns="0" rtlCol="0" anchor="ctr"/>
          <a:lstStyle/>
          <a:p>
            <a:pPr algn="l" indent="0" marL="0">
              <a:buNone/>
            </a:pPr>
            <a:r>
              <a:rPr lang="en-US" sz="2200" b="1" dirty="0">
                <a:solidFill>
                  <a:srgbClr val="F0F3F8"/>
                </a:solidFill>
                <a:latin typeface="Courier New" pitchFamily="34" charset="0"/>
                <a:ea typeface="Courier New" pitchFamily="34" charset="-122"/>
                <a:cs typeface="Courier New" pitchFamily="34" charset="-120"/>
              </a:rPr>
              <a:t>A</a:t>
            </a:r>
            <a:endParaRPr lang="en-US" sz="2200" dirty="0"/>
          </a:p>
        </p:txBody>
      </p:sp>
      <p:sp>
        <p:nvSpPr>
          <p:cNvPr id="21" name="Text 19"/>
          <p:cNvSpPr txBox="1"/>
          <p:nvPr/>
        </p:nvSpPr>
        <p:spPr>
          <a:xfrm>
            <a:off x="8220456" y="2825496"/>
            <a:ext cx="2743200" cy="411480"/>
          </a:xfrm>
          <a:prstGeom prst="rect">
            <a:avLst/>
          </a:prstGeom>
          <a:noFill/>
          <a:ln/>
        </p:spPr>
        <p:txBody>
          <a:bodyPr wrap="square" lIns="0" tIns="0" rIns="0" bIns="0" rtlCol="0" anchor="ctr"/>
          <a:lstStyle/>
          <a:p>
            <a:pPr algn="l" indent="0" marL="0">
              <a:buNone/>
            </a:pPr>
            <a:r>
              <a:rPr lang="en-US" sz="2200" b="1" dirty="0">
                <a:solidFill>
                  <a:srgbClr val="F0F3F8"/>
                </a:solidFill>
                <a:latin typeface="Courier New" pitchFamily="34" charset="0"/>
                <a:ea typeface="Courier New" pitchFamily="34" charset="-122"/>
                <a:cs typeface="Courier New" pitchFamily="34" charset="-120"/>
              </a:rPr>
              <a:t>HELLO</a:t>
            </a:r>
            <a:endParaRPr lang="en-US" sz="2200" dirty="0"/>
          </a:p>
        </p:txBody>
      </p:sp>
      <p:sp>
        <p:nvSpPr>
          <p:cNvPr id="22" name="Text 20"/>
          <p:cNvSpPr txBox="1"/>
          <p:nvPr/>
        </p:nvSpPr>
        <p:spPr>
          <a:xfrm>
            <a:off x="8220456" y="3300984"/>
            <a:ext cx="2743200" cy="411480"/>
          </a:xfrm>
          <a:prstGeom prst="rect">
            <a:avLst/>
          </a:prstGeom>
          <a:noFill/>
          <a:ln/>
        </p:spPr>
        <p:txBody>
          <a:bodyPr wrap="square" lIns="0" tIns="0" rIns="0" bIns="0" rtlCol="0" anchor="ctr"/>
          <a:lstStyle/>
          <a:p>
            <a:pPr algn="l" indent="0" marL="0">
              <a:buNone/>
            </a:pPr>
            <a:r>
              <a:rPr lang="en-US" sz="2200" b="1" dirty="0">
                <a:solidFill>
                  <a:srgbClr val="F0F3F8"/>
                </a:solidFill>
                <a:latin typeface="Courier New" pitchFamily="34" charset="0"/>
                <a:ea typeface="Courier New" pitchFamily="34" charset="-122"/>
                <a:cs typeface="Courier New" pitchFamily="34" charset="-120"/>
              </a:rPr>
              <a:t>Hashir</a:t>
            </a:r>
            <a:endParaRPr lang="en-US" sz="2200" dirty="0"/>
          </a:p>
        </p:txBody>
      </p:sp>
      <p:sp>
        <p:nvSpPr>
          <p:cNvPr id="23" name="Shape 21"/>
          <p:cNvSpPr/>
          <p:nvPr/>
        </p:nvSpPr>
        <p:spPr>
          <a:xfrm>
            <a:off x="9262872" y="3355848"/>
            <a:ext cx="126736" cy="301752"/>
          </a:xfrm>
          <a:prstGeom prst="rect">
            <a:avLst/>
          </a:prstGeom>
          <a:solidFill>
            <a:srgbClr val="EDA63F"/>
          </a:solidFill>
          <a:ln/>
        </p:spPr>
      </p:sp>
      <p:sp>
        <p:nvSpPr>
          <p:cNvPr id="24" name="Text 22"/>
          <p:cNvSpPr txBox="1"/>
          <p:nvPr/>
        </p:nvSpPr>
        <p:spPr>
          <a:xfrm>
            <a:off x="7818120" y="4434840"/>
            <a:ext cx="3730752" cy="256032"/>
          </a:xfrm>
          <a:prstGeom prst="rect">
            <a:avLst/>
          </a:prstGeom>
          <a:noFill/>
          <a:ln/>
        </p:spPr>
        <p:txBody>
          <a:bodyPr wrap="square" lIns="0" tIns="0" rIns="0" bIns="0" rtlCol="0" anchor="t"/>
          <a:lstStyle/>
          <a:p>
            <a:pPr algn="ctr" indent="0" marL="0">
              <a:buNone/>
            </a:pPr>
            <a:r>
              <a:rPr lang="en-US" sz="1100" i="1" dirty="0">
                <a:solidFill>
                  <a:srgbClr val="5C6B83"/>
                </a:solidFill>
                <a:latin typeface="Calibri" pitchFamily="34" charset="0"/>
                <a:ea typeface="Calibri" pitchFamily="34" charset="-122"/>
                <a:cs typeface="Calibri" pitchFamily="34" charset="-120"/>
              </a:rPr>
              <a:t>three programs you will write today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1 · THE PLAN</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What are we doing today?</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One idea for the whole lab: our code puts a character on the screen.</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02</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02</a:t>
            </a:r>
            <a:endParaRPr lang="en-US" sz="900" dirty="0"/>
          </a:p>
        </p:txBody>
      </p:sp>
      <p:sp>
        <p:nvSpPr>
          <p:cNvPr id="7" name="Shape 5"/>
          <p:cNvSpPr/>
          <p:nvPr/>
        </p:nvSpPr>
        <p:spPr>
          <a:xfrm>
            <a:off x="640080" y="1874520"/>
            <a:ext cx="2331720" cy="2697480"/>
          </a:xfrm>
          <a:prstGeom prst="roundRect">
            <a:avLst>
              <a:gd name="adj" fmla="val 6670"/>
            </a:avLst>
          </a:prstGeom>
          <a:solidFill>
            <a:srgbClr val="F3F5F9"/>
          </a:solidFill>
          <a:ln w="12700">
            <a:solidFill>
              <a:srgbClr val="E2E7EF"/>
            </a:solidFill>
            <a:prstDash val="solid"/>
          </a:ln>
        </p:spPr>
      </p:sp>
      <p:sp>
        <p:nvSpPr>
          <p:cNvPr id="8" name="Text 6"/>
          <p:cNvSpPr txBox="1"/>
          <p:nvPr/>
        </p:nvSpPr>
        <p:spPr>
          <a:xfrm>
            <a:off x="868680" y="2103120"/>
            <a:ext cx="1874520" cy="219456"/>
          </a:xfrm>
          <a:prstGeom prst="rect">
            <a:avLst/>
          </a:prstGeom>
          <a:noFill/>
          <a:ln/>
        </p:spPr>
        <p:txBody>
          <a:bodyPr wrap="square" lIns="0" tIns="0" rIns="0" bIns="0" rtlCol="0" anchor="t"/>
          <a:lstStyle/>
          <a:p>
            <a:pPr algn="l" indent="0" marL="0">
              <a:buNone/>
            </a:pPr>
            <a:r>
              <a:rPr lang="en-US" sz="950" b="1" spc="130" kern="0" dirty="0">
                <a:solidFill>
                  <a:srgbClr val="D98A1F"/>
                </a:solidFill>
                <a:latin typeface="Courier New" pitchFamily="34" charset="0"/>
                <a:ea typeface="Courier New" pitchFamily="34" charset="-122"/>
                <a:cs typeface="Courier New" pitchFamily="34" charset="-120"/>
              </a:rPr>
              <a:t>YOUR CODE</a:t>
            </a:r>
            <a:endParaRPr lang="en-US" sz="950" dirty="0"/>
          </a:p>
        </p:txBody>
      </p:sp>
      <p:sp>
        <p:nvSpPr>
          <p:cNvPr id="9" name="Text 7"/>
          <p:cNvSpPr txBox="1"/>
          <p:nvPr/>
        </p:nvSpPr>
        <p:spPr>
          <a:xfrm>
            <a:off x="868680" y="3931920"/>
            <a:ext cx="1874520" cy="457200"/>
          </a:xfrm>
          <a:prstGeom prst="rect">
            <a:avLst/>
          </a:prstGeom>
          <a:noFill/>
          <a:ln/>
        </p:spPr>
        <p:txBody>
          <a:bodyPr wrap="square" lIns="0" tIns="0" rIns="0" bIns="0" rtlCol="0" anchor="t"/>
          <a:lstStyle/>
          <a:p>
            <a:pPr algn="l" indent="0" marL="0">
              <a:buNone/>
            </a:pPr>
            <a:r>
              <a:rPr lang="en-US" sz="1400" dirty="0">
                <a:solidFill>
                  <a:srgbClr val="0F1622"/>
                </a:solidFill>
                <a:latin typeface="Calibri" pitchFamily="34" charset="0"/>
                <a:ea typeface="Calibri" pitchFamily="34" charset="-122"/>
                <a:cs typeface="Calibri" pitchFamily="34" charset="-120"/>
              </a:rPr>
              <a:t>You write the instructions.</a:t>
            </a:r>
            <a:endParaRPr lang="en-US" sz="1400" dirty="0"/>
          </a:p>
        </p:txBody>
      </p:sp>
      <p:sp>
        <p:nvSpPr>
          <p:cNvPr id="10" name="Shape 8"/>
          <p:cNvSpPr/>
          <p:nvPr/>
        </p:nvSpPr>
        <p:spPr>
          <a:xfrm>
            <a:off x="3063240" y="3223260"/>
            <a:ext cx="344424" cy="0"/>
          </a:xfrm>
          <a:prstGeom prst="line">
            <a:avLst/>
          </a:prstGeom>
          <a:noFill/>
          <a:ln w="19050">
            <a:solidFill>
              <a:srgbClr val="93A0B2"/>
            </a:solidFill>
            <a:prstDash val="solid"/>
            <a:tailEnd type="triangle"/>
          </a:ln>
        </p:spPr>
      </p:sp>
      <p:sp>
        <p:nvSpPr>
          <p:cNvPr id="11" name="Shape 9"/>
          <p:cNvSpPr/>
          <p:nvPr/>
        </p:nvSpPr>
        <p:spPr>
          <a:xfrm>
            <a:off x="3499104" y="1874520"/>
            <a:ext cx="2331720" cy="2697480"/>
          </a:xfrm>
          <a:prstGeom prst="roundRect">
            <a:avLst>
              <a:gd name="adj" fmla="val 6670"/>
            </a:avLst>
          </a:prstGeom>
          <a:solidFill>
            <a:srgbClr val="F3F5F9"/>
          </a:solidFill>
          <a:ln w="12700">
            <a:solidFill>
              <a:srgbClr val="E2E7EF"/>
            </a:solidFill>
            <a:prstDash val="solid"/>
          </a:ln>
        </p:spPr>
      </p:sp>
      <p:sp>
        <p:nvSpPr>
          <p:cNvPr id="12" name="Text 10"/>
          <p:cNvSpPr txBox="1"/>
          <p:nvPr/>
        </p:nvSpPr>
        <p:spPr>
          <a:xfrm>
            <a:off x="3727704" y="2103120"/>
            <a:ext cx="1874520" cy="219456"/>
          </a:xfrm>
          <a:prstGeom prst="rect">
            <a:avLst/>
          </a:prstGeom>
          <a:noFill/>
          <a:ln/>
        </p:spPr>
        <p:txBody>
          <a:bodyPr wrap="square" lIns="0" tIns="0" rIns="0" bIns="0" rtlCol="0" anchor="t"/>
          <a:lstStyle/>
          <a:p>
            <a:pPr algn="l" indent="0" marL="0">
              <a:buNone/>
            </a:pPr>
            <a:r>
              <a:rPr lang="en-US" sz="950" b="1" spc="130" kern="0" dirty="0">
                <a:solidFill>
                  <a:srgbClr val="18879B"/>
                </a:solidFill>
                <a:latin typeface="Courier New" pitchFamily="34" charset="0"/>
                <a:ea typeface="Courier New" pitchFamily="34" charset="-122"/>
                <a:cs typeface="Courier New" pitchFamily="34" charset="-120"/>
              </a:rPr>
              <a:t>REGISTERS</a:t>
            </a:r>
            <a:endParaRPr lang="en-US" sz="950" dirty="0"/>
          </a:p>
        </p:txBody>
      </p:sp>
      <p:sp>
        <p:nvSpPr>
          <p:cNvPr id="13" name="Text 11"/>
          <p:cNvSpPr txBox="1"/>
          <p:nvPr/>
        </p:nvSpPr>
        <p:spPr>
          <a:xfrm>
            <a:off x="3727704" y="3931920"/>
            <a:ext cx="1874520" cy="457200"/>
          </a:xfrm>
          <a:prstGeom prst="rect">
            <a:avLst/>
          </a:prstGeom>
          <a:noFill/>
          <a:ln/>
        </p:spPr>
        <p:txBody>
          <a:bodyPr wrap="square" lIns="0" tIns="0" rIns="0" bIns="0" rtlCol="0" anchor="t"/>
          <a:lstStyle/>
          <a:p>
            <a:pPr algn="l" indent="0" marL="0">
              <a:buNone/>
            </a:pPr>
            <a:r>
              <a:rPr lang="en-US" sz="1400" dirty="0">
                <a:solidFill>
                  <a:srgbClr val="0F1622"/>
                </a:solidFill>
                <a:latin typeface="Calibri" pitchFamily="34" charset="0"/>
                <a:ea typeface="Calibri" pitchFamily="34" charset="-122"/>
                <a:cs typeface="Calibri" pitchFamily="34" charset="-120"/>
              </a:rPr>
              <a:t>The CPU holds the values.</a:t>
            </a:r>
            <a:endParaRPr lang="en-US" sz="1400" dirty="0"/>
          </a:p>
        </p:txBody>
      </p:sp>
      <p:sp>
        <p:nvSpPr>
          <p:cNvPr id="14" name="Shape 12"/>
          <p:cNvSpPr/>
          <p:nvPr/>
        </p:nvSpPr>
        <p:spPr>
          <a:xfrm>
            <a:off x="5922264" y="3223260"/>
            <a:ext cx="344424" cy="0"/>
          </a:xfrm>
          <a:prstGeom prst="line">
            <a:avLst/>
          </a:prstGeom>
          <a:noFill/>
          <a:ln w="19050">
            <a:solidFill>
              <a:srgbClr val="93A0B2"/>
            </a:solidFill>
            <a:prstDash val="solid"/>
            <a:tailEnd type="triangle"/>
          </a:ln>
        </p:spPr>
      </p:sp>
      <p:sp>
        <p:nvSpPr>
          <p:cNvPr id="15" name="Shape 13"/>
          <p:cNvSpPr/>
          <p:nvPr/>
        </p:nvSpPr>
        <p:spPr>
          <a:xfrm>
            <a:off x="6358128" y="1874520"/>
            <a:ext cx="2331720" cy="2697480"/>
          </a:xfrm>
          <a:prstGeom prst="roundRect">
            <a:avLst>
              <a:gd name="adj" fmla="val 6670"/>
            </a:avLst>
          </a:prstGeom>
          <a:solidFill>
            <a:srgbClr val="F3F5F9"/>
          </a:solidFill>
          <a:ln w="12700">
            <a:solidFill>
              <a:srgbClr val="E2E7EF"/>
            </a:solidFill>
            <a:prstDash val="solid"/>
          </a:ln>
        </p:spPr>
      </p:sp>
      <p:sp>
        <p:nvSpPr>
          <p:cNvPr id="16" name="Text 14"/>
          <p:cNvSpPr txBox="1"/>
          <p:nvPr/>
        </p:nvSpPr>
        <p:spPr>
          <a:xfrm>
            <a:off x="6586728" y="2103120"/>
            <a:ext cx="1874520" cy="219456"/>
          </a:xfrm>
          <a:prstGeom prst="rect">
            <a:avLst/>
          </a:prstGeom>
          <a:noFill/>
          <a:ln/>
        </p:spPr>
        <p:txBody>
          <a:bodyPr wrap="square" lIns="0" tIns="0" rIns="0" bIns="0" rtlCol="0" anchor="t"/>
          <a:lstStyle/>
          <a:p>
            <a:pPr algn="l" indent="0" marL="0">
              <a:buNone/>
            </a:pPr>
            <a:r>
              <a:rPr lang="en-US" sz="950" b="1" spc="130" kern="0" dirty="0">
                <a:solidFill>
                  <a:srgbClr val="6B58CC"/>
                </a:solidFill>
                <a:latin typeface="Courier New" pitchFamily="34" charset="0"/>
                <a:ea typeface="Courier New" pitchFamily="34" charset="-122"/>
                <a:cs typeface="Courier New" pitchFamily="34" charset="-120"/>
              </a:rPr>
              <a:t>DOS SERVICE</a:t>
            </a:r>
            <a:endParaRPr lang="en-US" sz="950" dirty="0"/>
          </a:p>
        </p:txBody>
      </p:sp>
      <p:sp>
        <p:nvSpPr>
          <p:cNvPr id="17" name="Text 15"/>
          <p:cNvSpPr txBox="1"/>
          <p:nvPr/>
        </p:nvSpPr>
        <p:spPr>
          <a:xfrm>
            <a:off x="6586728" y="3931920"/>
            <a:ext cx="1874520" cy="457200"/>
          </a:xfrm>
          <a:prstGeom prst="rect">
            <a:avLst/>
          </a:prstGeom>
          <a:noFill/>
          <a:ln/>
        </p:spPr>
        <p:txBody>
          <a:bodyPr wrap="square" lIns="0" tIns="0" rIns="0" bIns="0" rtlCol="0" anchor="t"/>
          <a:lstStyle/>
          <a:p>
            <a:pPr algn="l" indent="0" marL="0">
              <a:buNone/>
            </a:pPr>
            <a:r>
              <a:rPr lang="en-US" sz="1400" dirty="0">
                <a:solidFill>
                  <a:srgbClr val="0F1622"/>
                </a:solidFill>
                <a:latin typeface="Calibri" pitchFamily="34" charset="0"/>
                <a:ea typeface="Calibri" pitchFamily="34" charset="-122"/>
                <a:cs typeface="Calibri" pitchFamily="34" charset="-120"/>
              </a:rPr>
              <a:t>DOS does the printing.</a:t>
            </a:r>
            <a:endParaRPr lang="en-US" sz="1400" dirty="0"/>
          </a:p>
        </p:txBody>
      </p:sp>
      <p:sp>
        <p:nvSpPr>
          <p:cNvPr id="18" name="Shape 16"/>
          <p:cNvSpPr/>
          <p:nvPr/>
        </p:nvSpPr>
        <p:spPr>
          <a:xfrm>
            <a:off x="8781288" y="3223260"/>
            <a:ext cx="344424" cy="0"/>
          </a:xfrm>
          <a:prstGeom prst="line">
            <a:avLst/>
          </a:prstGeom>
          <a:noFill/>
          <a:ln w="19050">
            <a:solidFill>
              <a:srgbClr val="93A0B2"/>
            </a:solidFill>
            <a:prstDash val="solid"/>
            <a:tailEnd type="triangle"/>
          </a:ln>
        </p:spPr>
      </p:sp>
      <p:sp>
        <p:nvSpPr>
          <p:cNvPr id="19" name="Shape 17"/>
          <p:cNvSpPr/>
          <p:nvPr/>
        </p:nvSpPr>
        <p:spPr>
          <a:xfrm>
            <a:off x="9217152" y="1874520"/>
            <a:ext cx="2331720" cy="2697480"/>
          </a:xfrm>
          <a:prstGeom prst="roundRect">
            <a:avLst>
              <a:gd name="adj" fmla="val 6670"/>
            </a:avLst>
          </a:prstGeom>
          <a:solidFill>
            <a:srgbClr val="F3F5F9"/>
          </a:solidFill>
          <a:ln w="12700">
            <a:solidFill>
              <a:srgbClr val="E2E7EF"/>
            </a:solidFill>
            <a:prstDash val="solid"/>
          </a:ln>
        </p:spPr>
      </p:sp>
      <p:sp>
        <p:nvSpPr>
          <p:cNvPr id="20" name="Text 18"/>
          <p:cNvSpPr txBox="1"/>
          <p:nvPr/>
        </p:nvSpPr>
        <p:spPr>
          <a:xfrm>
            <a:off x="9445752" y="2103120"/>
            <a:ext cx="1874520" cy="219456"/>
          </a:xfrm>
          <a:prstGeom prst="rect">
            <a:avLst/>
          </a:prstGeom>
          <a:noFill/>
          <a:ln/>
        </p:spPr>
        <p:txBody>
          <a:bodyPr wrap="square" lIns="0" tIns="0" rIns="0" bIns="0" rtlCol="0" anchor="t"/>
          <a:lstStyle/>
          <a:p>
            <a:pPr algn="l" indent="0" marL="0">
              <a:buNone/>
            </a:pPr>
            <a:r>
              <a:rPr lang="en-US" sz="950" b="1" spc="130" kern="0" dirty="0">
                <a:solidFill>
                  <a:srgbClr val="37865F"/>
                </a:solidFill>
                <a:latin typeface="Courier New" pitchFamily="34" charset="0"/>
                <a:ea typeface="Courier New" pitchFamily="34" charset="-122"/>
                <a:cs typeface="Courier New" pitchFamily="34" charset="-120"/>
              </a:rPr>
              <a:t>SCREEN</a:t>
            </a:r>
            <a:endParaRPr lang="en-US" sz="950" dirty="0"/>
          </a:p>
        </p:txBody>
      </p:sp>
      <p:sp>
        <p:nvSpPr>
          <p:cNvPr id="21" name="Text 19"/>
          <p:cNvSpPr txBox="1"/>
          <p:nvPr/>
        </p:nvSpPr>
        <p:spPr>
          <a:xfrm>
            <a:off x="9445752" y="3931920"/>
            <a:ext cx="1874520" cy="457200"/>
          </a:xfrm>
          <a:prstGeom prst="rect">
            <a:avLst/>
          </a:prstGeom>
          <a:noFill/>
          <a:ln/>
        </p:spPr>
        <p:txBody>
          <a:bodyPr wrap="square" lIns="0" tIns="0" rIns="0" bIns="0" rtlCol="0" anchor="t"/>
          <a:lstStyle/>
          <a:p>
            <a:pPr algn="l" indent="0" marL="0">
              <a:buNone/>
            </a:pPr>
            <a:r>
              <a:rPr lang="en-US" sz="1400" dirty="0">
                <a:solidFill>
                  <a:srgbClr val="0F1622"/>
                </a:solidFill>
                <a:latin typeface="Calibri" pitchFamily="34" charset="0"/>
                <a:ea typeface="Calibri" pitchFamily="34" charset="-122"/>
                <a:cs typeface="Calibri" pitchFamily="34" charset="-120"/>
              </a:rPr>
              <a:t>You see the result.</a:t>
            </a:r>
            <a:endParaRPr lang="en-US" sz="1400" dirty="0"/>
          </a:p>
        </p:txBody>
      </p:sp>
      <p:sp>
        <p:nvSpPr>
          <p:cNvPr id="22" name="Shape 20"/>
          <p:cNvSpPr/>
          <p:nvPr/>
        </p:nvSpPr>
        <p:spPr>
          <a:xfrm>
            <a:off x="868680" y="2514600"/>
            <a:ext cx="1874520" cy="1188720"/>
          </a:xfrm>
          <a:prstGeom prst="roundRect">
            <a:avLst>
              <a:gd name="adj" fmla="val 6670"/>
            </a:avLst>
          </a:prstGeom>
          <a:solidFill>
            <a:srgbClr val="121A29"/>
          </a:solidFill>
          <a:ln w="12700">
            <a:solidFill>
              <a:srgbClr val="2B3850"/>
            </a:solidFill>
            <a:prstDash val="solid"/>
          </a:ln>
        </p:spPr>
      </p:sp>
      <p:sp>
        <p:nvSpPr>
          <p:cNvPr id="23" name="Text 21"/>
          <p:cNvSpPr txBox="1"/>
          <p:nvPr/>
        </p:nvSpPr>
        <p:spPr>
          <a:xfrm>
            <a:off x="1051560" y="2624328"/>
            <a:ext cx="1600200" cy="310896"/>
          </a:xfrm>
          <a:prstGeom prst="rect">
            <a:avLst/>
          </a:prstGeom>
          <a:noFill/>
          <a:ln/>
        </p:spPr>
        <p:txBody>
          <a:bodyPr wrap="square" lIns="0" tIns="0" rIns="0" bIns="0" rtlCol="0" anchor="ctr"/>
          <a:lstStyle/>
          <a:p>
            <a:pPr algn="l" indent="0" marL="0">
              <a:buNone/>
            </a:pPr>
            <a:r>
              <a:rPr lang="en-US" sz="1300" b="1" dirty="0">
                <a:solidFill>
                  <a:srgbClr val="EDA63F"/>
                </a:solidFill>
                <a:latin typeface="Courier New" pitchFamily="34" charset="0"/>
                <a:ea typeface="Courier New" pitchFamily="34" charset="-122"/>
                <a:cs typeface="Courier New" pitchFamily="34" charset="-120"/>
              </a:rPr>
              <a:t>mov</a:t>
            </a:r>
            <a:pPr algn="l" indent="0" marL="0">
              <a:buNone/>
            </a:pPr>
            <a:r>
              <a:rPr lang="en-US" sz="1300" dirty="0">
                <a:solidFill>
                  <a:srgbClr val="F0F3F8"/>
                </a:solidFill>
                <a:latin typeface="Courier New" pitchFamily="34" charset="0"/>
                <a:ea typeface="Courier New" pitchFamily="34" charset="-122"/>
                <a:cs typeface="Courier New" pitchFamily="34" charset="-120"/>
              </a:rPr>
              <a:t> </a:t>
            </a:r>
            <a:pPr algn="l" indent="0" marL="0">
              <a:buNone/>
            </a:pPr>
            <a:r>
              <a:rPr lang="en-US" sz="1300" b="1" dirty="0">
                <a:solidFill>
                  <a:srgbClr val="3EB9CE"/>
                </a:solidFill>
                <a:latin typeface="Courier New" pitchFamily="34" charset="0"/>
                <a:ea typeface="Courier New" pitchFamily="34" charset="-122"/>
                <a:cs typeface="Courier New" pitchFamily="34" charset="-120"/>
              </a:rPr>
              <a:t>dl</a:t>
            </a:r>
            <a:pPr algn="l" indent="0" marL="0">
              <a:buNone/>
            </a:pPr>
            <a:r>
              <a:rPr lang="en-US" sz="1300" dirty="0">
                <a:solidFill>
                  <a:srgbClr val="F0F3F8"/>
                </a:solidFill>
                <a:latin typeface="Courier New" pitchFamily="34" charset="0"/>
                <a:ea typeface="Courier New" pitchFamily="34" charset="-122"/>
                <a:cs typeface="Courier New" pitchFamily="34" charset="-120"/>
              </a:rPr>
              <a:t>,</a:t>
            </a:r>
            <a:pPr algn="l" indent="0" marL="0">
              <a:buNone/>
            </a:pPr>
            <a:r>
              <a:rPr lang="en-US" sz="1300" dirty="0">
                <a:solidFill>
                  <a:srgbClr val="F0F3F8"/>
                </a:solidFill>
                <a:latin typeface="Courier New" pitchFamily="34" charset="0"/>
                <a:ea typeface="Courier New" pitchFamily="34" charset="-122"/>
                <a:cs typeface="Courier New" pitchFamily="34" charset="-120"/>
              </a:rPr>
              <a:t> </a:t>
            </a:r>
            <a:pPr algn="l" indent="0" marL="0">
              <a:buNone/>
            </a:pPr>
            <a:r>
              <a:rPr lang="en-US" sz="1300" b="1" dirty="0">
                <a:solidFill>
                  <a:srgbClr val="9584E8"/>
                </a:solidFill>
                <a:latin typeface="Courier New" pitchFamily="34" charset="0"/>
                <a:ea typeface="Courier New" pitchFamily="34" charset="-122"/>
                <a:cs typeface="Courier New" pitchFamily="34" charset="-120"/>
              </a:rPr>
              <a:t>'A'</a:t>
            </a:r>
            <a:endParaRPr lang="en-US" sz="1300" dirty="0"/>
          </a:p>
        </p:txBody>
      </p:sp>
      <p:sp>
        <p:nvSpPr>
          <p:cNvPr id="24" name="Text 22"/>
          <p:cNvSpPr txBox="1"/>
          <p:nvPr/>
        </p:nvSpPr>
        <p:spPr>
          <a:xfrm>
            <a:off x="1051560" y="2953512"/>
            <a:ext cx="1600200" cy="310896"/>
          </a:xfrm>
          <a:prstGeom prst="rect">
            <a:avLst/>
          </a:prstGeom>
          <a:noFill/>
          <a:ln/>
        </p:spPr>
        <p:txBody>
          <a:bodyPr wrap="square" lIns="0" tIns="0" rIns="0" bIns="0" rtlCol="0" anchor="ctr"/>
          <a:lstStyle/>
          <a:p>
            <a:pPr algn="l" indent="0" marL="0">
              <a:buNone/>
            </a:pPr>
            <a:r>
              <a:rPr lang="en-US" sz="1300" b="1" dirty="0">
                <a:solidFill>
                  <a:srgbClr val="EDA63F"/>
                </a:solidFill>
                <a:latin typeface="Courier New" pitchFamily="34" charset="0"/>
                <a:ea typeface="Courier New" pitchFamily="34" charset="-122"/>
                <a:cs typeface="Courier New" pitchFamily="34" charset="-120"/>
              </a:rPr>
              <a:t>mov</a:t>
            </a:r>
            <a:pPr algn="l" indent="0" marL="0">
              <a:buNone/>
            </a:pPr>
            <a:r>
              <a:rPr lang="en-US" sz="1300" dirty="0">
                <a:solidFill>
                  <a:srgbClr val="F0F3F8"/>
                </a:solidFill>
                <a:latin typeface="Courier New" pitchFamily="34" charset="0"/>
                <a:ea typeface="Courier New" pitchFamily="34" charset="-122"/>
                <a:cs typeface="Courier New" pitchFamily="34" charset="-120"/>
              </a:rPr>
              <a:t> </a:t>
            </a:r>
            <a:pPr algn="l" indent="0" marL="0">
              <a:buNone/>
            </a:pPr>
            <a:r>
              <a:rPr lang="en-US" sz="1300" b="1" dirty="0">
                <a:solidFill>
                  <a:srgbClr val="3EB9CE"/>
                </a:solidFill>
                <a:latin typeface="Courier New" pitchFamily="34" charset="0"/>
                <a:ea typeface="Courier New" pitchFamily="34" charset="-122"/>
                <a:cs typeface="Courier New" pitchFamily="34" charset="-120"/>
              </a:rPr>
              <a:t>ah</a:t>
            </a:r>
            <a:pPr algn="l" indent="0" marL="0">
              <a:buNone/>
            </a:pPr>
            <a:r>
              <a:rPr lang="en-US" sz="1300" dirty="0">
                <a:solidFill>
                  <a:srgbClr val="F0F3F8"/>
                </a:solidFill>
                <a:latin typeface="Courier New" pitchFamily="34" charset="0"/>
                <a:ea typeface="Courier New" pitchFamily="34" charset="-122"/>
                <a:cs typeface="Courier New" pitchFamily="34" charset="-120"/>
              </a:rPr>
              <a:t>,</a:t>
            </a:r>
            <a:pPr algn="l" indent="0" marL="0">
              <a:buNone/>
            </a:pPr>
            <a:r>
              <a:rPr lang="en-US" sz="1300" dirty="0">
                <a:solidFill>
                  <a:srgbClr val="F0F3F8"/>
                </a:solidFill>
                <a:latin typeface="Courier New" pitchFamily="34" charset="0"/>
                <a:ea typeface="Courier New" pitchFamily="34" charset="-122"/>
                <a:cs typeface="Courier New" pitchFamily="34" charset="-120"/>
              </a:rPr>
              <a:t> </a:t>
            </a:r>
            <a:pPr algn="l" indent="0" marL="0">
              <a:buNone/>
            </a:pPr>
            <a:r>
              <a:rPr lang="en-US" sz="1300" b="1" dirty="0">
                <a:solidFill>
                  <a:srgbClr val="9584E8"/>
                </a:solidFill>
                <a:latin typeface="Courier New" pitchFamily="34" charset="0"/>
                <a:ea typeface="Courier New" pitchFamily="34" charset="-122"/>
                <a:cs typeface="Courier New" pitchFamily="34" charset="-120"/>
              </a:rPr>
              <a:t>2</a:t>
            </a:r>
            <a:endParaRPr lang="en-US" sz="1300" dirty="0"/>
          </a:p>
        </p:txBody>
      </p:sp>
      <p:sp>
        <p:nvSpPr>
          <p:cNvPr id="25" name="Text 23"/>
          <p:cNvSpPr txBox="1"/>
          <p:nvPr/>
        </p:nvSpPr>
        <p:spPr>
          <a:xfrm>
            <a:off x="1051560" y="3282696"/>
            <a:ext cx="1600200" cy="310896"/>
          </a:xfrm>
          <a:prstGeom prst="rect">
            <a:avLst/>
          </a:prstGeom>
          <a:noFill/>
          <a:ln/>
        </p:spPr>
        <p:txBody>
          <a:bodyPr wrap="square" lIns="0" tIns="0" rIns="0" bIns="0" rtlCol="0" anchor="ctr"/>
          <a:lstStyle/>
          <a:p>
            <a:pPr algn="l" indent="0" marL="0">
              <a:buNone/>
            </a:pPr>
            <a:r>
              <a:rPr lang="en-US" sz="1300" b="1" dirty="0">
                <a:solidFill>
                  <a:srgbClr val="EDA63F"/>
                </a:solidFill>
                <a:latin typeface="Courier New" pitchFamily="34" charset="0"/>
                <a:ea typeface="Courier New" pitchFamily="34" charset="-122"/>
                <a:cs typeface="Courier New" pitchFamily="34" charset="-120"/>
              </a:rPr>
              <a:t>int</a:t>
            </a:r>
            <a:pPr algn="l" indent="0" marL="0">
              <a:buNone/>
            </a:pPr>
            <a:r>
              <a:rPr lang="en-US" sz="1300" dirty="0">
                <a:solidFill>
                  <a:srgbClr val="F0F3F8"/>
                </a:solidFill>
                <a:latin typeface="Courier New" pitchFamily="34" charset="0"/>
                <a:ea typeface="Courier New" pitchFamily="34" charset="-122"/>
                <a:cs typeface="Courier New" pitchFamily="34" charset="-120"/>
              </a:rPr>
              <a:t> </a:t>
            </a:r>
            <a:pPr algn="l" indent="0" marL="0">
              <a:buNone/>
            </a:pPr>
            <a:r>
              <a:rPr lang="en-US" sz="1300" b="1" dirty="0">
                <a:solidFill>
                  <a:srgbClr val="9584E8"/>
                </a:solidFill>
                <a:latin typeface="Courier New" pitchFamily="34" charset="0"/>
                <a:ea typeface="Courier New" pitchFamily="34" charset="-122"/>
                <a:cs typeface="Courier New" pitchFamily="34" charset="-120"/>
              </a:rPr>
              <a:t>21h</a:t>
            </a:r>
            <a:endParaRPr lang="en-US" sz="1300" dirty="0"/>
          </a:p>
        </p:txBody>
      </p:sp>
      <p:sp>
        <p:nvSpPr>
          <p:cNvPr id="26" name="Shape 24"/>
          <p:cNvSpPr/>
          <p:nvPr/>
        </p:nvSpPr>
        <p:spPr>
          <a:xfrm>
            <a:off x="3727704" y="2514600"/>
            <a:ext cx="1874520" cy="530352"/>
          </a:xfrm>
          <a:prstGeom prst="roundRect">
            <a:avLst>
              <a:gd name="adj" fmla="val 6670"/>
            </a:avLst>
          </a:prstGeom>
          <a:solidFill>
            <a:srgbClr val="D7EEF2"/>
          </a:solidFill>
          <a:ln w="12700">
            <a:solidFill>
              <a:srgbClr val="18879B"/>
            </a:solidFill>
            <a:prstDash val="solid"/>
          </a:ln>
        </p:spPr>
      </p:sp>
      <p:sp>
        <p:nvSpPr>
          <p:cNvPr id="27" name="Text 25"/>
          <p:cNvSpPr txBox="1"/>
          <p:nvPr/>
        </p:nvSpPr>
        <p:spPr>
          <a:xfrm>
            <a:off x="3892296" y="2514600"/>
            <a:ext cx="749808" cy="530352"/>
          </a:xfrm>
          <a:prstGeom prst="rect">
            <a:avLst/>
          </a:prstGeom>
          <a:noFill/>
          <a:ln/>
        </p:spPr>
        <p:txBody>
          <a:bodyPr wrap="square" lIns="0" tIns="0" rIns="0" bIns="0" rtlCol="0" anchor="ctr"/>
          <a:lstStyle/>
          <a:p>
            <a:pPr algn="l" indent="0" marL="0">
              <a:buNone/>
            </a:pPr>
            <a:r>
              <a:rPr lang="en-US" sz="1600" b="1" dirty="0">
                <a:solidFill>
                  <a:srgbClr val="18879B"/>
                </a:solidFill>
                <a:latin typeface="Courier New" pitchFamily="34" charset="0"/>
                <a:ea typeface="Courier New" pitchFamily="34" charset="-122"/>
                <a:cs typeface="Courier New" pitchFamily="34" charset="-120"/>
              </a:rPr>
              <a:t>AH</a:t>
            </a:r>
            <a:endParaRPr lang="en-US" sz="1600" dirty="0"/>
          </a:p>
        </p:txBody>
      </p:sp>
      <p:sp>
        <p:nvSpPr>
          <p:cNvPr id="28" name="Shape 26"/>
          <p:cNvSpPr/>
          <p:nvPr/>
        </p:nvSpPr>
        <p:spPr>
          <a:xfrm>
            <a:off x="4611929" y="2633472"/>
            <a:ext cx="862279" cy="292608"/>
          </a:xfrm>
          <a:prstGeom prst="roundRect">
            <a:avLst>
              <a:gd name="adj" fmla="val 6670"/>
            </a:avLst>
          </a:prstGeom>
          <a:solidFill>
            <a:srgbClr val="FFFFFF"/>
          </a:solidFill>
          <a:ln w="12700">
            <a:solidFill>
              <a:srgbClr val="18879B"/>
            </a:solidFill>
            <a:prstDash val="solid"/>
          </a:ln>
        </p:spPr>
      </p:sp>
      <p:sp>
        <p:nvSpPr>
          <p:cNvPr id="29" name="Text 27"/>
          <p:cNvSpPr txBox="1"/>
          <p:nvPr/>
        </p:nvSpPr>
        <p:spPr>
          <a:xfrm>
            <a:off x="4611929" y="2633472"/>
            <a:ext cx="862279" cy="292608"/>
          </a:xfrm>
          <a:prstGeom prst="rect">
            <a:avLst/>
          </a:prstGeom>
          <a:noFill/>
          <a:ln/>
        </p:spPr>
        <p:txBody>
          <a:bodyPr wrap="square" lIns="0" tIns="0" rIns="0" bIns="0" rtlCol="0" anchor="ctr"/>
          <a:lstStyle/>
          <a:p>
            <a:pPr algn="ctr" indent="0" marL="0">
              <a:buNone/>
            </a:pPr>
            <a:r>
              <a:rPr lang="en-US" sz="1600" b="1" dirty="0">
                <a:solidFill>
                  <a:srgbClr val="0F1622"/>
                </a:solidFill>
                <a:latin typeface="Courier New" pitchFamily="34" charset="0"/>
                <a:ea typeface="Courier New" pitchFamily="34" charset="-122"/>
                <a:cs typeface="Courier New" pitchFamily="34" charset="-120"/>
              </a:rPr>
              <a:t>2</a:t>
            </a:r>
            <a:endParaRPr lang="en-US" sz="1600" dirty="0"/>
          </a:p>
        </p:txBody>
      </p:sp>
      <p:sp>
        <p:nvSpPr>
          <p:cNvPr id="30" name="Shape 28"/>
          <p:cNvSpPr/>
          <p:nvPr/>
        </p:nvSpPr>
        <p:spPr>
          <a:xfrm>
            <a:off x="3727704" y="3172968"/>
            <a:ext cx="1874520" cy="530352"/>
          </a:xfrm>
          <a:prstGeom prst="roundRect">
            <a:avLst>
              <a:gd name="adj" fmla="val 6670"/>
            </a:avLst>
          </a:prstGeom>
          <a:solidFill>
            <a:srgbClr val="FBEBD2"/>
          </a:solidFill>
          <a:ln w="12700">
            <a:solidFill>
              <a:srgbClr val="D98A1F"/>
            </a:solidFill>
            <a:prstDash val="solid"/>
          </a:ln>
        </p:spPr>
      </p:sp>
      <p:sp>
        <p:nvSpPr>
          <p:cNvPr id="31" name="Text 29"/>
          <p:cNvSpPr txBox="1"/>
          <p:nvPr/>
        </p:nvSpPr>
        <p:spPr>
          <a:xfrm>
            <a:off x="3892296" y="3172968"/>
            <a:ext cx="749808" cy="530352"/>
          </a:xfrm>
          <a:prstGeom prst="rect">
            <a:avLst/>
          </a:prstGeom>
          <a:noFill/>
          <a:ln/>
        </p:spPr>
        <p:txBody>
          <a:bodyPr wrap="square" lIns="0" tIns="0" rIns="0" bIns="0" rtlCol="0" anchor="ctr"/>
          <a:lstStyle/>
          <a:p>
            <a:pPr algn="l" indent="0" marL="0">
              <a:buNone/>
            </a:pPr>
            <a:r>
              <a:rPr lang="en-US" sz="1600" b="1" dirty="0">
                <a:solidFill>
                  <a:srgbClr val="D98A1F"/>
                </a:solidFill>
                <a:latin typeface="Courier New" pitchFamily="34" charset="0"/>
                <a:ea typeface="Courier New" pitchFamily="34" charset="-122"/>
                <a:cs typeface="Courier New" pitchFamily="34" charset="-120"/>
              </a:rPr>
              <a:t>DL</a:t>
            </a:r>
            <a:endParaRPr lang="en-US" sz="1600" dirty="0"/>
          </a:p>
        </p:txBody>
      </p:sp>
      <p:sp>
        <p:nvSpPr>
          <p:cNvPr id="32" name="Shape 30"/>
          <p:cNvSpPr/>
          <p:nvPr/>
        </p:nvSpPr>
        <p:spPr>
          <a:xfrm>
            <a:off x="4611929" y="3291840"/>
            <a:ext cx="862279" cy="292608"/>
          </a:xfrm>
          <a:prstGeom prst="roundRect">
            <a:avLst>
              <a:gd name="adj" fmla="val 6670"/>
            </a:avLst>
          </a:prstGeom>
          <a:solidFill>
            <a:srgbClr val="FFFFFF"/>
          </a:solidFill>
          <a:ln w="12700">
            <a:solidFill>
              <a:srgbClr val="D98A1F"/>
            </a:solidFill>
            <a:prstDash val="solid"/>
          </a:ln>
        </p:spPr>
      </p:sp>
      <p:sp>
        <p:nvSpPr>
          <p:cNvPr id="33" name="Text 31"/>
          <p:cNvSpPr txBox="1"/>
          <p:nvPr/>
        </p:nvSpPr>
        <p:spPr>
          <a:xfrm>
            <a:off x="4611929" y="3291840"/>
            <a:ext cx="862279" cy="292608"/>
          </a:xfrm>
          <a:prstGeom prst="rect">
            <a:avLst/>
          </a:prstGeom>
          <a:noFill/>
          <a:ln/>
        </p:spPr>
        <p:txBody>
          <a:bodyPr wrap="square" lIns="0" tIns="0" rIns="0" bIns="0" rtlCol="0" anchor="ctr"/>
          <a:lstStyle/>
          <a:p>
            <a:pPr algn="ctr" indent="0" marL="0">
              <a:buNone/>
            </a:pPr>
            <a:r>
              <a:rPr lang="en-US" sz="1600" b="1" dirty="0">
                <a:solidFill>
                  <a:srgbClr val="0F1622"/>
                </a:solidFill>
                <a:latin typeface="Courier New" pitchFamily="34" charset="0"/>
                <a:ea typeface="Courier New" pitchFamily="34" charset="-122"/>
                <a:cs typeface="Courier New" pitchFamily="34" charset="-120"/>
              </a:rPr>
              <a:t>'A'</a:t>
            </a:r>
            <a:endParaRPr lang="en-US" sz="1600" dirty="0"/>
          </a:p>
        </p:txBody>
      </p:sp>
      <p:sp>
        <p:nvSpPr>
          <p:cNvPr id="34" name="Text 32"/>
          <p:cNvSpPr txBox="1"/>
          <p:nvPr/>
        </p:nvSpPr>
        <p:spPr>
          <a:xfrm>
            <a:off x="6586728" y="2532888"/>
            <a:ext cx="1874520" cy="548640"/>
          </a:xfrm>
          <a:prstGeom prst="rect">
            <a:avLst/>
          </a:prstGeom>
          <a:noFill/>
          <a:ln/>
        </p:spPr>
        <p:txBody>
          <a:bodyPr wrap="square" lIns="0" tIns="0" rIns="0" bIns="0" rtlCol="0" anchor="ctr"/>
          <a:lstStyle/>
          <a:p>
            <a:pPr algn="ctr" indent="0" marL="0">
              <a:buNone/>
            </a:pPr>
            <a:r>
              <a:rPr lang="en-US" sz="2600" b="1" dirty="0">
                <a:solidFill>
                  <a:srgbClr val="6B58CC"/>
                </a:solidFill>
                <a:latin typeface="Courier New" pitchFamily="34" charset="0"/>
                <a:ea typeface="Courier New" pitchFamily="34" charset="-122"/>
                <a:cs typeface="Courier New" pitchFamily="34" charset="-120"/>
              </a:rPr>
              <a:t>INT 21h</a:t>
            </a:r>
            <a:endParaRPr lang="en-US" sz="2600" dirty="0"/>
          </a:p>
        </p:txBody>
      </p:sp>
      <p:sp>
        <p:nvSpPr>
          <p:cNvPr id="35" name="Shape 33"/>
          <p:cNvSpPr/>
          <p:nvPr/>
        </p:nvSpPr>
        <p:spPr>
          <a:xfrm>
            <a:off x="6678168" y="3218688"/>
            <a:ext cx="1691640" cy="420624"/>
          </a:xfrm>
          <a:prstGeom prst="roundRect">
            <a:avLst>
              <a:gd name="adj" fmla="val 6670"/>
            </a:avLst>
          </a:prstGeom>
          <a:solidFill>
            <a:srgbClr val="E6E2FA"/>
          </a:solidFill>
          <a:ln/>
        </p:spPr>
      </p:sp>
      <p:sp>
        <p:nvSpPr>
          <p:cNvPr id="36" name="Text 34"/>
          <p:cNvSpPr txBox="1"/>
          <p:nvPr/>
        </p:nvSpPr>
        <p:spPr>
          <a:xfrm>
            <a:off x="6678168" y="3218688"/>
            <a:ext cx="1691640" cy="420624"/>
          </a:xfrm>
          <a:prstGeom prst="rect">
            <a:avLst/>
          </a:prstGeom>
          <a:noFill/>
          <a:ln/>
        </p:spPr>
        <p:txBody>
          <a:bodyPr wrap="square" lIns="0" tIns="0" rIns="0" bIns="0" rtlCol="0" anchor="ctr"/>
          <a:lstStyle/>
          <a:p>
            <a:pPr algn="ctr" indent="0" marL="0">
              <a:buNone/>
            </a:pPr>
            <a:r>
              <a:rPr lang="en-US" sz="1200" b="1" dirty="0">
                <a:solidFill>
                  <a:srgbClr val="6B58CC"/>
                </a:solidFill>
                <a:latin typeface="Courier New" pitchFamily="34" charset="0"/>
                <a:ea typeface="Courier New" pitchFamily="34" charset="-122"/>
                <a:cs typeface="Courier New" pitchFamily="34" charset="-120"/>
              </a:rPr>
              <a:t>AH = 2 → print</a:t>
            </a:r>
            <a:endParaRPr lang="en-US" sz="1200" dirty="0"/>
          </a:p>
        </p:txBody>
      </p:sp>
      <p:sp>
        <p:nvSpPr>
          <p:cNvPr id="37" name="Shape 35"/>
          <p:cNvSpPr/>
          <p:nvPr/>
        </p:nvSpPr>
        <p:spPr>
          <a:xfrm>
            <a:off x="9445752" y="2514600"/>
            <a:ext cx="1874520" cy="1188720"/>
          </a:xfrm>
          <a:prstGeom prst="roundRect">
            <a:avLst>
              <a:gd name="adj" fmla="val 6670"/>
            </a:avLst>
          </a:prstGeom>
          <a:solidFill>
            <a:srgbClr val="070B12"/>
          </a:solidFill>
          <a:ln w="12700">
            <a:solidFill>
              <a:srgbClr val="2B3850"/>
            </a:solidFill>
            <a:prstDash val="solid"/>
          </a:ln>
        </p:spPr>
      </p:sp>
      <p:sp>
        <p:nvSpPr>
          <p:cNvPr id="38" name="Text 36"/>
          <p:cNvSpPr txBox="1"/>
          <p:nvPr/>
        </p:nvSpPr>
        <p:spPr>
          <a:xfrm>
            <a:off x="9445752" y="2514600"/>
            <a:ext cx="1874520" cy="1188720"/>
          </a:xfrm>
          <a:prstGeom prst="rect">
            <a:avLst/>
          </a:prstGeom>
          <a:noFill/>
          <a:ln/>
        </p:spPr>
        <p:txBody>
          <a:bodyPr wrap="square" lIns="0" tIns="0" rIns="0" bIns="0" rtlCol="0" anchor="ctr"/>
          <a:lstStyle/>
          <a:p>
            <a:pPr algn="ctr" indent="0" marL="0">
              <a:buNone/>
            </a:pPr>
            <a:r>
              <a:rPr lang="en-US" sz="4000" b="1" dirty="0">
                <a:solidFill>
                  <a:srgbClr val="F0F3F8"/>
                </a:solidFill>
                <a:latin typeface="Courier New" pitchFamily="34" charset="0"/>
                <a:ea typeface="Courier New" pitchFamily="34" charset="-122"/>
                <a:cs typeface="Courier New" pitchFamily="34" charset="-120"/>
              </a:rPr>
              <a:t>A</a:t>
            </a:r>
            <a:endParaRPr lang="en-US" sz="4000" dirty="0"/>
          </a:p>
        </p:txBody>
      </p:sp>
      <p:sp>
        <p:nvSpPr>
          <p:cNvPr id="39" name="Shape 37"/>
          <p:cNvSpPr/>
          <p:nvPr/>
        </p:nvSpPr>
        <p:spPr>
          <a:xfrm>
            <a:off x="640080" y="4956048"/>
            <a:ext cx="10908792" cy="566928"/>
          </a:xfrm>
          <a:prstGeom prst="roundRect">
            <a:avLst>
              <a:gd name="adj" fmla="val 6670"/>
            </a:avLst>
          </a:prstGeom>
          <a:solidFill>
            <a:srgbClr val="0F1622"/>
          </a:solidFill>
          <a:ln/>
        </p:spPr>
      </p:sp>
      <p:sp>
        <p:nvSpPr>
          <p:cNvPr id="40" name="Text 38"/>
          <p:cNvSpPr txBox="1"/>
          <p:nvPr/>
        </p:nvSpPr>
        <p:spPr>
          <a:xfrm>
            <a:off x="640080" y="4956048"/>
            <a:ext cx="10908792" cy="566928"/>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By the end of today, a program you wrote will print your name.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5C6B83"/>
                </a:solidFill>
                <a:latin typeface="Courier New" pitchFamily="34" charset="0"/>
                <a:ea typeface="Courier New" pitchFamily="34" charset="-122"/>
                <a:cs typeface="Courier New" pitchFamily="34" charset="-120"/>
              </a:rPr>
              <a:t>2 · PROGRAM STRUCTURE</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F0F3F8"/>
                </a:solidFill>
                <a:latin typeface="Arial" pitchFamily="34" charset="0"/>
                <a:ea typeface="Arial" pitchFamily="34" charset="-122"/>
                <a:cs typeface="Arial" pitchFamily="34" charset="-120"/>
              </a:rPr>
              <a:t>Anatomy of an Assembly program</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94A3B8"/>
                </a:solidFill>
                <a:latin typeface="Calibri" pitchFamily="34" charset="0"/>
                <a:ea typeface="Calibri" pitchFamily="34" charset="-122"/>
                <a:cs typeface="Calibri" pitchFamily="34" charset="-120"/>
              </a:rPr>
              <a:t>The same frame every time. Your code goes in the middle.</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5C6B83"/>
                </a:solidFill>
                <a:latin typeface="Courier New" pitchFamily="34" charset="0"/>
                <a:ea typeface="Courier New" pitchFamily="34" charset="-122"/>
                <a:cs typeface="Courier New" pitchFamily="34" charset="-120"/>
              </a:rPr>
              <a:t>COAL  ·  LAB 02</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5C6B83"/>
                </a:solidFill>
                <a:latin typeface="Courier New" pitchFamily="34" charset="0"/>
                <a:ea typeface="Courier New" pitchFamily="34" charset="-122"/>
                <a:cs typeface="Courier New" pitchFamily="34" charset="-120"/>
              </a:rPr>
              <a:t>03</a:t>
            </a:r>
            <a:endParaRPr lang="en-US" sz="900" dirty="0"/>
          </a:p>
        </p:txBody>
      </p:sp>
      <p:sp>
        <p:nvSpPr>
          <p:cNvPr id="7" name="Shape 5"/>
          <p:cNvSpPr/>
          <p:nvPr/>
        </p:nvSpPr>
        <p:spPr>
          <a:xfrm>
            <a:off x="640080" y="1810512"/>
            <a:ext cx="4937760" cy="4224528"/>
          </a:xfrm>
          <a:prstGeom prst="roundRect">
            <a:avLst>
              <a:gd name="adj" fmla="val 6670"/>
            </a:avLst>
          </a:prstGeom>
          <a:solidFill>
            <a:srgbClr val="121A29"/>
          </a:solidFill>
          <a:ln w="12700">
            <a:solidFill>
              <a:srgbClr val="2B3850"/>
            </a:solidFill>
            <a:prstDash val="solid"/>
          </a:ln>
        </p:spPr>
      </p:sp>
      <p:sp>
        <p:nvSpPr>
          <p:cNvPr id="8" name="Shape 6"/>
          <p:cNvSpPr/>
          <p:nvPr/>
        </p:nvSpPr>
        <p:spPr>
          <a:xfrm>
            <a:off x="960120" y="4169664"/>
            <a:ext cx="4343400" cy="731520"/>
          </a:xfrm>
          <a:prstGeom prst="roundRect">
            <a:avLst>
              <a:gd name="adj" fmla="val 6670"/>
            </a:avLst>
          </a:prstGeom>
          <a:solidFill>
            <a:srgbClr val="2A2113"/>
          </a:solidFill>
          <a:ln w="15875">
            <a:solidFill>
              <a:srgbClr val="EDA63F"/>
            </a:solidFill>
            <a:prstDash val="dash"/>
          </a:ln>
        </p:spPr>
      </p:sp>
      <p:sp>
        <p:nvSpPr>
          <p:cNvPr id="9" name="Text 7"/>
          <p:cNvSpPr txBox="1"/>
          <p:nvPr/>
        </p:nvSpPr>
        <p:spPr>
          <a:xfrm>
            <a:off x="1188720" y="4169664"/>
            <a:ext cx="4023360" cy="731520"/>
          </a:xfrm>
          <a:prstGeom prst="rect">
            <a:avLst/>
          </a:prstGeom>
          <a:noFill/>
          <a:ln/>
        </p:spPr>
        <p:txBody>
          <a:bodyPr wrap="square" lIns="0" tIns="0" rIns="0" bIns="0" rtlCol="0" anchor="ctr"/>
          <a:lstStyle/>
          <a:p>
            <a:pPr algn="l" indent="0" marL="0">
              <a:buNone/>
            </a:pPr>
            <a:r>
              <a:rPr lang="en-US" sz="1500" dirty="0">
                <a:solidFill>
                  <a:srgbClr val="EDA63F"/>
                </a:solidFill>
                <a:latin typeface="Courier New" pitchFamily="34" charset="0"/>
                <a:ea typeface="Courier New" pitchFamily="34" charset="-122"/>
                <a:cs typeface="Courier New" pitchFamily="34" charset="-120"/>
              </a:rPr>
              <a:t>; your code goes here</a:t>
            </a:r>
            <a:endParaRPr lang="en-US" sz="1500" dirty="0"/>
          </a:p>
        </p:txBody>
      </p:sp>
      <p:sp>
        <p:nvSpPr>
          <p:cNvPr id="10" name="Text 8"/>
          <p:cNvSpPr txBox="1"/>
          <p:nvPr/>
        </p:nvSpPr>
        <p:spPr>
          <a:xfrm>
            <a:off x="960120" y="2057400"/>
            <a:ext cx="4389120" cy="365760"/>
          </a:xfrm>
          <a:prstGeom prst="rect">
            <a:avLst/>
          </a:prstGeom>
          <a:noFill/>
          <a:ln/>
        </p:spPr>
        <p:txBody>
          <a:bodyPr wrap="square" lIns="0" tIns="0" rIns="0" bIns="0" rtlCol="0" anchor="ctr"/>
          <a:lstStyle/>
          <a:p>
            <a:pPr algn="l" indent="0" marL="0">
              <a:buNone/>
            </a:pPr>
            <a:r>
              <a:rPr lang="en-US" sz="1800" b="1" dirty="0">
                <a:solidFill>
                  <a:srgbClr val="E27B66"/>
                </a:solidFill>
                <a:latin typeface="Courier New" pitchFamily="34" charset="0"/>
                <a:ea typeface="Courier New" pitchFamily="34" charset="-122"/>
                <a:cs typeface="Courier New" pitchFamily="34" charset="-120"/>
              </a:rPr>
              <a:t>.model</a:t>
            </a:r>
            <a:pPr algn="l" indent="0" marL="0">
              <a:buNone/>
            </a:pPr>
            <a:r>
              <a:rPr lang="en-US" sz="1800" dirty="0">
                <a:solidFill>
                  <a:srgbClr val="F0F3F8"/>
                </a:solidFill>
                <a:latin typeface="Courier New" pitchFamily="34" charset="0"/>
                <a:ea typeface="Courier New" pitchFamily="34" charset="-122"/>
                <a:cs typeface="Courier New" pitchFamily="34" charset="-120"/>
              </a:rPr>
              <a:t> </a:t>
            </a:r>
            <a:pPr algn="l" indent="0" marL="0">
              <a:buNone/>
            </a:pPr>
            <a:r>
              <a:rPr lang="en-US" sz="1800" b="1" dirty="0">
                <a:solidFill>
                  <a:srgbClr val="E27B66"/>
                </a:solidFill>
                <a:latin typeface="Courier New" pitchFamily="34" charset="0"/>
                <a:ea typeface="Courier New" pitchFamily="34" charset="-122"/>
                <a:cs typeface="Courier New" pitchFamily="34" charset="-120"/>
              </a:rPr>
              <a:t>small</a:t>
            </a:r>
            <a:endParaRPr lang="en-US" sz="1800" dirty="0"/>
          </a:p>
        </p:txBody>
      </p:sp>
      <p:sp>
        <p:nvSpPr>
          <p:cNvPr id="11" name="Shape 9"/>
          <p:cNvSpPr/>
          <p:nvPr/>
        </p:nvSpPr>
        <p:spPr>
          <a:xfrm>
            <a:off x="2788920" y="2240280"/>
            <a:ext cx="3200400" cy="0"/>
          </a:xfrm>
          <a:prstGeom prst="line">
            <a:avLst/>
          </a:prstGeom>
          <a:noFill/>
          <a:ln w="9525">
            <a:solidFill>
              <a:srgbClr val="3A4760"/>
            </a:solidFill>
            <a:prstDash val="sysDot"/>
          </a:ln>
        </p:spPr>
      </p:sp>
      <p:sp>
        <p:nvSpPr>
          <p:cNvPr id="12" name="Shape 10"/>
          <p:cNvSpPr/>
          <p:nvPr/>
        </p:nvSpPr>
        <p:spPr>
          <a:xfrm>
            <a:off x="6108192" y="2103120"/>
            <a:ext cx="91440" cy="274320"/>
          </a:xfrm>
          <a:prstGeom prst="roundRect">
            <a:avLst>
              <a:gd name="adj" fmla="val 30000"/>
            </a:avLst>
          </a:prstGeom>
          <a:solidFill>
            <a:srgbClr val="E27B66"/>
          </a:solidFill>
          <a:ln/>
        </p:spPr>
      </p:sp>
      <p:sp>
        <p:nvSpPr>
          <p:cNvPr id="13" name="Text 11"/>
          <p:cNvSpPr txBox="1"/>
          <p:nvPr/>
        </p:nvSpPr>
        <p:spPr>
          <a:xfrm>
            <a:off x="6355080" y="2057400"/>
            <a:ext cx="5193792" cy="365760"/>
          </a:xfrm>
          <a:prstGeom prst="rect">
            <a:avLst/>
          </a:prstGeom>
          <a:noFill/>
          <a:ln/>
        </p:spPr>
        <p:txBody>
          <a:bodyPr wrap="square" lIns="0" tIns="0" rIns="0" bIns="0" rtlCol="0" anchor="ctr"/>
          <a:lstStyle/>
          <a:p>
            <a:pPr algn="l" indent="0" marL="0">
              <a:buNone/>
            </a:pPr>
            <a:r>
              <a:rPr lang="en-US" sz="1500" b="1" dirty="0">
                <a:solidFill>
                  <a:srgbClr val="F0F3F8"/>
                </a:solidFill>
                <a:latin typeface="Calibri" pitchFamily="34" charset="0"/>
                <a:ea typeface="Calibri" pitchFamily="34" charset="-122"/>
                <a:cs typeface="Calibri" pitchFamily="34" charset="-120"/>
              </a:rPr>
              <a:t>Program size. </a:t>
            </a:r>
            <a:pPr algn="l" indent="0" marL="0">
              <a:buNone/>
            </a:pPr>
            <a:r>
              <a:rPr lang="en-US" sz="1500" dirty="0">
                <a:solidFill>
                  <a:srgbClr val="94A3B8"/>
                </a:solidFill>
                <a:latin typeface="Calibri" pitchFamily="34" charset="0"/>
                <a:ea typeface="Calibri" pitchFamily="34" charset="-122"/>
                <a:cs typeface="Calibri" pitchFamily="34" charset="-120"/>
              </a:rPr>
              <a:t>Small is plenty for us.</a:t>
            </a:r>
            <a:endParaRPr lang="en-US" sz="1500" dirty="0"/>
          </a:p>
        </p:txBody>
      </p:sp>
      <p:sp>
        <p:nvSpPr>
          <p:cNvPr id="14" name="Text 12"/>
          <p:cNvSpPr txBox="1"/>
          <p:nvPr/>
        </p:nvSpPr>
        <p:spPr>
          <a:xfrm>
            <a:off x="960120" y="2478024"/>
            <a:ext cx="4389120" cy="365760"/>
          </a:xfrm>
          <a:prstGeom prst="rect">
            <a:avLst/>
          </a:prstGeom>
          <a:noFill/>
          <a:ln/>
        </p:spPr>
        <p:txBody>
          <a:bodyPr wrap="square" lIns="0" tIns="0" rIns="0" bIns="0" rtlCol="0" anchor="ctr"/>
          <a:lstStyle/>
          <a:p>
            <a:pPr algn="l" indent="0" marL="0">
              <a:buNone/>
            </a:pPr>
            <a:r>
              <a:rPr lang="en-US" sz="1800" b="1" dirty="0">
                <a:solidFill>
                  <a:srgbClr val="E27B66"/>
                </a:solidFill>
                <a:latin typeface="Courier New" pitchFamily="34" charset="0"/>
                <a:ea typeface="Courier New" pitchFamily="34" charset="-122"/>
                <a:cs typeface="Courier New" pitchFamily="34" charset="-120"/>
              </a:rPr>
              <a:t>.stack</a:t>
            </a:r>
            <a:pPr algn="l" indent="0" marL="0">
              <a:buNone/>
            </a:pPr>
            <a:r>
              <a:rPr lang="en-US" sz="1800" dirty="0">
                <a:solidFill>
                  <a:srgbClr val="F0F3F8"/>
                </a:solidFill>
                <a:latin typeface="Courier New" pitchFamily="34" charset="0"/>
                <a:ea typeface="Courier New" pitchFamily="34" charset="-122"/>
                <a:cs typeface="Courier New" pitchFamily="34" charset="-120"/>
              </a:rPr>
              <a:t> </a:t>
            </a:r>
            <a:pPr algn="l" indent="0" marL="0">
              <a:buNone/>
            </a:pPr>
            <a:r>
              <a:rPr lang="en-US" sz="1800" b="1" dirty="0">
                <a:solidFill>
                  <a:srgbClr val="E27B66"/>
                </a:solidFill>
                <a:latin typeface="Courier New" pitchFamily="34" charset="0"/>
                <a:ea typeface="Courier New" pitchFamily="34" charset="-122"/>
                <a:cs typeface="Courier New" pitchFamily="34" charset="-120"/>
              </a:rPr>
              <a:t>100h</a:t>
            </a:r>
            <a:endParaRPr lang="en-US" sz="1800" dirty="0"/>
          </a:p>
        </p:txBody>
      </p:sp>
      <p:sp>
        <p:nvSpPr>
          <p:cNvPr id="15" name="Shape 13"/>
          <p:cNvSpPr/>
          <p:nvPr/>
        </p:nvSpPr>
        <p:spPr>
          <a:xfrm>
            <a:off x="2651760" y="2660904"/>
            <a:ext cx="3337560" cy="0"/>
          </a:xfrm>
          <a:prstGeom prst="line">
            <a:avLst/>
          </a:prstGeom>
          <a:noFill/>
          <a:ln w="9525">
            <a:solidFill>
              <a:srgbClr val="3A4760"/>
            </a:solidFill>
            <a:prstDash val="sysDot"/>
          </a:ln>
        </p:spPr>
      </p:sp>
      <p:sp>
        <p:nvSpPr>
          <p:cNvPr id="16" name="Shape 14"/>
          <p:cNvSpPr/>
          <p:nvPr/>
        </p:nvSpPr>
        <p:spPr>
          <a:xfrm>
            <a:off x="6108192" y="2523744"/>
            <a:ext cx="91440" cy="274320"/>
          </a:xfrm>
          <a:prstGeom prst="roundRect">
            <a:avLst>
              <a:gd name="adj" fmla="val 30000"/>
            </a:avLst>
          </a:prstGeom>
          <a:solidFill>
            <a:srgbClr val="E27B66"/>
          </a:solidFill>
          <a:ln/>
        </p:spPr>
      </p:sp>
      <p:sp>
        <p:nvSpPr>
          <p:cNvPr id="17" name="Text 15"/>
          <p:cNvSpPr txBox="1"/>
          <p:nvPr/>
        </p:nvSpPr>
        <p:spPr>
          <a:xfrm>
            <a:off x="6355080" y="2478024"/>
            <a:ext cx="5193792" cy="365760"/>
          </a:xfrm>
          <a:prstGeom prst="rect">
            <a:avLst/>
          </a:prstGeom>
          <a:noFill/>
          <a:ln/>
        </p:spPr>
        <p:txBody>
          <a:bodyPr wrap="square" lIns="0" tIns="0" rIns="0" bIns="0" rtlCol="0" anchor="ctr"/>
          <a:lstStyle/>
          <a:p>
            <a:pPr algn="l" indent="0" marL="0">
              <a:buNone/>
            </a:pPr>
            <a:r>
              <a:rPr lang="en-US" sz="1500" b="1" dirty="0">
                <a:solidFill>
                  <a:srgbClr val="F0F3F8"/>
                </a:solidFill>
                <a:latin typeface="Calibri" pitchFamily="34" charset="0"/>
                <a:ea typeface="Calibri" pitchFamily="34" charset="-122"/>
                <a:cs typeface="Calibri" pitchFamily="34" charset="-120"/>
              </a:rPr>
              <a:t>Working memory. </a:t>
            </a:r>
            <a:pPr algn="l" indent="0" marL="0">
              <a:buNone/>
            </a:pPr>
            <a:r>
              <a:rPr lang="en-US" sz="1500" dirty="0">
                <a:solidFill>
                  <a:srgbClr val="94A3B8"/>
                </a:solidFill>
                <a:latin typeface="Calibri" pitchFamily="34" charset="0"/>
                <a:ea typeface="Calibri" pitchFamily="34" charset="-122"/>
                <a:cs typeface="Calibri" pitchFamily="34" charset="-120"/>
              </a:rPr>
              <a:t>Just keep this line.</a:t>
            </a:r>
            <a:endParaRPr lang="en-US" sz="1500" dirty="0"/>
          </a:p>
        </p:txBody>
      </p:sp>
      <p:sp>
        <p:nvSpPr>
          <p:cNvPr id="18" name="Text 16"/>
          <p:cNvSpPr txBox="1"/>
          <p:nvPr/>
        </p:nvSpPr>
        <p:spPr>
          <a:xfrm>
            <a:off x="960120" y="2898648"/>
            <a:ext cx="4389120" cy="365760"/>
          </a:xfrm>
          <a:prstGeom prst="rect">
            <a:avLst/>
          </a:prstGeom>
          <a:noFill/>
          <a:ln/>
        </p:spPr>
        <p:txBody>
          <a:bodyPr wrap="square" lIns="0" tIns="0" rIns="0" bIns="0" rtlCol="0" anchor="ctr"/>
          <a:lstStyle/>
          <a:p>
            <a:pPr algn="l" indent="0" marL="0">
              <a:buNone/>
            </a:pPr>
            <a:r>
              <a:rPr lang="en-US" sz="1800" b="1" dirty="0">
                <a:solidFill>
                  <a:srgbClr val="E27B66"/>
                </a:solidFill>
                <a:latin typeface="Courier New" pitchFamily="34" charset="0"/>
                <a:ea typeface="Courier New" pitchFamily="34" charset="-122"/>
                <a:cs typeface="Courier New" pitchFamily="34" charset="-120"/>
              </a:rPr>
              <a:t>.data</a:t>
            </a:r>
            <a:endParaRPr lang="en-US" sz="1800" dirty="0"/>
          </a:p>
        </p:txBody>
      </p:sp>
      <p:sp>
        <p:nvSpPr>
          <p:cNvPr id="19" name="Shape 17"/>
          <p:cNvSpPr/>
          <p:nvPr/>
        </p:nvSpPr>
        <p:spPr>
          <a:xfrm>
            <a:off x="1828800" y="3081528"/>
            <a:ext cx="4160520" cy="0"/>
          </a:xfrm>
          <a:prstGeom prst="line">
            <a:avLst/>
          </a:prstGeom>
          <a:noFill/>
          <a:ln w="9525">
            <a:solidFill>
              <a:srgbClr val="3A4760"/>
            </a:solidFill>
            <a:prstDash val="sysDot"/>
          </a:ln>
        </p:spPr>
      </p:sp>
      <p:sp>
        <p:nvSpPr>
          <p:cNvPr id="20" name="Shape 18"/>
          <p:cNvSpPr/>
          <p:nvPr/>
        </p:nvSpPr>
        <p:spPr>
          <a:xfrm>
            <a:off x="6108192" y="2944368"/>
            <a:ext cx="91440" cy="274320"/>
          </a:xfrm>
          <a:prstGeom prst="roundRect">
            <a:avLst>
              <a:gd name="adj" fmla="val 30000"/>
            </a:avLst>
          </a:prstGeom>
          <a:solidFill>
            <a:srgbClr val="E27B66"/>
          </a:solidFill>
          <a:ln/>
        </p:spPr>
      </p:sp>
      <p:sp>
        <p:nvSpPr>
          <p:cNvPr id="21" name="Text 19"/>
          <p:cNvSpPr txBox="1"/>
          <p:nvPr/>
        </p:nvSpPr>
        <p:spPr>
          <a:xfrm>
            <a:off x="6355080" y="2898648"/>
            <a:ext cx="5193792" cy="365760"/>
          </a:xfrm>
          <a:prstGeom prst="rect">
            <a:avLst/>
          </a:prstGeom>
          <a:noFill/>
          <a:ln/>
        </p:spPr>
        <p:txBody>
          <a:bodyPr wrap="square" lIns="0" tIns="0" rIns="0" bIns="0" rtlCol="0" anchor="ctr"/>
          <a:lstStyle/>
          <a:p>
            <a:pPr algn="l" indent="0" marL="0">
              <a:buNone/>
            </a:pPr>
            <a:r>
              <a:rPr lang="en-US" sz="1500" b="1" dirty="0">
                <a:solidFill>
                  <a:srgbClr val="F0F3F8"/>
                </a:solidFill>
                <a:latin typeface="Calibri" pitchFamily="34" charset="0"/>
                <a:ea typeface="Calibri" pitchFamily="34" charset="-122"/>
                <a:cs typeface="Calibri" pitchFamily="34" charset="-120"/>
              </a:rPr>
              <a:t>Variables go here. </a:t>
            </a:r>
            <a:pPr algn="l" indent="0" marL="0">
              <a:buNone/>
            </a:pPr>
            <a:r>
              <a:rPr lang="en-US" sz="1500" dirty="0">
                <a:solidFill>
                  <a:srgbClr val="94A3B8"/>
                </a:solidFill>
                <a:latin typeface="Calibri" pitchFamily="34" charset="0"/>
                <a:ea typeface="Calibri" pitchFamily="34" charset="-122"/>
                <a:cs typeface="Calibri" pitchFamily="34" charset="-120"/>
              </a:rPr>
              <a:t>Empty today.</a:t>
            </a:r>
            <a:endParaRPr lang="en-US" sz="1500" dirty="0"/>
          </a:p>
        </p:txBody>
      </p:sp>
      <p:sp>
        <p:nvSpPr>
          <p:cNvPr id="22" name="Text 20"/>
          <p:cNvSpPr txBox="1"/>
          <p:nvPr/>
        </p:nvSpPr>
        <p:spPr>
          <a:xfrm>
            <a:off x="960120" y="3319272"/>
            <a:ext cx="4389120" cy="365760"/>
          </a:xfrm>
          <a:prstGeom prst="rect">
            <a:avLst/>
          </a:prstGeom>
          <a:noFill/>
          <a:ln/>
        </p:spPr>
        <p:txBody>
          <a:bodyPr wrap="square" lIns="0" tIns="0" rIns="0" bIns="0" rtlCol="0" anchor="ctr"/>
          <a:lstStyle/>
          <a:p>
            <a:pPr algn="l" indent="0" marL="0">
              <a:buNone/>
            </a:pPr>
            <a:r>
              <a:rPr lang="en-US" sz="1800" b="1" dirty="0">
                <a:solidFill>
                  <a:srgbClr val="E27B66"/>
                </a:solidFill>
                <a:latin typeface="Courier New" pitchFamily="34" charset="0"/>
                <a:ea typeface="Courier New" pitchFamily="34" charset="-122"/>
                <a:cs typeface="Courier New" pitchFamily="34" charset="-120"/>
              </a:rPr>
              <a:t>.code</a:t>
            </a:r>
            <a:endParaRPr lang="en-US" sz="1800" dirty="0"/>
          </a:p>
        </p:txBody>
      </p:sp>
      <p:sp>
        <p:nvSpPr>
          <p:cNvPr id="23" name="Shape 21"/>
          <p:cNvSpPr/>
          <p:nvPr/>
        </p:nvSpPr>
        <p:spPr>
          <a:xfrm>
            <a:off x="1828800" y="3502152"/>
            <a:ext cx="4160520" cy="0"/>
          </a:xfrm>
          <a:prstGeom prst="line">
            <a:avLst/>
          </a:prstGeom>
          <a:noFill/>
          <a:ln w="9525">
            <a:solidFill>
              <a:srgbClr val="3A4760"/>
            </a:solidFill>
            <a:prstDash val="sysDot"/>
          </a:ln>
        </p:spPr>
      </p:sp>
      <p:sp>
        <p:nvSpPr>
          <p:cNvPr id="24" name="Shape 22"/>
          <p:cNvSpPr/>
          <p:nvPr/>
        </p:nvSpPr>
        <p:spPr>
          <a:xfrm>
            <a:off x="6108192" y="3364992"/>
            <a:ext cx="91440" cy="274320"/>
          </a:xfrm>
          <a:prstGeom prst="roundRect">
            <a:avLst>
              <a:gd name="adj" fmla="val 30000"/>
            </a:avLst>
          </a:prstGeom>
          <a:solidFill>
            <a:srgbClr val="E27B66"/>
          </a:solidFill>
          <a:ln/>
        </p:spPr>
      </p:sp>
      <p:sp>
        <p:nvSpPr>
          <p:cNvPr id="25" name="Text 23"/>
          <p:cNvSpPr txBox="1"/>
          <p:nvPr/>
        </p:nvSpPr>
        <p:spPr>
          <a:xfrm>
            <a:off x="6355080" y="3319272"/>
            <a:ext cx="5193792" cy="365760"/>
          </a:xfrm>
          <a:prstGeom prst="rect">
            <a:avLst/>
          </a:prstGeom>
          <a:noFill/>
          <a:ln/>
        </p:spPr>
        <p:txBody>
          <a:bodyPr wrap="square" lIns="0" tIns="0" rIns="0" bIns="0" rtlCol="0" anchor="ctr"/>
          <a:lstStyle/>
          <a:p>
            <a:pPr algn="l" indent="0" marL="0">
              <a:buNone/>
            </a:pPr>
            <a:r>
              <a:rPr lang="en-US" sz="1500" b="1" dirty="0">
                <a:solidFill>
                  <a:srgbClr val="F0F3F8"/>
                </a:solidFill>
                <a:latin typeface="Calibri" pitchFamily="34" charset="0"/>
                <a:ea typeface="Calibri" pitchFamily="34" charset="-122"/>
                <a:cs typeface="Calibri" pitchFamily="34" charset="-120"/>
              </a:rPr>
              <a:t>Instructions </a:t>
            </a:r>
            <a:pPr algn="l" indent="0" marL="0">
              <a:buNone/>
            </a:pPr>
            <a:r>
              <a:rPr lang="en-US" sz="1500" dirty="0">
                <a:solidFill>
                  <a:srgbClr val="94A3B8"/>
                </a:solidFill>
                <a:latin typeface="Calibri" pitchFamily="34" charset="0"/>
                <a:ea typeface="Calibri" pitchFamily="34" charset="-122"/>
                <a:cs typeface="Calibri" pitchFamily="34" charset="-120"/>
              </a:rPr>
              <a:t>start below this line.</a:t>
            </a:r>
            <a:endParaRPr lang="en-US" sz="1500" dirty="0"/>
          </a:p>
        </p:txBody>
      </p:sp>
      <p:sp>
        <p:nvSpPr>
          <p:cNvPr id="26" name="Text 24"/>
          <p:cNvSpPr txBox="1"/>
          <p:nvPr/>
        </p:nvSpPr>
        <p:spPr>
          <a:xfrm>
            <a:off x="960120" y="3739896"/>
            <a:ext cx="4389120" cy="365760"/>
          </a:xfrm>
          <a:prstGeom prst="rect">
            <a:avLst/>
          </a:prstGeom>
          <a:noFill/>
          <a:ln/>
        </p:spPr>
        <p:txBody>
          <a:bodyPr wrap="square" lIns="0" tIns="0" rIns="0" bIns="0" rtlCol="0" anchor="ctr"/>
          <a:lstStyle/>
          <a:p>
            <a:pPr algn="l" indent="0" marL="0">
              <a:buNone/>
            </a:pPr>
            <a:r>
              <a:rPr lang="en-US" sz="1800" b="1" dirty="0">
                <a:solidFill>
                  <a:srgbClr val="58B98A"/>
                </a:solidFill>
                <a:latin typeface="Courier New" pitchFamily="34" charset="0"/>
                <a:ea typeface="Courier New" pitchFamily="34" charset="-122"/>
                <a:cs typeface="Courier New" pitchFamily="34" charset="-120"/>
              </a:rPr>
              <a:t>main</a:t>
            </a:r>
            <a:pPr algn="l" indent="0" marL="0">
              <a:buNone/>
            </a:pPr>
            <a:r>
              <a:rPr lang="en-US" sz="1800" dirty="0">
                <a:solidFill>
                  <a:srgbClr val="F0F3F8"/>
                </a:solidFill>
                <a:latin typeface="Courier New" pitchFamily="34" charset="0"/>
                <a:ea typeface="Courier New" pitchFamily="34" charset="-122"/>
                <a:cs typeface="Courier New" pitchFamily="34" charset="-120"/>
              </a:rPr>
              <a:t> </a:t>
            </a:r>
            <a:pPr algn="l" indent="0" marL="0">
              <a:buNone/>
            </a:pPr>
            <a:r>
              <a:rPr lang="en-US" sz="1800" b="1" dirty="0">
                <a:solidFill>
                  <a:srgbClr val="58B98A"/>
                </a:solidFill>
                <a:latin typeface="Courier New" pitchFamily="34" charset="0"/>
                <a:ea typeface="Courier New" pitchFamily="34" charset="-122"/>
                <a:cs typeface="Courier New" pitchFamily="34" charset="-120"/>
              </a:rPr>
              <a:t>proc</a:t>
            </a:r>
            <a:endParaRPr lang="en-US" sz="1800" dirty="0"/>
          </a:p>
        </p:txBody>
      </p:sp>
      <p:sp>
        <p:nvSpPr>
          <p:cNvPr id="27" name="Shape 25"/>
          <p:cNvSpPr/>
          <p:nvPr/>
        </p:nvSpPr>
        <p:spPr>
          <a:xfrm>
            <a:off x="2377440" y="3922776"/>
            <a:ext cx="3611880" cy="0"/>
          </a:xfrm>
          <a:prstGeom prst="line">
            <a:avLst/>
          </a:prstGeom>
          <a:noFill/>
          <a:ln w="9525">
            <a:solidFill>
              <a:srgbClr val="3A4760"/>
            </a:solidFill>
            <a:prstDash val="sysDot"/>
          </a:ln>
        </p:spPr>
      </p:sp>
      <p:sp>
        <p:nvSpPr>
          <p:cNvPr id="28" name="Shape 26"/>
          <p:cNvSpPr/>
          <p:nvPr/>
        </p:nvSpPr>
        <p:spPr>
          <a:xfrm>
            <a:off x="6108192" y="3785616"/>
            <a:ext cx="91440" cy="274320"/>
          </a:xfrm>
          <a:prstGeom prst="roundRect">
            <a:avLst>
              <a:gd name="adj" fmla="val 30000"/>
            </a:avLst>
          </a:prstGeom>
          <a:solidFill>
            <a:srgbClr val="58B98A"/>
          </a:solidFill>
          <a:ln/>
        </p:spPr>
      </p:sp>
      <p:sp>
        <p:nvSpPr>
          <p:cNvPr id="29" name="Text 27"/>
          <p:cNvSpPr txBox="1"/>
          <p:nvPr/>
        </p:nvSpPr>
        <p:spPr>
          <a:xfrm>
            <a:off x="6355080" y="3739896"/>
            <a:ext cx="5193792" cy="365760"/>
          </a:xfrm>
          <a:prstGeom prst="rect">
            <a:avLst/>
          </a:prstGeom>
          <a:noFill/>
          <a:ln/>
        </p:spPr>
        <p:txBody>
          <a:bodyPr wrap="square" lIns="0" tIns="0" rIns="0" bIns="0" rtlCol="0" anchor="ctr"/>
          <a:lstStyle/>
          <a:p>
            <a:pPr algn="l" indent="0" marL="0">
              <a:buNone/>
            </a:pPr>
            <a:r>
              <a:rPr lang="en-US" sz="1500" b="1" dirty="0">
                <a:solidFill>
                  <a:srgbClr val="F0F3F8"/>
                </a:solidFill>
                <a:latin typeface="Calibri" pitchFamily="34" charset="0"/>
                <a:ea typeface="Calibri" pitchFamily="34" charset="-122"/>
                <a:cs typeface="Calibri" pitchFamily="34" charset="-120"/>
              </a:rPr>
              <a:t>Our program starts </a:t>
            </a:r>
            <a:pPr algn="l" indent="0" marL="0">
              <a:buNone/>
            </a:pPr>
            <a:r>
              <a:rPr lang="en-US" sz="1500" dirty="0">
                <a:solidFill>
                  <a:srgbClr val="94A3B8"/>
                </a:solidFill>
                <a:latin typeface="Calibri" pitchFamily="34" charset="0"/>
                <a:ea typeface="Calibri" pitchFamily="34" charset="-122"/>
                <a:cs typeface="Calibri" pitchFamily="34" charset="-120"/>
              </a:rPr>
              <a:t>here.</a:t>
            </a:r>
            <a:endParaRPr lang="en-US" sz="1500" dirty="0"/>
          </a:p>
        </p:txBody>
      </p:sp>
      <p:sp>
        <p:nvSpPr>
          <p:cNvPr id="30" name="Shape 28"/>
          <p:cNvSpPr/>
          <p:nvPr/>
        </p:nvSpPr>
        <p:spPr>
          <a:xfrm>
            <a:off x="5349240" y="4535424"/>
            <a:ext cx="640080" cy="0"/>
          </a:xfrm>
          <a:prstGeom prst="line">
            <a:avLst/>
          </a:prstGeom>
          <a:noFill/>
          <a:ln w="9525">
            <a:solidFill>
              <a:srgbClr val="4A3620"/>
            </a:solidFill>
            <a:prstDash val="sysDot"/>
          </a:ln>
        </p:spPr>
      </p:sp>
      <p:sp>
        <p:nvSpPr>
          <p:cNvPr id="31" name="Shape 29"/>
          <p:cNvSpPr/>
          <p:nvPr/>
        </p:nvSpPr>
        <p:spPr>
          <a:xfrm>
            <a:off x="6108192" y="4398264"/>
            <a:ext cx="91440" cy="274320"/>
          </a:xfrm>
          <a:prstGeom prst="roundRect">
            <a:avLst>
              <a:gd name="adj" fmla="val 30000"/>
            </a:avLst>
          </a:prstGeom>
          <a:solidFill>
            <a:srgbClr val="EDA63F"/>
          </a:solidFill>
          <a:ln/>
        </p:spPr>
      </p:sp>
      <p:sp>
        <p:nvSpPr>
          <p:cNvPr id="32" name="Text 30"/>
          <p:cNvSpPr txBox="1"/>
          <p:nvPr/>
        </p:nvSpPr>
        <p:spPr>
          <a:xfrm>
            <a:off x="6355080" y="4352544"/>
            <a:ext cx="5193792" cy="365760"/>
          </a:xfrm>
          <a:prstGeom prst="rect">
            <a:avLst/>
          </a:prstGeom>
          <a:noFill/>
          <a:ln/>
        </p:spPr>
        <p:txBody>
          <a:bodyPr wrap="square" lIns="0" tIns="0" rIns="0" bIns="0" rtlCol="0" anchor="ctr"/>
          <a:lstStyle/>
          <a:p>
            <a:pPr algn="l" indent="0" marL="0">
              <a:buNone/>
            </a:pPr>
            <a:r>
              <a:rPr lang="en-US" sz="1500" b="1" dirty="0">
                <a:solidFill>
                  <a:srgbClr val="EDA63F"/>
                </a:solidFill>
                <a:latin typeface="Calibri" pitchFamily="34" charset="0"/>
                <a:ea typeface="Calibri" pitchFamily="34" charset="-122"/>
                <a:cs typeface="Calibri" pitchFamily="34" charset="-120"/>
              </a:rPr>
              <a:t>Today's work </a:t>
            </a:r>
            <a:pPr algn="l" indent="0" marL="0">
              <a:buNone/>
            </a:pPr>
            <a:r>
              <a:rPr lang="en-US" sz="1500" dirty="0">
                <a:solidFill>
                  <a:srgbClr val="EDA63F"/>
                </a:solidFill>
                <a:latin typeface="Calibri" pitchFamily="34" charset="0"/>
                <a:ea typeface="Calibri" pitchFamily="34" charset="-122"/>
                <a:cs typeface="Calibri" pitchFamily="34" charset="-120"/>
              </a:rPr>
              <a:t>goes in here.</a:t>
            </a:r>
            <a:endParaRPr lang="en-US" sz="1500" dirty="0"/>
          </a:p>
        </p:txBody>
      </p:sp>
      <p:sp>
        <p:nvSpPr>
          <p:cNvPr id="33" name="Text 31"/>
          <p:cNvSpPr txBox="1"/>
          <p:nvPr/>
        </p:nvSpPr>
        <p:spPr>
          <a:xfrm>
            <a:off x="960120" y="5074920"/>
            <a:ext cx="4389120" cy="365760"/>
          </a:xfrm>
          <a:prstGeom prst="rect">
            <a:avLst/>
          </a:prstGeom>
          <a:noFill/>
          <a:ln/>
        </p:spPr>
        <p:txBody>
          <a:bodyPr wrap="square" lIns="0" tIns="0" rIns="0" bIns="0" rtlCol="0" anchor="ctr"/>
          <a:lstStyle/>
          <a:p>
            <a:pPr algn="l" indent="0" marL="0">
              <a:buNone/>
            </a:pPr>
            <a:r>
              <a:rPr lang="en-US" sz="1800" b="1" dirty="0">
                <a:solidFill>
                  <a:srgbClr val="58B98A"/>
                </a:solidFill>
                <a:latin typeface="Courier New" pitchFamily="34" charset="0"/>
                <a:ea typeface="Courier New" pitchFamily="34" charset="-122"/>
                <a:cs typeface="Courier New" pitchFamily="34" charset="-120"/>
              </a:rPr>
              <a:t>main</a:t>
            </a:r>
            <a:pPr algn="l" indent="0" marL="0">
              <a:buNone/>
            </a:pPr>
            <a:r>
              <a:rPr lang="en-US" sz="1800" dirty="0">
                <a:solidFill>
                  <a:srgbClr val="F0F3F8"/>
                </a:solidFill>
                <a:latin typeface="Courier New" pitchFamily="34" charset="0"/>
                <a:ea typeface="Courier New" pitchFamily="34" charset="-122"/>
                <a:cs typeface="Courier New" pitchFamily="34" charset="-120"/>
              </a:rPr>
              <a:t> </a:t>
            </a:r>
            <a:pPr algn="l" indent="0" marL="0">
              <a:buNone/>
            </a:pPr>
            <a:r>
              <a:rPr lang="en-US" sz="1800" b="1" dirty="0">
                <a:solidFill>
                  <a:srgbClr val="58B98A"/>
                </a:solidFill>
                <a:latin typeface="Courier New" pitchFamily="34" charset="0"/>
                <a:ea typeface="Courier New" pitchFamily="34" charset="-122"/>
                <a:cs typeface="Courier New" pitchFamily="34" charset="-120"/>
              </a:rPr>
              <a:t>endp</a:t>
            </a:r>
            <a:endParaRPr lang="en-US" sz="1800" dirty="0"/>
          </a:p>
        </p:txBody>
      </p:sp>
      <p:sp>
        <p:nvSpPr>
          <p:cNvPr id="34" name="Shape 32"/>
          <p:cNvSpPr/>
          <p:nvPr/>
        </p:nvSpPr>
        <p:spPr>
          <a:xfrm>
            <a:off x="2377440" y="5257800"/>
            <a:ext cx="3611880" cy="0"/>
          </a:xfrm>
          <a:prstGeom prst="line">
            <a:avLst/>
          </a:prstGeom>
          <a:noFill/>
          <a:ln w="9525">
            <a:solidFill>
              <a:srgbClr val="3A4760"/>
            </a:solidFill>
            <a:prstDash val="sysDot"/>
          </a:ln>
        </p:spPr>
      </p:sp>
      <p:sp>
        <p:nvSpPr>
          <p:cNvPr id="35" name="Shape 33"/>
          <p:cNvSpPr/>
          <p:nvPr/>
        </p:nvSpPr>
        <p:spPr>
          <a:xfrm>
            <a:off x="6108192" y="5120640"/>
            <a:ext cx="91440" cy="274320"/>
          </a:xfrm>
          <a:prstGeom prst="roundRect">
            <a:avLst>
              <a:gd name="adj" fmla="val 30000"/>
            </a:avLst>
          </a:prstGeom>
          <a:solidFill>
            <a:srgbClr val="58B98A"/>
          </a:solidFill>
          <a:ln/>
        </p:spPr>
      </p:sp>
      <p:sp>
        <p:nvSpPr>
          <p:cNvPr id="36" name="Text 34"/>
          <p:cNvSpPr txBox="1"/>
          <p:nvPr/>
        </p:nvSpPr>
        <p:spPr>
          <a:xfrm>
            <a:off x="6355080" y="5074920"/>
            <a:ext cx="5193792" cy="365760"/>
          </a:xfrm>
          <a:prstGeom prst="rect">
            <a:avLst/>
          </a:prstGeom>
          <a:noFill/>
          <a:ln/>
        </p:spPr>
        <p:txBody>
          <a:bodyPr wrap="square" lIns="0" tIns="0" rIns="0" bIns="0" rtlCol="0" anchor="ctr"/>
          <a:lstStyle/>
          <a:p>
            <a:pPr algn="l" indent="0" marL="0">
              <a:buNone/>
            </a:pPr>
            <a:r>
              <a:rPr lang="en-US" sz="1500" b="1" dirty="0">
                <a:solidFill>
                  <a:srgbClr val="F0F3F8"/>
                </a:solidFill>
                <a:latin typeface="Calibri" pitchFamily="34" charset="0"/>
                <a:ea typeface="Calibri" pitchFamily="34" charset="-122"/>
                <a:cs typeface="Calibri" pitchFamily="34" charset="-120"/>
              </a:rPr>
              <a:t>Our program ends </a:t>
            </a:r>
            <a:pPr algn="l" indent="0" marL="0">
              <a:buNone/>
            </a:pPr>
            <a:r>
              <a:rPr lang="en-US" sz="1500" dirty="0">
                <a:solidFill>
                  <a:srgbClr val="94A3B8"/>
                </a:solidFill>
                <a:latin typeface="Calibri" pitchFamily="34" charset="0"/>
                <a:ea typeface="Calibri" pitchFamily="34" charset="-122"/>
                <a:cs typeface="Calibri" pitchFamily="34" charset="-120"/>
              </a:rPr>
              <a:t>here.</a:t>
            </a:r>
            <a:endParaRPr lang="en-US" sz="1500" dirty="0"/>
          </a:p>
        </p:txBody>
      </p:sp>
      <p:sp>
        <p:nvSpPr>
          <p:cNvPr id="37" name="Text 35"/>
          <p:cNvSpPr txBox="1"/>
          <p:nvPr/>
        </p:nvSpPr>
        <p:spPr>
          <a:xfrm>
            <a:off x="960120" y="5495544"/>
            <a:ext cx="4389120" cy="365760"/>
          </a:xfrm>
          <a:prstGeom prst="rect">
            <a:avLst/>
          </a:prstGeom>
          <a:noFill/>
          <a:ln/>
        </p:spPr>
        <p:txBody>
          <a:bodyPr wrap="square" lIns="0" tIns="0" rIns="0" bIns="0" rtlCol="0" anchor="ctr"/>
          <a:lstStyle/>
          <a:p>
            <a:pPr algn="l" indent="0" marL="0">
              <a:buNone/>
            </a:pPr>
            <a:r>
              <a:rPr lang="en-US" sz="1800" b="1" dirty="0">
                <a:solidFill>
                  <a:srgbClr val="58B98A"/>
                </a:solidFill>
                <a:latin typeface="Courier New" pitchFamily="34" charset="0"/>
                <a:ea typeface="Courier New" pitchFamily="34" charset="-122"/>
                <a:cs typeface="Courier New" pitchFamily="34" charset="-120"/>
              </a:rPr>
              <a:t>end</a:t>
            </a:r>
            <a:pPr algn="l" indent="0" marL="0">
              <a:buNone/>
            </a:pPr>
            <a:r>
              <a:rPr lang="en-US" sz="1800" dirty="0">
                <a:solidFill>
                  <a:srgbClr val="F0F3F8"/>
                </a:solidFill>
                <a:latin typeface="Courier New" pitchFamily="34" charset="0"/>
                <a:ea typeface="Courier New" pitchFamily="34" charset="-122"/>
                <a:cs typeface="Courier New" pitchFamily="34" charset="-120"/>
              </a:rPr>
              <a:t> </a:t>
            </a:r>
            <a:pPr algn="l" indent="0" marL="0">
              <a:buNone/>
            </a:pPr>
            <a:r>
              <a:rPr lang="en-US" sz="1800" b="1" dirty="0">
                <a:solidFill>
                  <a:srgbClr val="58B98A"/>
                </a:solidFill>
                <a:latin typeface="Courier New" pitchFamily="34" charset="0"/>
                <a:ea typeface="Courier New" pitchFamily="34" charset="-122"/>
                <a:cs typeface="Courier New" pitchFamily="34" charset="-120"/>
              </a:rPr>
              <a:t>main</a:t>
            </a:r>
            <a:endParaRPr lang="en-US" sz="1800" dirty="0"/>
          </a:p>
        </p:txBody>
      </p:sp>
      <p:sp>
        <p:nvSpPr>
          <p:cNvPr id="38" name="Shape 36"/>
          <p:cNvSpPr/>
          <p:nvPr/>
        </p:nvSpPr>
        <p:spPr>
          <a:xfrm>
            <a:off x="2240280" y="5678424"/>
            <a:ext cx="3749040" cy="0"/>
          </a:xfrm>
          <a:prstGeom prst="line">
            <a:avLst/>
          </a:prstGeom>
          <a:noFill/>
          <a:ln w="9525">
            <a:solidFill>
              <a:srgbClr val="3A4760"/>
            </a:solidFill>
            <a:prstDash val="sysDot"/>
          </a:ln>
        </p:spPr>
      </p:sp>
      <p:sp>
        <p:nvSpPr>
          <p:cNvPr id="39" name="Shape 37"/>
          <p:cNvSpPr/>
          <p:nvPr/>
        </p:nvSpPr>
        <p:spPr>
          <a:xfrm>
            <a:off x="6108192" y="5541264"/>
            <a:ext cx="91440" cy="274320"/>
          </a:xfrm>
          <a:prstGeom prst="roundRect">
            <a:avLst>
              <a:gd name="adj" fmla="val 30000"/>
            </a:avLst>
          </a:prstGeom>
          <a:solidFill>
            <a:srgbClr val="58B98A"/>
          </a:solidFill>
          <a:ln/>
        </p:spPr>
      </p:sp>
      <p:sp>
        <p:nvSpPr>
          <p:cNvPr id="40" name="Text 38"/>
          <p:cNvSpPr txBox="1"/>
          <p:nvPr/>
        </p:nvSpPr>
        <p:spPr>
          <a:xfrm>
            <a:off x="6355080" y="5495544"/>
            <a:ext cx="5193792" cy="365760"/>
          </a:xfrm>
          <a:prstGeom prst="rect">
            <a:avLst/>
          </a:prstGeom>
          <a:noFill/>
          <a:ln/>
        </p:spPr>
        <p:txBody>
          <a:bodyPr wrap="square" lIns="0" tIns="0" rIns="0" bIns="0" rtlCol="0" anchor="ctr"/>
          <a:lstStyle/>
          <a:p>
            <a:pPr algn="l" indent="0" marL="0">
              <a:buNone/>
            </a:pPr>
            <a:r>
              <a:rPr lang="en-US" sz="1500" b="1" dirty="0">
                <a:solidFill>
                  <a:srgbClr val="F0F3F8"/>
                </a:solidFill>
                <a:latin typeface="Calibri" pitchFamily="34" charset="0"/>
                <a:ea typeface="Calibri" pitchFamily="34" charset="-122"/>
                <a:cs typeface="Calibri" pitchFamily="34" charset="-120"/>
              </a:rPr>
              <a:t>End of the file. </a:t>
            </a:r>
            <a:pPr algn="l" indent="0" marL="0">
              <a:buNone/>
            </a:pPr>
            <a:r>
              <a:rPr lang="en-US" sz="1500" dirty="0">
                <a:solidFill>
                  <a:srgbClr val="94A3B8"/>
                </a:solidFill>
                <a:latin typeface="Calibri" pitchFamily="34" charset="0"/>
                <a:ea typeface="Calibri" pitchFamily="34" charset="-122"/>
                <a:cs typeface="Calibri" pitchFamily="34" charset="-120"/>
              </a:rPr>
              <a:t>Start running at main.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3 · REGISTERS</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Only two registers today: AH and DL</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A register is a small storage box inside the CPU.</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02</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04</a:t>
            </a:r>
            <a:endParaRPr lang="en-US" sz="900" dirty="0"/>
          </a:p>
        </p:txBody>
      </p:sp>
      <p:sp>
        <p:nvSpPr>
          <p:cNvPr id="7" name="Shape 5"/>
          <p:cNvSpPr/>
          <p:nvPr/>
        </p:nvSpPr>
        <p:spPr>
          <a:xfrm>
            <a:off x="640080" y="1828800"/>
            <a:ext cx="4846320" cy="3749040"/>
          </a:xfrm>
          <a:prstGeom prst="roundRect">
            <a:avLst>
              <a:gd name="adj" fmla="val 6670"/>
            </a:avLst>
          </a:prstGeom>
          <a:solidFill>
            <a:srgbClr val="F3F5F9"/>
          </a:solidFill>
          <a:ln w="12700">
            <a:solidFill>
              <a:srgbClr val="E2E7EF"/>
            </a:solidFill>
            <a:prstDash val="solid"/>
          </a:ln>
        </p:spPr>
      </p:sp>
      <p:sp>
        <p:nvSpPr>
          <p:cNvPr id="8" name="Text 6"/>
          <p:cNvSpPr txBox="1"/>
          <p:nvPr/>
        </p:nvSpPr>
        <p:spPr>
          <a:xfrm>
            <a:off x="914400" y="2011680"/>
            <a:ext cx="2743200" cy="219456"/>
          </a:xfrm>
          <a:prstGeom prst="rect">
            <a:avLst/>
          </a:prstGeom>
          <a:noFill/>
          <a:ln/>
        </p:spPr>
        <p:txBody>
          <a:bodyPr wrap="square" lIns="0" tIns="0" rIns="0" bIns="0" rtlCol="0" anchor="t"/>
          <a:lstStyle/>
          <a:p>
            <a:pPr algn="l" indent="0" marL="0">
              <a:buNone/>
            </a:pPr>
            <a:r>
              <a:rPr lang="en-US" sz="950" b="1" spc="130" kern="0" dirty="0">
                <a:solidFill>
                  <a:srgbClr val="93A0B2"/>
                </a:solidFill>
                <a:latin typeface="Courier New" pitchFamily="34" charset="0"/>
                <a:ea typeface="Courier New" pitchFamily="34" charset="-122"/>
                <a:cs typeface="Courier New" pitchFamily="34" charset="-120"/>
              </a:rPr>
              <a:t>INSIDE THE CPU</a:t>
            </a:r>
            <a:endParaRPr lang="en-US" sz="950" dirty="0"/>
          </a:p>
        </p:txBody>
      </p:sp>
      <p:sp>
        <p:nvSpPr>
          <p:cNvPr id="9" name="Shape 7"/>
          <p:cNvSpPr/>
          <p:nvPr/>
        </p:nvSpPr>
        <p:spPr>
          <a:xfrm>
            <a:off x="914400" y="2377440"/>
            <a:ext cx="4297680" cy="1188720"/>
          </a:xfrm>
          <a:prstGeom prst="roundRect">
            <a:avLst>
              <a:gd name="adj" fmla="val 6670"/>
            </a:avLst>
          </a:prstGeom>
          <a:solidFill>
            <a:srgbClr val="D7EEF2"/>
          </a:solidFill>
          <a:ln w="12700">
            <a:solidFill>
              <a:srgbClr val="18879B"/>
            </a:solidFill>
            <a:prstDash val="solid"/>
          </a:ln>
        </p:spPr>
      </p:sp>
      <p:sp>
        <p:nvSpPr>
          <p:cNvPr id="10" name="Text 8"/>
          <p:cNvSpPr txBox="1"/>
          <p:nvPr/>
        </p:nvSpPr>
        <p:spPr>
          <a:xfrm>
            <a:off x="1078992" y="2377440"/>
            <a:ext cx="1719072" cy="1188720"/>
          </a:xfrm>
          <a:prstGeom prst="rect">
            <a:avLst/>
          </a:prstGeom>
          <a:noFill/>
          <a:ln/>
        </p:spPr>
        <p:txBody>
          <a:bodyPr wrap="square" lIns="0" tIns="0" rIns="0" bIns="0" rtlCol="0" anchor="ctr"/>
          <a:lstStyle/>
          <a:p>
            <a:pPr algn="l" indent="0" marL="0">
              <a:buNone/>
            </a:pPr>
            <a:r>
              <a:rPr lang="en-US" sz="3600" b="1" dirty="0">
                <a:solidFill>
                  <a:srgbClr val="18879B"/>
                </a:solidFill>
                <a:latin typeface="Courier New" pitchFamily="34" charset="0"/>
                <a:ea typeface="Courier New" pitchFamily="34" charset="-122"/>
                <a:cs typeface="Courier New" pitchFamily="34" charset="-120"/>
              </a:rPr>
              <a:t>AH</a:t>
            </a:r>
            <a:endParaRPr lang="en-US" sz="3600" dirty="0"/>
          </a:p>
        </p:txBody>
      </p:sp>
      <p:sp>
        <p:nvSpPr>
          <p:cNvPr id="11" name="Shape 9"/>
          <p:cNvSpPr/>
          <p:nvPr/>
        </p:nvSpPr>
        <p:spPr>
          <a:xfrm>
            <a:off x="3107131" y="2496312"/>
            <a:ext cx="1976933" cy="950976"/>
          </a:xfrm>
          <a:prstGeom prst="roundRect">
            <a:avLst>
              <a:gd name="adj" fmla="val 6670"/>
            </a:avLst>
          </a:prstGeom>
          <a:solidFill>
            <a:srgbClr val="FFFFFF"/>
          </a:solidFill>
          <a:ln w="12700">
            <a:solidFill>
              <a:srgbClr val="18879B"/>
            </a:solidFill>
            <a:prstDash val="solid"/>
          </a:ln>
        </p:spPr>
      </p:sp>
      <p:sp>
        <p:nvSpPr>
          <p:cNvPr id="12" name="Text 10"/>
          <p:cNvSpPr txBox="1"/>
          <p:nvPr/>
        </p:nvSpPr>
        <p:spPr>
          <a:xfrm>
            <a:off x="3107131" y="2496312"/>
            <a:ext cx="1976933" cy="950976"/>
          </a:xfrm>
          <a:prstGeom prst="rect">
            <a:avLst/>
          </a:prstGeom>
          <a:noFill/>
          <a:ln/>
        </p:spPr>
        <p:txBody>
          <a:bodyPr wrap="square" lIns="0" tIns="0" rIns="0" bIns="0" rtlCol="0" anchor="ctr"/>
          <a:lstStyle/>
          <a:p>
            <a:pPr algn="ctr" indent="0" marL="0">
              <a:buNone/>
            </a:pPr>
            <a:r>
              <a:rPr lang="en-US" sz="2800" b="1" dirty="0">
                <a:solidFill>
                  <a:srgbClr val="0F1622"/>
                </a:solidFill>
                <a:latin typeface="Courier New" pitchFamily="34" charset="0"/>
                <a:ea typeface="Courier New" pitchFamily="34" charset="-122"/>
                <a:cs typeface="Courier New" pitchFamily="34" charset="-120"/>
              </a:rPr>
              <a:t>2</a:t>
            </a:r>
            <a:endParaRPr lang="en-US" sz="2800" dirty="0"/>
          </a:p>
        </p:txBody>
      </p:sp>
      <p:sp>
        <p:nvSpPr>
          <p:cNvPr id="13" name="Shape 11"/>
          <p:cNvSpPr/>
          <p:nvPr/>
        </p:nvSpPr>
        <p:spPr>
          <a:xfrm>
            <a:off x="914400" y="4069080"/>
            <a:ext cx="4297680" cy="1188720"/>
          </a:xfrm>
          <a:prstGeom prst="roundRect">
            <a:avLst>
              <a:gd name="adj" fmla="val 6670"/>
            </a:avLst>
          </a:prstGeom>
          <a:solidFill>
            <a:srgbClr val="FBEBD2"/>
          </a:solidFill>
          <a:ln w="12700">
            <a:solidFill>
              <a:srgbClr val="D98A1F"/>
            </a:solidFill>
            <a:prstDash val="solid"/>
          </a:ln>
        </p:spPr>
      </p:sp>
      <p:sp>
        <p:nvSpPr>
          <p:cNvPr id="14" name="Text 12"/>
          <p:cNvSpPr txBox="1"/>
          <p:nvPr/>
        </p:nvSpPr>
        <p:spPr>
          <a:xfrm>
            <a:off x="1078992" y="4069080"/>
            <a:ext cx="1719072" cy="1188720"/>
          </a:xfrm>
          <a:prstGeom prst="rect">
            <a:avLst/>
          </a:prstGeom>
          <a:noFill/>
          <a:ln/>
        </p:spPr>
        <p:txBody>
          <a:bodyPr wrap="square" lIns="0" tIns="0" rIns="0" bIns="0" rtlCol="0" anchor="ctr"/>
          <a:lstStyle/>
          <a:p>
            <a:pPr algn="l" indent="0" marL="0">
              <a:buNone/>
            </a:pPr>
            <a:r>
              <a:rPr lang="en-US" sz="3600" b="1" dirty="0">
                <a:solidFill>
                  <a:srgbClr val="D98A1F"/>
                </a:solidFill>
                <a:latin typeface="Courier New" pitchFamily="34" charset="0"/>
                <a:ea typeface="Courier New" pitchFamily="34" charset="-122"/>
                <a:cs typeface="Courier New" pitchFamily="34" charset="-120"/>
              </a:rPr>
              <a:t>DL</a:t>
            </a:r>
            <a:endParaRPr lang="en-US" sz="3600" dirty="0"/>
          </a:p>
        </p:txBody>
      </p:sp>
      <p:sp>
        <p:nvSpPr>
          <p:cNvPr id="15" name="Shape 13"/>
          <p:cNvSpPr/>
          <p:nvPr/>
        </p:nvSpPr>
        <p:spPr>
          <a:xfrm>
            <a:off x="3107131" y="4187952"/>
            <a:ext cx="1976933" cy="950976"/>
          </a:xfrm>
          <a:prstGeom prst="roundRect">
            <a:avLst>
              <a:gd name="adj" fmla="val 6670"/>
            </a:avLst>
          </a:prstGeom>
          <a:solidFill>
            <a:srgbClr val="FFFFFF"/>
          </a:solidFill>
          <a:ln w="12700">
            <a:solidFill>
              <a:srgbClr val="D98A1F"/>
            </a:solidFill>
            <a:prstDash val="solid"/>
          </a:ln>
        </p:spPr>
      </p:sp>
      <p:sp>
        <p:nvSpPr>
          <p:cNvPr id="16" name="Text 14"/>
          <p:cNvSpPr txBox="1"/>
          <p:nvPr/>
        </p:nvSpPr>
        <p:spPr>
          <a:xfrm>
            <a:off x="3107131" y="4187952"/>
            <a:ext cx="1976933" cy="950976"/>
          </a:xfrm>
          <a:prstGeom prst="rect">
            <a:avLst/>
          </a:prstGeom>
          <a:noFill/>
          <a:ln/>
        </p:spPr>
        <p:txBody>
          <a:bodyPr wrap="square" lIns="0" tIns="0" rIns="0" bIns="0" rtlCol="0" anchor="ctr"/>
          <a:lstStyle/>
          <a:p>
            <a:pPr algn="ctr" indent="0" marL="0">
              <a:buNone/>
            </a:pPr>
            <a:r>
              <a:rPr lang="en-US" sz="2800" b="1" dirty="0">
                <a:solidFill>
                  <a:srgbClr val="0F1622"/>
                </a:solidFill>
                <a:latin typeface="Courier New" pitchFamily="34" charset="0"/>
                <a:ea typeface="Courier New" pitchFamily="34" charset="-122"/>
                <a:cs typeface="Courier New" pitchFamily="34" charset="-120"/>
              </a:rPr>
              <a:t>'A'</a:t>
            </a:r>
            <a:endParaRPr lang="en-US" sz="2800" dirty="0"/>
          </a:p>
        </p:txBody>
      </p:sp>
      <p:sp>
        <p:nvSpPr>
          <p:cNvPr id="17" name="Shape 15"/>
          <p:cNvSpPr/>
          <p:nvPr/>
        </p:nvSpPr>
        <p:spPr>
          <a:xfrm>
            <a:off x="5303520" y="2971800"/>
            <a:ext cx="685800" cy="0"/>
          </a:xfrm>
          <a:prstGeom prst="line">
            <a:avLst/>
          </a:prstGeom>
          <a:noFill/>
          <a:ln w="19050">
            <a:solidFill>
              <a:srgbClr val="18879B"/>
            </a:solidFill>
            <a:prstDash val="solid"/>
            <a:tailEnd type="triangle"/>
          </a:ln>
        </p:spPr>
      </p:sp>
      <p:sp>
        <p:nvSpPr>
          <p:cNvPr id="18" name="Shape 16"/>
          <p:cNvSpPr/>
          <p:nvPr/>
        </p:nvSpPr>
        <p:spPr>
          <a:xfrm>
            <a:off x="5303520" y="4663440"/>
            <a:ext cx="685800" cy="0"/>
          </a:xfrm>
          <a:prstGeom prst="line">
            <a:avLst/>
          </a:prstGeom>
          <a:noFill/>
          <a:ln w="19050">
            <a:solidFill>
              <a:srgbClr val="D98A1F"/>
            </a:solidFill>
            <a:prstDash val="solid"/>
            <a:tailEnd type="triangle"/>
          </a:ln>
        </p:spPr>
      </p:sp>
      <p:sp>
        <p:nvSpPr>
          <p:cNvPr id="19" name="Shape 17"/>
          <p:cNvSpPr/>
          <p:nvPr/>
        </p:nvSpPr>
        <p:spPr>
          <a:xfrm>
            <a:off x="6126480" y="2377440"/>
            <a:ext cx="5422392" cy="1188720"/>
          </a:xfrm>
          <a:prstGeom prst="roundRect">
            <a:avLst>
              <a:gd name="adj" fmla="val 6670"/>
            </a:avLst>
          </a:prstGeom>
          <a:solidFill>
            <a:srgbClr val="F3F5F9"/>
          </a:solidFill>
          <a:ln w="12700">
            <a:solidFill>
              <a:srgbClr val="E2E7EF"/>
            </a:solidFill>
            <a:prstDash val="solid"/>
          </a:ln>
        </p:spPr>
      </p:sp>
      <p:sp>
        <p:nvSpPr>
          <p:cNvPr id="20" name="Text 18"/>
          <p:cNvSpPr txBox="1"/>
          <p:nvPr/>
        </p:nvSpPr>
        <p:spPr>
          <a:xfrm>
            <a:off x="6400800" y="2542032"/>
            <a:ext cx="4572000" cy="219456"/>
          </a:xfrm>
          <a:prstGeom prst="rect">
            <a:avLst/>
          </a:prstGeom>
          <a:noFill/>
          <a:ln/>
        </p:spPr>
        <p:txBody>
          <a:bodyPr wrap="square" lIns="0" tIns="0" rIns="0" bIns="0" rtlCol="0" anchor="t"/>
          <a:lstStyle/>
          <a:p>
            <a:pPr algn="l" indent="0" marL="0">
              <a:buNone/>
            </a:pPr>
            <a:r>
              <a:rPr lang="en-US" sz="950" b="1" spc="130" kern="0" dirty="0">
                <a:solidFill>
                  <a:srgbClr val="18879B"/>
                </a:solidFill>
                <a:latin typeface="Courier New" pitchFamily="34" charset="0"/>
                <a:ea typeface="Courier New" pitchFamily="34" charset="-122"/>
                <a:cs typeface="Courier New" pitchFamily="34" charset="-120"/>
              </a:rPr>
              <a:t>AH  ·  THE JOB</a:t>
            </a:r>
            <a:endParaRPr lang="en-US" sz="950" dirty="0"/>
          </a:p>
        </p:txBody>
      </p:sp>
      <p:sp>
        <p:nvSpPr>
          <p:cNvPr id="21" name="Text 19"/>
          <p:cNvSpPr txBox="1"/>
          <p:nvPr/>
        </p:nvSpPr>
        <p:spPr>
          <a:xfrm>
            <a:off x="6400800" y="2788920"/>
            <a:ext cx="4937760" cy="329184"/>
          </a:xfrm>
          <a:prstGeom prst="rect">
            <a:avLst/>
          </a:prstGeom>
          <a:noFill/>
          <a:ln/>
        </p:spPr>
        <p:txBody>
          <a:bodyPr wrap="square" lIns="0" tIns="0" rIns="0" bIns="0" rtlCol="0" anchor="t"/>
          <a:lstStyle/>
          <a:p>
            <a:pPr algn="l" indent="0" marL="0">
              <a:buNone/>
            </a:pPr>
            <a:r>
              <a:rPr lang="en-US" sz="1700" b="1" dirty="0">
                <a:solidFill>
                  <a:srgbClr val="0F1622"/>
                </a:solidFill>
                <a:latin typeface="Arial" pitchFamily="34" charset="0"/>
                <a:ea typeface="Arial" pitchFamily="34" charset="-122"/>
                <a:cs typeface="Arial" pitchFamily="34" charset="-120"/>
              </a:rPr>
              <a:t>Tells DOS which service we want.</a:t>
            </a:r>
            <a:endParaRPr lang="en-US" sz="1700" dirty="0"/>
          </a:p>
        </p:txBody>
      </p:sp>
      <p:sp>
        <p:nvSpPr>
          <p:cNvPr id="22" name="Text 20"/>
          <p:cNvSpPr txBox="1"/>
          <p:nvPr/>
        </p:nvSpPr>
        <p:spPr>
          <a:xfrm>
            <a:off x="6400800" y="3182112"/>
            <a:ext cx="4937760" cy="274320"/>
          </a:xfrm>
          <a:prstGeom prst="rect">
            <a:avLst/>
          </a:prstGeom>
          <a:noFill/>
          <a:ln/>
        </p:spPr>
        <p:txBody>
          <a:bodyPr wrap="square" lIns="0" tIns="0" rIns="0" bIns="0" rtlCol="0" anchor="t"/>
          <a:lstStyle/>
          <a:p>
            <a:pPr algn="l" indent="0" marL="0">
              <a:buNone/>
            </a:pPr>
            <a:r>
              <a:rPr lang="en-US" sz="1300" b="1" dirty="0">
                <a:solidFill>
                  <a:srgbClr val="18879B"/>
                </a:solidFill>
                <a:latin typeface="Courier New" pitchFamily="34" charset="0"/>
                <a:ea typeface="Courier New" pitchFamily="34" charset="-122"/>
                <a:cs typeface="Courier New" pitchFamily="34" charset="-120"/>
              </a:rPr>
              <a:t>mov ah, 2</a:t>
            </a:r>
            <a:pPr algn="l" indent="0" marL="0">
              <a:buNone/>
            </a:pPr>
            <a:r>
              <a:rPr lang="en-US" sz="1300" dirty="0">
                <a:solidFill>
                  <a:srgbClr val="5B6779"/>
                </a:solidFill>
                <a:latin typeface="Calibri" pitchFamily="34" charset="0"/>
                <a:ea typeface="Calibri" pitchFamily="34" charset="-122"/>
                <a:cs typeface="Calibri" pitchFamily="34" charset="-120"/>
              </a:rPr>
              <a:t>     2 means: print a character</a:t>
            </a:r>
            <a:endParaRPr lang="en-US" sz="1300" dirty="0"/>
          </a:p>
        </p:txBody>
      </p:sp>
      <p:sp>
        <p:nvSpPr>
          <p:cNvPr id="23" name="Shape 21"/>
          <p:cNvSpPr/>
          <p:nvPr/>
        </p:nvSpPr>
        <p:spPr>
          <a:xfrm>
            <a:off x="6126480" y="4069080"/>
            <a:ext cx="5422392" cy="1188720"/>
          </a:xfrm>
          <a:prstGeom prst="roundRect">
            <a:avLst>
              <a:gd name="adj" fmla="val 6670"/>
            </a:avLst>
          </a:prstGeom>
          <a:solidFill>
            <a:srgbClr val="F3F5F9"/>
          </a:solidFill>
          <a:ln w="12700">
            <a:solidFill>
              <a:srgbClr val="E2E7EF"/>
            </a:solidFill>
            <a:prstDash val="solid"/>
          </a:ln>
        </p:spPr>
      </p:sp>
      <p:sp>
        <p:nvSpPr>
          <p:cNvPr id="24" name="Text 22"/>
          <p:cNvSpPr txBox="1"/>
          <p:nvPr/>
        </p:nvSpPr>
        <p:spPr>
          <a:xfrm>
            <a:off x="6400800" y="4233672"/>
            <a:ext cx="4572000" cy="219456"/>
          </a:xfrm>
          <a:prstGeom prst="rect">
            <a:avLst/>
          </a:prstGeom>
          <a:noFill/>
          <a:ln/>
        </p:spPr>
        <p:txBody>
          <a:bodyPr wrap="square" lIns="0" tIns="0" rIns="0" bIns="0" rtlCol="0" anchor="t"/>
          <a:lstStyle/>
          <a:p>
            <a:pPr algn="l" indent="0" marL="0">
              <a:buNone/>
            </a:pPr>
            <a:r>
              <a:rPr lang="en-US" sz="950" b="1" spc="130" kern="0" dirty="0">
                <a:solidFill>
                  <a:srgbClr val="D98A1F"/>
                </a:solidFill>
                <a:latin typeface="Courier New" pitchFamily="34" charset="0"/>
                <a:ea typeface="Courier New" pitchFamily="34" charset="-122"/>
                <a:cs typeface="Courier New" pitchFamily="34" charset="-120"/>
              </a:rPr>
              <a:t>DL  ·  THE DATA</a:t>
            </a:r>
            <a:endParaRPr lang="en-US" sz="950" dirty="0"/>
          </a:p>
        </p:txBody>
      </p:sp>
      <p:sp>
        <p:nvSpPr>
          <p:cNvPr id="25" name="Text 23"/>
          <p:cNvSpPr txBox="1"/>
          <p:nvPr/>
        </p:nvSpPr>
        <p:spPr>
          <a:xfrm>
            <a:off x="6400800" y="4480560"/>
            <a:ext cx="4937760" cy="329184"/>
          </a:xfrm>
          <a:prstGeom prst="rect">
            <a:avLst/>
          </a:prstGeom>
          <a:noFill/>
          <a:ln/>
        </p:spPr>
        <p:txBody>
          <a:bodyPr wrap="square" lIns="0" tIns="0" rIns="0" bIns="0" rtlCol="0" anchor="t"/>
          <a:lstStyle/>
          <a:p>
            <a:pPr algn="l" indent="0" marL="0">
              <a:buNone/>
            </a:pPr>
            <a:r>
              <a:rPr lang="en-US" sz="1700" b="1" dirty="0">
                <a:solidFill>
                  <a:srgbClr val="0F1622"/>
                </a:solidFill>
                <a:latin typeface="Arial" pitchFamily="34" charset="0"/>
                <a:ea typeface="Arial" pitchFamily="34" charset="-122"/>
                <a:cs typeface="Arial" pitchFamily="34" charset="-120"/>
              </a:rPr>
              <a:t>Holds the character we want to print.</a:t>
            </a:r>
            <a:endParaRPr lang="en-US" sz="1700" dirty="0"/>
          </a:p>
        </p:txBody>
      </p:sp>
      <p:sp>
        <p:nvSpPr>
          <p:cNvPr id="26" name="Text 24"/>
          <p:cNvSpPr txBox="1"/>
          <p:nvPr/>
        </p:nvSpPr>
        <p:spPr>
          <a:xfrm>
            <a:off x="6400800" y="4873752"/>
            <a:ext cx="4937760" cy="274320"/>
          </a:xfrm>
          <a:prstGeom prst="rect">
            <a:avLst/>
          </a:prstGeom>
          <a:noFill/>
          <a:ln/>
        </p:spPr>
        <p:txBody>
          <a:bodyPr wrap="square" lIns="0" tIns="0" rIns="0" bIns="0" rtlCol="0" anchor="t"/>
          <a:lstStyle/>
          <a:p>
            <a:pPr algn="l" indent="0" marL="0">
              <a:buNone/>
            </a:pPr>
            <a:r>
              <a:rPr lang="en-US" sz="1300" b="1" dirty="0">
                <a:solidFill>
                  <a:srgbClr val="D98A1F"/>
                </a:solidFill>
                <a:latin typeface="Courier New" pitchFamily="34" charset="0"/>
                <a:ea typeface="Courier New" pitchFamily="34" charset="-122"/>
                <a:cs typeface="Courier New" pitchFamily="34" charset="-120"/>
              </a:rPr>
              <a:t>mov dl, 'A'</a:t>
            </a:r>
            <a:pPr algn="l" indent="0" marL="0">
              <a:buNone/>
            </a:pPr>
            <a:r>
              <a:rPr lang="en-US" sz="1300" dirty="0">
                <a:solidFill>
                  <a:srgbClr val="5B6779"/>
                </a:solidFill>
                <a:latin typeface="Calibri" pitchFamily="34" charset="0"/>
                <a:ea typeface="Calibri" pitchFamily="34" charset="-122"/>
                <a:cs typeface="Calibri" pitchFamily="34" charset="-120"/>
              </a:rPr>
              <a:t>     the character A</a:t>
            </a:r>
            <a:endParaRPr lang="en-US" sz="1300" dirty="0"/>
          </a:p>
        </p:txBody>
      </p:sp>
      <p:sp>
        <p:nvSpPr>
          <p:cNvPr id="27" name="Text 25"/>
          <p:cNvSpPr txBox="1"/>
          <p:nvPr/>
        </p:nvSpPr>
        <p:spPr>
          <a:xfrm>
            <a:off x="640080" y="5779008"/>
            <a:ext cx="10908792" cy="274320"/>
          </a:xfrm>
          <a:prstGeom prst="rect">
            <a:avLst/>
          </a:prstGeom>
          <a:noFill/>
          <a:ln/>
        </p:spPr>
        <p:txBody>
          <a:bodyPr wrap="square" lIns="0" tIns="0" rIns="0" bIns="0" rtlCol="0" anchor="t"/>
          <a:lstStyle/>
          <a:p>
            <a:pPr algn="ctr" indent="0" marL="0">
              <a:buNone/>
            </a:pPr>
            <a:r>
              <a:rPr lang="en-US" sz="1200" i="1" dirty="0">
                <a:solidFill>
                  <a:srgbClr val="5B6779"/>
                </a:solidFill>
                <a:latin typeface="Calibri" pitchFamily="34" charset="0"/>
                <a:ea typeface="Calibri" pitchFamily="34" charset="-122"/>
                <a:cs typeface="Calibri" pitchFamily="34" charset="-120"/>
              </a:rPr>
              <a:t>From Lab 1: AH is the high half of AX, and DL is the low half of DX. That is all we need today.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4 · MOV</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MOV puts a value into a register</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Read it like an equals sign: the value on the right goes into the register on the left.</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02</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05</a:t>
            </a:r>
            <a:endParaRPr lang="en-US" sz="900" dirty="0"/>
          </a:p>
        </p:txBody>
      </p:sp>
      <p:sp>
        <p:nvSpPr>
          <p:cNvPr id="7" name="Shape 5"/>
          <p:cNvSpPr/>
          <p:nvPr/>
        </p:nvSpPr>
        <p:spPr>
          <a:xfrm>
            <a:off x="640080" y="1810512"/>
            <a:ext cx="10908792" cy="1481328"/>
          </a:xfrm>
          <a:prstGeom prst="roundRect">
            <a:avLst>
              <a:gd name="adj" fmla="val 6670"/>
            </a:avLst>
          </a:prstGeom>
          <a:solidFill>
            <a:srgbClr val="121A29"/>
          </a:solidFill>
          <a:ln w="12700">
            <a:solidFill>
              <a:srgbClr val="2B3850"/>
            </a:solidFill>
            <a:prstDash val="solid"/>
          </a:ln>
        </p:spPr>
      </p:sp>
      <p:sp>
        <p:nvSpPr>
          <p:cNvPr id="8" name="Text 6"/>
          <p:cNvSpPr txBox="1"/>
          <p:nvPr/>
        </p:nvSpPr>
        <p:spPr>
          <a:xfrm>
            <a:off x="1234440" y="1938528"/>
            <a:ext cx="1005840" cy="731520"/>
          </a:xfrm>
          <a:prstGeom prst="rect">
            <a:avLst/>
          </a:prstGeom>
          <a:noFill/>
          <a:ln/>
        </p:spPr>
        <p:txBody>
          <a:bodyPr wrap="square" lIns="0" tIns="0" rIns="0" bIns="0" rtlCol="0" anchor="ctr"/>
          <a:lstStyle/>
          <a:p>
            <a:pPr algn="l" indent="0" marL="0">
              <a:buNone/>
            </a:pPr>
            <a:r>
              <a:rPr lang="en-US" sz="4400" b="1" dirty="0">
                <a:solidFill>
                  <a:srgbClr val="EDA63F"/>
                </a:solidFill>
                <a:latin typeface="Courier New" pitchFamily="34" charset="0"/>
                <a:ea typeface="Courier New" pitchFamily="34" charset="-122"/>
                <a:cs typeface="Courier New" pitchFamily="34" charset="-120"/>
              </a:rPr>
              <a:t>mov</a:t>
            </a:r>
            <a:endParaRPr lang="en-US" sz="4400" dirty="0"/>
          </a:p>
        </p:txBody>
      </p:sp>
      <p:sp>
        <p:nvSpPr>
          <p:cNvPr id="9" name="Text 7"/>
          <p:cNvSpPr txBox="1"/>
          <p:nvPr/>
        </p:nvSpPr>
        <p:spPr>
          <a:xfrm>
            <a:off x="2910840" y="1938528"/>
            <a:ext cx="1005840" cy="731520"/>
          </a:xfrm>
          <a:prstGeom prst="rect">
            <a:avLst/>
          </a:prstGeom>
          <a:noFill/>
          <a:ln/>
        </p:spPr>
        <p:txBody>
          <a:bodyPr wrap="square" lIns="0" tIns="0" rIns="0" bIns="0" rtlCol="0" anchor="ctr"/>
          <a:lstStyle/>
          <a:p>
            <a:pPr algn="l" indent="0" marL="0">
              <a:buNone/>
            </a:pPr>
            <a:r>
              <a:rPr lang="en-US" sz="4400" b="1" dirty="0">
                <a:solidFill>
                  <a:srgbClr val="3EB9CE"/>
                </a:solidFill>
                <a:latin typeface="Courier New" pitchFamily="34" charset="0"/>
                <a:ea typeface="Courier New" pitchFamily="34" charset="-122"/>
                <a:cs typeface="Courier New" pitchFamily="34" charset="-120"/>
              </a:rPr>
              <a:t>dl,</a:t>
            </a:r>
            <a:endParaRPr lang="en-US" sz="4400" dirty="0"/>
          </a:p>
        </p:txBody>
      </p:sp>
      <p:sp>
        <p:nvSpPr>
          <p:cNvPr id="10" name="Text 8"/>
          <p:cNvSpPr txBox="1"/>
          <p:nvPr/>
        </p:nvSpPr>
        <p:spPr>
          <a:xfrm>
            <a:off x="4251960" y="1938528"/>
            <a:ext cx="1005840" cy="731520"/>
          </a:xfrm>
          <a:prstGeom prst="rect">
            <a:avLst/>
          </a:prstGeom>
          <a:noFill/>
          <a:ln/>
        </p:spPr>
        <p:txBody>
          <a:bodyPr wrap="square" lIns="0" tIns="0" rIns="0" bIns="0" rtlCol="0" anchor="ctr"/>
          <a:lstStyle/>
          <a:p>
            <a:pPr algn="l" indent="0" marL="0">
              <a:buNone/>
            </a:pPr>
            <a:r>
              <a:rPr lang="en-US" sz="4400" b="1" dirty="0">
                <a:solidFill>
                  <a:srgbClr val="9584E8"/>
                </a:solidFill>
                <a:latin typeface="Courier New" pitchFamily="34" charset="0"/>
                <a:ea typeface="Courier New" pitchFamily="34" charset="-122"/>
                <a:cs typeface="Courier New" pitchFamily="34" charset="-120"/>
              </a:rPr>
              <a:t>'A'</a:t>
            </a:r>
            <a:endParaRPr lang="en-US" sz="4400" dirty="0"/>
          </a:p>
        </p:txBody>
      </p:sp>
      <p:sp>
        <p:nvSpPr>
          <p:cNvPr id="11" name="Text 9"/>
          <p:cNvSpPr txBox="1"/>
          <p:nvPr/>
        </p:nvSpPr>
        <p:spPr>
          <a:xfrm>
            <a:off x="822960" y="2743200"/>
            <a:ext cx="1828800" cy="237744"/>
          </a:xfrm>
          <a:prstGeom prst="rect">
            <a:avLst/>
          </a:prstGeom>
          <a:noFill/>
          <a:ln/>
        </p:spPr>
        <p:txBody>
          <a:bodyPr wrap="square" lIns="0" tIns="0" rIns="0" bIns="0" rtlCol="0" anchor="t"/>
          <a:lstStyle/>
          <a:p>
            <a:pPr algn="ctr" indent="0" marL="0">
              <a:buNone/>
            </a:pPr>
            <a:r>
              <a:rPr lang="en-US" sz="1000" b="1" spc="130" kern="0" dirty="0">
                <a:solidFill>
                  <a:srgbClr val="EDA63F"/>
                </a:solidFill>
                <a:latin typeface="Courier New" pitchFamily="34" charset="0"/>
                <a:ea typeface="Courier New" pitchFamily="34" charset="-122"/>
                <a:cs typeface="Courier New" pitchFamily="34" charset="-120"/>
              </a:rPr>
              <a:t>COPY</a:t>
            </a:r>
            <a:endParaRPr lang="en-US" sz="1000" dirty="0"/>
          </a:p>
        </p:txBody>
      </p:sp>
      <p:sp>
        <p:nvSpPr>
          <p:cNvPr id="12" name="Text 10"/>
          <p:cNvSpPr txBox="1"/>
          <p:nvPr/>
        </p:nvSpPr>
        <p:spPr>
          <a:xfrm>
            <a:off x="2331720" y="2743200"/>
            <a:ext cx="1828800" cy="237744"/>
          </a:xfrm>
          <a:prstGeom prst="rect">
            <a:avLst/>
          </a:prstGeom>
          <a:noFill/>
          <a:ln/>
        </p:spPr>
        <p:txBody>
          <a:bodyPr wrap="square" lIns="0" tIns="0" rIns="0" bIns="0" rtlCol="0" anchor="t"/>
          <a:lstStyle/>
          <a:p>
            <a:pPr algn="ctr" indent="0" marL="0">
              <a:buNone/>
            </a:pPr>
            <a:r>
              <a:rPr lang="en-US" sz="1000" b="1" spc="130" kern="0" dirty="0">
                <a:solidFill>
                  <a:srgbClr val="3EB9CE"/>
                </a:solidFill>
                <a:latin typeface="Courier New" pitchFamily="34" charset="0"/>
                <a:ea typeface="Courier New" pitchFamily="34" charset="-122"/>
                <a:cs typeface="Courier New" pitchFamily="34" charset="-120"/>
              </a:rPr>
              <a:t>DESTINATION</a:t>
            </a:r>
            <a:endParaRPr lang="en-US" sz="1000" dirty="0"/>
          </a:p>
        </p:txBody>
      </p:sp>
      <p:sp>
        <p:nvSpPr>
          <p:cNvPr id="13" name="Text 11"/>
          <p:cNvSpPr txBox="1"/>
          <p:nvPr/>
        </p:nvSpPr>
        <p:spPr>
          <a:xfrm>
            <a:off x="3840480" y="2743200"/>
            <a:ext cx="1828800" cy="237744"/>
          </a:xfrm>
          <a:prstGeom prst="rect">
            <a:avLst/>
          </a:prstGeom>
          <a:noFill/>
          <a:ln/>
        </p:spPr>
        <p:txBody>
          <a:bodyPr wrap="square" lIns="0" tIns="0" rIns="0" bIns="0" rtlCol="0" anchor="t"/>
          <a:lstStyle/>
          <a:p>
            <a:pPr algn="ctr" indent="0" marL="0">
              <a:buNone/>
            </a:pPr>
            <a:r>
              <a:rPr lang="en-US" sz="1000" b="1" spc="130" kern="0" dirty="0">
                <a:solidFill>
                  <a:srgbClr val="9584E8"/>
                </a:solidFill>
                <a:latin typeface="Courier New" pitchFamily="34" charset="0"/>
                <a:ea typeface="Courier New" pitchFamily="34" charset="-122"/>
                <a:cs typeface="Courier New" pitchFamily="34" charset="-120"/>
              </a:rPr>
              <a:t>SOURCE</a:t>
            </a:r>
            <a:endParaRPr lang="en-US" sz="1000" dirty="0"/>
          </a:p>
        </p:txBody>
      </p:sp>
      <p:sp>
        <p:nvSpPr>
          <p:cNvPr id="14" name="Shape 12"/>
          <p:cNvSpPr/>
          <p:nvPr/>
        </p:nvSpPr>
        <p:spPr>
          <a:xfrm>
            <a:off x="5715000" y="2304288"/>
            <a:ext cx="1097280" cy="0"/>
          </a:xfrm>
          <a:prstGeom prst="line">
            <a:avLst/>
          </a:prstGeom>
          <a:noFill/>
          <a:ln w="19050">
            <a:solidFill>
              <a:srgbClr val="93A0B2"/>
            </a:solidFill>
            <a:prstDash val="solid"/>
            <a:tailEnd type="triangle"/>
          </a:ln>
        </p:spPr>
      </p:sp>
      <p:sp>
        <p:nvSpPr>
          <p:cNvPr id="15" name="Text 13"/>
          <p:cNvSpPr txBox="1"/>
          <p:nvPr/>
        </p:nvSpPr>
        <p:spPr>
          <a:xfrm>
            <a:off x="5577840" y="1920240"/>
            <a:ext cx="1371600" cy="274320"/>
          </a:xfrm>
          <a:prstGeom prst="rect">
            <a:avLst/>
          </a:prstGeom>
          <a:noFill/>
          <a:ln/>
        </p:spPr>
        <p:txBody>
          <a:bodyPr wrap="square" lIns="0" tIns="0" rIns="0" bIns="0" rtlCol="0" anchor="t"/>
          <a:lstStyle/>
          <a:p>
            <a:pPr algn="ctr" indent="0" marL="0">
              <a:buNone/>
            </a:pPr>
            <a:r>
              <a:rPr lang="en-US" sz="1200" i="1" dirty="0">
                <a:solidFill>
                  <a:srgbClr val="94A3B8"/>
                </a:solidFill>
                <a:latin typeface="Calibri" pitchFamily="34" charset="0"/>
                <a:ea typeface="Calibri" pitchFamily="34" charset="-122"/>
                <a:cs typeface="Calibri" pitchFamily="34" charset="-120"/>
              </a:rPr>
              <a:t>read it as</a:t>
            </a:r>
            <a:endParaRPr lang="en-US" sz="1200" dirty="0"/>
          </a:p>
        </p:txBody>
      </p:sp>
      <p:sp>
        <p:nvSpPr>
          <p:cNvPr id="16" name="Text 14"/>
          <p:cNvSpPr txBox="1"/>
          <p:nvPr/>
        </p:nvSpPr>
        <p:spPr>
          <a:xfrm>
            <a:off x="7178040" y="1938528"/>
            <a:ext cx="670560" cy="731520"/>
          </a:xfrm>
          <a:prstGeom prst="rect">
            <a:avLst/>
          </a:prstGeom>
          <a:noFill/>
          <a:ln/>
        </p:spPr>
        <p:txBody>
          <a:bodyPr wrap="square" lIns="0" tIns="0" rIns="0" bIns="0" rtlCol="0" anchor="ctr"/>
          <a:lstStyle/>
          <a:p>
            <a:pPr algn="l" indent="0" marL="0">
              <a:buNone/>
            </a:pPr>
            <a:r>
              <a:rPr lang="en-US" sz="4400" b="1" dirty="0">
                <a:solidFill>
                  <a:srgbClr val="3EB9CE"/>
                </a:solidFill>
                <a:latin typeface="Courier New" pitchFamily="34" charset="0"/>
                <a:ea typeface="Courier New" pitchFamily="34" charset="-122"/>
                <a:cs typeface="Courier New" pitchFamily="34" charset="-120"/>
              </a:rPr>
              <a:t>DL</a:t>
            </a:r>
            <a:endParaRPr lang="en-US" sz="4400" dirty="0"/>
          </a:p>
        </p:txBody>
      </p:sp>
      <p:sp>
        <p:nvSpPr>
          <p:cNvPr id="17" name="Text 15"/>
          <p:cNvSpPr txBox="1"/>
          <p:nvPr/>
        </p:nvSpPr>
        <p:spPr>
          <a:xfrm>
            <a:off x="8183880" y="1938528"/>
            <a:ext cx="335280" cy="731520"/>
          </a:xfrm>
          <a:prstGeom prst="rect">
            <a:avLst/>
          </a:prstGeom>
          <a:noFill/>
          <a:ln/>
        </p:spPr>
        <p:txBody>
          <a:bodyPr wrap="square" lIns="0" tIns="0" rIns="0" bIns="0" rtlCol="0" anchor="ctr"/>
          <a:lstStyle/>
          <a:p>
            <a:pPr algn="l" indent="0" marL="0">
              <a:buNone/>
            </a:pPr>
            <a:r>
              <a:rPr lang="en-US" sz="4400" b="1" dirty="0">
                <a:solidFill>
                  <a:srgbClr val="F0F3F8"/>
                </a:solidFill>
                <a:latin typeface="Courier New" pitchFamily="34" charset="0"/>
                <a:ea typeface="Courier New" pitchFamily="34" charset="-122"/>
                <a:cs typeface="Courier New" pitchFamily="34" charset="-120"/>
              </a:rPr>
              <a:t>=</a:t>
            </a:r>
            <a:endParaRPr lang="en-US" sz="4400" dirty="0"/>
          </a:p>
        </p:txBody>
      </p:sp>
      <p:sp>
        <p:nvSpPr>
          <p:cNvPr id="18" name="Text 16"/>
          <p:cNvSpPr txBox="1"/>
          <p:nvPr/>
        </p:nvSpPr>
        <p:spPr>
          <a:xfrm>
            <a:off x="8854440" y="1938528"/>
            <a:ext cx="1005840" cy="731520"/>
          </a:xfrm>
          <a:prstGeom prst="rect">
            <a:avLst/>
          </a:prstGeom>
          <a:noFill/>
          <a:ln/>
        </p:spPr>
        <p:txBody>
          <a:bodyPr wrap="square" lIns="0" tIns="0" rIns="0" bIns="0" rtlCol="0" anchor="ctr"/>
          <a:lstStyle/>
          <a:p>
            <a:pPr algn="l" indent="0" marL="0">
              <a:buNone/>
            </a:pPr>
            <a:r>
              <a:rPr lang="en-US" sz="4400" b="1" dirty="0">
                <a:solidFill>
                  <a:srgbClr val="9584E8"/>
                </a:solidFill>
                <a:latin typeface="Courier New" pitchFamily="34" charset="0"/>
                <a:ea typeface="Courier New" pitchFamily="34" charset="-122"/>
                <a:cs typeface="Courier New" pitchFamily="34" charset="-120"/>
              </a:rPr>
              <a:t>'A'</a:t>
            </a:r>
            <a:endParaRPr lang="en-US" sz="4400" dirty="0"/>
          </a:p>
        </p:txBody>
      </p:sp>
      <p:sp>
        <p:nvSpPr>
          <p:cNvPr id="19" name="Text 17"/>
          <p:cNvSpPr txBox="1"/>
          <p:nvPr/>
        </p:nvSpPr>
        <p:spPr>
          <a:xfrm>
            <a:off x="6995160" y="2743200"/>
            <a:ext cx="3017520" cy="237744"/>
          </a:xfrm>
          <a:prstGeom prst="rect">
            <a:avLst/>
          </a:prstGeom>
          <a:noFill/>
          <a:ln/>
        </p:spPr>
        <p:txBody>
          <a:bodyPr wrap="square" lIns="0" tIns="0" rIns="0" bIns="0" rtlCol="0" anchor="t"/>
          <a:lstStyle/>
          <a:p>
            <a:pPr algn="ctr" indent="0" marL="0">
              <a:buNone/>
            </a:pPr>
            <a:r>
              <a:rPr lang="en-US" sz="1200" i="1" dirty="0">
                <a:solidFill>
                  <a:srgbClr val="94A3B8"/>
                </a:solidFill>
                <a:latin typeface="Calibri" pitchFamily="34" charset="0"/>
                <a:ea typeface="Calibri" pitchFamily="34" charset="-122"/>
                <a:cs typeface="Calibri" pitchFamily="34" charset="-120"/>
              </a:rPr>
              <a:t>like x = 5 in C++ or Python</a:t>
            </a:r>
            <a:endParaRPr lang="en-US" sz="1200" dirty="0"/>
          </a:p>
        </p:txBody>
      </p:sp>
      <p:sp>
        <p:nvSpPr>
          <p:cNvPr id="20" name="Text 18"/>
          <p:cNvSpPr txBox="1"/>
          <p:nvPr/>
        </p:nvSpPr>
        <p:spPr>
          <a:xfrm>
            <a:off x="640080" y="3584448"/>
            <a:ext cx="1828800" cy="219456"/>
          </a:xfrm>
          <a:prstGeom prst="rect">
            <a:avLst/>
          </a:prstGeom>
          <a:noFill/>
          <a:ln/>
        </p:spPr>
        <p:txBody>
          <a:bodyPr wrap="square" lIns="0" tIns="0" rIns="0" bIns="0" rtlCol="0" anchor="t"/>
          <a:lstStyle/>
          <a:p>
            <a:pPr algn="l" indent="0" marL="0">
              <a:buNone/>
            </a:pPr>
            <a:r>
              <a:rPr lang="en-US" sz="950" b="1" spc="130" kern="0" dirty="0">
                <a:solidFill>
                  <a:srgbClr val="93A0B2"/>
                </a:solidFill>
                <a:latin typeface="Courier New" pitchFamily="34" charset="0"/>
                <a:ea typeface="Courier New" pitchFamily="34" charset="-122"/>
                <a:cs typeface="Courier New" pitchFamily="34" charset="-120"/>
              </a:rPr>
              <a:t>BEFORE</a:t>
            </a:r>
            <a:endParaRPr lang="en-US" sz="950" dirty="0"/>
          </a:p>
        </p:txBody>
      </p:sp>
      <p:sp>
        <p:nvSpPr>
          <p:cNvPr id="21" name="Text 19"/>
          <p:cNvSpPr txBox="1"/>
          <p:nvPr/>
        </p:nvSpPr>
        <p:spPr>
          <a:xfrm>
            <a:off x="9171432" y="3584448"/>
            <a:ext cx="1828800" cy="219456"/>
          </a:xfrm>
          <a:prstGeom prst="rect">
            <a:avLst/>
          </a:prstGeom>
          <a:noFill/>
          <a:ln/>
        </p:spPr>
        <p:txBody>
          <a:bodyPr wrap="square" lIns="0" tIns="0" rIns="0" bIns="0" rtlCol="0" anchor="t"/>
          <a:lstStyle/>
          <a:p>
            <a:pPr algn="l" indent="0" marL="0">
              <a:buNone/>
            </a:pPr>
            <a:r>
              <a:rPr lang="en-US" sz="950" b="1" spc="130" kern="0" dirty="0">
                <a:solidFill>
                  <a:srgbClr val="93A0B2"/>
                </a:solidFill>
                <a:latin typeface="Courier New" pitchFamily="34" charset="0"/>
                <a:ea typeface="Courier New" pitchFamily="34" charset="-122"/>
                <a:cs typeface="Courier New" pitchFamily="34" charset="-120"/>
              </a:rPr>
              <a:t>AFTER</a:t>
            </a:r>
            <a:endParaRPr lang="en-US" sz="950" dirty="0"/>
          </a:p>
        </p:txBody>
      </p:sp>
      <p:sp>
        <p:nvSpPr>
          <p:cNvPr id="22" name="Shape 20"/>
          <p:cNvSpPr/>
          <p:nvPr/>
        </p:nvSpPr>
        <p:spPr>
          <a:xfrm>
            <a:off x="640080" y="3886200"/>
            <a:ext cx="2377440" cy="777240"/>
          </a:xfrm>
          <a:prstGeom prst="roundRect">
            <a:avLst>
              <a:gd name="adj" fmla="val 6670"/>
            </a:avLst>
          </a:prstGeom>
          <a:solidFill>
            <a:srgbClr val="FBEBD2"/>
          </a:solidFill>
          <a:ln w="12700">
            <a:solidFill>
              <a:srgbClr val="D98A1F"/>
            </a:solidFill>
            <a:prstDash val="solid"/>
          </a:ln>
        </p:spPr>
      </p:sp>
      <p:sp>
        <p:nvSpPr>
          <p:cNvPr id="23" name="Text 21"/>
          <p:cNvSpPr txBox="1"/>
          <p:nvPr/>
        </p:nvSpPr>
        <p:spPr>
          <a:xfrm>
            <a:off x="804672" y="3886200"/>
            <a:ext cx="950976" cy="777240"/>
          </a:xfrm>
          <a:prstGeom prst="rect">
            <a:avLst/>
          </a:prstGeom>
          <a:noFill/>
          <a:ln/>
        </p:spPr>
        <p:txBody>
          <a:bodyPr wrap="square" lIns="0" tIns="0" rIns="0" bIns="0" rtlCol="0" anchor="ctr"/>
          <a:lstStyle/>
          <a:p>
            <a:pPr algn="l" indent="0" marL="0">
              <a:buNone/>
            </a:pPr>
            <a:r>
              <a:rPr lang="en-US" sz="2000" b="1" dirty="0">
                <a:solidFill>
                  <a:srgbClr val="D98A1F"/>
                </a:solidFill>
                <a:latin typeface="Courier New" pitchFamily="34" charset="0"/>
                <a:ea typeface="Courier New" pitchFamily="34" charset="-122"/>
                <a:cs typeface="Courier New" pitchFamily="34" charset="-120"/>
              </a:rPr>
              <a:t>DL</a:t>
            </a:r>
            <a:endParaRPr lang="en-US" sz="2000" dirty="0"/>
          </a:p>
        </p:txBody>
      </p:sp>
      <p:sp>
        <p:nvSpPr>
          <p:cNvPr id="24" name="Shape 22"/>
          <p:cNvSpPr/>
          <p:nvPr/>
        </p:nvSpPr>
        <p:spPr>
          <a:xfrm>
            <a:off x="1795882" y="4005072"/>
            <a:ext cx="1093622" cy="539496"/>
          </a:xfrm>
          <a:prstGeom prst="roundRect">
            <a:avLst>
              <a:gd name="adj" fmla="val 6670"/>
            </a:avLst>
          </a:prstGeom>
          <a:solidFill>
            <a:srgbClr val="FFFFFF"/>
          </a:solidFill>
          <a:ln w="12700">
            <a:solidFill>
              <a:srgbClr val="D98A1F"/>
            </a:solidFill>
            <a:prstDash val="solid"/>
          </a:ln>
        </p:spPr>
      </p:sp>
      <p:sp>
        <p:nvSpPr>
          <p:cNvPr id="25" name="Text 23"/>
          <p:cNvSpPr txBox="1"/>
          <p:nvPr/>
        </p:nvSpPr>
        <p:spPr>
          <a:xfrm>
            <a:off x="1795882" y="4005072"/>
            <a:ext cx="1093622" cy="539496"/>
          </a:xfrm>
          <a:prstGeom prst="rect">
            <a:avLst/>
          </a:prstGeom>
          <a:noFill/>
          <a:ln/>
        </p:spPr>
        <p:txBody>
          <a:bodyPr wrap="square" lIns="0" tIns="0" rIns="0" bIns="0" rtlCol="0" anchor="ctr"/>
          <a:lstStyle/>
          <a:p>
            <a:pPr algn="ctr" indent="0" marL="0">
              <a:buNone/>
            </a:pPr>
            <a:r>
              <a:rPr lang="en-US" sz="2000" b="1" dirty="0">
                <a:solidFill>
                  <a:srgbClr val="93A0B2"/>
                </a:solidFill>
                <a:latin typeface="Courier New" pitchFamily="34" charset="0"/>
                <a:ea typeface="Courier New" pitchFamily="34" charset="-122"/>
                <a:cs typeface="Courier New" pitchFamily="34" charset="-120"/>
              </a:rPr>
              <a:t>?</a:t>
            </a:r>
            <a:endParaRPr lang="en-US" sz="2000" dirty="0"/>
          </a:p>
        </p:txBody>
      </p:sp>
      <p:sp>
        <p:nvSpPr>
          <p:cNvPr id="26" name="Shape 24"/>
          <p:cNvSpPr/>
          <p:nvPr/>
        </p:nvSpPr>
        <p:spPr>
          <a:xfrm>
            <a:off x="3154680" y="4274820"/>
            <a:ext cx="5879592" cy="0"/>
          </a:xfrm>
          <a:prstGeom prst="line">
            <a:avLst/>
          </a:prstGeom>
          <a:noFill/>
          <a:ln w="19050">
            <a:solidFill>
              <a:srgbClr val="93A0B2"/>
            </a:solidFill>
            <a:prstDash val="solid"/>
            <a:tailEnd type="triangle"/>
          </a:ln>
        </p:spPr>
      </p:sp>
      <p:sp>
        <p:nvSpPr>
          <p:cNvPr id="27" name="Shape 25"/>
          <p:cNvSpPr/>
          <p:nvPr/>
        </p:nvSpPr>
        <p:spPr>
          <a:xfrm>
            <a:off x="4828032" y="4041648"/>
            <a:ext cx="2560320" cy="475488"/>
          </a:xfrm>
          <a:prstGeom prst="roundRect">
            <a:avLst>
              <a:gd name="adj" fmla="val 6670"/>
            </a:avLst>
          </a:prstGeom>
          <a:solidFill>
            <a:srgbClr val="121A29"/>
          </a:solidFill>
          <a:ln w="12700">
            <a:solidFill>
              <a:srgbClr val="2B3850"/>
            </a:solidFill>
            <a:prstDash val="solid"/>
          </a:ln>
        </p:spPr>
      </p:sp>
      <p:sp>
        <p:nvSpPr>
          <p:cNvPr id="28" name="Text 26"/>
          <p:cNvSpPr txBox="1"/>
          <p:nvPr/>
        </p:nvSpPr>
        <p:spPr>
          <a:xfrm>
            <a:off x="4828032" y="4041648"/>
            <a:ext cx="2560320" cy="475488"/>
          </a:xfrm>
          <a:prstGeom prst="rect">
            <a:avLst/>
          </a:prstGeom>
          <a:noFill/>
          <a:ln/>
        </p:spPr>
        <p:txBody>
          <a:bodyPr wrap="square" lIns="0" tIns="0" rIns="0" bIns="0" rtlCol="0" anchor="ctr"/>
          <a:lstStyle/>
          <a:p>
            <a:pPr algn="ctr" indent="0" marL="0">
              <a:buNone/>
            </a:pPr>
            <a:r>
              <a:rPr lang="en-US" sz="1600" b="1" dirty="0">
                <a:solidFill>
                  <a:srgbClr val="EDA63F"/>
                </a:solidFill>
                <a:latin typeface="Courier New" pitchFamily="34" charset="0"/>
                <a:ea typeface="Courier New" pitchFamily="34" charset="-122"/>
                <a:cs typeface="Courier New" pitchFamily="34" charset="-120"/>
              </a:rPr>
              <a:t>mov</a:t>
            </a:r>
            <a:pPr algn="ctr" indent="0" marL="0">
              <a:buNone/>
            </a:pPr>
            <a:r>
              <a:rPr lang="en-US" sz="1600" dirty="0">
                <a:solidFill>
                  <a:srgbClr val="F0F3F8"/>
                </a:solidFill>
                <a:latin typeface="Courier New" pitchFamily="34" charset="0"/>
                <a:ea typeface="Courier New" pitchFamily="34" charset="-122"/>
                <a:cs typeface="Courier New" pitchFamily="34" charset="-120"/>
              </a:rPr>
              <a:t> </a:t>
            </a:r>
            <a:pPr algn="ctr" indent="0" marL="0">
              <a:buNone/>
            </a:pPr>
            <a:r>
              <a:rPr lang="en-US" sz="1600" b="1" dirty="0">
                <a:solidFill>
                  <a:srgbClr val="3EB9CE"/>
                </a:solidFill>
                <a:latin typeface="Courier New" pitchFamily="34" charset="0"/>
                <a:ea typeface="Courier New" pitchFamily="34" charset="-122"/>
                <a:cs typeface="Courier New" pitchFamily="34" charset="-120"/>
              </a:rPr>
              <a:t>dl</a:t>
            </a:r>
            <a:pPr algn="ctr" indent="0" marL="0">
              <a:buNone/>
            </a:pPr>
            <a:r>
              <a:rPr lang="en-US" sz="1600" dirty="0">
                <a:solidFill>
                  <a:srgbClr val="F0F3F8"/>
                </a:solidFill>
                <a:latin typeface="Courier New" pitchFamily="34" charset="0"/>
                <a:ea typeface="Courier New" pitchFamily="34" charset="-122"/>
                <a:cs typeface="Courier New" pitchFamily="34" charset="-120"/>
              </a:rPr>
              <a:t>,</a:t>
            </a:r>
            <a:pPr algn="ctr" indent="0" marL="0">
              <a:buNone/>
            </a:pPr>
            <a:r>
              <a:rPr lang="en-US" sz="1600" dirty="0">
                <a:solidFill>
                  <a:srgbClr val="F0F3F8"/>
                </a:solidFill>
                <a:latin typeface="Courier New" pitchFamily="34" charset="0"/>
                <a:ea typeface="Courier New" pitchFamily="34" charset="-122"/>
                <a:cs typeface="Courier New" pitchFamily="34" charset="-120"/>
              </a:rPr>
              <a:t> </a:t>
            </a:r>
            <a:pPr algn="ctr" indent="0" marL="0">
              <a:buNone/>
            </a:pPr>
            <a:r>
              <a:rPr lang="en-US" sz="1600" b="1" dirty="0">
                <a:solidFill>
                  <a:srgbClr val="9584E8"/>
                </a:solidFill>
                <a:latin typeface="Courier New" pitchFamily="34" charset="0"/>
                <a:ea typeface="Courier New" pitchFamily="34" charset="-122"/>
                <a:cs typeface="Courier New" pitchFamily="34" charset="-120"/>
              </a:rPr>
              <a:t>'A'</a:t>
            </a:r>
            <a:endParaRPr lang="en-US" sz="1600" dirty="0"/>
          </a:p>
        </p:txBody>
      </p:sp>
      <p:sp>
        <p:nvSpPr>
          <p:cNvPr id="29" name="Shape 27"/>
          <p:cNvSpPr/>
          <p:nvPr/>
        </p:nvSpPr>
        <p:spPr>
          <a:xfrm>
            <a:off x="9171432" y="3886200"/>
            <a:ext cx="2377440" cy="777240"/>
          </a:xfrm>
          <a:prstGeom prst="roundRect">
            <a:avLst>
              <a:gd name="adj" fmla="val 6670"/>
            </a:avLst>
          </a:prstGeom>
          <a:solidFill>
            <a:srgbClr val="FBEBD2"/>
          </a:solidFill>
          <a:ln w="12700">
            <a:solidFill>
              <a:srgbClr val="D98A1F"/>
            </a:solidFill>
            <a:prstDash val="solid"/>
          </a:ln>
        </p:spPr>
      </p:sp>
      <p:sp>
        <p:nvSpPr>
          <p:cNvPr id="30" name="Text 28"/>
          <p:cNvSpPr txBox="1"/>
          <p:nvPr/>
        </p:nvSpPr>
        <p:spPr>
          <a:xfrm>
            <a:off x="9336024" y="3886200"/>
            <a:ext cx="950976" cy="777240"/>
          </a:xfrm>
          <a:prstGeom prst="rect">
            <a:avLst/>
          </a:prstGeom>
          <a:noFill/>
          <a:ln/>
        </p:spPr>
        <p:txBody>
          <a:bodyPr wrap="square" lIns="0" tIns="0" rIns="0" bIns="0" rtlCol="0" anchor="ctr"/>
          <a:lstStyle/>
          <a:p>
            <a:pPr algn="l" indent="0" marL="0">
              <a:buNone/>
            </a:pPr>
            <a:r>
              <a:rPr lang="en-US" sz="2000" b="1" dirty="0">
                <a:solidFill>
                  <a:srgbClr val="D98A1F"/>
                </a:solidFill>
                <a:latin typeface="Courier New" pitchFamily="34" charset="0"/>
                <a:ea typeface="Courier New" pitchFamily="34" charset="-122"/>
                <a:cs typeface="Courier New" pitchFamily="34" charset="-120"/>
              </a:rPr>
              <a:t>DL</a:t>
            </a:r>
            <a:endParaRPr lang="en-US" sz="2000" dirty="0"/>
          </a:p>
        </p:txBody>
      </p:sp>
      <p:sp>
        <p:nvSpPr>
          <p:cNvPr id="31" name="Shape 29"/>
          <p:cNvSpPr/>
          <p:nvPr/>
        </p:nvSpPr>
        <p:spPr>
          <a:xfrm>
            <a:off x="10327234" y="4005072"/>
            <a:ext cx="1093622" cy="539496"/>
          </a:xfrm>
          <a:prstGeom prst="roundRect">
            <a:avLst>
              <a:gd name="adj" fmla="val 6670"/>
            </a:avLst>
          </a:prstGeom>
          <a:solidFill>
            <a:srgbClr val="FFFFFF"/>
          </a:solidFill>
          <a:ln w="12700">
            <a:solidFill>
              <a:srgbClr val="D98A1F"/>
            </a:solidFill>
            <a:prstDash val="solid"/>
          </a:ln>
        </p:spPr>
      </p:sp>
      <p:sp>
        <p:nvSpPr>
          <p:cNvPr id="32" name="Text 30"/>
          <p:cNvSpPr txBox="1"/>
          <p:nvPr/>
        </p:nvSpPr>
        <p:spPr>
          <a:xfrm>
            <a:off x="10327234" y="4005072"/>
            <a:ext cx="1093622" cy="539496"/>
          </a:xfrm>
          <a:prstGeom prst="rect">
            <a:avLst/>
          </a:prstGeom>
          <a:noFill/>
          <a:ln/>
        </p:spPr>
        <p:txBody>
          <a:bodyPr wrap="square" lIns="0" tIns="0" rIns="0" bIns="0" rtlCol="0" anchor="ctr"/>
          <a:lstStyle/>
          <a:p>
            <a:pPr algn="ctr" indent="0" marL="0">
              <a:buNone/>
            </a:pPr>
            <a:r>
              <a:rPr lang="en-US" sz="2000" b="1" dirty="0">
                <a:solidFill>
                  <a:srgbClr val="0F1622"/>
                </a:solidFill>
                <a:latin typeface="Courier New" pitchFamily="34" charset="0"/>
                <a:ea typeface="Courier New" pitchFamily="34" charset="-122"/>
                <a:cs typeface="Courier New" pitchFamily="34" charset="-120"/>
              </a:rPr>
              <a:t>'A'</a:t>
            </a:r>
            <a:endParaRPr lang="en-US" sz="2000" dirty="0"/>
          </a:p>
        </p:txBody>
      </p:sp>
      <p:sp>
        <p:nvSpPr>
          <p:cNvPr id="33" name="Shape 31"/>
          <p:cNvSpPr/>
          <p:nvPr/>
        </p:nvSpPr>
        <p:spPr>
          <a:xfrm>
            <a:off x="640080" y="4846320"/>
            <a:ext cx="2377440" cy="777240"/>
          </a:xfrm>
          <a:prstGeom prst="roundRect">
            <a:avLst>
              <a:gd name="adj" fmla="val 6670"/>
            </a:avLst>
          </a:prstGeom>
          <a:solidFill>
            <a:srgbClr val="D7EEF2"/>
          </a:solidFill>
          <a:ln w="12700">
            <a:solidFill>
              <a:srgbClr val="18879B"/>
            </a:solidFill>
            <a:prstDash val="solid"/>
          </a:ln>
        </p:spPr>
      </p:sp>
      <p:sp>
        <p:nvSpPr>
          <p:cNvPr id="34" name="Text 32"/>
          <p:cNvSpPr txBox="1"/>
          <p:nvPr/>
        </p:nvSpPr>
        <p:spPr>
          <a:xfrm>
            <a:off x="804672" y="4846320"/>
            <a:ext cx="950976" cy="777240"/>
          </a:xfrm>
          <a:prstGeom prst="rect">
            <a:avLst/>
          </a:prstGeom>
          <a:noFill/>
          <a:ln/>
        </p:spPr>
        <p:txBody>
          <a:bodyPr wrap="square" lIns="0" tIns="0" rIns="0" bIns="0" rtlCol="0" anchor="ctr"/>
          <a:lstStyle/>
          <a:p>
            <a:pPr algn="l" indent="0" marL="0">
              <a:buNone/>
            </a:pPr>
            <a:r>
              <a:rPr lang="en-US" sz="2000" b="1" dirty="0">
                <a:solidFill>
                  <a:srgbClr val="18879B"/>
                </a:solidFill>
                <a:latin typeface="Courier New" pitchFamily="34" charset="0"/>
                <a:ea typeface="Courier New" pitchFamily="34" charset="-122"/>
                <a:cs typeface="Courier New" pitchFamily="34" charset="-120"/>
              </a:rPr>
              <a:t>AH</a:t>
            </a:r>
            <a:endParaRPr lang="en-US" sz="2000" dirty="0"/>
          </a:p>
        </p:txBody>
      </p:sp>
      <p:sp>
        <p:nvSpPr>
          <p:cNvPr id="35" name="Shape 33"/>
          <p:cNvSpPr/>
          <p:nvPr/>
        </p:nvSpPr>
        <p:spPr>
          <a:xfrm>
            <a:off x="1795882" y="4965192"/>
            <a:ext cx="1093622" cy="539496"/>
          </a:xfrm>
          <a:prstGeom prst="roundRect">
            <a:avLst>
              <a:gd name="adj" fmla="val 6670"/>
            </a:avLst>
          </a:prstGeom>
          <a:solidFill>
            <a:srgbClr val="FFFFFF"/>
          </a:solidFill>
          <a:ln w="12700">
            <a:solidFill>
              <a:srgbClr val="18879B"/>
            </a:solidFill>
            <a:prstDash val="solid"/>
          </a:ln>
        </p:spPr>
      </p:sp>
      <p:sp>
        <p:nvSpPr>
          <p:cNvPr id="36" name="Text 34"/>
          <p:cNvSpPr txBox="1"/>
          <p:nvPr/>
        </p:nvSpPr>
        <p:spPr>
          <a:xfrm>
            <a:off x="1795882" y="4965192"/>
            <a:ext cx="1093622" cy="539496"/>
          </a:xfrm>
          <a:prstGeom prst="rect">
            <a:avLst/>
          </a:prstGeom>
          <a:noFill/>
          <a:ln/>
        </p:spPr>
        <p:txBody>
          <a:bodyPr wrap="square" lIns="0" tIns="0" rIns="0" bIns="0" rtlCol="0" anchor="ctr"/>
          <a:lstStyle/>
          <a:p>
            <a:pPr algn="ctr" indent="0" marL="0">
              <a:buNone/>
            </a:pPr>
            <a:r>
              <a:rPr lang="en-US" sz="2000" b="1" dirty="0">
                <a:solidFill>
                  <a:srgbClr val="93A0B2"/>
                </a:solidFill>
                <a:latin typeface="Courier New" pitchFamily="34" charset="0"/>
                <a:ea typeface="Courier New" pitchFamily="34" charset="-122"/>
                <a:cs typeface="Courier New" pitchFamily="34" charset="-120"/>
              </a:rPr>
              <a:t>?</a:t>
            </a:r>
            <a:endParaRPr lang="en-US" sz="2000" dirty="0"/>
          </a:p>
        </p:txBody>
      </p:sp>
      <p:sp>
        <p:nvSpPr>
          <p:cNvPr id="37" name="Shape 35"/>
          <p:cNvSpPr/>
          <p:nvPr/>
        </p:nvSpPr>
        <p:spPr>
          <a:xfrm>
            <a:off x="3154680" y="5234940"/>
            <a:ext cx="5879592" cy="0"/>
          </a:xfrm>
          <a:prstGeom prst="line">
            <a:avLst/>
          </a:prstGeom>
          <a:noFill/>
          <a:ln w="19050">
            <a:solidFill>
              <a:srgbClr val="93A0B2"/>
            </a:solidFill>
            <a:prstDash val="solid"/>
            <a:tailEnd type="triangle"/>
          </a:ln>
        </p:spPr>
      </p:sp>
      <p:sp>
        <p:nvSpPr>
          <p:cNvPr id="38" name="Shape 36"/>
          <p:cNvSpPr/>
          <p:nvPr/>
        </p:nvSpPr>
        <p:spPr>
          <a:xfrm>
            <a:off x="4828032" y="5001768"/>
            <a:ext cx="2560320" cy="475488"/>
          </a:xfrm>
          <a:prstGeom prst="roundRect">
            <a:avLst>
              <a:gd name="adj" fmla="val 6670"/>
            </a:avLst>
          </a:prstGeom>
          <a:solidFill>
            <a:srgbClr val="121A29"/>
          </a:solidFill>
          <a:ln w="12700">
            <a:solidFill>
              <a:srgbClr val="2B3850"/>
            </a:solidFill>
            <a:prstDash val="solid"/>
          </a:ln>
        </p:spPr>
      </p:sp>
      <p:sp>
        <p:nvSpPr>
          <p:cNvPr id="39" name="Text 37"/>
          <p:cNvSpPr txBox="1"/>
          <p:nvPr/>
        </p:nvSpPr>
        <p:spPr>
          <a:xfrm>
            <a:off x="4828032" y="5001768"/>
            <a:ext cx="2560320" cy="475488"/>
          </a:xfrm>
          <a:prstGeom prst="rect">
            <a:avLst/>
          </a:prstGeom>
          <a:noFill/>
          <a:ln/>
        </p:spPr>
        <p:txBody>
          <a:bodyPr wrap="square" lIns="0" tIns="0" rIns="0" bIns="0" rtlCol="0" anchor="ctr"/>
          <a:lstStyle/>
          <a:p>
            <a:pPr algn="ctr" indent="0" marL="0">
              <a:buNone/>
            </a:pPr>
            <a:r>
              <a:rPr lang="en-US" sz="1600" b="1" dirty="0">
                <a:solidFill>
                  <a:srgbClr val="EDA63F"/>
                </a:solidFill>
                <a:latin typeface="Courier New" pitchFamily="34" charset="0"/>
                <a:ea typeface="Courier New" pitchFamily="34" charset="-122"/>
                <a:cs typeface="Courier New" pitchFamily="34" charset="-120"/>
              </a:rPr>
              <a:t>mov</a:t>
            </a:r>
            <a:pPr algn="ctr" indent="0" marL="0">
              <a:buNone/>
            </a:pPr>
            <a:r>
              <a:rPr lang="en-US" sz="1600" dirty="0">
                <a:solidFill>
                  <a:srgbClr val="F0F3F8"/>
                </a:solidFill>
                <a:latin typeface="Courier New" pitchFamily="34" charset="0"/>
                <a:ea typeface="Courier New" pitchFamily="34" charset="-122"/>
                <a:cs typeface="Courier New" pitchFamily="34" charset="-120"/>
              </a:rPr>
              <a:t> </a:t>
            </a:r>
            <a:pPr algn="ctr" indent="0" marL="0">
              <a:buNone/>
            </a:pPr>
            <a:r>
              <a:rPr lang="en-US" sz="1600" b="1" dirty="0">
                <a:solidFill>
                  <a:srgbClr val="3EB9CE"/>
                </a:solidFill>
                <a:latin typeface="Courier New" pitchFamily="34" charset="0"/>
                <a:ea typeface="Courier New" pitchFamily="34" charset="-122"/>
                <a:cs typeface="Courier New" pitchFamily="34" charset="-120"/>
              </a:rPr>
              <a:t>ah</a:t>
            </a:r>
            <a:pPr algn="ctr" indent="0" marL="0">
              <a:buNone/>
            </a:pPr>
            <a:r>
              <a:rPr lang="en-US" sz="1600" dirty="0">
                <a:solidFill>
                  <a:srgbClr val="F0F3F8"/>
                </a:solidFill>
                <a:latin typeface="Courier New" pitchFamily="34" charset="0"/>
                <a:ea typeface="Courier New" pitchFamily="34" charset="-122"/>
                <a:cs typeface="Courier New" pitchFamily="34" charset="-120"/>
              </a:rPr>
              <a:t>,</a:t>
            </a:r>
            <a:pPr algn="ctr" indent="0" marL="0">
              <a:buNone/>
            </a:pPr>
            <a:r>
              <a:rPr lang="en-US" sz="1600" dirty="0">
                <a:solidFill>
                  <a:srgbClr val="F0F3F8"/>
                </a:solidFill>
                <a:latin typeface="Courier New" pitchFamily="34" charset="0"/>
                <a:ea typeface="Courier New" pitchFamily="34" charset="-122"/>
                <a:cs typeface="Courier New" pitchFamily="34" charset="-120"/>
              </a:rPr>
              <a:t> </a:t>
            </a:r>
            <a:pPr algn="ctr" indent="0" marL="0">
              <a:buNone/>
            </a:pPr>
            <a:r>
              <a:rPr lang="en-US" sz="1600" b="1" dirty="0">
                <a:solidFill>
                  <a:srgbClr val="9584E8"/>
                </a:solidFill>
                <a:latin typeface="Courier New" pitchFamily="34" charset="0"/>
                <a:ea typeface="Courier New" pitchFamily="34" charset="-122"/>
                <a:cs typeface="Courier New" pitchFamily="34" charset="-120"/>
              </a:rPr>
              <a:t>2</a:t>
            </a:r>
            <a:endParaRPr lang="en-US" sz="1600" dirty="0"/>
          </a:p>
        </p:txBody>
      </p:sp>
      <p:sp>
        <p:nvSpPr>
          <p:cNvPr id="40" name="Shape 38"/>
          <p:cNvSpPr/>
          <p:nvPr/>
        </p:nvSpPr>
        <p:spPr>
          <a:xfrm>
            <a:off x="9171432" y="4846320"/>
            <a:ext cx="2377440" cy="777240"/>
          </a:xfrm>
          <a:prstGeom prst="roundRect">
            <a:avLst>
              <a:gd name="adj" fmla="val 6670"/>
            </a:avLst>
          </a:prstGeom>
          <a:solidFill>
            <a:srgbClr val="D7EEF2"/>
          </a:solidFill>
          <a:ln w="12700">
            <a:solidFill>
              <a:srgbClr val="18879B"/>
            </a:solidFill>
            <a:prstDash val="solid"/>
          </a:ln>
        </p:spPr>
      </p:sp>
      <p:sp>
        <p:nvSpPr>
          <p:cNvPr id="41" name="Text 39"/>
          <p:cNvSpPr txBox="1"/>
          <p:nvPr/>
        </p:nvSpPr>
        <p:spPr>
          <a:xfrm>
            <a:off x="9336024" y="4846320"/>
            <a:ext cx="950976" cy="777240"/>
          </a:xfrm>
          <a:prstGeom prst="rect">
            <a:avLst/>
          </a:prstGeom>
          <a:noFill/>
          <a:ln/>
        </p:spPr>
        <p:txBody>
          <a:bodyPr wrap="square" lIns="0" tIns="0" rIns="0" bIns="0" rtlCol="0" anchor="ctr"/>
          <a:lstStyle/>
          <a:p>
            <a:pPr algn="l" indent="0" marL="0">
              <a:buNone/>
            </a:pPr>
            <a:r>
              <a:rPr lang="en-US" sz="2000" b="1" dirty="0">
                <a:solidFill>
                  <a:srgbClr val="18879B"/>
                </a:solidFill>
                <a:latin typeface="Courier New" pitchFamily="34" charset="0"/>
                <a:ea typeface="Courier New" pitchFamily="34" charset="-122"/>
                <a:cs typeface="Courier New" pitchFamily="34" charset="-120"/>
              </a:rPr>
              <a:t>AH</a:t>
            </a:r>
            <a:endParaRPr lang="en-US" sz="2000" dirty="0"/>
          </a:p>
        </p:txBody>
      </p:sp>
      <p:sp>
        <p:nvSpPr>
          <p:cNvPr id="42" name="Shape 40"/>
          <p:cNvSpPr/>
          <p:nvPr/>
        </p:nvSpPr>
        <p:spPr>
          <a:xfrm>
            <a:off x="10327234" y="4965192"/>
            <a:ext cx="1093622" cy="539496"/>
          </a:xfrm>
          <a:prstGeom prst="roundRect">
            <a:avLst>
              <a:gd name="adj" fmla="val 6670"/>
            </a:avLst>
          </a:prstGeom>
          <a:solidFill>
            <a:srgbClr val="FFFFFF"/>
          </a:solidFill>
          <a:ln w="12700">
            <a:solidFill>
              <a:srgbClr val="18879B"/>
            </a:solidFill>
            <a:prstDash val="solid"/>
          </a:ln>
        </p:spPr>
      </p:sp>
      <p:sp>
        <p:nvSpPr>
          <p:cNvPr id="43" name="Text 41"/>
          <p:cNvSpPr txBox="1"/>
          <p:nvPr/>
        </p:nvSpPr>
        <p:spPr>
          <a:xfrm>
            <a:off x="10327234" y="4965192"/>
            <a:ext cx="1093622" cy="539496"/>
          </a:xfrm>
          <a:prstGeom prst="rect">
            <a:avLst/>
          </a:prstGeom>
          <a:noFill/>
          <a:ln/>
        </p:spPr>
        <p:txBody>
          <a:bodyPr wrap="square" lIns="0" tIns="0" rIns="0" bIns="0" rtlCol="0" anchor="ctr"/>
          <a:lstStyle/>
          <a:p>
            <a:pPr algn="ctr" indent="0" marL="0">
              <a:buNone/>
            </a:pPr>
            <a:r>
              <a:rPr lang="en-US" sz="2000" b="1" dirty="0">
                <a:solidFill>
                  <a:srgbClr val="0F1622"/>
                </a:solidFill>
                <a:latin typeface="Courier New" pitchFamily="34" charset="0"/>
                <a:ea typeface="Courier New" pitchFamily="34" charset="-122"/>
                <a:cs typeface="Courier New" pitchFamily="34" charset="-120"/>
              </a:rPr>
              <a:t>2</a:t>
            </a:r>
            <a:endParaRPr lang="en-US" sz="2000" dirty="0"/>
          </a:p>
        </p:txBody>
      </p:sp>
      <p:sp>
        <p:nvSpPr>
          <p:cNvPr id="44" name="Text 42"/>
          <p:cNvSpPr txBox="1"/>
          <p:nvPr/>
        </p:nvSpPr>
        <p:spPr>
          <a:xfrm>
            <a:off x="640080" y="5833872"/>
            <a:ext cx="10908792" cy="274320"/>
          </a:xfrm>
          <a:prstGeom prst="rect">
            <a:avLst/>
          </a:prstGeom>
          <a:noFill/>
          <a:ln/>
        </p:spPr>
        <p:txBody>
          <a:bodyPr wrap="square" lIns="0" tIns="0" rIns="0" bIns="0" rtlCol="0" anchor="t"/>
          <a:lstStyle/>
          <a:p>
            <a:pPr algn="ctr" indent="0" marL="0">
              <a:buNone/>
            </a:pPr>
            <a:r>
              <a:rPr lang="en-US" sz="1200" i="1" dirty="0">
                <a:solidFill>
                  <a:srgbClr val="5B6779"/>
                </a:solidFill>
                <a:latin typeface="Calibri" pitchFamily="34" charset="0"/>
                <a:ea typeface="Calibri" pitchFamily="34" charset="-122"/>
                <a:cs typeface="Calibri" pitchFamily="34" charset="-120"/>
              </a:rPr>
              <a:t>Whatever was in the register before gets replaced.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5C6B83"/>
                </a:solidFill>
                <a:latin typeface="Courier New" pitchFamily="34" charset="0"/>
                <a:ea typeface="Courier New" pitchFamily="34" charset="-122"/>
                <a:cs typeface="Courier New" pitchFamily="34" charset="-120"/>
              </a:rPr>
              <a:t>5 · CHARACTER OUTPUT</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F0F3F8"/>
                </a:solidFill>
                <a:latin typeface="Arial" pitchFamily="34" charset="0"/>
                <a:ea typeface="Arial" pitchFamily="34" charset="-122"/>
                <a:cs typeface="Arial" pitchFamily="34" charset="-120"/>
              </a:rPr>
              <a:t>Printing one character</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94A3B8"/>
                </a:solidFill>
                <a:latin typeface="Calibri" pitchFamily="34" charset="0"/>
                <a:ea typeface="Calibri" pitchFamily="34" charset="-122"/>
                <a:cs typeface="Calibri" pitchFamily="34" charset="-120"/>
              </a:rPr>
              <a:t>Three lines. Fill DL, fill AH, then ask DOS to do the job.</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5C6B83"/>
                </a:solidFill>
                <a:latin typeface="Courier New" pitchFamily="34" charset="0"/>
                <a:ea typeface="Courier New" pitchFamily="34" charset="-122"/>
                <a:cs typeface="Courier New" pitchFamily="34" charset="-120"/>
              </a:rPr>
              <a:t>COAL  ·  LAB 02</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5C6B83"/>
                </a:solidFill>
                <a:latin typeface="Courier New" pitchFamily="34" charset="0"/>
                <a:ea typeface="Courier New" pitchFamily="34" charset="-122"/>
                <a:cs typeface="Courier New" pitchFamily="34" charset="-120"/>
              </a:rPr>
              <a:t>06</a:t>
            </a:r>
            <a:endParaRPr lang="en-US" sz="900" dirty="0"/>
          </a:p>
        </p:txBody>
      </p:sp>
      <p:sp>
        <p:nvSpPr>
          <p:cNvPr id="7" name="Shape 5"/>
          <p:cNvSpPr/>
          <p:nvPr/>
        </p:nvSpPr>
        <p:spPr>
          <a:xfrm>
            <a:off x="640080" y="1810512"/>
            <a:ext cx="4480560" cy="3063240"/>
          </a:xfrm>
          <a:prstGeom prst="roundRect">
            <a:avLst>
              <a:gd name="adj" fmla="val 6670"/>
            </a:avLst>
          </a:prstGeom>
          <a:solidFill>
            <a:srgbClr val="121A29"/>
          </a:solidFill>
          <a:ln w="12700">
            <a:solidFill>
              <a:srgbClr val="2B3850"/>
            </a:solidFill>
            <a:prstDash val="solid"/>
          </a:ln>
        </p:spPr>
      </p:sp>
      <p:sp>
        <p:nvSpPr>
          <p:cNvPr id="8" name="Shape 6"/>
          <p:cNvSpPr/>
          <p:nvPr/>
        </p:nvSpPr>
        <p:spPr>
          <a:xfrm>
            <a:off x="868680" y="2176272"/>
            <a:ext cx="310896" cy="310896"/>
          </a:xfrm>
          <a:prstGeom prst="ellipse">
            <a:avLst/>
          </a:prstGeom>
          <a:solidFill>
            <a:srgbClr val="233049"/>
          </a:solidFill>
          <a:ln/>
        </p:spPr>
      </p:sp>
      <p:sp>
        <p:nvSpPr>
          <p:cNvPr id="9" name="Text 7"/>
          <p:cNvSpPr txBox="1"/>
          <p:nvPr/>
        </p:nvSpPr>
        <p:spPr>
          <a:xfrm>
            <a:off x="868680" y="2176272"/>
            <a:ext cx="310896" cy="310896"/>
          </a:xfrm>
          <a:prstGeom prst="rect">
            <a:avLst/>
          </a:prstGeom>
          <a:noFill/>
          <a:ln/>
        </p:spPr>
        <p:txBody>
          <a:bodyPr wrap="square" lIns="0" tIns="0" rIns="0" bIns="0" rtlCol="0" anchor="ctr"/>
          <a:lstStyle/>
          <a:p>
            <a:pPr algn="ctr" indent="0" marL="0">
              <a:buNone/>
            </a:pPr>
            <a:r>
              <a:rPr lang="en-US" sz="1100" b="1" dirty="0">
                <a:solidFill>
                  <a:srgbClr val="3EB9CE"/>
                </a:solidFill>
                <a:latin typeface="Courier New" pitchFamily="34" charset="0"/>
                <a:ea typeface="Courier New" pitchFamily="34" charset="-122"/>
                <a:cs typeface="Courier New" pitchFamily="34" charset="-120"/>
              </a:rPr>
              <a:t>1</a:t>
            </a:r>
            <a:endParaRPr lang="en-US" sz="1100" dirty="0"/>
          </a:p>
        </p:txBody>
      </p:sp>
      <p:sp>
        <p:nvSpPr>
          <p:cNvPr id="10" name="Text 8"/>
          <p:cNvSpPr txBox="1"/>
          <p:nvPr/>
        </p:nvSpPr>
        <p:spPr>
          <a:xfrm>
            <a:off x="1371600" y="2103120"/>
            <a:ext cx="3566160" cy="457200"/>
          </a:xfrm>
          <a:prstGeom prst="rect">
            <a:avLst/>
          </a:prstGeom>
          <a:noFill/>
          <a:ln/>
        </p:spPr>
        <p:txBody>
          <a:bodyPr wrap="square" lIns="0" tIns="0" rIns="0" bIns="0" rtlCol="0" anchor="ctr"/>
          <a:lstStyle/>
          <a:p>
            <a:pPr algn="l" indent="0" marL="0">
              <a:buNone/>
            </a:pPr>
            <a:r>
              <a:rPr lang="en-US" sz="2200" b="1" dirty="0">
                <a:solidFill>
                  <a:srgbClr val="EDA63F"/>
                </a:solidFill>
                <a:latin typeface="Courier New" pitchFamily="34" charset="0"/>
                <a:ea typeface="Courier New" pitchFamily="34" charset="-122"/>
                <a:cs typeface="Courier New" pitchFamily="34" charset="-120"/>
              </a:rPr>
              <a:t>mov</a:t>
            </a:r>
            <a:pPr algn="l" indent="0" marL="0">
              <a:buNone/>
            </a:pPr>
            <a:r>
              <a:rPr lang="en-US" sz="2200" dirty="0">
                <a:solidFill>
                  <a:srgbClr val="F0F3F8"/>
                </a:solidFill>
                <a:latin typeface="Courier New" pitchFamily="34" charset="0"/>
                <a:ea typeface="Courier New" pitchFamily="34" charset="-122"/>
                <a:cs typeface="Courier New" pitchFamily="34" charset="-120"/>
              </a:rPr>
              <a:t> </a:t>
            </a:r>
            <a:pPr algn="l" indent="0" marL="0">
              <a:buNone/>
            </a:pPr>
            <a:r>
              <a:rPr lang="en-US" sz="2200" b="1" dirty="0">
                <a:solidFill>
                  <a:srgbClr val="3EB9CE"/>
                </a:solidFill>
                <a:latin typeface="Courier New" pitchFamily="34" charset="0"/>
                <a:ea typeface="Courier New" pitchFamily="34" charset="-122"/>
                <a:cs typeface="Courier New" pitchFamily="34" charset="-120"/>
              </a:rPr>
              <a:t>dl</a:t>
            </a:r>
            <a:pPr algn="l" indent="0" marL="0">
              <a:buNone/>
            </a:pPr>
            <a:r>
              <a:rPr lang="en-US" sz="2200" dirty="0">
                <a:solidFill>
                  <a:srgbClr val="F0F3F8"/>
                </a:solidFill>
                <a:latin typeface="Courier New" pitchFamily="34" charset="0"/>
                <a:ea typeface="Courier New" pitchFamily="34" charset="-122"/>
                <a:cs typeface="Courier New" pitchFamily="34" charset="-120"/>
              </a:rPr>
              <a:t>,</a:t>
            </a:r>
            <a:pPr algn="l" indent="0" marL="0">
              <a:buNone/>
            </a:pPr>
            <a:r>
              <a:rPr lang="en-US" sz="2200" dirty="0">
                <a:solidFill>
                  <a:srgbClr val="F0F3F8"/>
                </a:solidFill>
                <a:latin typeface="Courier New" pitchFamily="34" charset="0"/>
                <a:ea typeface="Courier New" pitchFamily="34" charset="-122"/>
                <a:cs typeface="Courier New" pitchFamily="34" charset="-120"/>
              </a:rPr>
              <a:t> </a:t>
            </a:r>
            <a:pPr algn="l" indent="0" marL="0">
              <a:buNone/>
            </a:pPr>
            <a:r>
              <a:rPr lang="en-US" sz="2200" b="1" dirty="0">
                <a:solidFill>
                  <a:srgbClr val="9584E8"/>
                </a:solidFill>
                <a:latin typeface="Courier New" pitchFamily="34" charset="0"/>
                <a:ea typeface="Courier New" pitchFamily="34" charset="-122"/>
                <a:cs typeface="Courier New" pitchFamily="34" charset="-120"/>
              </a:rPr>
              <a:t>'A'</a:t>
            </a:r>
            <a:endParaRPr lang="en-US" sz="2200" dirty="0"/>
          </a:p>
        </p:txBody>
      </p:sp>
      <p:sp>
        <p:nvSpPr>
          <p:cNvPr id="11" name="Shape 9"/>
          <p:cNvSpPr/>
          <p:nvPr/>
        </p:nvSpPr>
        <p:spPr>
          <a:xfrm>
            <a:off x="5257800" y="2331720"/>
            <a:ext cx="640080" cy="0"/>
          </a:xfrm>
          <a:prstGeom prst="line">
            <a:avLst/>
          </a:prstGeom>
          <a:noFill/>
          <a:ln w="19050">
            <a:solidFill>
              <a:srgbClr val="5C6B83"/>
            </a:solidFill>
            <a:prstDash val="solid"/>
            <a:tailEnd type="triangle"/>
          </a:ln>
        </p:spPr>
      </p:sp>
      <p:sp>
        <p:nvSpPr>
          <p:cNvPr id="12" name="Shape 10"/>
          <p:cNvSpPr/>
          <p:nvPr/>
        </p:nvSpPr>
        <p:spPr>
          <a:xfrm>
            <a:off x="868680" y="3182112"/>
            <a:ext cx="310896" cy="310896"/>
          </a:xfrm>
          <a:prstGeom prst="ellipse">
            <a:avLst/>
          </a:prstGeom>
          <a:solidFill>
            <a:srgbClr val="233049"/>
          </a:solidFill>
          <a:ln/>
        </p:spPr>
      </p:sp>
      <p:sp>
        <p:nvSpPr>
          <p:cNvPr id="13" name="Text 11"/>
          <p:cNvSpPr txBox="1"/>
          <p:nvPr/>
        </p:nvSpPr>
        <p:spPr>
          <a:xfrm>
            <a:off x="868680" y="3182112"/>
            <a:ext cx="310896" cy="310896"/>
          </a:xfrm>
          <a:prstGeom prst="rect">
            <a:avLst/>
          </a:prstGeom>
          <a:noFill/>
          <a:ln/>
        </p:spPr>
        <p:txBody>
          <a:bodyPr wrap="square" lIns="0" tIns="0" rIns="0" bIns="0" rtlCol="0" anchor="ctr"/>
          <a:lstStyle/>
          <a:p>
            <a:pPr algn="ctr" indent="0" marL="0">
              <a:buNone/>
            </a:pPr>
            <a:r>
              <a:rPr lang="en-US" sz="1100" b="1" dirty="0">
                <a:solidFill>
                  <a:srgbClr val="3EB9CE"/>
                </a:solidFill>
                <a:latin typeface="Courier New" pitchFamily="34" charset="0"/>
                <a:ea typeface="Courier New" pitchFamily="34" charset="-122"/>
                <a:cs typeface="Courier New" pitchFamily="34" charset="-120"/>
              </a:rPr>
              <a:t>2</a:t>
            </a:r>
            <a:endParaRPr lang="en-US" sz="1100" dirty="0"/>
          </a:p>
        </p:txBody>
      </p:sp>
      <p:sp>
        <p:nvSpPr>
          <p:cNvPr id="14" name="Text 12"/>
          <p:cNvSpPr txBox="1"/>
          <p:nvPr/>
        </p:nvSpPr>
        <p:spPr>
          <a:xfrm>
            <a:off x="1371600" y="3108960"/>
            <a:ext cx="3566160" cy="457200"/>
          </a:xfrm>
          <a:prstGeom prst="rect">
            <a:avLst/>
          </a:prstGeom>
          <a:noFill/>
          <a:ln/>
        </p:spPr>
        <p:txBody>
          <a:bodyPr wrap="square" lIns="0" tIns="0" rIns="0" bIns="0" rtlCol="0" anchor="ctr"/>
          <a:lstStyle/>
          <a:p>
            <a:pPr algn="l" indent="0" marL="0">
              <a:buNone/>
            </a:pPr>
            <a:r>
              <a:rPr lang="en-US" sz="2200" b="1" dirty="0">
                <a:solidFill>
                  <a:srgbClr val="EDA63F"/>
                </a:solidFill>
                <a:latin typeface="Courier New" pitchFamily="34" charset="0"/>
                <a:ea typeface="Courier New" pitchFamily="34" charset="-122"/>
                <a:cs typeface="Courier New" pitchFamily="34" charset="-120"/>
              </a:rPr>
              <a:t>mov</a:t>
            </a:r>
            <a:pPr algn="l" indent="0" marL="0">
              <a:buNone/>
            </a:pPr>
            <a:r>
              <a:rPr lang="en-US" sz="2200" dirty="0">
                <a:solidFill>
                  <a:srgbClr val="F0F3F8"/>
                </a:solidFill>
                <a:latin typeface="Courier New" pitchFamily="34" charset="0"/>
                <a:ea typeface="Courier New" pitchFamily="34" charset="-122"/>
                <a:cs typeface="Courier New" pitchFamily="34" charset="-120"/>
              </a:rPr>
              <a:t> </a:t>
            </a:r>
            <a:pPr algn="l" indent="0" marL="0">
              <a:buNone/>
            </a:pPr>
            <a:r>
              <a:rPr lang="en-US" sz="2200" b="1" dirty="0">
                <a:solidFill>
                  <a:srgbClr val="3EB9CE"/>
                </a:solidFill>
                <a:latin typeface="Courier New" pitchFamily="34" charset="0"/>
                <a:ea typeface="Courier New" pitchFamily="34" charset="-122"/>
                <a:cs typeface="Courier New" pitchFamily="34" charset="-120"/>
              </a:rPr>
              <a:t>ah</a:t>
            </a:r>
            <a:pPr algn="l" indent="0" marL="0">
              <a:buNone/>
            </a:pPr>
            <a:r>
              <a:rPr lang="en-US" sz="2200" dirty="0">
                <a:solidFill>
                  <a:srgbClr val="F0F3F8"/>
                </a:solidFill>
                <a:latin typeface="Courier New" pitchFamily="34" charset="0"/>
                <a:ea typeface="Courier New" pitchFamily="34" charset="-122"/>
                <a:cs typeface="Courier New" pitchFamily="34" charset="-120"/>
              </a:rPr>
              <a:t>,</a:t>
            </a:r>
            <a:pPr algn="l" indent="0" marL="0">
              <a:buNone/>
            </a:pPr>
            <a:r>
              <a:rPr lang="en-US" sz="2200" dirty="0">
                <a:solidFill>
                  <a:srgbClr val="F0F3F8"/>
                </a:solidFill>
                <a:latin typeface="Courier New" pitchFamily="34" charset="0"/>
                <a:ea typeface="Courier New" pitchFamily="34" charset="-122"/>
                <a:cs typeface="Courier New" pitchFamily="34" charset="-120"/>
              </a:rPr>
              <a:t> </a:t>
            </a:r>
            <a:pPr algn="l" indent="0" marL="0">
              <a:buNone/>
            </a:pPr>
            <a:r>
              <a:rPr lang="en-US" sz="2200" b="1" dirty="0">
                <a:solidFill>
                  <a:srgbClr val="9584E8"/>
                </a:solidFill>
                <a:latin typeface="Courier New" pitchFamily="34" charset="0"/>
                <a:ea typeface="Courier New" pitchFamily="34" charset="-122"/>
                <a:cs typeface="Courier New" pitchFamily="34" charset="-120"/>
              </a:rPr>
              <a:t>2</a:t>
            </a:r>
            <a:endParaRPr lang="en-US" sz="2200" dirty="0"/>
          </a:p>
        </p:txBody>
      </p:sp>
      <p:sp>
        <p:nvSpPr>
          <p:cNvPr id="15" name="Shape 13"/>
          <p:cNvSpPr/>
          <p:nvPr/>
        </p:nvSpPr>
        <p:spPr>
          <a:xfrm>
            <a:off x="5257800" y="3337560"/>
            <a:ext cx="640080" cy="0"/>
          </a:xfrm>
          <a:prstGeom prst="line">
            <a:avLst/>
          </a:prstGeom>
          <a:noFill/>
          <a:ln w="19050">
            <a:solidFill>
              <a:srgbClr val="5C6B83"/>
            </a:solidFill>
            <a:prstDash val="solid"/>
            <a:tailEnd type="triangle"/>
          </a:ln>
        </p:spPr>
      </p:sp>
      <p:sp>
        <p:nvSpPr>
          <p:cNvPr id="16" name="Shape 14"/>
          <p:cNvSpPr/>
          <p:nvPr/>
        </p:nvSpPr>
        <p:spPr>
          <a:xfrm>
            <a:off x="868680" y="4187952"/>
            <a:ext cx="310896" cy="310896"/>
          </a:xfrm>
          <a:prstGeom prst="ellipse">
            <a:avLst/>
          </a:prstGeom>
          <a:solidFill>
            <a:srgbClr val="233049"/>
          </a:solidFill>
          <a:ln/>
        </p:spPr>
      </p:sp>
      <p:sp>
        <p:nvSpPr>
          <p:cNvPr id="17" name="Text 15"/>
          <p:cNvSpPr txBox="1"/>
          <p:nvPr/>
        </p:nvSpPr>
        <p:spPr>
          <a:xfrm>
            <a:off x="868680" y="4187952"/>
            <a:ext cx="310896" cy="310896"/>
          </a:xfrm>
          <a:prstGeom prst="rect">
            <a:avLst/>
          </a:prstGeom>
          <a:noFill/>
          <a:ln/>
        </p:spPr>
        <p:txBody>
          <a:bodyPr wrap="square" lIns="0" tIns="0" rIns="0" bIns="0" rtlCol="0" anchor="ctr"/>
          <a:lstStyle/>
          <a:p>
            <a:pPr algn="ctr" indent="0" marL="0">
              <a:buNone/>
            </a:pPr>
            <a:r>
              <a:rPr lang="en-US" sz="1100" b="1" dirty="0">
                <a:solidFill>
                  <a:srgbClr val="3EB9CE"/>
                </a:solidFill>
                <a:latin typeface="Courier New" pitchFamily="34" charset="0"/>
                <a:ea typeface="Courier New" pitchFamily="34" charset="-122"/>
                <a:cs typeface="Courier New" pitchFamily="34" charset="-120"/>
              </a:rPr>
              <a:t>3</a:t>
            </a:r>
            <a:endParaRPr lang="en-US" sz="1100" dirty="0"/>
          </a:p>
        </p:txBody>
      </p:sp>
      <p:sp>
        <p:nvSpPr>
          <p:cNvPr id="18" name="Text 16"/>
          <p:cNvSpPr txBox="1"/>
          <p:nvPr/>
        </p:nvSpPr>
        <p:spPr>
          <a:xfrm>
            <a:off x="1371600" y="4114800"/>
            <a:ext cx="3566160" cy="457200"/>
          </a:xfrm>
          <a:prstGeom prst="rect">
            <a:avLst/>
          </a:prstGeom>
          <a:noFill/>
          <a:ln/>
        </p:spPr>
        <p:txBody>
          <a:bodyPr wrap="square" lIns="0" tIns="0" rIns="0" bIns="0" rtlCol="0" anchor="ctr"/>
          <a:lstStyle/>
          <a:p>
            <a:pPr algn="l" indent="0" marL="0">
              <a:buNone/>
            </a:pPr>
            <a:r>
              <a:rPr lang="en-US" sz="2200" b="1" dirty="0">
                <a:solidFill>
                  <a:srgbClr val="EDA63F"/>
                </a:solidFill>
                <a:latin typeface="Courier New" pitchFamily="34" charset="0"/>
                <a:ea typeface="Courier New" pitchFamily="34" charset="-122"/>
                <a:cs typeface="Courier New" pitchFamily="34" charset="-120"/>
              </a:rPr>
              <a:t>int</a:t>
            </a:r>
            <a:pPr algn="l" indent="0" marL="0">
              <a:buNone/>
            </a:pPr>
            <a:r>
              <a:rPr lang="en-US" sz="2200" dirty="0">
                <a:solidFill>
                  <a:srgbClr val="F0F3F8"/>
                </a:solidFill>
                <a:latin typeface="Courier New" pitchFamily="34" charset="0"/>
                <a:ea typeface="Courier New" pitchFamily="34" charset="-122"/>
                <a:cs typeface="Courier New" pitchFamily="34" charset="-120"/>
              </a:rPr>
              <a:t> </a:t>
            </a:r>
            <a:pPr algn="l" indent="0" marL="0">
              <a:buNone/>
            </a:pPr>
            <a:r>
              <a:rPr lang="en-US" sz="2200" b="1" dirty="0">
                <a:solidFill>
                  <a:srgbClr val="9584E8"/>
                </a:solidFill>
                <a:latin typeface="Courier New" pitchFamily="34" charset="0"/>
                <a:ea typeface="Courier New" pitchFamily="34" charset="-122"/>
                <a:cs typeface="Courier New" pitchFamily="34" charset="-120"/>
              </a:rPr>
              <a:t>21h</a:t>
            </a:r>
            <a:endParaRPr lang="en-US" sz="2200" dirty="0"/>
          </a:p>
        </p:txBody>
      </p:sp>
      <p:sp>
        <p:nvSpPr>
          <p:cNvPr id="19" name="Shape 17"/>
          <p:cNvSpPr/>
          <p:nvPr/>
        </p:nvSpPr>
        <p:spPr>
          <a:xfrm>
            <a:off x="5257800" y="4343400"/>
            <a:ext cx="640080" cy="0"/>
          </a:xfrm>
          <a:prstGeom prst="line">
            <a:avLst/>
          </a:prstGeom>
          <a:noFill/>
          <a:ln w="19050">
            <a:solidFill>
              <a:srgbClr val="5C6B83"/>
            </a:solidFill>
            <a:prstDash val="solid"/>
            <a:tailEnd type="triangle"/>
          </a:ln>
        </p:spPr>
      </p:sp>
      <p:sp>
        <p:nvSpPr>
          <p:cNvPr id="20" name="Shape 18"/>
          <p:cNvSpPr/>
          <p:nvPr/>
        </p:nvSpPr>
        <p:spPr>
          <a:xfrm>
            <a:off x="6035040" y="2011680"/>
            <a:ext cx="1783080" cy="640080"/>
          </a:xfrm>
          <a:prstGeom prst="roundRect">
            <a:avLst>
              <a:gd name="adj" fmla="val 6670"/>
            </a:avLst>
          </a:prstGeom>
          <a:solidFill>
            <a:srgbClr val="2A2113"/>
          </a:solidFill>
          <a:ln w="12700">
            <a:solidFill>
              <a:srgbClr val="EDA63F"/>
            </a:solidFill>
            <a:prstDash val="solid"/>
          </a:ln>
        </p:spPr>
      </p:sp>
      <p:sp>
        <p:nvSpPr>
          <p:cNvPr id="21" name="Text 19"/>
          <p:cNvSpPr txBox="1"/>
          <p:nvPr/>
        </p:nvSpPr>
        <p:spPr>
          <a:xfrm>
            <a:off x="6199632" y="2011680"/>
            <a:ext cx="713232" cy="640080"/>
          </a:xfrm>
          <a:prstGeom prst="rect">
            <a:avLst/>
          </a:prstGeom>
          <a:noFill/>
          <a:ln/>
        </p:spPr>
        <p:txBody>
          <a:bodyPr wrap="square" lIns="0" tIns="0" rIns="0" bIns="0" rtlCol="0" anchor="ctr"/>
          <a:lstStyle/>
          <a:p>
            <a:pPr algn="l" indent="0" marL="0">
              <a:buNone/>
            </a:pPr>
            <a:r>
              <a:rPr lang="en-US" sz="1600" b="1" dirty="0">
                <a:solidFill>
                  <a:srgbClr val="EDA63F"/>
                </a:solidFill>
                <a:latin typeface="Courier New" pitchFamily="34" charset="0"/>
                <a:ea typeface="Courier New" pitchFamily="34" charset="-122"/>
                <a:cs typeface="Courier New" pitchFamily="34" charset="-120"/>
              </a:rPr>
              <a:t>DL</a:t>
            </a:r>
            <a:endParaRPr lang="en-US" sz="1600" dirty="0"/>
          </a:p>
        </p:txBody>
      </p:sp>
      <p:sp>
        <p:nvSpPr>
          <p:cNvPr id="22" name="Shape 20"/>
          <p:cNvSpPr/>
          <p:nvPr/>
        </p:nvSpPr>
        <p:spPr>
          <a:xfrm>
            <a:off x="6869887" y="2130552"/>
            <a:ext cx="820217" cy="402336"/>
          </a:xfrm>
          <a:prstGeom prst="roundRect">
            <a:avLst>
              <a:gd name="adj" fmla="val 6670"/>
            </a:avLst>
          </a:prstGeom>
          <a:solidFill>
            <a:srgbClr val="0E1420"/>
          </a:solidFill>
          <a:ln w="12700">
            <a:solidFill>
              <a:srgbClr val="4A3620"/>
            </a:solidFill>
            <a:prstDash val="solid"/>
          </a:ln>
        </p:spPr>
      </p:sp>
      <p:sp>
        <p:nvSpPr>
          <p:cNvPr id="23" name="Text 21"/>
          <p:cNvSpPr txBox="1"/>
          <p:nvPr/>
        </p:nvSpPr>
        <p:spPr>
          <a:xfrm>
            <a:off x="6869887" y="2130552"/>
            <a:ext cx="820217" cy="402336"/>
          </a:xfrm>
          <a:prstGeom prst="rect">
            <a:avLst/>
          </a:prstGeom>
          <a:noFill/>
          <a:ln/>
        </p:spPr>
        <p:txBody>
          <a:bodyPr wrap="square" lIns="0" tIns="0" rIns="0" bIns="0" rtlCol="0" anchor="ctr"/>
          <a:lstStyle/>
          <a:p>
            <a:pPr algn="ctr" indent="0" marL="0">
              <a:buNone/>
            </a:pPr>
            <a:r>
              <a:rPr lang="en-US" sz="1600" b="1" dirty="0">
                <a:solidFill>
                  <a:srgbClr val="F0F3F8"/>
                </a:solidFill>
                <a:latin typeface="Courier New" pitchFamily="34" charset="0"/>
                <a:ea typeface="Courier New" pitchFamily="34" charset="-122"/>
                <a:cs typeface="Courier New" pitchFamily="34" charset="-120"/>
              </a:rPr>
              <a:t>'A'</a:t>
            </a:r>
            <a:endParaRPr lang="en-US" sz="1600" dirty="0"/>
          </a:p>
        </p:txBody>
      </p:sp>
      <p:sp>
        <p:nvSpPr>
          <p:cNvPr id="24" name="Shape 22"/>
          <p:cNvSpPr/>
          <p:nvPr/>
        </p:nvSpPr>
        <p:spPr>
          <a:xfrm>
            <a:off x="6035040" y="3017520"/>
            <a:ext cx="1783080" cy="640080"/>
          </a:xfrm>
          <a:prstGeom prst="roundRect">
            <a:avLst>
              <a:gd name="adj" fmla="val 6670"/>
            </a:avLst>
          </a:prstGeom>
          <a:solidFill>
            <a:srgbClr val="122A31"/>
          </a:solidFill>
          <a:ln w="12700">
            <a:solidFill>
              <a:srgbClr val="3EB9CE"/>
            </a:solidFill>
            <a:prstDash val="solid"/>
          </a:ln>
        </p:spPr>
      </p:sp>
      <p:sp>
        <p:nvSpPr>
          <p:cNvPr id="25" name="Text 23"/>
          <p:cNvSpPr txBox="1"/>
          <p:nvPr/>
        </p:nvSpPr>
        <p:spPr>
          <a:xfrm>
            <a:off x="6199632" y="3017520"/>
            <a:ext cx="713232" cy="640080"/>
          </a:xfrm>
          <a:prstGeom prst="rect">
            <a:avLst/>
          </a:prstGeom>
          <a:noFill/>
          <a:ln/>
        </p:spPr>
        <p:txBody>
          <a:bodyPr wrap="square" lIns="0" tIns="0" rIns="0" bIns="0" rtlCol="0" anchor="ctr"/>
          <a:lstStyle/>
          <a:p>
            <a:pPr algn="l" indent="0" marL="0">
              <a:buNone/>
            </a:pPr>
            <a:r>
              <a:rPr lang="en-US" sz="1600" b="1" dirty="0">
                <a:solidFill>
                  <a:srgbClr val="3EB9CE"/>
                </a:solidFill>
                <a:latin typeface="Courier New" pitchFamily="34" charset="0"/>
                <a:ea typeface="Courier New" pitchFamily="34" charset="-122"/>
                <a:cs typeface="Courier New" pitchFamily="34" charset="-120"/>
              </a:rPr>
              <a:t>AH</a:t>
            </a:r>
            <a:endParaRPr lang="en-US" sz="1600" dirty="0"/>
          </a:p>
        </p:txBody>
      </p:sp>
      <p:sp>
        <p:nvSpPr>
          <p:cNvPr id="26" name="Shape 24"/>
          <p:cNvSpPr/>
          <p:nvPr/>
        </p:nvSpPr>
        <p:spPr>
          <a:xfrm>
            <a:off x="6869887" y="3136392"/>
            <a:ext cx="820217" cy="402336"/>
          </a:xfrm>
          <a:prstGeom prst="roundRect">
            <a:avLst>
              <a:gd name="adj" fmla="val 6670"/>
            </a:avLst>
          </a:prstGeom>
          <a:solidFill>
            <a:srgbClr val="0E1420"/>
          </a:solidFill>
          <a:ln w="12700">
            <a:solidFill>
              <a:srgbClr val="27505B"/>
            </a:solidFill>
            <a:prstDash val="solid"/>
          </a:ln>
        </p:spPr>
      </p:sp>
      <p:sp>
        <p:nvSpPr>
          <p:cNvPr id="27" name="Text 25"/>
          <p:cNvSpPr txBox="1"/>
          <p:nvPr/>
        </p:nvSpPr>
        <p:spPr>
          <a:xfrm>
            <a:off x="6869887" y="3136392"/>
            <a:ext cx="820217" cy="402336"/>
          </a:xfrm>
          <a:prstGeom prst="rect">
            <a:avLst/>
          </a:prstGeom>
          <a:noFill/>
          <a:ln/>
        </p:spPr>
        <p:txBody>
          <a:bodyPr wrap="square" lIns="0" tIns="0" rIns="0" bIns="0" rtlCol="0" anchor="ctr"/>
          <a:lstStyle/>
          <a:p>
            <a:pPr algn="ctr" indent="0" marL="0">
              <a:buNone/>
            </a:pPr>
            <a:r>
              <a:rPr lang="en-US" sz="1600" b="1" dirty="0">
                <a:solidFill>
                  <a:srgbClr val="F0F3F8"/>
                </a:solidFill>
                <a:latin typeface="Courier New" pitchFamily="34" charset="0"/>
                <a:ea typeface="Courier New" pitchFamily="34" charset="-122"/>
                <a:cs typeface="Courier New" pitchFamily="34" charset="-120"/>
              </a:rPr>
              <a:t>2</a:t>
            </a:r>
            <a:endParaRPr lang="en-US" sz="1600" dirty="0"/>
          </a:p>
        </p:txBody>
      </p:sp>
      <p:sp>
        <p:nvSpPr>
          <p:cNvPr id="28" name="Shape 26"/>
          <p:cNvSpPr/>
          <p:nvPr/>
        </p:nvSpPr>
        <p:spPr>
          <a:xfrm>
            <a:off x="6035040" y="4023360"/>
            <a:ext cx="868680" cy="640080"/>
          </a:xfrm>
          <a:prstGeom prst="roundRect">
            <a:avLst>
              <a:gd name="adj" fmla="val 6670"/>
            </a:avLst>
          </a:prstGeom>
          <a:solidFill>
            <a:srgbClr val="1E1A33"/>
          </a:solidFill>
          <a:ln w="12700">
            <a:solidFill>
              <a:srgbClr val="9584E8"/>
            </a:solidFill>
            <a:prstDash val="solid"/>
          </a:ln>
        </p:spPr>
      </p:sp>
      <p:sp>
        <p:nvSpPr>
          <p:cNvPr id="29" name="Text 27"/>
          <p:cNvSpPr txBox="1"/>
          <p:nvPr/>
        </p:nvSpPr>
        <p:spPr>
          <a:xfrm>
            <a:off x="6035040" y="4023360"/>
            <a:ext cx="868680" cy="640080"/>
          </a:xfrm>
          <a:prstGeom prst="rect">
            <a:avLst/>
          </a:prstGeom>
          <a:noFill/>
          <a:ln/>
        </p:spPr>
        <p:txBody>
          <a:bodyPr wrap="square" lIns="0" tIns="0" rIns="0" bIns="0" rtlCol="0" anchor="ctr"/>
          <a:lstStyle/>
          <a:p>
            <a:pPr algn="ctr" indent="0" marL="0">
              <a:buNone/>
            </a:pPr>
            <a:r>
              <a:rPr lang="en-US" sz="1500" b="1" dirty="0">
                <a:solidFill>
                  <a:srgbClr val="9584E8"/>
                </a:solidFill>
                <a:latin typeface="Courier New" pitchFamily="34" charset="0"/>
                <a:ea typeface="Courier New" pitchFamily="34" charset="-122"/>
                <a:cs typeface="Courier New" pitchFamily="34" charset="-120"/>
              </a:rPr>
              <a:t>DOS</a:t>
            </a:r>
            <a:endParaRPr lang="en-US" sz="1500" dirty="0"/>
          </a:p>
        </p:txBody>
      </p:sp>
      <p:sp>
        <p:nvSpPr>
          <p:cNvPr id="30" name="Shape 28"/>
          <p:cNvSpPr/>
          <p:nvPr/>
        </p:nvSpPr>
        <p:spPr>
          <a:xfrm>
            <a:off x="6949440" y="4343400"/>
            <a:ext cx="201168" cy="0"/>
          </a:xfrm>
          <a:prstGeom prst="line">
            <a:avLst/>
          </a:prstGeom>
          <a:noFill/>
          <a:ln w="15875">
            <a:solidFill>
              <a:srgbClr val="5C6B83"/>
            </a:solidFill>
            <a:prstDash val="solid"/>
            <a:tailEnd type="triangle"/>
          </a:ln>
        </p:spPr>
      </p:sp>
      <p:sp>
        <p:nvSpPr>
          <p:cNvPr id="31" name="Shape 29"/>
          <p:cNvSpPr/>
          <p:nvPr/>
        </p:nvSpPr>
        <p:spPr>
          <a:xfrm>
            <a:off x="7178040" y="4023360"/>
            <a:ext cx="640080" cy="640080"/>
          </a:xfrm>
          <a:prstGeom prst="roundRect">
            <a:avLst>
              <a:gd name="adj" fmla="val 6670"/>
            </a:avLst>
          </a:prstGeom>
          <a:solidFill>
            <a:srgbClr val="070B12"/>
          </a:solidFill>
          <a:ln w="12700">
            <a:solidFill>
              <a:srgbClr val="2B3850"/>
            </a:solidFill>
            <a:prstDash val="solid"/>
          </a:ln>
        </p:spPr>
      </p:sp>
      <p:sp>
        <p:nvSpPr>
          <p:cNvPr id="32" name="Text 30"/>
          <p:cNvSpPr txBox="1"/>
          <p:nvPr/>
        </p:nvSpPr>
        <p:spPr>
          <a:xfrm>
            <a:off x="7178040" y="4023360"/>
            <a:ext cx="640080" cy="640080"/>
          </a:xfrm>
          <a:prstGeom prst="rect">
            <a:avLst/>
          </a:prstGeom>
          <a:noFill/>
          <a:ln/>
        </p:spPr>
        <p:txBody>
          <a:bodyPr wrap="square" lIns="0" tIns="0" rIns="0" bIns="0" rtlCol="0" anchor="ctr"/>
          <a:lstStyle/>
          <a:p>
            <a:pPr algn="ctr" indent="0" marL="0">
              <a:buNone/>
            </a:pPr>
            <a:r>
              <a:rPr lang="en-US" sz="2200" b="1" dirty="0">
                <a:solidFill>
                  <a:srgbClr val="F0F3F8"/>
                </a:solidFill>
                <a:latin typeface="Courier New" pitchFamily="34" charset="0"/>
                <a:ea typeface="Courier New" pitchFamily="34" charset="-122"/>
                <a:cs typeface="Courier New" pitchFamily="34" charset="-120"/>
              </a:rPr>
              <a:t>A</a:t>
            </a:r>
            <a:endParaRPr lang="en-US" sz="2200" dirty="0"/>
          </a:p>
        </p:txBody>
      </p:sp>
      <p:sp>
        <p:nvSpPr>
          <p:cNvPr id="33" name="Text 31"/>
          <p:cNvSpPr txBox="1"/>
          <p:nvPr/>
        </p:nvSpPr>
        <p:spPr>
          <a:xfrm>
            <a:off x="8092440" y="2029968"/>
            <a:ext cx="3456432" cy="603504"/>
          </a:xfrm>
          <a:prstGeom prst="rect">
            <a:avLst/>
          </a:prstGeom>
          <a:noFill/>
          <a:ln/>
        </p:spPr>
        <p:txBody>
          <a:bodyPr wrap="square" lIns="0" tIns="0" rIns="0" bIns="0" rtlCol="0" anchor="ctr"/>
          <a:lstStyle/>
          <a:p>
            <a:pPr algn="l" indent="0" marL="0">
              <a:buNone/>
            </a:pPr>
            <a:r>
              <a:rPr lang="en-US" sz="1500" b="1" dirty="0">
                <a:solidFill>
                  <a:srgbClr val="F0F3F8"/>
                </a:solidFill>
                <a:latin typeface="Calibri" pitchFamily="34" charset="0"/>
                <a:ea typeface="Calibri" pitchFamily="34" charset="-122"/>
                <a:cs typeface="Calibri" pitchFamily="34" charset="-120"/>
              </a:rPr>
              <a:t>'A' goes into DL.</a:t>
            </a:r>
            <a:endParaRPr lang="en-US" sz="1500" dirty="0"/>
          </a:p>
        </p:txBody>
      </p:sp>
      <p:sp>
        <p:nvSpPr>
          <p:cNvPr id="34" name="Text 32"/>
          <p:cNvSpPr txBox="1"/>
          <p:nvPr/>
        </p:nvSpPr>
        <p:spPr>
          <a:xfrm>
            <a:off x="8092440" y="3035808"/>
            <a:ext cx="3456432" cy="603504"/>
          </a:xfrm>
          <a:prstGeom prst="rect">
            <a:avLst/>
          </a:prstGeom>
          <a:noFill/>
          <a:ln/>
        </p:spPr>
        <p:txBody>
          <a:bodyPr wrap="square" lIns="0" tIns="0" rIns="0" bIns="0" rtlCol="0" anchor="ctr"/>
          <a:lstStyle/>
          <a:p>
            <a:pPr algn="l" indent="0" marL="0">
              <a:buNone/>
            </a:pPr>
            <a:r>
              <a:rPr lang="en-US" sz="1500" b="1" dirty="0">
                <a:solidFill>
                  <a:srgbClr val="F0F3F8"/>
                </a:solidFill>
                <a:latin typeface="Calibri" pitchFamily="34" charset="0"/>
                <a:ea typeface="Calibri" pitchFamily="34" charset="-122"/>
                <a:cs typeface="Calibri" pitchFamily="34" charset="-120"/>
              </a:rPr>
              <a:t>2 goes into AH.</a:t>
            </a:r>
            <a:endParaRPr lang="en-US" sz="1500" dirty="0"/>
          </a:p>
          <a:p>
            <a:pPr algn="l" indent="0" marL="0">
              <a:buNone/>
            </a:pPr>
            <a:r>
              <a:rPr lang="en-US" sz="1500" dirty="0">
                <a:solidFill>
                  <a:srgbClr val="94A3B8"/>
                </a:solidFill>
                <a:latin typeface="Calibri" pitchFamily="34" charset="0"/>
                <a:ea typeface="Calibri" pitchFamily="34" charset="-122"/>
                <a:cs typeface="Calibri" pitchFamily="34" charset="-120"/>
              </a:rPr>
              <a:t>2 means: print a character.</a:t>
            </a:r>
            <a:endParaRPr lang="en-US" sz="1500" dirty="0"/>
          </a:p>
        </p:txBody>
      </p:sp>
      <p:sp>
        <p:nvSpPr>
          <p:cNvPr id="35" name="Text 33"/>
          <p:cNvSpPr txBox="1"/>
          <p:nvPr/>
        </p:nvSpPr>
        <p:spPr>
          <a:xfrm>
            <a:off x="8092440" y="4041648"/>
            <a:ext cx="3456432" cy="603504"/>
          </a:xfrm>
          <a:prstGeom prst="rect">
            <a:avLst/>
          </a:prstGeom>
          <a:noFill/>
          <a:ln/>
        </p:spPr>
        <p:txBody>
          <a:bodyPr wrap="square" lIns="0" tIns="0" rIns="0" bIns="0" rtlCol="0" anchor="ctr"/>
          <a:lstStyle/>
          <a:p>
            <a:pPr algn="l" indent="0" marL="0">
              <a:buNone/>
            </a:pPr>
            <a:r>
              <a:rPr lang="en-US" sz="1500" b="1" dirty="0">
                <a:solidFill>
                  <a:srgbClr val="F0F3F8"/>
                </a:solidFill>
                <a:latin typeface="Calibri" pitchFamily="34" charset="0"/>
                <a:ea typeface="Calibri" pitchFamily="34" charset="-122"/>
                <a:cs typeface="Calibri" pitchFamily="34" charset="-120"/>
              </a:rPr>
              <a:t>DOS checks AH, sees 2,</a:t>
            </a:r>
            <a:endParaRPr lang="en-US" sz="1500" dirty="0"/>
          </a:p>
          <a:p>
            <a:pPr algn="l" indent="0" marL="0">
              <a:buNone/>
            </a:pPr>
            <a:r>
              <a:rPr lang="en-US" sz="1500" dirty="0">
                <a:solidFill>
                  <a:srgbClr val="94A3B8"/>
                </a:solidFill>
                <a:latin typeface="Calibri" pitchFamily="34" charset="0"/>
                <a:ea typeface="Calibri" pitchFamily="34" charset="-122"/>
                <a:cs typeface="Calibri" pitchFamily="34" charset="-120"/>
              </a:rPr>
              <a:t>and prints what is in DL.</a:t>
            </a:r>
            <a:endParaRPr lang="en-US" sz="1500" dirty="0"/>
          </a:p>
        </p:txBody>
      </p:sp>
      <p:sp>
        <p:nvSpPr>
          <p:cNvPr id="36" name="Shape 34"/>
          <p:cNvSpPr/>
          <p:nvPr/>
        </p:nvSpPr>
        <p:spPr>
          <a:xfrm>
            <a:off x="640080" y="5138928"/>
            <a:ext cx="10908792" cy="530352"/>
          </a:xfrm>
          <a:prstGeom prst="roundRect">
            <a:avLst>
              <a:gd name="adj" fmla="val 6670"/>
            </a:avLst>
          </a:prstGeom>
          <a:solidFill>
            <a:srgbClr val="182132"/>
          </a:solidFill>
          <a:ln w="12700">
            <a:solidFill>
              <a:srgbClr val="2A3548"/>
            </a:solidFill>
            <a:prstDash val="solid"/>
          </a:ln>
        </p:spPr>
      </p:sp>
      <p:sp>
        <p:nvSpPr>
          <p:cNvPr id="37" name="Text 35"/>
          <p:cNvSpPr txBox="1"/>
          <p:nvPr/>
        </p:nvSpPr>
        <p:spPr>
          <a:xfrm>
            <a:off x="640080" y="5138928"/>
            <a:ext cx="10908792" cy="530352"/>
          </a:xfrm>
          <a:prstGeom prst="rect">
            <a:avLst/>
          </a:prstGeom>
          <a:noFill/>
          <a:ln/>
        </p:spPr>
        <p:txBody>
          <a:bodyPr wrap="square" lIns="0" tIns="0" rIns="0" bIns="0" rtlCol="0" anchor="ctr"/>
          <a:lstStyle/>
          <a:p>
            <a:pPr algn="ctr" indent="0" marL="0">
              <a:buNone/>
            </a:pPr>
            <a:r>
              <a:rPr lang="en-US" sz="1400" dirty="0">
                <a:solidFill>
                  <a:srgbClr val="F0F3F8"/>
                </a:solidFill>
                <a:latin typeface="Calibri" pitchFamily="34" charset="0"/>
                <a:ea typeface="Calibri" pitchFamily="34" charset="-122"/>
                <a:cs typeface="Calibri" pitchFamily="34" charset="-120"/>
              </a:rPr>
              <a:t>Order matters: fill DL and AH first. INT 21h uses whatever they hold at that moment.</a:t>
            </a:r>
            <a:endParaRPr lang="en-US" sz="1400" dirty="0"/>
          </a:p>
        </p:txBody>
      </p:sp>
      <p:sp>
        <p:nvSpPr>
          <p:cNvPr id="38" name="Text 36"/>
          <p:cNvSpPr txBox="1"/>
          <p:nvPr/>
        </p:nvSpPr>
        <p:spPr>
          <a:xfrm>
            <a:off x="640080" y="5815584"/>
            <a:ext cx="10908792" cy="256032"/>
          </a:xfrm>
          <a:prstGeom prst="rect">
            <a:avLst/>
          </a:prstGeom>
          <a:noFill/>
          <a:ln/>
        </p:spPr>
        <p:txBody>
          <a:bodyPr wrap="square" lIns="0" tIns="0" rIns="0" bIns="0" rtlCol="0" anchor="t"/>
          <a:lstStyle/>
          <a:p>
            <a:pPr algn="ctr" indent="0" marL="0">
              <a:buNone/>
            </a:pPr>
            <a:r>
              <a:rPr lang="en-US" sz="1150" i="1" dirty="0">
                <a:solidFill>
                  <a:srgbClr val="5C6B83"/>
                </a:solidFill>
                <a:latin typeface="Calibri" pitchFamily="34" charset="0"/>
                <a:ea typeface="Calibri" pitchFamily="34" charset="-122"/>
                <a:cs typeface="Calibri" pitchFamily="34" charset="-120"/>
              </a:rPr>
              <a:t>02h and 2 are the same value. The h just means the number is written in hexadecimal.</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5C6B83"/>
                </a:solidFill>
                <a:latin typeface="Courier New" pitchFamily="34" charset="0"/>
                <a:ea typeface="Courier New" pitchFamily="34" charset="-122"/>
                <a:cs typeface="Courier New" pitchFamily="34" charset="-120"/>
              </a:rPr>
              <a:t>5 · CHARACTER OUTPUT</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F0F3F8"/>
                </a:solidFill>
                <a:latin typeface="Arial" pitchFamily="34" charset="0"/>
                <a:ea typeface="Arial" pitchFamily="34" charset="-122"/>
                <a:cs typeface="Arial" pitchFamily="34" charset="-120"/>
              </a:rPr>
              <a:t>Your first complete program</a:t>
            </a:r>
            <a:endParaRPr lang="en-US" sz="3200" dirty="0"/>
          </a:p>
        </p:txBody>
      </p:sp>
      <p:sp>
        <p:nvSpPr>
          <p:cNvPr id="4" name="Text 2"/>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5C6B83"/>
                </a:solidFill>
                <a:latin typeface="Courier New" pitchFamily="34" charset="0"/>
                <a:ea typeface="Courier New" pitchFamily="34" charset="-122"/>
                <a:cs typeface="Courier New" pitchFamily="34" charset="-120"/>
              </a:rPr>
              <a:t>COAL  ·  LAB 02</a:t>
            </a:r>
            <a:endParaRPr lang="en-US" sz="900" dirty="0"/>
          </a:p>
        </p:txBody>
      </p:sp>
      <p:sp>
        <p:nvSpPr>
          <p:cNvPr id="5" name="Text 3"/>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5C6B83"/>
                </a:solidFill>
                <a:latin typeface="Courier New" pitchFamily="34" charset="0"/>
                <a:ea typeface="Courier New" pitchFamily="34" charset="-122"/>
                <a:cs typeface="Courier New" pitchFamily="34" charset="-120"/>
              </a:rPr>
              <a:t>07</a:t>
            </a:r>
            <a:endParaRPr lang="en-US" sz="900" dirty="0"/>
          </a:p>
        </p:txBody>
      </p:sp>
      <p:sp>
        <p:nvSpPr>
          <p:cNvPr id="6" name="Shape 4"/>
          <p:cNvSpPr/>
          <p:nvPr/>
        </p:nvSpPr>
        <p:spPr>
          <a:xfrm>
            <a:off x="640080" y="1463040"/>
            <a:ext cx="5943600" cy="4617720"/>
          </a:xfrm>
          <a:prstGeom prst="roundRect">
            <a:avLst>
              <a:gd name="adj" fmla="val 6670"/>
            </a:avLst>
          </a:prstGeom>
          <a:solidFill>
            <a:srgbClr val="121A29"/>
          </a:solidFill>
          <a:ln w="12700">
            <a:solidFill>
              <a:srgbClr val="2B3850"/>
            </a:solidFill>
            <a:prstDash val="solid"/>
          </a:ln>
        </p:spPr>
      </p:sp>
      <p:sp>
        <p:nvSpPr>
          <p:cNvPr id="7" name="Shape 5"/>
          <p:cNvSpPr/>
          <p:nvPr/>
        </p:nvSpPr>
        <p:spPr>
          <a:xfrm>
            <a:off x="777240" y="3264408"/>
            <a:ext cx="5669280" cy="1042416"/>
          </a:xfrm>
          <a:prstGeom prst="roundRect">
            <a:avLst>
              <a:gd name="adj" fmla="val 6670"/>
            </a:avLst>
          </a:prstGeom>
          <a:solidFill>
            <a:srgbClr val="2A2113"/>
          </a:solidFill>
          <a:ln w="12700">
            <a:solidFill>
              <a:srgbClr val="4A3620"/>
            </a:solidFill>
            <a:prstDash val="solid"/>
          </a:ln>
        </p:spPr>
      </p:sp>
      <p:sp>
        <p:nvSpPr>
          <p:cNvPr id="8" name="Shape 6"/>
          <p:cNvSpPr/>
          <p:nvPr/>
        </p:nvSpPr>
        <p:spPr>
          <a:xfrm>
            <a:off x="777240" y="4581144"/>
            <a:ext cx="5669280" cy="713232"/>
          </a:xfrm>
          <a:prstGeom prst="roundRect">
            <a:avLst>
              <a:gd name="adj" fmla="val 6670"/>
            </a:avLst>
          </a:prstGeom>
          <a:solidFill>
            <a:srgbClr val="132A20"/>
          </a:solidFill>
          <a:ln w="12700">
            <a:solidFill>
              <a:srgbClr val="2A5A40"/>
            </a:solidFill>
            <a:prstDash val="solid"/>
          </a:ln>
        </p:spPr>
      </p:sp>
      <p:sp>
        <p:nvSpPr>
          <p:cNvPr id="9" name="Text 7"/>
          <p:cNvSpPr txBox="1"/>
          <p:nvPr/>
        </p:nvSpPr>
        <p:spPr>
          <a:xfrm>
            <a:off x="1005840" y="1645920"/>
            <a:ext cx="5303520" cy="329184"/>
          </a:xfrm>
          <a:prstGeom prst="rect">
            <a:avLst/>
          </a:prstGeom>
          <a:noFill/>
          <a:ln/>
        </p:spPr>
        <p:txBody>
          <a:bodyPr wrap="square" lIns="0" tIns="0" rIns="0" bIns="0" rtlCol="0" anchor="ctr"/>
          <a:lstStyle/>
          <a:p>
            <a:pPr algn="l" indent="0" marL="0">
              <a:buNone/>
            </a:pPr>
            <a:r>
              <a:rPr lang="en-US" sz="1700" b="1" dirty="0">
                <a:solidFill>
                  <a:srgbClr val="E27B66"/>
                </a:solidFill>
                <a:latin typeface="Courier New" pitchFamily="34" charset="0"/>
                <a:ea typeface="Courier New" pitchFamily="34" charset="-122"/>
                <a:cs typeface="Courier New" pitchFamily="34" charset="-120"/>
              </a:rPr>
              <a:t>.model</a:t>
            </a:r>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E27B66"/>
                </a:solidFill>
                <a:latin typeface="Courier New" pitchFamily="34" charset="0"/>
                <a:ea typeface="Courier New" pitchFamily="34" charset="-122"/>
                <a:cs typeface="Courier New" pitchFamily="34" charset="-120"/>
              </a:rPr>
              <a:t>small</a:t>
            </a:r>
            <a:endParaRPr lang="en-US" sz="1700" dirty="0"/>
          </a:p>
        </p:txBody>
      </p:sp>
      <p:sp>
        <p:nvSpPr>
          <p:cNvPr id="10" name="Text 8"/>
          <p:cNvSpPr txBox="1"/>
          <p:nvPr/>
        </p:nvSpPr>
        <p:spPr>
          <a:xfrm>
            <a:off x="1005840" y="1975104"/>
            <a:ext cx="5303520" cy="329184"/>
          </a:xfrm>
          <a:prstGeom prst="rect">
            <a:avLst/>
          </a:prstGeom>
          <a:noFill/>
          <a:ln/>
        </p:spPr>
        <p:txBody>
          <a:bodyPr wrap="square" lIns="0" tIns="0" rIns="0" bIns="0" rtlCol="0" anchor="ctr"/>
          <a:lstStyle/>
          <a:p>
            <a:pPr algn="l" indent="0" marL="0">
              <a:buNone/>
            </a:pPr>
            <a:r>
              <a:rPr lang="en-US" sz="1700" b="1" dirty="0">
                <a:solidFill>
                  <a:srgbClr val="E27B66"/>
                </a:solidFill>
                <a:latin typeface="Courier New" pitchFamily="34" charset="0"/>
                <a:ea typeface="Courier New" pitchFamily="34" charset="-122"/>
                <a:cs typeface="Courier New" pitchFamily="34" charset="-120"/>
              </a:rPr>
              <a:t>.stack</a:t>
            </a:r>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E27B66"/>
                </a:solidFill>
                <a:latin typeface="Courier New" pitchFamily="34" charset="0"/>
                <a:ea typeface="Courier New" pitchFamily="34" charset="-122"/>
                <a:cs typeface="Courier New" pitchFamily="34" charset="-120"/>
              </a:rPr>
              <a:t>100h</a:t>
            </a:r>
            <a:endParaRPr lang="en-US" sz="1700" dirty="0"/>
          </a:p>
        </p:txBody>
      </p:sp>
      <p:sp>
        <p:nvSpPr>
          <p:cNvPr id="11" name="Text 9"/>
          <p:cNvSpPr txBox="1"/>
          <p:nvPr/>
        </p:nvSpPr>
        <p:spPr>
          <a:xfrm>
            <a:off x="1005840" y="2304288"/>
            <a:ext cx="5303520" cy="329184"/>
          </a:xfrm>
          <a:prstGeom prst="rect">
            <a:avLst/>
          </a:prstGeom>
          <a:noFill/>
          <a:ln/>
        </p:spPr>
        <p:txBody>
          <a:bodyPr wrap="square" lIns="0" tIns="0" rIns="0" bIns="0" rtlCol="0" anchor="ctr"/>
          <a:lstStyle/>
          <a:p>
            <a:pPr algn="l" indent="0" marL="0">
              <a:buNone/>
            </a:pPr>
            <a:r>
              <a:rPr lang="en-US" sz="1700" b="1" dirty="0">
                <a:solidFill>
                  <a:srgbClr val="E27B66"/>
                </a:solidFill>
                <a:latin typeface="Courier New" pitchFamily="34" charset="0"/>
                <a:ea typeface="Courier New" pitchFamily="34" charset="-122"/>
                <a:cs typeface="Courier New" pitchFamily="34" charset="-120"/>
              </a:rPr>
              <a:t>.data</a:t>
            </a:r>
            <a:endParaRPr lang="en-US" sz="1700" dirty="0"/>
          </a:p>
        </p:txBody>
      </p:sp>
      <p:sp>
        <p:nvSpPr>
          <p:cNvPr id="12" name="Text 10"/>
          <p:cNvSpPr txBox="1"/>
          <p:nvPr/>
        </p:nvSpPr>
        <p:spPr>
          <a:xfrm>
            <a:off x="1005840" y="2633472"/>
            <a:ext cx="5303520" cy="329184"/>
          </a:xfrm>
          <a:prstGeom prst="rect">
            <a:avLst/>
          </a:prstGeom>
          <a:noFill/>
          <a:ln/>
        </p:spPr>
        <p:txBody>
          <a:bodyPr wrap="square" lIns="0" tIns="0" rIns="0" bIns="0" rtlCol="0" anchor="ctr"/>
          <a:lstStyle/>
          <a:p>
            <a:pPr algn="l" indent="0" marL="0">
              <a:buNone/>
            </a:pPr>
            <a:r>
              <a:rPr lang="en-US" sz="1700" b="1" dirty="0">
                <a:solidFill>
                  <a:srgbClr val="E27B66"/>
                </a:solidFill>
                <a:latin typeface="Courier New" pitchFamily="34" charset="0"/>
                <a:ea typeface="Courier New" pitchFamily="34" charset="-122"/>
                <a:cs typeface="Courier New" pitchFamily="34" charset="-120"/>
              </a:rPr>
              <a:t>.code</a:t>
            </a:r>
            <a:endParaRPr lang="en-US" sz="1700" dirty="0"/>
          </a:p>
        </p:txBody>
      </p:sp>
      <p:sp>
        <p:nvSpPr>
          <p:cNvPr id="13" name="Text 11"/>
          <p:cNvSpPr txBox="1"/>
          <p:nvPr/>
        </p:nvSpPr>
        <p:spPr>
          <a:xfrm>
            <a:off x="1005840" y="2962656"/>
            <a:ext cx="5303520" cy="329184"/>
          </a:xfrm>
          <a:prstGeom prst="rect">
            <a:avLst/>
          </a:prstGeom>
          <a:noFill/>
          <a:ln/>
        </p:spPr>
        <p:txBody>
          <a:bodyPr wrap="square" lIns="0" tIns="0" rIns="0" bIns="0" rtlCol="0" anchor="ctr"/>
          <a:lstStyle/>
          <a:p>
            <a:pPr algn="l" indent="0" marL="0">
              <a:buNone/>
            </a:pPr>
            <a:r>
              <a:rPr lang="en-US" sz="1700" b="1" dirty="0">
                <a:solidFill>
                  <a:srgbClr val="58B98A"/>
                </a:solidFill>
                <a:latin typeface="Courier New" pitchFamily="34" charset="0"/>
                <a:ea typeface="Courier New" pitchFamily="34" charset="-122"/>
                <a:cs typeface="Courier New" pitchFamily="34" charset="-120"/>
              </a:rPr>
              <a:t>main</a:t>
            </a:r>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58B98A"/>
                </a:solidFill>
                <a:latin typeface="Courier New" pitchFamily="34" charset="0"/>
                <a:ea typeface="Courier New" pitchFamily="34" charset="-122"/>
                <a:cs typeface="Courier New" pitchFamily="34" charset="-120"/>
              </a:rPr>
              <a:t>proc</a:t>
            </a:r>
            <a:endParaRPr lang="en-US" sz="1700" dirty="0"/>
          </a:p>
        </p:txBody>
      </p:sp>
      <p:sp>
        <p:nvSpPr>
          <p:cNvPr id="14" name="Text 12"/>
          <p:cNvSpPr txBox="1"/>
          <p:nvPr/>
        </p:nvSpPr>
        <p:spPr>
          <a:xfrm>
            <a:off x="1005840" y="3291840"/>
            <a:ext cx="5303520" cy="329184"/>
          </a:xfrm>
          <a:prstGeom prst="rect">
            <a:avLst/>
          </a:prstGeom>
          <a:noFill/>
          <a:ln/>
        </p:spPr>
        <p:txBody>
          <a:bodyPr wrap="square" lIns="0" tIns="0" rIns="0" bIns="0" rtlCol="0" anchor="ctr"/>
          <a:lstStyle/>
          <a:p>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EDA63F"/>
                </a:solidFill>
                <a:latin typeface="Courier New" pitchFamily="34" charset="0"/>
                <a:ea typeface="Courier New" pitchFamily="34" charset="-122"/>
                <a:cs typeface="Courier New" pitchFamily="34" charset="-120"/>
              </a:rPr>
              <a:t>mov</a:t>
            </a:r>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3EB9CE"/>
                </a:solidFill>
                <a:latin typeface="Courier New" pitchFamily="34" charset="0"/>
                <a:ea typeface="Courier New" pitchFamily="34" charset="-122"/>
                <a:cs typeface="Courier New" pitchFamily="34" charset="-120"/>
              </a:rPr>
              <a:t>dl</a:t>
            </a:r>
            <a:pPr algn="l" indent="0" marL="0">
              <a:buNone/>
            </a:pPr>
            <a:r>
              <a:rPr lang="en-US" sz="1700" dirty="0">
                <a:solidFill>
                  <a:srgbClr val="F0F3F8"/>
                </a:solidFill>
                <a:latin typeface="Courier New" pitchFamily="34" charset="0"/>
                <a:ea typeface="Courier New" pitchFamily="34" charset="-122"/>
                <a:cs typeface="Courier New" pitchFamily="34" charset="-120"/>
              </a:rPr>
              <a:t>,</a:t>
            </a:r>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9584E8"/>
                </a:solidFill>
                <a:latin typeface="Courier New" pitchFamily="34" charset="0"/>
                <a:ea typeface="Courier New" pitchFamily="34" charset="-122"/>
                <a:cs typeface="Courier New" pitchFamily="34" charset="-120"/>
              </a:rPr>
              <a:t>'A'</a:t>
            </a:r>
            <a:endParaRPr lang="en-US" sz="1700" dirty="0"/>
          </a:p>
        </p:txBody>
      </p:sp>
      <p:sp>
        <p:nvSpPr>
          <p:cNvPr id="15" name="Text 13"/>
          <p:cNvSpPr txBox="1"/>
          <p:nvPr/>
        </p:nvSpPr>
        <p:spPr>
          <a:xfrm>
            <a:off x="1005840" y="3621024"/>
            <a:ext cx="5303520" cy="329184"/>
          </a:xfrm>
          <a:prstGeom prst="rect">
            <a:avLst/>
          </a:prstGeom>
          <a:noFill/>
          <a:ln/>
        </p:spPr>
        <p:txBody>
          <a:bodyPr wrap="square" lIns="0" tIns="0" rIns="0" bIns="0" rtlCol="0" anchor="ctr"/>
          <a:lstStyle/>
          <a:p>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EDA63F"/>
                </a:solidFill>
                <a:latin typeface="Courier New" pitchFamily="34" charset="0"/>
                <a:ea typeface="Courier New" pitchFamily="34" charset="-122"/>
                <a:cs typeface="Courier New" pitchFamily="34" charset="-120"/>
              </a:rPr>
              <a:t>mov</a:t>
            </a:r>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3EB9CE"/>
                </a:solidFill>
                <a:latin typeface="Courier New" pitchFamily="34" charset="0"/>
                <a:ea typeface="Courier New" pitchFamily="34" charset="-122"/>
                <a:cs typeface="Courier New" pitchFamily="34" charset="-120"/>
              </a:rPr>
              <a:t>ah</a:t>
            </a:r>
            <a:pPr algn="l" indent="0" marL="0">
              <a:buNone/>
            </a:pPr>
            <a:r>
              <a:rPr lang="en-US" sz="1700" dirty="0">
                <a:solidFill>
                  <a:srgbClr val="F0F3F8"/>
                </a:solidFill>
                <a:latin typeface="Courier New" pitchFamily="34" charset="0"/>
                <a:ea typeface="Courier New" pitchFamily="34" charset="-122"/>
                <a:cs typeface="Courier New" pitchFamily="34" charset="-120"/>
              </a:rPr>
              <a:t>,</a:t>
            </a:r>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9584E8"/>
                </a:solidFill>
                <a:latin typeface="Courier New" pitchFamily="34" charset="0"/>
                <a:ea typeface="Courier New" pitchFamily="34" charset="-122"/>
                <a:cs typeface="Courier New" pitchFamily="34" charset="-120"/>
              </a:rPr>
              <a:t>2</a:t>
            </a:r>
            <a:endParaRPr lang="en-US" sz="1700" dirty="0"/>
          </a:p>
        </p:txBody>
      </p:sp>
      <p:sp>
        <p:nvSpPr>
          <p:cNvPr id="16" name="Text 14"/>
          <p:cNvSpPr txBox="1"/>
          <p:nvPr/>
        </p:nvSpPr>
        <p:spPr>
          <a:xfrm>
            <a:off x="1005840" y="3950208"/>
            <a:ext cx="5303520" cy="329184"/>
          </a:xfrm>
          <a:prstGeom prst="rect">
            <a:avLst/>
          </a:prstGeom>
          <a:noFill/>
          <a:ln/>
        </p:spPr>
        <p:txBody>
          <a:bodyPr wrap="square" lIns="0" tIns="0" rIns="0" bIns="0" rtlCol="0" anchor="ctr"/>
          <a:lstStyle/>
          <a:p>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EDA63F"/>
                </a:solidFill>
                <a:latin typeface="Courier New" pitchFamily="34" charset="0"/>
                <a:ea typeface="Courier New" pitchFamily="34" charset="-122"/>
                <a:cs typeface="Courier New" pitchFamily="34" charset="-120"/>
              </a:rPr>
              <a:t>int</a:t>
            </a:r>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9584E8"/>
                </a:solidFill>
                <a:latin typeface="Courier New" pitchFamily="34" charset="0"/>
                <a:ea typeface="Courier New" pitchFamily="34" charset="-122"/>
                <a:cs typeface="Courier New" pitchFamily="34" charset="-120"/>
              </a:rPr>
              <a:t>21h</a:t>
            </a:r>
            <a:endParaRPr lang="en-US" sz="1700" dirty="0"/>
          </a:p>
        </p:txBody>
      </p:sp>
      <p:sp>
        <p:nvSpPr>
          <p:cNvPr id="17" name="Text 15"/>
          <p:cNvSpPr txBox="1"/>
          <p:nvPr/>
        </p:nvSpPr>
        <p:spPr>
          <a:xfrm>
            <a:off x="1005840" y="4279392"/>
            <a:ext cx="5303520" cy="329184"/>
          </a:xfrm>
          <a:prstGeom prst="rect">
            <a:avLst/>
          </a:prstGeom>
          <a:noFill/>
          <a:ln/>
        </p:spPr>
        <p:txBody>
          <a:bodyPr wrap="square" lIns="0" tIns="0" rIns="0" bIns="0" rtlCol="0" anchor="ctr"/>
          <a:lstStyle/>
          <a:p>
            <a:pPr algn="l" indent="0" marL="0">
              <a:buNone/>
            </a:pPr>
            <a:r>
              <a:rPr lang="en-US" sz="1700" dirty="0">
                <a:solidFill>
                  <a:srgbClr val="F0F3F8"/>
                </a:solidFill>
                <a:latin typeface="Courier New" pitchFamily="34" charset="0"/>
                <a:ea typeface="Courier New" pitchFamily="34" charset="-122"/>
                <a:cs typeface="Courier New" pitchFamily="34" charset="-120"/>
              </a:rPr>
              <a:t> </a:t>
            </a:r>
            <a:endParaRPr lang="en-US" sz="1700" dirty="0"/>
          </a:p>
        </p:txBody>
      </p:sp>
      <p:sp>
        <p:nvSpPr>
          <p:cNvPr id="18" name="Text 16"/>
          <p:cNvSpPr txBox="1"/>
          <p:nvPr/>
        </p:nvSpPr>
        <p:spPr>
          <a:xfrm>
            <a:off x="1005840" y="4608576"/>
            <a:ext cx="5303520" cy="329184"/>
          </a:xfrm>
          <a:prstGeom prst="rect">
            <a:avLst/>
          </a:prstGeom>
          <a:noFill/>
          <a:ln/>
        </p:spPr>
        <p:txBody>
          <a:bodyPr wrap="square" lIns="0" tIns="0" rIns="0" bIns="0" rtlCol="0" anchor="ctr"/>
          <a:lstStyle/>
          <a:p>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EDA63F"/>
                </a:solidFill>
                <a:latin typeface="Courier New" pitchFamily="34" charset="0"/>
                <a:ea typeface="Courier New" pitchFamily="34" charset="-122"/>
                <a:cs typeface="Courier New" pitchFamily="34" charset="-120"/>
              </a:rPr>
              <a:t>mov</a:t>
            </a:r>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3EB9CE"/>
                </a:solidFill>
                <a:latin typeface="Courier New" pitchFamily="34" charset="0"/>
                <a:ea typeface="Courier New" pitchFamily="34" charset="-122"/>
                <a:cs typeface="Courier New" pitchFamily="34" charset="-120"/>
              </a:rPr>
              <a:t>ah</a:t>
            </a:r>
            <a:pPr algn="l" indent="0" marL="0">
              <a:buNone/>
            </a:pPr>
            <a:r>
              <a:rPr lang="en-US" sz="1700" dirty="0">
                <a:solidFill>
                  <a:srgbClr val="F0F3F8"/>
                </a:solidFill>
                <a:latin typeface="Courier New" pitchFamily="34" charset="0"/>
                <a:ea typeface="Courier New" pitchFamily="34" charset="-122"/>
                <a:cs typeface="Courier New" pitchFamily="34" charset="-120"/>
              </a:rPr>
              <a:t>,</a:t>
            </a:r>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9584E8"/>
                </a:solidFill>
                <a:latin typeface="Courier New" pitchFamily="34" charset="0"/>
                <a:ea typeface="Courier New" pitchFamily="34" charset="-122"/>
                <a:cs typeface="Courier New" pitchFamily="34" charset="-120"/>
              </a:rPr>
              <a:t>4ch</a:t>
            </a:r>
            <a:endParaRPr lang="en-US" sz="1700" dirty="0"/>
          </a:p>
        </p:txBody>
      </p:sp>
      <p:sp>
        <p:nvSpPr>
          <p:cNvPr id="19" name="Text 17"/>
          <p:cNvSpPr txBox="1"/>
          <p:nvPr/>
        </p:nvSpPr>
        <p:spPr>
          <a:xfrm>
            <a:off x="1005840" y="4937760"/>
            <a:ext cx="5303520" cy="329184"/>
          </a:xfrm>
          <a:prstGeom prst="rect">
            <a:avLst/>
          </a:prstGeom>
          <a:noFill/>
          <a:ln/>
        </p:spPr>
        <p:txBody>
          <a:bodyPr wrap="square" lIns="0" tIns="0" rIns="0" bIns="0" rtlCol="0" anchor="ctr"/>
          <a:lstStyle/>
          <a:p>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EDA63F"/>
                </a:solidFill>
                <a:latin typeface="Courier New" pitchFamily="34" charset="0"/>
                <a:ea typeface="Courier New" pitchFamily="34" charset="-122"/>
                <a:cs typeface="Courier New" pitchFamily="34" charset="-120"/>
              </a:rPr>
              <a:t>int</a:t>
            </a:r>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9584E8"/>
                </a:solidFill>
                <a:latin typeface="Courier New" pitchFamily="34" charset="0"/>
                <a:ea typeface="Courier New" pitchFamily="34" charset="-122"/>
                <a:cs typeface="Courier New" pitchFamily="34" charset="-120"/>
              </a:rPr>
              <a:t>21h</a:t>
            </a:r>
            <a:endParaRPr lang="en-US" sz="1700" dirty="0"/>
          </a:p>
        </p:txBody>
      </p:sp>
      <p:sp>
        <p:nvSpPr>
          <p:cNvPr id="20" name="Text 18"/>
          <p:cNvSpPr txBox="1"/>
          <p:nvPr/>
        </p:nvSpPr>
        <p:spPr>
          <a:xfrm>
            <a:off x="1005840" y="5266944"/>
            <a:ext cx="5303520" cy="329184"/>
          </a:xfrm>
          <a:prstGeom prst="rect">
            <a:avLst/>
          </a:prstGeom>
          <a:noFill/>
          <a:ln/>
        </p:spPr>
        <p:txBody>
          <a:bodyPr wrap="square" lIns="0" tIns="0" rIns="0" bIns="0" rtlCol="0" anchor="ctr"/>
          <a:lstStyle/>
          <a:p>
            <a:pPr algn="l" indent="0" marL="0">
              <a:buNone/>
            </a:pPr>
            <a:r>
              <a:rPr lang="en-US" sz="1700" b="1" dirty="0">
                <a:solidFill>
                  <a:srgbClr val="58B98A"/>
                </a:solidFill>
                <a:latin typeface="Courier New" pitchFamily="34" charset="0"/>
                <a:ea typeface="Courier New" pitchFamily="34" charset="-122"/>
                <a:cs typeface="Courier New" pitchFamily="34" charset="-120"/>
              </a:rPr>
              <a:t>main</a:t>
            </a:r>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58B98A"/>
                </a:solidFill>
                <a:latin typeface="Courier New" pitchFamily="34" charset="0"/>
                <a:ea typeface="Courier New" pitchFamily="34" charset="-122"/>
                <a:cs typeface="Courier New" pitchFamily="34" charset="-120"/>
              </a:rPr>
              <a:t>endp</a:t>
            </a:r>
            <a:endParaRPr lang="en-US" sz="1700" dirty="0"/>
          </a:p>
        </p:txBody>
      </p:sp>
      <p:sp>
        <p:nvSpPr>
          <p:cNvPr id="21" name="Text 19"/>
          <p:cNvSpPr txBox="1"/>
          <p:nvPr/>
        </p:nvSpPr>
        <p:spPr>
          <a:xfrm>
            <a:off x="1005840" y="5596128"/>
            <a:ext cx="5303520" cy="329184"/>
          </a:xfrm>
          <a:prstGeom prst="rect">
            <a:avLst/>
          </a:prstGeom>
          <a:noFill/>
          <a:ln/>
        </p:spPr>
        <p:txBody>
          <a:bodyPr wrap="square" lIns="0" tIns="0" rIns="0" bIns="0" rtlCol="0" anchor="ctr"/>
          <a:lstStyle/>
          <a:p>
            <a:pPr algn="l" indent="0" marL="0">
              <a:buNone/>
            </a:pPr>
            <a:r>
              <a:rPr lang="en-US" sz="1700" b="1" dirty="0">
                <a:solidFill>
                  <a:srgbClr val="58B98A"/>
                </a:solidFill>
                <a:latin typeface="Courier New" pitchFamily="34" charset="0"/>
                <a:ea typeface="Courier New" pitchFamily="34" charset="-122"/>
                <a:cs typeface="Courier New" pitchFamily="34" charset="-120"/>
              </a:rPr>
              <a:t>end</a:t>
            </a:r>
            <a:pPr algn="l" indent="0" marL="0">
              <a:buNone/>
            </a:pPr>
            <a:r>
              <a:rPr lang="en-US" sz="1700" dirty="0">
                <a:solidFill>
                  <a:srgbClr val="F0F3F8"/>
                </a:solidFill>
                <a:latin typeface="Courier New" pitchFamily="34" charset="0"/>
                <a:ea typeface="Courier New" pitchFamily="34" charset="-122"/>
                <a:cs typeface="Courier New" pitchFamily="34" charset="-120"/>
              </a:rPr>
              <a:t> </a:t>
            </a:r>
            <a:pPr algn="l" indent="0" marL="0">
              <a:buNone/>
            </a:pPr>
            <a:r>
              <a:rPr lang="en-US" sz="1700" b="1" dirty="0">
                <a:solidFill>
                  <a:srgbClr val="58B98A"/>
                </a:solidFill>
                <a:latin typeface="Courier New" pitchFamily="34" charset="0"/>
                <a:ea typeface="Courier New" pitchFamily="34" charset="-122"/>
                <a:cs typeface="Courier New" pitchFamily="34" charset="-120"/>
              </a:rPr>
              <a:t>main</a:t>
            </a:r>
            <a:endParaRPr lang="en-US" sz="1700" dirty="0"/>
          </a:p>
        </p:txBody>
      </p:sp>
      <p:sp>
        <p:nvSpPr>
          <p:cNvPr id="22" name="Shape 20"/>
          <p:cNvSpPr/>
          <p:nvPr/>
        </p:nvSpPr>
        <p:spPr>
          <a:xfrm>
            <a:off x="6949440" y="1463040"/>
            <a:ext cx="4599432" cy="1417320"/>
          </a:xfrm>
          <a:prstGeom prst="roundRect">
            <a:avLst>
              <a:gd name="adj" fmla="val 6670"/>
            </a:avLst>
          </a:prstGeom>
          <a:solidFill>
            <a:srgbClr val="182132"/>
          </a:solidFill>
          <a:ln w="12700">
            <a:solidFill>
              <a:srgbClr val="2A3548"/>
            </a:solidFill>
            <a:prstDash val="solid"/>
          </a:ln>
        </p:spPr>
      </p:sp>
      <p:sp>
        <p:nvSpPr>
          <p:cNvPr id="23" name="Shape 21"/>
          <p:cNvSpPr/>
          <p:nvPr/>
        </p:nvSpPr>
        <p:spPr>
          <a:xfrm>
            <a:off x="7114032" y="1600200"/>
            <a:ext cx="100584" cy="100584"/>
          </a:xfrm>
          <a:prstGeom prst="ellipse">
            <a:avLst/>
          </a:prstGeom>
          <a:solidFill>
            <a:srgbClr val="E27B66"/>
          </a:solidFill>
          <a:ln/>
        </p:spPr>
      </p:sp>
      <p:sp>
        <p:nvSpPr>
          <p:cNvPr id="24" name="Shape 22"/>
          <p:cNvSpPr/>
          <p:nvPr/>
        </p:nvSpPr>
        <p:spPr>
          <a:xfrm>
            <a:off x="7287768" y="1600200"/>
            <a:ext cx="100584" cy="100584"/>
          </a:xfrm>
          <a:prstGeom prst="ellipse">
            <a:avLst/>
          </a:prstGeom>
          <a:solidFill>
            <a:srgbClr val="EDA63F"/>
          </a:solidFill>
          <a:ln/>
        </p:spPr>
      </p:sp>
      <p:sp>
        <p:nvSpPr>
          <p:cNvPr id="25" name="Shape 23"/>
          <p:cNvSpPr/>
          <p:nvPr/>
        </p:nvSpPr>
        <p:spPr>
          <a:xfrm>
            <a:off x="7461504" y="1600200"/>
            <a:ext cx="100584" cy="100584"/>
          </a:xfrm>
          <a:prstGeom prst="ellipse">
            <a:avLst/>
          </a:prstGeom>
          <a:solidFill>
            <a:srgbClr val="58B98A"/>
          </a:solidFill>
          <a:ln/>
        </p:spPr>
      </p:sp>
      <p:sp>
        <p:nvSpPr>
          <p:cNvPr id="26" name="Text 24"/>
          <p:cNvSpPr txBox="1"/>
          <p:nvPr/>
        </p:nvSpPr>
        <p:spPr>
          <a:xfrm>
            <a:off x="7680960" y="1536192"/>
            <a:ext cx="3685032" cy="219456"/>
          </a:xfrm>
          <a:prstGeom prst="rect">
            <a:avLst/>
          </a:prstGeom>
          <a:noFill/>
          <a:ln/>
        </p:spPr>
        <p:txBody>
          <a:bodyPr wrap="square" lIns="0" tIns="0" rIns="0" bIns="0" rtlCol="0" anchor="t"/>
          <a:lstStyle/>
          <a:p>
            <a:pPr algn="l" indent="0" marL="0">
              <a:buNone/>
            </a:pPr>
            <a:r>
              <a:rPr lang="en-US" sz="900" dirty="0">
                <a:solidFill>
                  <a:srgbClr val="5C6B83"/>
                </a:solidFill>
                <a:latin typeface="Courier New" pitchFamily="34" charset="0"/>
                <a:ea typeface="Courier New" pitchFamily="34" charset="-122"/>
                <a:cs typeface="Courier New" pitchFamily="34" charset="-120"/>
              </a:rPr>
              <a:t>emulator screen</a:t>
            </a:r>
            <a:endParaRPr lang="en-US" sz="900" dirty="0"/>
          </a:p>
        </p:txBody>
      </p:sp>
      <p:sp>
        <p:nvSpPr>
          <p:cNvPr id="27" name="Shape 25"/>
          <p:cNvSpPr/>
          <p:nvPr/>
        </p:nvSpPr>
        <p:spPr>
          <a:xfrm>
            <a:off x="7077456" y="1828800"/>
            <a:ext cx="4343400" cy="923544"/>
          </a:xfrm>
          <a:prstGeom prst="roundRect">
            <a:avLst>
              <a:gd name="adj" fmla="val 6670"/>
            </a:avLst>
          </a:prstGeom>
          <a:solidFill>
            <a:srgbClr val="070B12"/>
          </a:solidFill>
          <a:ln w="12700">
            <a:solidFill>
              <a:srgbClr val="2B3850"/>
            </a:solidFill>
            <a:prstDash val="solid"/>
          </a:ln>
        </p:spPr>
      </p:sp>
      <p:sp>
        <p:nvSpPr>
          <p:cNvPr id="28" name="Text 26"/>
          <p:cNvSpPr txBox="1"/>
          <p:nvPr/>
        </p:nvSpPr>
        <p:spPr>
          <a:xfrm>
            <a:off x="7351776" y="1828800"/>
            <a:ext cx="914400" cy="923544"/>
          </a:xfrm>
          <a:prstGeom prst="rect">
            <a:avLst/>
          </a:prstGeom>
          <a:noFill/>
          <a:ln/>
        </p:spPr>
        <p:txBody>
          <a:bodyPr wrap="square" lIns="0" tIns="0" rIns="0" bIns="0" rtlCol="0" anchor="ctr"/>
          <a:lstStyle/>
          <a:p>
            <a:pPr algn="l" indent="0" marL="0">
              <a:buNone/>
            </a:pPr>
            <a:r>
              <a:rPr lang="en-US" sz="2400" b="1" dirty="0">
                <a:solidFill>
                  <a:srgbClr val="F0F3F8"/>
                </a:solidFill>
                <a:latin typeface="Courier New" pitchFamily="34" charset="0"/>
                <a:ea typeface="Courier New" pitchFamily="34" charset="-122"/>
                <a:cs typeface="Courier New" pitchFamily="34" charset="-120"/>
              </a:rPr>
              <a:t>A</a:t>
            </a:r>
            <a:endParaRPr lang="en-US" sz="2400" dirty="0"/>
          </a:p>
        </p:txBody>
      </p:sp>
      <p:sp>
        <p:nvSpPr>
          <p:cNvPr id="29" name="Shape 27"/>
          <p:cNvSpPr/>
          <p:nvPr/>
        </p:nvSpPr>
        <p:spPr>
          <a:xfrm>
            <a:off x="7571232" y="2180844"/>
            <a:ext cx="115214" cy="274320"/>
          </a:xfrm>
          <a:prstGeom prst="rect">
            <a:avLst/>
          </a:prstGeom>
          <a:solidFill>
            <a:srgbClr val="EDA63F"/>
          </a:solidFill>
          <a:ln/>
        </p:spPr>
      </p:sp>
      <p:sp>
        <p:nvSpPr>
          <p:cNvPr id="30" name="Shape 28"/>
          <p:cNvSpPr/>
          <p:nvPr/>
        </p:nvSpPr>
        <p:spPr>
          <a:xfrm>
            <a:off x="6492240" y="3785616"/>
            <a:ext cx="411480" cy="0"/>
          </a:xfrm>
          <a:prstGeom prst="line">
            <a:avLst/>
          </a:prstGeom>
          <a:noFill/>
          <a:ln w="19050">
            <a:solidFill>
              <a:srgbClr val="EDA63F"/>
            </a:solidFill>
            <a:prstDash val="solid"/>
            <a:tailEnd type="triangle"/>
          </a:ln>
        </p:spPr>
      </p:sp>
      <p:sp>
        <p:nvSpPr>
          <p:cNvPr id="31" name="Shape 29"/>
          <p:cNvSpPr/>
          <p:nvPr/>
        </p:nvSpPr>
        <p:spPr>
          <a:xfrm>
            <a:off x="6492240" y="4937760"/>
            <a:ext cx="411480" cy="0"/>
          </a:xfrm>
          <a:prstGeom prst="line">
            <a:avLst/>
          </a:prstGeom>
          <a:noFill/>
          <a:ln w="19050">
            <a:solidFill>
              <a:srgbClr val="58B98A"/>
            </a:solidFill>
            <a:prstDash val="solid"/>
            <a:tailEnd type="triangle"/>
          </a:ln>
        </p:spPr>
      </p:sp>
      <p:sp>
        <p:nvSpPr>
          <p:cNvPr id="32" name="Shape 30"/>
          <p:cNvSpPr/>
          <p:nvPr/>
        </p:nvSpPr>
        <p:spPr>
          <a:xfrm>
            <a:off x="6949440" y="3154680"/>
            <a:ext cx="4599432" cy="1051560"/>
          </a:xfrm>
          <a:prstGeom prst="roundRect">
            <a:avLst>
              <a:gd name="adj" fmla="val 6670"/>
            </a:avLst>
          </a:prstGeom>
          <a:solidFill>
            <a:srgbClr val="2A2113"/>
          </a:solidFill>
          <a:ln w="12700">
            <a:solidFill>
              <a:srgbClr val="4A3620"/>
            </a:solidFill>
            <a:prstDash val="solid"/>
          </a:ln>
        </p:spPr>
      </p:sp>
      <p:sp>
        <p:nvSpPr>
          <p:cNvPr id="33" name="Text 31"/>
          <p:cNvSpPr txBox="1"/>
          <p:nvPr/>
        </p:nvSpPr>
        <p:spPr>
          <a:xfrm>
            <a:off x="7223760" y="3319272"/>
            <a:ext cx="4114800" cy="219456"/>
          </a:xfrm>
          <a:prstGeom prst="rect">
            <a:avLst/>
          </a:prstGeom>
          <a:noFill/>
          <a:ln/>
        </p:spPr>
        <p:txBody>
          <a:bodyPr wrap="square" lIns="0" tIns="0" rIns="0" bIns="0" rtlCol="0" anchor="t"/>
          <a:lstStyle/>
          <a:p>
            <a:pPr algn="l" indent="0" marL="0">
              <a:buNone/>
            </a:pPr>
            <a:r>
              <a:rPr lang="en-US" sz="950" b="1" spc="130" kern="0" dirty="0">
                <a:solidFill>
                  <a:srgbClr val="EDA63F"/>
                </a:solidFill>
                <a:latin typeface="Courier New" pitchFamily="34" charset="0"/>
                <a:ea typeface="Courier New" pitchFamily="34" charset="-122"/>
                <a:cs typeface="Courier New" pitchFamily="34" charset="-120"/>
              </a:rPr>
              <a:t>PRINT ONE CHARACTER</a:t>
            </a:r>
            <a:endParaRPr lang="en-US" sz="950" dirty="0"/>
          </a:p>
        </p:txBody>
      </p:sp>
      <p:sp>
        <p:nvSpPr>
          <p:cNvPr id="34" name="Text 32"/>
          <p:cNvSpPr txBox="1"/>
          <p:nvPr/>
        </p:nvSpPr>
        <p:spPr>
          <a:xfrm>
            <a:off x="7223760" y="3593592"/>
            <a:ext cx="4114800" cy="457200"/>
          </a:xfrm>
          <a:prstGeom prst="rect">
            <a:avLst/>
          </a:prstGeom>
          <a:noFill/>
          <a:ln/>
        </p:spPr>
        <p:txBody>
          <a:bodyPr wrap="square" lIns="0" tIns="0" rIns="0" bIns="0" rtlCol="0" anchor="t"/>
          <a:lstStyle/>
          <a:p>
            <a:pPr algn="l" indent="0" marL="0">
              <a:buNone/>
            </a:pPr>
            <a:r>
              <a:rPr lang="en-US" sz="1400" dirty="0">
                <a:solidFill>
                  <a:srgbClr val="F0F3F8"/>
                </a:solidFill>
                <a:latin typeface="Calibri" pitchFamily="34" charset="0"/>
                <a:ea typeface="Calibri" pitchFamily="34" charset="-122"/>
                <a:cs typeface="Calibri" pitchFamily="34" charset="-120"/>
              </a:rPr>
              <a:t>Put 'A' in DL, choose service 2, call DOS.</a:t>
            </a:r>
            <a:endParaRPr lang="en-US" sz="1400" dirty="0"/>
          </a:p>
        </p:txBody>
      </p:sp>
      <p:sp>
        <p:nvSpPr>
          <p:cNvPr id="35" name="Shape 33"/>
          <p:cNvSpPr/>
          <p:nvPr/>
        </p:nvSpPr>
        <p:spPr>
          <a:xfrm>
            <a:off x="6949440" y="4480560"/>
            <a:ext cx="4599432" cy="1143000"/>
          </a:xfrm>
          <a:prstGeom prst="roundRect">
            <a:avLst>
              <a:gd name="adj" fmla="val 6670"/>
            </a:avLst>
          </a:prstGeom>
          <a:solidFill>
            <a:srgbClr val="132A20"/>
          </a:solidFill>
          <a:ln w="12700">
            <a:solidFill>
              <a:srgbClr val="2A5A40"/>
            </a:solidFill>
            <a:prstDash val="solid"/>
          </a:ln>
        </p:spPr>
      </p:sp>
      <p:sp>
        <p:nvSpPr>
          <p:cNvPr id="36" name="Text 34"/>
          <p:cNvSpPr txBox="1"/>
          <p:nvPr/>
        </p:nvSpPr>
        <p:spPr>
          <a:xfrm>
            <a:off x="7223760" y="4645152"/>
            <a:ext cx="4114800" cy="219456"/>
          </a:xfrm>
          <a:prstGeom prst="rect">
            <a:avLst/>
          </a:prstGeom>
          <a:noFill/>
          <a:ln/>
        </p:spPr>
        <p:txBody>
          <a:bodyPr wrap="square" lIns="0" tIns="0" rIns="0" bIns="0" rtlCol="0" anchor="t"/>
          <a:lstStyle/>
          <a:p>
            <a:pPr algn="l" indent="0" marL="0">
              <a:buNone/>
            </a:pPr>
            <a:r>
              <a:rPr lang="en-US" sz="950" b="1" spc="130" kern="0" dirty="0">
                <a:solidFill>
                  <a:srgbClr val="58B98A"/>
                </a:solidFill>
                <a:latin typeface="Courier New" pitchFamily="34" charset="0"/>
                <a:ea typeface="Courier New" pitchFamily="34" charset="-122"/>
                <a:cs typeface="Courier New" pitchFamily="34" charset="-120"/>
              </a:rPr>
              <a:t>END THE PROGRAM</a:t>
            </a:r>
            <a:endParaRPr lang="en-US" sz="950" dirty="0"/>
          </a:p>
        </p:txBody>
      </p:sp>
      <p:sp>
        <p:nvSpPr>
          <p:cNvPr id="37" name="Text 35"/>
          <p:cNvSpPr txBox="1"/>
          <p:nvPr/>
        </p:nvSpPr>
        <p:spPr>
          <a:xfrm>
            <a:off x="7223760" y="4919472"/>
            <a:ext cx="4114800" cy="603504"/>
          </a:xfrm>
          <a:prstGeom prst="rect">
            <a:avLst/>
          </a:prstGeom>
          <a:noFill/>
          <a:ln/>
        </p:spPr>
        <p:txBody>
          <a:bodyPr wrap="square" lIns="0" tIns="0" rIns="0" bIns="0" rtlCol="0" anchor="t"/>
          <a:lstStyle/>
          <a:p>
            <a:pPr algn="l" indent="0" marL="0">
              <a:buNone/>
            </a:pPr>
            <a:r>
              <a:rPr lang="en-US" sz="1400" dirty="0">
                <a:solidFill>
                  <a:srgbClr val="F0F3F8"/>
                </a:solidFill>
                <a:latin typeface="Calibri" pitchFamily="34" charset="0"/>
                <a:ea typeface="Calibri" pitchFamily="34" charset="-122"/>
                <a:cs typeface="Calibri" pitchFamily="34" charset="-120"/>
              </a:rPr>
              <a:t>Service 4Ch means: stop and go back to DOS. Every program ends with these two lines.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6 · MORE CHARACTERS</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Printing more than one character</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Same three lines for every character. Only the character in DL changes.</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02</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08</a:t>
            </a:r>
            <a:endParaRPr lang="en-US" sz="900" dirty="0"/>
          </a:p>
        </p:txBody>
      </p:sp>
      <p:sp>
        <p:nvSpPr>
          <p:cNvPr id="7" name="Shape 5"/>
          <p:cNvSpPr/>
          <p:nvPr/>
        </p:nvSpPr>
        <p:spPr>
          <a:xfrm>
            <a:off x="640080" y="1810512"/>
            <a:ext cx="2011680" cy="1325880"/>
          </a:xfrm>
          <a:prstGeom prst="roundRect">
            <a:avLst>
              <a:gd name="adj" fmla="val 6670"/>
            </a:avLst>
          </a:prstGeom>
          <a:solidFill>
            <a:srgbClr val="121A29"/>
          </a:solidFill>
          <a:ln w="12700">
            <a:solidFill>
              <a:srgbClr val="2B3850"/>
            </a:solidFill>
            <a:prstDash val="solid"/>
          </a:ln>
        </p:spPr>
      </p:sp>
      <p:sp>
        <p:nvSpPr>
          <p:cNvPr id="8" name="Text 6"/>
          <p:cNvSpPr txBox="1"/>
          <p:nvPr/>
        </p:nvSpPr>
        <p:spPr>
          <a:xfrm>
            <a:off x="914400" y="1965960"/>
            <a:ext cx="1645920" cy="329184"/>
          </a:xfrm>
          <a:prstGeom prst="rect">
            <a:avLst/>
          </a:prstGeom>
          <a:noFill/>
          <a:ln/>
        </p:spPr>
        <p:txBody>
          <a:bodyPr wrap="square" lIns="0" tIns="0" rIns="0" bIns="0" rtlCol="0" anchor="ctr"/>
          <a:lstStyle/>
          <a:p>
            <a:pPr algn="l" indent="0" marL="0">
              <a:buNone/>
            </a:pPr>
            <a:r>
              <a:rPr lang="en-US" sz="1400" dirty="0">
                <a:solidFill>
                  <a:srgbClr val="94A3B8"/>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94A3B8"/>
                </a:solidFill>
                <a:latin typeface="Courier New" pitchFamily="34" charset="0"/>
                <a:ea typeface="Courier New" pitchFamily="34" charset="-122"/>
                <a:cs typeface="Courier New" pitchFamily="34" charset="-120"/>
              </a:rPr>
              <a:t>dl</a:t>
            </a:r>
            <a:pPr algn="l" indent="0" marL="0">
              <a:buNone/>
            </a:pPr>
            <a:r>
              <a:rPr lang="en-US" sz="1400" dirty="0">
                <a:solidFill>
                  <a:srgbClr val="94A3B8"/>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EDA63F"/>
                </a:solidFill>
                <a:latin typeface="Courier New" pitchFamily="34" charset="0"/>
                <a:ea typeface="Courier New" pitchFamily="34" charset="-122"/>
                <a:cs typeface="Courier New" pitchFamily="34" charset="-120"/>
              </a:rPr>
              <a:t>'H'</a:t>
            </a:r>
            <a:endParaRPr lang="en-US" sz="1400" dirty="0"/>
          </a:p>
        </p:txBody>
      </p:sp>
      <p:sp>
        <p:nvSpPr>
          <p:cNvPr id="9" name="Text 7"/>
          <p:cNvSpPr txBox="1"/>
          <p:nvPr/>
        </p:nvSpPr>
        <p:spPr>
          <a:xfrm>
            <a:off x="914400" y="2313432"/>
            <a:ext cx="1645920" cy="329184"/>
          </a:xfrm>
          <a:prstGeom prst="rect">
            <a:avLst/>
          </a:prstGeom>
          <a:noFill/>
          <a:ln/>
        </p:spPr>
        <p:txBody>
          <a:bodyPr wrap="square" lIns="0" tIns="0" rIns="0" bIns="0" rtlCol="0" anchor="ctr"/>
          <a:lstStyle/>
          <a:p>
            <a:pPr algn="l" indent="0" marL="0">
              <a:buNone/>
            </a:pPr>
            <a:r>
              <a:rPr lang="en-US" sz="1400" dirty="0">
                <a:solidFill>
                  <a:srgbClr val="6B7A93"/>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ah</a:t>
            </a:r>
            <a:pPr algn="l" indent="0" marL="0">
              <a:buNone/>
            </a:pPr>
            <a:r>
              <a:rPr lang="en-US" sz="1400" dirty="0">
                <a:solidFill>
                  <a:srgbClr val="6B7A93"/>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2</a:t>
            </a:r>
            <a:endParaRPr lang="en-US" sz="1400" dirty="0"/>
          </a:p>
        </p:txBody>
      </p:sp>
      <p:sp>
        <p:nvSpPr>
          <p:cNvPr id="10" name="Text 8"/>
          <p:cNvSpPr txBox="1"/>
          <p:nvPr/>
        </p:nvSpPr>
        <p:spPr>
          <a:xfrm>
            <a:off x="914400" y="2660904"/>
            <a:ext cx="1645920" cy="329184"/>
          </a:xfrm>
          <a:prstGeom prst="rect">
            <a:avLst/>
          </a:prstGeom>
          <a:noFill/>
          <a:ln/>
        </p:spPr>
        <p:txBody>
          <a:bodyPr wrap="square" lIns="0" tIns="0" rIns="0" bIns="0" rtlCol="0" anchor="ctr"/>
          <a:lstStyle/>
          <a:p>
            <a:pPr algn="l" indent="0" marL="0">
              <a:buNone/>
            </a:pPr>
            <a:r>
              <a:rPr lang="en-US" sz="1400" dirty="0">
                <a:solidFill>
                  <a:srgbClr val="6B7A93"/>
                </a:solidFill>
                <a:latin typeface="Courier New" pitchFamily="34" charset="0"/>
                <a:ea typeface="Courier New" pitchFamily="34" charset="-122"/>
                <a:cs typeface="Courier New" pitchFamily="34" charset="-120"/>
              </a:rPr>
              <a:t>int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21h</a:t>
            </a:r>
            <a:endParaRPr lang="en-US" sz="1400" dirty="0"/>
          </a:p>
        </p:txBody>
      </p:sp>
      <p:sp>
        <p:nvSpPr>
          <p:cNvPr id="11" name="Shape 9"/>
          <p:cNvSpPr/>
          <p:nvPr/>
        </p:nvSpPr>
        <p:spPr>
          <a:xfrm>
            <a:off x="1645920" y="3209544"/>
            <a:ext cx="0" cy="356616"/>
          </a:xfrm>
          <a:prstGeom prst="line">
            <a:avLst/>
          </a:prstGeom>
          <a:noFill/>
          <a:ln w="19050">
            <a:solidFill>
              <a:srgbClr val="93A0B2"/>
            </a:solidFill>
            <a:prstDash val="solid"/>
            <a:tailEnd type="triangle"/>
          </a:ln>
        </p:spPr>
      </p:sp>
      <p:sp>
        <p:nvSpPr>
          <p:cNvPr id="12" name="Shape 10"/>
          <p:cNvSpPr/>
          <p:nvPr/>
        </p:nvSpPr>
        <p:spPr>
          <a:xfrm>
            <a:off x="1298448" y="3630168"/>
            <a:ext cx="694944" cy="694944"/>
          </a:xfrm>
          <a:prstGeom prst="roundRect">
            <a:avLst>
              <a:gd name="adj" fmla="val 6670"/>
            </a:avLst>
          </a:prstGeom>
          <a:solidFill>
            <a:srgbClr val="FFFFFF"/>
          </a:solidFill>
          <a:ln w="12700">
            <a:solidFill>
              <a:srgbClr val="E2E7EF"/>
            </a:solidFill>
            <a:prstDash val="solid"/>
          </a:ln>
        </p:spPr>
      </p:sp>
      <p:sp>
        <p:nvSpPr>
          <p:cNvPr id="13" name="Text 11"/>
          <p:cNvSpPr txBox="1"/>
          <p:nvPr/>
        </p:nvSpPr>
        <p:spPr>
          <a:xfrm>
            <a:off x="1298448" y="3630168"/>
            <a:ext cx="694944" cy="694944"/>
          </a:xfrm>
          <a:prstGeom prst="rect">
            <a:avLst/>
          </a:prstGeom>
          <a:noFill/>
          <a:ln/>
        </p:spPr>
        <p:txBody>
          <a:bodyPr wrap="square" lIns="0" tIns="0" rIns="0" bIns="0" rtlCol="0" anchor="ctr"/>
          <a:lstStyle/>
          <a:p>
            <a:pPr algn="ctr" indent="0" marL="0">
              <a:buNone/>
            </a:pPr>
            <a:r>
              <a:rPr lang="en-US" sz="2800" b="1" dirty="0">
                <a:solidFill>
                  <a:srgbClr val="0F1622"/>
                </a:solidFill>
                <a:latin typeface="Courier New" pitchFamily="34" charset="0"/>
                <a:ea typeface="Courier New" pitchFamily="34" charset="-122"/>
                <a:cs typeface="Courier New" pitchFamily="34" charset="-120"/>
              </a:rPr>
              <a:t>H</a:t>
            </a:r>
            <a:endParaRPr lang="en-US" sz="2800" dirty="0"/>
          </a:p>
        </p:txBody>
      </p:sp>
      <p:sp>
        <p:nvSpPr>
          <p:cNvPr id="14" name="Shape 12"/>
          <p:cNvSpPr/>
          <p:nvPr/>
        </p:nvSpPr>
        <p:spPr>
          <a:xfrm>
            <a:off x="2864358" y="1810512"/>
            <a:ext cx="2011680" cy="1325880"/>
          </a:xfrm>
          <a:prstGeom prst="roundRect">
            <a:avLst>
              <a:gd name="adj" fmla="val 6670"/>
            </a:avLst>
          </a:prstGeom>
          <a:solidFill>
            <a:srgbClr val="121A29"/>
          </a:solidFill>
          <a:ln w="12700">
            <a:solidFill>
              <a:srgbClr val="2B3850"/>
            </a:solidFill>
            <a:prstDash val="solid"/>
          </a:ln>
        </p:spPr>
      </p:sp>
      <p:sp>
        <p:nvSpPr>
          <p:cNvPr id="15" name="Text 13"/>
          <p:cNvSpPr txBox="1"/>
          <p:nvPr/>
        </p:nvSpPr>
        <p:spPr>
          <a:xfrm>
            <a:off x="3138678" y="1965960"/>
            <a:ext cx="1645920" cy="329184"/>
          </a:xfrm>
          <a:prstGeom prst="rect">
            <a:avLst/>
          </a:prstGeom>
          <a:noFill/>
          <a:ln/>
        </p:spPr>
        <p:txBody>
          <a:bodyPr wrap="square" lIns="0" tIns="0" rIns="0" bIns="0" rtlCol="0" anchor="ctr"/>
          <a:lstStyle/>
          <a:p>
            <a:pPr algn="l" indent="0" marL="0">
              <a:buNone/>
            </a:pPr>
            <a:r>
              <a:rPr lang="en-US" sz="1400" dirty="0">
                <a:solidFill>
                  <a:srgbClr val="94A3B8"/>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94A3B8"/>
                </a:solidFill>
                <a:latin typeface="Courier New" pitchFamily="34" charset="0"/>
                <a:ea typeface="Courier New" pitchFamily="34" charset="-122"/>
                <a:cs typeface="Courier New" pitchFamily="34" charset="-120"/>
              </a:rPr>
              <a:t>dl</a:t>
            </a:r>
            <a:pPr algn="l" indent="0" marL="0">
              <a:buNone/>
            </a:pPr>
            <a:r>
              <a:rPr lang="en-US" sz="1400" dirty="0">
                <a:solidFill>
                  <a:srgbClr val="94A3B8"/>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EDA63F"/>
                </a:solidFill>
                <a:latin typeface="Courier New" pitchFamily="34" charset="0"/>
                <a:ea typeface="Courier New" pitchFamily="34" charset="-122"/>
                <a:cs typeface="Courier New" pitchFamily="34" charset="-120"/>
              </a:rPr>
              <a:t>'E'</a:t>
            </a:r>
            <a:endParaRPr lang="en-US" sz="1400" dirty="0"/>
          </a:p>
        </p:txBody>
      </p:sp>
      <p:sp>
        <p:nvSpPr>
          <p:cNvPr id="16" name="Text 14"/>
          <p:cNvSpPr txBox="1"/>
          <p:nvPr/>
        </p:nvSpPr>
        <p:spPr>
          <a:xfrm>
            <a:off x="3138678" y="2313432"/>
            <a:ext cx="1645920" cy="329184"/>
          </a:xfrm>
          <a:prstGeom prst="rect">
            <a:avLst/>
          </a:prstGeom>
          <a:noFill/>
          <a:ln/>
        </p:spPr>
        <p:txBody>
          <a:bodyPr wrap="square" lIns="0" tIns="0" rIns="0" bIns="0" rtlCol="0" anchor="ctr"/>
          <a:lstStyle/>
          <a:p>
            <a:pPr algn="l" indent="0" marL="0">
              <a:buNone/>
            </a:pPr>
            <a:r>
              <a:rPr lang="en-US" sz="1400" dirty="0">
                <a:solidFill>
                  <a:srgbClr val="6B7A93"/>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ah</a:t>
            </a:r>
            <a:pPr algn="l" indent="0" marL="0">
              <a:buNone/>
            </a:pPr>
            <a:r>
              <a:rPr lang="en-US" sz="1400" dirty="0">
                <a:solidFill>
                  <a:srgbClr val="6B7A93"/>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2</a:t>
            </a:r>
            <a:endParaRPr lang="en-US" sz="1400" dirty="0"/>
          </a:p>
        </p:txBody>
      </p:sp>
      <p:sp>
        <p:nvSpPr>
          <p:cNvPr id="17" name="Text 15"/>
          <p:cNvSpPr txBox="1"/>
          <p:nvPr/>
        </p:nvSpPr>
        <p:spPr>
          <a:xfrm>
            <a:off x="3138678" y="2660904"/>
            <a:ext cx="1645920" cy="329184"/>
          </a:xfrm>
          <a:prstGeom prst="rect">
            <a:avLst/>
          </a:prstGeom>
          <a:noFill/>
          <a:ln/>
        </p:spPr>
        <p:txBody>
          <a:bodyPr wrap="square" lIns="0" tIns="0" rIns="0" bIns="0" rtlCol="0" anchor="ctr"/>
          <a:lstStyle/>
          <a:p>
            <a:pPr algn="l" indent="0" marL="0">
              <a:buNone/>
            </a:pPr>
            <a:r>
              <a:rPr lang="en-US" sz="1400" dirty="0">
                <a:solidFill>
                  <a:srgbClr val="6B7A93"/>
                </a:solidFill>
                <a:latin typeface="Courier New" pitchFamily="34" charset="0"/>
                <a:ea typeface="Courier New" pitchFamily="34" charset="-122"/>
                <a:cs typeface="Courier New" pitchFamily="34" charset="-120"/>
              </a:rPr>
              <a:t>int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21h</a:t>
            </a:r>
            <a:endParaRPr lang="en-US" sz="1400" dirty="0"/>
          </a:p>
        </p:txBody>
      </p:sp>
      <p:sp>
        <p:nvSpPr>
          <p:cNvPr id="18" name="Shape 16"/>
          <p:cNvSpPr/>
          <p:nvPr/>
        </p:nvSpPr>
        <p:spPr>
          <a:xfrm>
            <a:off x="3870198" y="3209544"/>
            <a:ext cx="0" cy="356616"/>
          </a:xfrm>
          <a:prstGeom prst="line">
            <a:avLst/>
          </a:prstGeom>
          <a:noFill/>
          <a:ln w="19050">
            <a:solidFill>
              <a:srgbClr val="93A0B2"/>
            </a:solidFill>
            <a:prstDash val="solid"/>
            <a:tailEnd type="triangle"/>
          </a:ln>
        </p:spPr>
      </p:sp>
      <p:sp>
        <p:nvSpPr>
          <p:cNvPr id="19" name="Shape 17"/>
          <p:cNvSpPr/>
          <p:nvPr/>
        </p:nvSpPr>
        <p:spPr>
          <a:xfrm>
            <a:off x="3522726" y="3630168"/>
            <a:ext cx="694944" cy="694944"/>
          </a:xfrm>
          <a:prstGeom prst="roundRect">
            <a:avLst>
              <a:gd name="adj" fmla="val 6670"/>
            </a:avLst>
          </a:prstGeom>
          <a:solidFill>
            <a:srgbClr val="FFFFFF"/>
          </a:solidFill>
          <a:ln w="12700">
            <a:solidFill>
              <a:srgbClr val="E2E7EF"/>
            </a:solidFill>
            <a:prstDash val="solid"/>
          </a:ln>
        </p:spPr>
      </p:sp>
      <p:sp>
        <p:nvSpPr>
          <p:cNvPr id="20" name="Text 18"/>
          <p:cNvSpPr txBox="1"/>
          <p:nvPr/>
        </p:nvSpPr>
        <p:spPr>
          <a:xfrm>
            <a:off x="3522726" y="3630168"/>
            <a:ext cx="694944" cy="694944"/>
          </a:xfrm>
          <a:prstGeom prst="rect">
            <a:avLst/>
          </a:prstGeom>
          <a:noFill/>
          <a:ln/>
        </p:spPr>
        <p:txBody>
          <a:bodyPr wrap="square" lIns="0" tIns="0" rIns="0" bIns="0" rtlCol="0" anchor="ctr"/>
          <a:lstStyle/>
          <a:p>
            <a:pPr algn="ctr" indent="0" marL="0">
              <a:buNone/>
            </a:pPr>
            <a:r>
              <a:rPr lang="en-US" sz="2800" b="1" dirty="0">
                <a:solidFill>
                  <a:srgbClr val="0F1622"/>
                </a:solidFill>
                <a:latin typeface="Courier New" pitchFamily="34" charset="0"/>
                <a:ea typeface="Courier New" pitchFamily="34" charset="-122"/>
                <a:cs typeface="Courier New" pitchFamily="34" charset="-120"/>
              </a:rPr>
              <a:t>E</a:t>
            </a:r>
            <a:endParaRPr lang="en-US" sz="2800" dirty="0"/>
          </a:p>
        </p:txBody>
      </p:sp>
      <p:sp>
        <p:nvSpPr>
          <p:cNvPr id="21" name="Shape 19"/>
          <p:cNvSpPr/>
          <p:nvPr/>
        </p:nvSpPr>
        <p:spPr>
          <a:xfrm>
            <a:off x="5088636" y="1810512"/>
            <a:ext cx="2011680" cy="1325880"/>
          </a:xfrm>
          <a:prstGeom prst="roundRect">
            <a:avLst>
              <a:gd name="adj" fmla="val 6670"/>
            </a:avLst>
          </a:prstGeom>
          <a:solidFill>
            <a:srgbClr val="121A29"/>
          </a:solidFill>
          <a:ln w="12700">
            <a:solidFill>
              <a:srgbClr val="2B3850"/>
            </a:solidFill>
            <a:prstDash val="solid"/>
          </a:ln>
        </p:spPr>
      </p:sp>
      <p:sp>
        <p:nvSpPr>
          <p:cNvPr id="22" name="Text 20"/>
          <p:cNvSpPr txBox="1"/>
          <p:nvPr/>
        </p:nvSpPr>
        <p:spPr>
          <a:xfrm>
            <a:off x="5362956" y="1965960"/>
            <a:ext cx="1645920" cy="329184"/>
          </a:xfrm>
          <a:prstGeom prst="rect">
            <a:avLst/>
          </a:prstGeom>
          <a:noFill/>
          <a:ln/>
        </p:spPr>
        <p:txBody>
          <a:bodyPr wrap="square" lIns="0" tIns="0" rIns="0" bIns="0" rtlCol="0" anchor="ctr"/>
          <a:lstStyle/>
          <a:p>
            <a:pPr algn="l" indent="0" marL="0">
              <a:buNone/>
            </a:pPr>
            <a:r>
              <a:rPr lang="en-US" sz="1400" dirty="0">
                <a:solidFill>
                  <a:srgbClr val="94A3B8"/>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94A3B8"/>
                </a:solidFill>
                <a:latin typeface="Courier New" pitchFamily="34" charset="0"/>
                <a:ea typeface="Courier New" pitchFamily="34" charset="-122"/>
                <a:cs typeface="Courier New" pitchFamily="34" charset="-120"/>
              </a:rPr>
              <a:t>dl</a:t>
            </a:r>
            <a:pPr algn="l" indent="0" marL="0">
              <a:buNone/>
            </a:pPr>
            <a:r>
              <a:rPr lang="en-US" sz="1400" dirty="0">
                <a:solidFill>
                  <a:srgbClr val="94A3B8"/>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EDA63F"/>
                </a:solidFill>
                <a:latin typeface="Courier New" pitchFamily="34" charset="0"/>
                <a:ea typeface="Courier New" pitchFamily="34" charset="-122"/>
                <a:cs typeface="Courier New" pitchFamily="34" charset="-120"/>
              </a:rPr>
              <a:t>'L'</a:t>
            </a:r>
            <a:endParaRPr lang="en-US" sz="1400" dirty="0"/>
          </a:p>
        </p:txBody>
      </p:sp>
      <p:sp>
        <p:nvSpPr>
          <p:cNvPr id="23" name="Text 21"/>
          <p:cNvSpPr txBox="1"/>
          <p:nvPr/>
        </p:nvSpPr>
        <p:spPr>
          <a:xfrm>
            <a:off x="5362956" y="2313432"/>
            <a:ext cx="1645920" cy="329184"/>
          </a:xfrm>
          <a:prstGeom prst="rect">
            <a:avLst/>
          </a:prstGeom>
          <a:noFill/>
          <a:ln/>
        </p:spPr>
        <p:txBody>
          <a:bodyPr wrap="square" lIns="0" tIns="0" rIns="0" bIns="0" rtlCol="0" anchor="ctr"/>
          <a:lstStyle/>
          <a:p>
            <a:pPr algn="l" indent="0" marL="0">
              <a:buNone/>
            </a:pPr>
            <a:r>
              <a:rPr lang="en-US" sz="1400" dirty="0">
                <a:solidFill>
                  <a:srgbClr val="6B7A93"/>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ah</a:t>
            </a:r>
            <a:pPr algn="l" indent="0" marL="0">
              <a:buNone/>
            </a:pPr>
            <a:r>
              <a:rPr lang="en-US" sz="1400" dirty="0">
                <a:solidFill>
                  <a:srgbClr val="6B7A93"/>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2</a:t>
            </a:r>
            <a:endParaRPr lang="en-US" sz="1400" dirty="0"/>
          </a:p>
        </p:txBody>
      </p:sp>
      <p:sp>
        <p:nvSpPr>
          <p:cNvPr id="24" name="Text 22"/>
          <p:cNvSpPr txBox="1"/>
          <p:nvPr/>
        </p:nvSpPr>
        <p:spPr>
          <a:xfrm>
            <a:off x="5362956" y="2660904"/>
            <a:ext cx="1645920" cy="329184"/>
          </a:xfrm>
          <a:prstGeom prst="rect">
            <a:avLst/>
          </a:prstGeom>
          <a:noFill/>
          <a:ln/>
        </p:spPr>
        <p:txBody>
          <a:bodyPr wrap="square" lIns="0" tIns="0" rIns="0" bIns="0" rtlCol="0" anchor="ctr"/>
          <a:lstStyle/>
          <a:p>
            <a:pPr algn="l" indent="0" marL="0">
              <a:buNone/>
            </a:pPr>
            <a:r>
              <a:rPr lang="en-US" sz="1400" dirty="0">
                <a:solidFill>
                  <a:srgbClr val="6B7A93"/>
                </a:solidFill>
                <a:latin typeface="Courier New" pitchFamily="34" charset="0"/>
                <a:ea typeface="Courier New" pitchFamily="34" charset="-122"/>
                <a:cs typeface="Courier New" pitchFamily="34" charset="-120"/>
              </a:rPr>
              <a:t>int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21h</a:t>
            </a:r>
            <a:endParaRPr lang="en-US" sz="1400" dirty="0"/>
          </a:p>
        </p:txBody>
      </p:sp>
      <p:sp>
        <p:nvSpPr>
          <p:cNvPr id="25" name="Shape 23"/>
          <p:cNvSpPr/>
          <p:nvPr/>
        </p:nvSpPr>
        <p:spPr>
          <a:xfrm>
            <a:off x="6094476" y="3209544"/>
            <a:ext cx="0" cy="356616"/>
          </a:xfrm>
          <a:prstGeom prst="line">
            <a:avLst/>
          </a:prstGeom>
          <a:noFill/>
          <a:ln w="19050">
            <a:solidFill>
              <a:srgbClr val="93A0B2"/>
            </a:solidFill>
            <a:prstDash val="solid"/>
            <a:tailEnd type="triangle"/>
          </a:ln>
        </p:spPr>
      </p:sp>
      <p:sp>
        <p:nvSpPr>
          <p:cNvPr id="26" name="Shape 24"/>
          <p:cNvSpPr/>
          <p:nvPr/>
        </p:nvSpPr>
        <p:spPr>
          <a:xfrm>
            <a:off x="5747004" y="3630168"/>
            <a:ext cx="694944" cy="694944"/>
          </a:xfrm>
          <a:prstGeom prst="roundRect">
            <a:avLst>
              <a:gd name="adj" fmla="val 6670"/>
            </a:avLst>
          </a:prstGeom>
          <a:solidFill>
            <a:srgbClr val="FFFFFF"/>
          </a:solidFill>
          <a:ln w="12700">
            <a:solidFill>
              <a:srgbClr val="E2E7EF"/>
            </a:solidFill>
            <a:prstDash val="solid"/>
          </a:ln>
        </p:spPr>
      </p:sp>
      <p:sp>
        <p:nvSpPr>
          <p:cNvPr id="27" name="Text 25"/>
          <p:cNvSpPr txBox="1"/>
          <p:nvPr/>
        </p:nvSpPr>
        <p:spPr>
          <a:xfrm>
            <a:off x="5747004" y="3630168"/>
            <a:ext cx="694944" cy="694944"/>
          </a:xfrm>
          <a:prstGeom prst="rect">
            <a:avLst/>
          </a:prstGeom>
          <a:noFill/>
          <a:ln/>
        </p:spPr>
        <p:txBody>
          <a:bodyPr wrap="square" lIns="0" tIns="0" rIns="0" bIns="0" rtlCol="0" anchor="ctr"/>
          <a:lstStyle/>
          <a:p>
            <a:pPr algn="ctr" indent="0" marL="0">
              <a:buNone/>
            </a:pPr>
            <a:r>
              <a:rPr lang="en-US" sz="2800" b="1" dirty="0">
                <a:solidFill>
                  <a:srgbClr val="0F1622"/>
                </a:solidFill>
                <a:latin typeface="Courier New" pitchFamily="34" charset="0"/>
                <a:ea typeface="Courier New" pitchFamily="34" charset="-122"/>
                <a:cs typeface="Courier New" pitchFamily="34" charset="-120"/>
              </a:rPr>
              <a:t>L</a:t>
            </a:r>
            <a:endParaRPr lang="en-US" sz="2800" dirty="0"/>
          </a:p>
        </p:txBody>
      </p:sp>
      <p:sp>
        <p:nvSpPr>
          <p:cNvPr id="28" name="Shape 26"/>
          <p:cNvSpPr/>
          <p:nvPr/>
        </p:nvSpPr>
        <p:spPr>
          <a:xfrm>
            <a:off x="7312914" y="1810512"/>
            <a:ext cx="2011680" cy="1325880"/>
          </a:xfrm>
          <a:prstGeom prst="roundRect">
            <a:avLst>
              <a:gd name="adj" fmla="val 6670"/>
            </a:avLst>
          </a:prstGeom>
          <a:solidFill>
            <a:srgbClr val="121A29"/>
          </a:solidFill>
          <a:ln w="12700">
            <a:solidFill>
              <a:srgbClr val="2B3850"/>
            </a:solidFill>
            <a:prstDash val="solid"/>
          </a:ln>
        </p:spPr>
      </p:sp>
      <p:sp>
        <p:nvSpPr>
          <p:cNvPr id="29" name="Text 27"/>
          <p:cNvSpPr txBox="1"/>
          <p:nvPr/>
        </p:nvSpPr>
        <p:spPr>
          <a:xfrm>
            <a:off x="7587234" y="1965960"/>
            <a:ext cx="1645920" cy="329184"/>
          </a:xfrm>
          <a:prstGeom prst="rect">
            <a:avLst/>
          </a:prstGeom>
          <a:noFill/>
          <a:ln/>
        </p:spPr>
        <p:txBody>
          <a:bodyPr wrap="square" lIns="0" tIns="0" rIns="0" bIns="0" rtlCol="0" anchor="ctr"/>
          <a:lstStyle/>
          <a:p>
            <a:pPr algn="l" indent="0" marL="0">
              <a:buNone/>
            </a:pPr>
            <a:r>
              <a:rPr lang="en-US" sz="1400" dirty="0">
                <a:solidFill>
                  <a:srgbClr val="94A3B8"/>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94A3B8"/>
                </a:solidFill>
                <a:latin typeface="Courier New" pitchFamily="34" charset="0"/>
                <a:ea typeface="Courier New" pitchFamily="34" charset="-122"/>
                <a:cs typeface="Courier New" pitchFamily="34" charset="-120"/>
              </a:rPr>
              <a:t>dl</a:t>
            </a:r>
            <a:pPr algn="l" indent="0" marL="0">
              <a:buNone/>
            </a:pPr>
            <a:r>
              <a:rPr lang="en-US" sz="1400" dirty="0">
                <a:solidFill>
                  <a:srgbClr val="94A3B8"/>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EDA63F"/>
                </a:solidFill>
                <a:latin typeface="Courier New" pitchFamily="34" charset="0"/>
                <a:ea typeface="Courier New" pitchFamily="34" charset="-122"/>
                <a:cs typeface="Courier New" pitchFamily="34" charset="-120"/>
              </a:rPr>
              <a:t>'L'</a:t>
            </a:r>
            <a:endParaRPr lang="en-US" sz="1400" dirty="0"/>
          </a:p>
        </p:txBody>
      </p:sp>
      <p:sp>
        <p:nvSpPr>
          <p:cNvPr id="30" name="Text 28"/>
          <p:cNvSpPr txBox="1"/>
          <p:nvPr/>
        </p:nvSpPr>
        <p:spPr>
          <a:xfrm>
            <a:off x="7587234" y="2313432"/>
            <a:ext cx="1645920" cy="329184"/>
          </a:xfrm>
          <a:prstGeom prst="rect">
            <a:avLst/>
          </a:prstGeom>
          <a:noFill/>
          <a:ln/>
        </p:spPr>
        <p:txBody>
          <a:bodyPr wrap="square" lIns="0" tIns="0" rIns="0" bIns="0" rtlCol="0" anchor="ctr"/>
          <a:lstStyle/>
          <a:p>
            <a:pPr algn="l" indent="0" marL="0">
              <a:buNone/>
            </a:pPr>
            <a:r>
              <a:rPr lang="en-US" sz="1400" dirty="0">
                <a:solidFill>
                  <a:srgbClr val="6B7A93"/>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ah</a:t>
            </a:r>
            <a:pPr algn="l" indent="0" marL="0">
              <a:buNone/>
            </a:pPr>
            <a:r>
              <a:rPr lang="en-US" sz="1400" dirty="0">
                <a:solidFill>
                  <a:srgbClr val="6B7A93"/>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2</a:t>
            </a:r>
            <a:endParaRPr lang="en-US" sz="1400" dirty="0"/>
          </a:p>
        </p:txBody>
      </p:sp>
      <p:sp>
        <p:nvSpPr>
          <p:cNvPr id="31" name="Text 29"/>
          <p:cNvSpPr txBox="1"/>
          <p:nvPr/>
        </p:nvSpPr>
        <p:spPr>
          <a:xfrm>
            <a:off x="7587234" y="2660904"/>
            <a:ext cx="1645920" cy="329184"/>
          </a:xfrm>
          <a:prstGeom prst="rect">
            <a:avLst/>
          </a:prstGeom>
          <a:noFill/>
          <a:ln/>
        </p:spPr>
        <p:txBody>
          <a:bodyPr wrap="square" lIns="0" tIns="0" rIns="0" bIns="0" rtlCol="0" anchor="ctr"/>
          <a:lstStyle/>
          <a:p>
            <a:pPr algn="l" indent="0" marL="0">
              <a:buNone/>
            </a:pPr>
            <a:r>
              <a:rPr lang="en-US" sz="1400" dirty="0">
                <a:solidFill>
                  <a:srgbClr val="6B7A93"/>
                </a:solidFill>
                <a:latin typeface="Courier New" pitchFamily="34" charset="0"/>
                <a:ea typeface="Courier New" pitchFamily="34" charset="-122"/>
                <a:cs typeface="Courier New" pitchFamily="34" charset="-120"/>
              </a:rPr>
              <a:t>int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21h</a:t>
            </a:r>
            <a:endParaRPr lang="en-US" sz="1400" dirty="0"/>
          </a:p>
        </p:txBody>
      </p:sp>
      <p:sp>
        <p:nvSpPr>
          <p:cNvPr id="32" name="Shape 30"/>
          <p:cNvSpPr/>
          <p:nvPr/>
        </p:nvSpPr>
        <p:spPr>
          <a:xfrm>
            <a:off x="8318754" y="3209544"/>
            <a:ext cx="0" cy="356616"/>
          </a:xfrm>
          <a:prstGeom prst="line">
            <a:avLst/>
          </a:prstGeom>
          <a:noFill/>
          <a:ln w="19050">
            <a:solidFill>
              <a:srgbClr val="93A0B2"/>
            </a:solidFill>
            <a:prstDash val="solid"/>
            <a:tailEnd type="triangle"/>
          </a:ln>
        </p:spPr>
      </p:sp>
      <p:sp>
        <p:nvSpPr>
          <p:cNvPr id="33" name="Shape 31"/>
          <p:cNvSpPr/>
          <p:nvPr/>
        </p:nvSpPr>
        <p:spPr>
          <a:xfrm>
            <a:off x="7971282" y="3630168"/>
            <a:ext cx="694944" cy="694944"/>
          </a:xfrm>
          <a:prstGeom prst="roundRect">
            <a:avLst>
              <a:gd name="adj" fmla="val 6670"/>
            </a:avLst>
          </a:prstGeom>
          <a:solidFill>
            <a:srgbClr val="FFFFFF"/>
          </a:solidFill>
          <a:ln w="12700">
            <a:solidFill>
              <a:srgbClr val="E2E7EF"/>
            </a:solidFill>
            <a:prstDash val="solid"/>
          </a:ln>
        </p:spPr>
      </p:sp>
      <p:sp>
        <p:nvSpPr>
          <p:cNvPr id="34" name="Text 32"/>
          <p:cNvSpPr txBox="1"/>
          <p:nvPr/>
        </p:nvSpPr>
        <p:spPr>
          <a:xfrm>
            <a:off x="7971282" y="3630168"/>
            <a:ext cx="694944" cy="694944"/>
          </a:xfrm>
          <a:prstGeom prst="rect">
            <a:avLst/>
          </a:prstGeom>
          <a:noFill/>
          <a:ln/>
        </p:spPr>
        <p:txBody>
          <a:bodyPr wrap="square" lIns="0" tIns="0" rIns="0" bIns="0" rtlCol="0" anchor="ctr"/>
          <a:lstStyle/>
          <a:p>
            <a:pPr algn="ctr" indent="0" marL="0">
              <a:buNone/>
            </a:pPr>
            <a:r>
              <a:rPr lang="en-US" sz="2800" b="1" dirty="0">
                <a:solidFill>
                  <a:srgbClr val="0F1622"/>
                </a:solidFill>
                <a:latin typeface="Courier New" pitchFamily="34" charset="0"/>
                <a:ea typeface="Courier New" pitchFamily="34" charset="-122"/>
                <a:cs typeface="Courier New" pitchFamily="34" charset="-120"/>
              </a:rPr>
              <a:t>L</a:t>
            </a:r>
            <a:endParaRPr lang="en-US" sz="2800" dirty="0"/>
          </a:p>
        </p:txBody>
      </p:sp>
      <p:sp>
        <p:nvSpPr>
          <p:cNvPr id="35" name="Shape 33"/>
          <p:cNvSpPr/>
          <p:nvPr/>
        </p:nvSpPr>
        <p:spPr>
          <a:xfrm>
            <a:off x="9537192" y="1810512"/>
            <a:ext cx="2011680" cy="1325880"/>
          </a:xfrm>
          <a:prstGeom prst="roundRect">
            <a:avLst>
              <a:gd name="adj" fmla="val 6670"/>
            </a:avLst>
          </a:prstGeom>
          <a:solidFill>
            <a:srgbClr val="121A29"/>
          </a:solidFill>
          <a:ln w="12700">
            <a:solidFill>
              <a:srgbClr val="2B3850"/>
            </a:solidFill>
            <a:prstDash val="solid"/>
          </a:ln>
        </p:spPr>
      </p:sp>
      <p:sp>
        <p:nvSpPr>
          <p:cNvPr id="36" name="Text 34"/>
          <p:cNvSpPr txBox="1"/>
          <p:nvPr/>
        </p:nvSpPr>
        <p:spPr>
          <a:xfrm>
            <a:off x="9811512" y="1965960"/>
            <a:ext cx="1645920" cy="329184"/>
          </a:xfrm>
          <a:prstGeom prst="rect">
            <a:avLst/>
          </a:prstGeom>
          <a:noFill/>
          <a:ln/>
        </p:spPr>
        <p:txBody>
          <a:bodyPr wrap="square" lIns="0" tIns="0" rIns="0" bIns="0" rtlCol="0" anchor="ctr"/>
          <a:lstStyle/>
          <a:p>
            <a:pPr algn="l" indent="0" marL="0">
              <a:buNone/>
            </a:pPr>
            <a:r>
              <a:rPr lang="en-US" sz="1400" dirty="0">
                <a:solidFill>
                  <a:srgbClr val="94A3B8"/>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94A3B8"/>
                </a:solidFill>
                <a:latin typeface="Courier New" pitchFamily="34" charset="0"/>
                <a:ea typeface="Courier New" pitchFamily="34" charset="-122"/>
                <a:cs typeface="Courier New" pitchFamily="34" charset="-120"/>
              </a:rPr>
              <a:t>dl</a:t>
            </a:r>
            <a:pPr algn="l" indent="0" marL="0">
              <a:buNone/>
            </a:pPr>
            <a:r>
              <a:rPr lang="en-US" sz="1400" dirty="0">
                <a:solidFill>
                  <a:srgbClr val="94A3B8"/>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EDA63F"/>
                </a:solidFill>
                <a:latin typeface="Courier New" pitchFamily="34" charset="0"/>
                <a:ea typeface="Courier New" pitchFamily="34" charset="-122"/>
                <a:cs typeface="Courier New" pitchFamily="34" charset="-120"/>
              </a:rPr>
              <a:t>'O'</a:t>
            </a:r>
            <a:endParaRPr lang="en-US" sz="1400" dirty="0"/>
          </a:p>
        </p:txBody>
      </p:sp>
      <p:sp>
        <p:nvSpPr>
          <p:cNvPr id="37" name="Text 35"/>
          <p:cNvSpPr txBox="1"/>
          <p:nvPr/>
        </p:nvSpPr>
        <p:spPr>
          <a:xfrm>
            <a:off x="9811512" y="2313432"/>
            <a:ext cx="1645920" cy="329184"/>
          </a:xfrm>
          <a:prstGeom prst="rect">
            <a:avLst/>
          </a:prstGeom>
          <a:noFill/>
          <a:ln/>
        </p:spPr>
        <p:txBody>
          <a:bodyPr wrap="square" lIns="0" tIns="0" rIns="0" bIns="0" rtlCol="0" anchor="ctr"/>
          <a:lstStyle/>
          <a:p>
            <a:pPr algn="l" indent="0" marL="0">
              <a:buNone/>
            </a:pPr>
            <a:r>
              <a:rPr lang="en-US" sz="1400" dirty="0">
                <a:solidFill>
                  <a:srgbClr val="6B7A93"/>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ah</a:t>
            </a:r>
            <a:pPr algn="l" indent="0" marL="0">
              <a:buNone/>
            </a:pPr>
            <a:r>
              <a:rPr lang="en-US" sz="1400" dirty="0">
                <a:solidFill>
                  <a:srgbClr val="6B7A93"/>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2</a:t>
            </a:r>
            <a:endParaRPr lang="en-US" sz="1400" dirty="0"/>
          </a:p>
        </p:txBody>
      </p:sp>
      <p:sp>
        <p:nvSpPr>
          <p:cNvPr id="38" name="Text 36"/>
          <p:cNvSpPr txBox="1"/>
          <p:nvPr/>
        </p:nvSpPr>
        <p:spPr>
          <a:xfrm>
            <a:off x="9811512" y="2660904"/>
            <a:ext cx="1645920" cy="329184"/>
          </a:xfrm>
          <a:prstGeom prst="rect">
            <a:avLst/>
          </a:prstGeom>
          <a:noFill/>
          <a:ln/>
        </p:spPr>
        <p:txBody>
          <a:bodyPr wrap="square" lIns="0" tIns="0" rIns="0" bIns="0" rtlCol="0" anchor="ctr"/>
          <a:lstStyle/>
          <a:p>
            <a:pPr algn="l" indent="0" marL="0">
              <a:buNone/>
            </a:pPr>
            <a:r>
              <a:rPr lang="en-US" sz="1400" dirty="0">
                <a:solidFill>
                  <a:srgbClr val="6B7A93"/>
                </a:solidFill>
                <a:latin typeface="Courier New" pitchFamily="34" charset="0"/>
                <a:ea typeface="Courier New" pitchFamily="34" charset="-122"/>
                <a:cs typeface="Courier New" pitchFamily="34" charset="-120"/>
              </a:rPr>
              <a:t>int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21h</a:t>
            </a:r>
            <a:endParaRPr lang="en-US" sz="1400" dirty="0"/>
          </a:p>
        </p:txBody>
      </p:sp>
      <p:sp>
        <p:nvSpPr>
          <p:cNvPr id="39" name="Shape 37"/>
          <p:cNvSpPr/>
          <p:nvPr/>
        </p:nvSpPr>
        <p:spPr>
          <a:xfrm>
            <a:off x="10543032" y="3209544"/>
            <a:ext cx="0" cy="356616"/>
          </a:xfrm>
          <a:prstGeom prst="line">
            <a:avLst/>
          </a:prstGeom>
          <a:noFill/>
          <a:ln w="19050">
            <a:solidFill>
              <a:srgbClr val="93A0B2"/>
            </a:solidFill>
            <a:prstDash val="solid"/>
            <a:tailEnd type="triangle"/>
          </a:ln>
        </p:spPr>
      </p:sp>
      <p:sp>
        <p:nvSpPr>
          <p:cNvPr id="40" name="Shape 38"/>
          <p:cNvSpPr/>
          <p:nvPr/>
        </p:nvSpPr>
        <p:spPr>
          <a:xfrm>
            <a:off x="10195560" y="3630168"/>
            <a:ext cx="694944" cy="694944"/>
          </a:xfrm>
          <a:prstGeom prst="roundRect">
            <a:avLst>
              <a:gd name="adj" fmla="val 6670"/>
            </a:avLst>
          </a:prstGeom>
          <a:solidFill>
            <a:srgbClr val="FFFFFF"/>
          </a:solidFill>
          <a:ln w="12700">
            <a:solidFill>
              <a:srgbClr val="E2E7EF"/>
            </a:solidFill>
            <a:prstDash val="solid"/>
          </a:ln>
        </p:spPr>
      </p:sp>
      <p:sp>
        <p:nvSpPr>
          <p:cNvPr id="41" name="Text 39"/>
          <p:cNvSpPr txBox="1"/>
          <p:nvPr/>
        </p:nvSpPr>
        <p:spPr>
          <a:xfrm>
            <a:off x="10195560" y="3630168"/>
            <a:ext cx="694944" cy="694944"/>
          </a:xfrm>
          <a:prstGeom prst="rect">
            <a:avLst/>
          </a:prstGeom>
          <a:noFill/>
          <a:ln/>
        </p:spPr>
        <p:txBody>
          <a:bodyPr wrap="square" lIns="0" tIns="0" rIns="0" bIns="0" rtlCol="0" anchor="ctr"/>
          <a:lstStyle/>
          <a:p>
            <a:pPr algn="ctr" indent="0" marL="0">
              <a:buNone/>
            </a:pPr>
            <a:r>
              <a:rPr lang="en-US" sz="2800" b="1" dirty="0">
                <a:solidFill>
                  <a:srgbClr val="0F1622"/>
                </a:solidFill>
                <a:latin typeface="Courier New" pitchFamily="34" charset="0"/>
                <a:ea typeface="Courier New" pitchFamily="34" charset="-122"/>
                <a:cs typeface="Courier New" pitchFamily="34" charset="-120"/>
              </a:rPr>
              <a:t>O</a:t>
            </a:r>
            <a:endParaRPr lang="en-US" sz="2800" dirty="0"/>
          </a:p>
        </p:txBody>
      </p:sp>
      <p:sp>
        <p:nvSpPr>
          <p:cNvPr id="42" name="Text 40"/>
          <p:cNvSpPr txBox="1"/>
          <p:nvPr/>
        </p:nvSpPr>
        <p:spPr>
          <a:xfrm>
            <a:off x="640080" y="4572000"/>
            <a:ext cx="2788920" cy="822960"/>
          </a:xfrm>
          <a:prstGeom prst="rect">
            <a:avLst/>
          </a:prstGeom>
          <a:noFill/>
          <a:ln/>
        </p:spPr>
        <p:txBody>
          <a:bodyPr wrap="square" lIns="0" tIns="0" rIns="0" bIns="0" rtlCol="0" anchor="ctr"/>
          <a:lstStyle/>
          <a:p>
            <a:pPr algn="r" indent="0" marL="0">
              <a:buNone/>
            </a:pPr>
            <a:r>
              <a:rPr lang="en-US" sz="1500" dirty="0">
                <a:solidFill>
                  <a:srgbClr val="5B6779"/>
                </a:solidFill>
                <a:latin typeface="Calibri" pitchFamily="34" charset="0"/>
                <a:ea typeface="Calibri" pitchFamily="34" charset="-122"/>
                <a:cs typeface="Calibri" pitchFamily="34" charset="-120"/>
              </a:rPr>
              <a:t>On screen:</a:t>
            </a:r>
            <a:endParaRPr lang="en-US" sz="1500" dirty="0"/>
          </a:p>
        </p:txBody>
      </p:sp>
      <p:sp>
        <p:nvSpPr>
          <p:cNvPr id="43" name="Shape 41"/>
          <p:cNvSpPr/>
          <p:nvPr/>
        </p:nvSpPr>
        <p:spPr>
          <a:xfrm>
            <a:off x="3611880" y="4572000"/>
            <a:ext cx="3840480" cy="822960"/>
          </a:xfrm>
          <a:prstGeom prst="roundRect">
            <a:avLst>
              <a:gd name="adj" fmla="val 6670"/>
            </a:avLst>
          </a:prstGeom>
          <a:solidFill>
            <a:srgbClr val="070B12"/>
          </a:solidFill>
          <a:ln w="12700">
            <a:solidFill>
              <a:srgbClr val="2B3850"/>
            </a:solidFill>
            <a:prstDash val="solid"/>
          </a:ln>
        </p:spPr>
      </p:sp>
      <p:sp>
        <p:nvSpPr>
          <p:cNvPr id="44" name="Text 42"/>
          <p:cNvSpPr txBox="1"/>
          <p:nvPr/>
        </p:nvSpPr>
        <p:spPr>
          <a:xfrm>
            <a:off x="3931920" y="4572000"/>
            <a:ext cx="2743200" cy="822960"/>
          </a:xfrm>
          <a:prstGeom prst="rect">
            <a:avLst/>
          </a:prstGeom>
          <a:noFill/>
          <a:ln/>
        </p:spPr>
        <p:txBody>
          <a:bodyPr wrap="square" lIns="0" tIns="0" rIns="0" bIns="0" rtlCol="0" anchor="ctr"/>
          <a:lstStyle/>
          <a:p>
            <a:pPr algn="l" indent="0" marL="0">
              <a:buNone/>
            </a:pPr>
            <a:r>
              <a:rPr lang="en-US" sz="3200" b="1" dirty="0">
                <a:solidFill>
                  <a:srgbClr val="F0F3F8"/>
                </a:solidFill>
                <a:latin typeface="Courier New" pitchFamily="34" charset="0"/>
                <a:ea typeface="Courier New" pitchFamily="34" charset="-122"/>
                <a:cs typeface="Courier New" pitchFamily="34" charset="-120"/>
              </a:rPr>
              <a:t>HELLO</a:t>
            </a:r>
            <a:endParaRPr lang="en-US" sz="3200" dirty="0"/>
          </a:p>
        </p:txBody>
      </p:sp>
      <p:sp>
        <p:nvSpPr>
          <p:cNvPr id="45" name="Shape 43"/>
          <p:cNvSpPr/>
          <p:nvPr/>
        </p:nvSpPr>
        <p:spPr>
          <a:xfrm>
            <a:off x="5196840" y="4809744"/>
            <a:ext cx="145938" cy="347472"/>
          </a:xfrm>
          <a:prstGeom prst="rect">
            <a:avLst/>
          </a:prstGeom>
          <a:solidFill>
            <a:srgbClr val="EDA63F"/>
          </a:solidFill>
          <a:ln/>
        </p:spPr>
      </p:sp>
      <p:sp>
        <p:nvSpPr>
          <p:cNvPr id="46" name="Text 44"/>
          <p:cNvSpPr txBox="1"/>
          <p:nvPr/>
        </p:nvSpPr>
        <p:spPr>
          <a:xfrm>
            <a:off x="640080" y="5687568"/>
            <a:ext cx="10908792" cy="292608"/>
          </a:xfrm>
          <a:prstGeom prst="rect">
            <a:avLst/>
          </a:prstGeom>
          <a:noFill/>
          <a:ln/>
        </p:spPr>
        <p:txBody>
          <a:bodyPr wrap="square" lIns="0" tIns="0" rIns="0" bIns="0" rtlCol="0" anchor="t"/>
          <a:lstStyle/>
          <a:p>
            <a:pPr algn="ctr" indent="0" marL="0">
              <a:buNone/>
            </a:pPr>
            <a:r>
              <a:rPr lang="en-US" sz="1400" b="1" dirty="0">
                <a:solidFill>
                  <a:srgbClr val="0F1622"/>
                </a:solidFill>
                <a:latin typeface="Calibri" pitchFamily="34" charset="0"/>
                <a:ea typeface="Calibri" pitchFamily="34" charset="-122"/>
                <a:cs typeface="Calibri" pitchFamily="34" charset="-120"/>
              </a:rPr>
              <a:t>15 lines for 5 letters. </a:t>
            </a:r>
            <a:pPr algn="ctr" indent="0" marL="0">
              <a:buNone/>
            </a:pPr>
            <a:r>
              <a:rPr lang="en-US" sz="1400" dirty="0">
                <a:solidFill>
                  <a:srgbClr val="5B6779"/>
                </a:solidFill>
                <a:latin typeface="Calibri" pitchFamily="34" charset="0"/>
                <a:ea typeface="Calibri" pitchFamily="34" charset="-122"/>
                <a:cs typeface="Calibri" pitchFamily="34" charset="-120"/>
              </a:rPr>
              <a:t>A later lab shows a shorter way. Today, type every line.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7 · CHARACTERS VS NUMBERS</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'5' is not the same as 5</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The quotes change everything.</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02</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09</a:t>
            </a:r>
            <a:endParaRPr lang="en-US" sz="900" dirty="0"/>
          </a:p>
        </p:txBody>
      </p:sp>
      <p:sp>
        <p:nvSpPr>
          <p:cNvPr id="7" name="Shape 5"/>
          <p:cNvSpPr/>
          <p:nvPr/>
        </p:nvSpPr>
        <p:spPr>
          <a:xfrm>
            <a:off x="640080" y="1810512"/>
            <a:ext cx="5303520" cy="2834640"/>
          </a:xfrm>
          <a:prstGeom prst="roundRect">
            <a:avLst>
              <a:gd name="adj" fmla="val 6670"/>
            </a:avLst>
          </a:prstGeom>
          <a:solidFill>
            <a:srgbClr val="D7EEF2"/>
          </a:solidFill>
          <a:ln w="12700">
            <a:solidFill>
              <a:srgbClr val="18879B"/>
            </a:solidFill>
            <a:prstDash val="solid"/>
          </a:ln>
        </p:spPr>
      </p:sp>
      <p:sp>
        <p:nvSpPr>
          <p:cNvPr id="8" name="Text 6"/>
          <p:cNvSpPr txBox="1"/>
          <p:nvPr/>
        </p:nvSpPr>
        <p:spPr>
          <a:xfrm>
            <a:off x="914400" y="1993392"/>
            <a:ext cx="4754880" cy="219456"/>
          </a:xfrm>
          <a:prstGeom prst="rect">
            <a:avLst/>
          </a:prstGeom>
          <a:noFill/>
          <a:ln/>
        </p:spPr>
        <p:txBody>
          <a:bodyPr wrap="square" lIns="0" tIns="0" rIns="0" bIns="0" rtlCol="0" anchor="t"/>
          <a:lstStyle/>
          <a:p>
            <a:pPr algn="l" indent="0" marL="0">
              <a:buNone/>
            </a:pPr>
            <a:r>
              <a:rPr lang="en-US" sz="950" b="1" spc="130" kern="0" dirty="0">
                <a:solidFill>
                  <a:srgbClr val="18879B"/>
                </a:solidFill>
                <a:latin typeface="Courier New" pitchFamily="34" charset="0"/>
                <a:ea typeface="Courier New" pitchFamily="34" charset="-122"/>
                <a:cs typeface="Courier New" pitchFamily="34" charset="-120"/>
              </a:rPr>
              <a:t>WITH QUOTES  ·  A CHARACTER</a:t>
            </a:r>
            <a:endParaRPr lang="en-US" sz="950" dirty="0"/>
          </a:p>
        </p:txBody>
      </p:sp>
      <p:sp>
        <p:nvSpPr>
          <p:cNvPr id="9" name="Shape 7"/>
          <p:cNvSpPr/>
          <p:nvPr/>
        </p:nvSpPr>
        <p:spPr>
          <a:xfrm>
            <a:off x="914400" y="2331720"/>
            <a:ext cx="4754880" cy="731520"/>
          </a:xfrm>
          <a:prstGeom prst="roundRect">
            <a:avLst>
              <a:gd name="adj" fmla="val 6670"/>
            </a:avLst>
          </a:prstGeom>
          <a:solidFill>
            <a:srgbClr val="121A29"/>
          </a:solidFill>
          <a:ln w="12700">
            <a:solidFill>
              <a:srgbClr val="2B3850"/>
            </a:solidFill>
            <a:prstDash val="solid"/>
          </a:ln>
        </p:spPr>
      </p:sp>
      <p:sp>
        <p:nvSpPr>
          <p:cNvPr id="10" name="Text 8"/>
          <p:cNvSpPr txBox="1"/>
          <p:nvPr/>
        </p:nvSpPr>
        <p:spPr>
          <a:xfrm>
            <a:off x="1188720" y="2331720"/>
            <a:ext cx="4206240" cy="731520"/>
          </a:xfrm>
          <a:prstGeom prst="rect">
            <a:avLst/>
          </a:prstGeom>
          <a:noFill/>
          <a:ln/>
        </p:spPr>
        <p:txBody>
          <a:bodyPr wrap="square" lIns="0" tIns="0" rIns="0" bIns="0" rtlCol="0" anchor="ctr"/>
          <a:lstStyle/>
          <a:p>
            <a:pPr algn="l" indent="0" marL="0">
              <a:buNone/>
            </a:pPr>
            <a:r>
              <a:rPr lang="en-US" sz="2600" b="1" dirty="0">
                <a:solidFill>
                  <a:srgbClr val="EDA63F"/>
                </a:solidFill>
                <a:latin typeface="Courier New" pitchFamily="34" charset="0"/>
                <a:ea typeface="Courier New" pitchFamily="34" charset="-122"/>
                <a:cs typeface="Courier New" pitchFamily="34" charset="-120"/>
              </a:rPr>
              <a:t>mov</a:t>
            </a:r>
            <a:pPr algn="l" indent="0" marL="0">
              <a:buNone/>
            </a:pPr>
            <a:r>
              <a:rPr lang="en-US" sz="2600" dirty="0">
                <a:solidFill>
                  <a:srgbClr val="F0F3F8"/>
                </a:solidFill>
                <a:latin typeface="Courier New" pitchFamily="34" charset="0"/>
                <a:ea typeface="Courier New" pitchFamily="34" charset="-122"/>
                <a:cs typeface="Courier New" pitchFamily="34" charset="-120"/>
              </a:rPr>
              <a:t> </a:t>
            </a:r>
            <a:pPr algn="l" indent="0" marL="0">
              <a:buNone/>
            </a:pPr>
            <a:r>
              <a:rPr lang="en-US" sz="2600" b="1" dirty="0">
                <a:solidFill>
                  <a:srgbClr val="3EB9CE"/>
                </a:solidFill>
                <a:latin typeface="Courier New" pitchFamily="34" charset="0"/>
                <a:ea typeface="Courier New" pitchFamily="34" charset="-122"/>
                <a:cs typeface="Courier New" pitchFamily="34" charset="-120"/>
              </a:rPr>
              <a:t>dl</a:t>
            </a:r>
            <a:pPr algn="l" indent="0" marL="0">
              <a:buNone/>
            </a:pPr>
            <a:r>
              <a:rPr lang="en-US" sz="2600" dirty="0">
                <a:solidFill>
                  <a:srgbClr val="F0F3F8"/>
                </a:solidFill>
                <a:latin typeface="Courier New" pitchFamily="34" charset="0"/>
                <a:ea typeface="Courier New" pitchFamily="34" charset="-122"/>
                <a:cs typeface="Courier New" pitchFamily="34" charset="-120"/>
              </a:rPr>
              <a:t>,</a:t>
            </a:r>
            <a:pPr algn="l" indent="0" marL="0">
              <a:buNone/>
            </a:pPr>
            <a:r>
              <a:rPr lang="en-US" sz="2600" dirty="0">
                <a:solidFill>
                  <a:srgbClr val="F0F3F8"/>
                </a:solidFill>
                <a:latin typeface="Courier New" pitchFamily="34" charset="0"/>
                <a:ea typeface="Courier New" pitchFamily="34" charset="-122"/>
                <a:cs typeface="Courier New" pitchFamily="34" charset="-120"/>
              </a:rPr>
              <a:t> </a:t>
            </a:r>
            <a:pPr algn="l" indent="0" marL="0">
              <a:buNone/>
            </a:pPr>
            <a:r>
              <a:rPr lang="en-US" sz="2600" b="1" dirty="0">
                <a:solidFill>
                  <a:srgbClr val="9584E8"/>
                </a:solidFill>
                <a:latin typeface="Courier New" pitchFamily="34" charset="0"/>
                <a:ea typeface="Courier New" pitchFamily="34" charset="-122"/>
                <a:cs typeface="Courier New" pitchFamily="34" charset="-120"/>
              </a:rPr>
              <a:t>'5'</a:t>
            </a:r>
            <a:endParaRPr lang="en-US" sz="2600" dirty="0"/>
          </a:p>
        </p:txBody>
      </p:sp>
      <p:sp>
        <p:nvSpPr>
          <p:cNvPr id="11" name="Shape 9"/>
          <p:cNvSpPr/>
          <p:nvPr/>
        </p:nvSpPr>
        <p:spPr>
          <a:xfrm>
            <a:off x="914400" y="3310128"/>
            <a:ext cx="2194560" cy="731520"/>
          </a:xfrm>
          <a:prstGeom prst="roundRect">
            <a:avLst>
              <a:gd name="adj" fmla="val 6670"/>
            </a:avLst>
          </a:prstGeom>
          <a:solidFill>
            <a:srgbClr val="FFFFFF"/>
          </a:solidFill>
          <a:ln w="12700">
            <a:solidFill>
              <a:srgbClr val="18879B"/>
            </a:solidFill>
            <a:prstDash val="solid"/>
          </a:ln>
        </p:spPr>
      </p:sp>
      <p:sp>
        <p:nvSpPr>
          <p:cNvPr id="12" name="Text 10"/>
          <p:cNvSpPr txBox="1"/>
          <p:nvPr/>
        </p:nvSpPr>
        <p:spPr>
          <a:xfrm>
            <a:off x="1078992" y="3310128"/>
            <a:ext cx="877824" cy="731520"/>
          </a:xfrm>
          <a:prstGeom prst="rect">
            <a:avLst/>
          </a:prstGeom>
          <a:noFill/>
          <a:ln/>
        </p:spPr>
        <p:txBody>
          <a:bodyPr wrap="square" lIns="0" tIns="0" rIns="0" bIns="0" rtlCol="0" anchor="ctr"/>
          <a:lstStyle/>
          <a:p>
            <a:pPr algn="l" indent="0" marL="0">
              <a:buNone/>
            </a:pPr>
            <a:r>
              <a:rPr lang="en-US" sz="1800" b="1" dirty="0">
                <a:solidFill>
                  <a:srgbClr val="18879B"/>
                </a:solidFill>
                <a:latin typeface="Courier New" pitchFamily="34" charset="0"/>
                <a:ea typeface="Courier New" pitchFamily="34" charset="-122"/>
                <a:cs typeface="Courier New" pitchFamily="34" charset="-120"/>
              </a:rPr>
              <a:t>DL</a:t>
            </a:r>
            <a:endParaRPr lang="en-US" sz="1800" dirty="0"/>
          </a:p>
        </p:txBody>
      </p:sp>
      <p:sp>
        <p:nvSpPr>
          <p:cNvPr id="13" name="Shape 11"/>
          <p:cNvSpPr/>
          <p:nvPr/>
        </p:nvSpPr>
        <p:spPr>
          <a:xfrm>
            <a:off x="1971446" y="3429000"/>
            <a:ext cx="1009498" cy="493776"/>
          </a:xfrm>
          <a:prstGeom prst="roundRect">
            <a:avLst>
              <a:gd name="adj" fmla="val 6670"/>
            </a:avLst>
          </a:prstGeom>
          <a:solidFill>
            <a:srgbClr val="F3F5F9"/>
          </a:solidFill>
          <a:ln w="12700">
            <a:solidFill>
              <a:srgbClr val="E2E7EF"/>
            </a:solidFill>
            <a:prstDash val="solid"/>
          </a:ln>
        </p:spPr>
      </p:sp>
      <p:sp>
        <p:nvSpPr>
          <p:cNvPr id="14" name="Text 12"/>
          <p:cNvSpPr txBox="1"/>
          <p:nvPr/>
        </p:nvSpPr>
        <p:spPr>
          <a:xfrm>
            <a:off x="1971446" y="3429000"/>
            <a:ext cx="1009498" cy="493776"/>
          </a:xfrm>
          <a:prstGeom prst="rect">
            <a:avLst/>
          </a:prstGeom>
          <a:noFill/>
          <a:ln/>
        </p:spPr>
        <p:txBody>
          <a:bodyPr wrap="square" lIns="0" tIns="0" rIns="0" bIns="0" rtlCol="0" anchor="ctr"/>
          <a:lstStyle/>
          <a:p>
            <a:pPr algn="ctr" indent="0" marL="0">
              <a:buNone/>
            </a:pPr>
            <a:r>
              <a:rPr lang="en-US" sz="2000" b="1" dirty="0">
                <a:solidFill>
                  <a:srgbClr val="0F1622"/>
                </a:solidFill>
                <a:latin typeface="Courier New" pitchFamily="34" charset="0"/>
                <a:ea typeface="Courier New" pitchFamily="34" charset="-122"/>
                <a:cs typeface="Courier New" pitchFamily="34" charset="-120"/>
              </a:rPr>
              <a:t>53</a:t>
            </a:r>
            <a:endParaRPr lang="en-US" sz="2000" dirty="0"/>
          </a:p>
        </p:txBody>
      </p:sp>
      <p:sp>
        <p:nvSpPr>
          <p:cNvPr id="15" name="Text 13"/>
          <p:cNvSpPr txBox="1"/>
          <p:nvPr/>
        </p:nvSpPr>
        <p:spPr>
          <a:xfrm>
            <a:off x="914400" y="4114800"/>
            <a:ext cx="2194560" cy="274320"/>
          </a:xfrm>
          <a:prstGeom prst="rect">
            <a:avLst/>
          </a:prstGeom>
          <a:noFill/>
          <a:ln/>
        </p:spPr>
        <p:txBody>
          <a:bodyPr wrap="square" lIns="0" tIns="0" rIns="0" bIns="0" rtlCol="0" anchor="t"/>
          <a:lstStyle/>
          <a:p>
            <a:pPr algn="ctr" indent="0" marL="0">
              <a:buNone/>
            </a:pPr>
            <a:r>
              <a:rPr lang="en-US" sz="1200" dirty="0">
                <a:solidFill>
                  <a:srgbClr val="5B6779"/>
                </a:solidFill>
                <a:latin typeface="Calibri" pitchFamily="34" charset="0"/>
                <a:ea typeface="Calibri" pitchFamily="34" charset="-122"/>
                <a:cs typeface="Calibri" pitchFamily="34" charset="-120"/>
              </a:rPr>
              <a:t>the code for '5'</a:t>
            </a:r>
            <a:endParaRPr lang="en-US" sz="1200" dirty="0"/>
          </a:p>
        </p:txBody>
      </p:sp>
      <p:sp>
        <p:nvSpPr>
          <p:cNvPr id="16" name="Shape 14"/>
          <p:cNvSpPr/>
          <p:nvPr/>
        </p:nvSpPr>
        <p:spPr>
          <a:xfrm>
            <a:off x="3246120" y="3675888"/>
            <a:ext cx="502920" cy="0"/>
          </a:xfrm>
          <a:prstGeom prst="line">
            <a:avLst/>
          </a:prstGeom>
          <a:noFill/>
          <a:ln w="19050">
            <a:solidFill>
              <a:srgbClr val="93A0B2"/>
            </a:solidFill>
            <a:prstDash val="solid"/>
            <a:tailEnd type="triangle"/>
          </a:ln>
        </p:spPr>
      </p:sp>
      <p:sp>
        <p:nvSpPr>
          <p:cNvPr id="17" name="Shape 15"/>
          <p:cNvSpPr/>
          <p:nvPr/>
        </p:nvSpPr>
        <p:spPr>
          <a:xfrm>
            <a:off x="3886200" y="3310128"/>
            <a:ext cx="1783080" cy="731520"/>
          </a:xfrm>
          <a:prstGeom prst="roundRect">
            <a:avLst>
              <a:gd name="adj" fmla="val 6670"/>
            </a:avLst>
          </a:prstGeom>
          <a:solidFill>
            <a:srgbClr val="070B12"/>
          </a:solidFill>
          <a:ln w="12700">
            <a:solidFill>
              <a:srgbClr val="2B3850"/>
            </a:solidFill>
            <a:prstDash val="solid"/>
          </a:ln>
        </p:spPr>
      </p:sp>
      <p:sp>
        <p:nvSpPr>
          <p:cNvPr id="18" name="Text 16"/>
          <p:cNvSpPr txBox="1"/>
          <p:nvPr/>
        </p:nvSpPr>
        <p:spPr>
          <a:xfrm>
            <a:off x="3886200" y="3310128"/>
            <a:ext cx="1783080" cy="731520"/>
          </a:xfrm>
          <a:prstGeom prst="rect">
            <a:avLst/>
          </a:prstGeom>
          <a:noFill/>
          <a:ln/>
        </p:spPr>
        <p:txBody>
          <a:bodyPr wrap="square" lIns="0" tIns="0" rIns="0" bIns="0" rtlCol="0" anchor="ctr"/>
          <a:lstStyle/>
          <a:p>
            <a:pPr algn="ctr" indent="0" marL="0">
              <a:buNone/>
            </a:pPr>
            <a:r>
              <a:rPr lang="en-US" sz="2800" b="1" dirty="0">
                <a:solidFill>
                  <a:srgbClr val="F0F3F8"/>
                </a:solidFill>
                <a:latin typeface="Courier New" pitchFamily="34" charset="0"/>
                <a:ea typeface="Courier New" pitchFamily="34" charset="-122"/>
                <a:cs typeface="Courier New" pitchFamily="34" charset="-120"/>
              </a:rPr>
              <a:t>5</a:t>
            </a:r>
            <a:endParaRPr lang="en-US" sz="2800" dirty="0"/>
          </a:p>
        </p:txBody>
      </p:sp>
      <p:sp>
        <p:nvSpPr>
          <p:cNvPr id="19" name="Text 17"/>
          <p:cNvSpPr txBox="1"/>
          <p:nvPr/>
        </p:nvSpPr>
        <p:spPr>
          <a:xfrm>
            <a:off x="3657600" y="4114800"/>
            <a:ext cx="2240280" cy="274320"/>
          </a:xfrm>
          <a:prstGeom prst="rect">
            <a:avLst/>
          </a:prstGeom>
          <a:noFill/>
          <a:ln/>
        </p:spPr>
        <p:txBody>
          <a:bodyPr wrap="square" lIns="0" tIns="0" rIns="0" bIns="0" rtlCol="0" anchor="t"/>
          <a:lstStyle/>
          <a:p>
            <a:pPr algn="ctr" indent="0" marL="0">
              <a:buNone/>
            </a:pPr>
            <a:r>
              <a:rPr lang="en-US" sz="1200" dirty="0">
                <a:solidFill>
                  <a:srgbClr val="5B6779"/>
                </a:solidFill>
                <a:latin typeface="Calibri" pitchFamily="34" charset="0"/>
                <a:ea typeface="Calibri" pitchFamily="34" charset="-122"/>
                <a:cs typeface="Calibri" pitchFamily="34" charset="-120"/>
              </a:rPr>
              <a:t>prints 5</a:t>
            </a:r>
            <a:endParaRPr lang="en-US" sz="1200" dirty="0"/>
          </a:p>
        </p:txBody>
      </p:sp>
      <p:sp>
        <p:nvSpPr>
          <p:cNvPr id="20" name="Shape 18"/>
          <p:cNvSpPr/>
          <p:nvPr/>
        </p:nvSpPr>
        <p:spPr>
          <a:xfrm>
            <a:off x="6245352" y="1810512"/>
            <a:ext cx="5303520" cy="2834640"/>
          </a:xfrm>
          <a:prstGeom prst="roundRect">
            <a:avLst>
              <a:gd name="adj" fmla="val 6670"/>
            </a:avLst>
          </a:prstGeom>
          <a:solidFill>
            <a:srgbClr val="F8E1DB"/>
          </a:solidFill>
          <a:ln w="12700">
            <a:solidFill>
              <a:srgbClr val="EBC4BB"/>
            </a:solidFill>
            <a:prstDash val="solid"/>
          </a:ln>
        </p:spPr>
      </p:sp>
      <p:sp>
        <p:nvSpPr>
          <p:cNvPr id="21" name="Text 19"/>
          <p:cNvSpPr txBox="1"/>
          <p:nvPr/>
        </p:nvSpPr>
        <p:spPr>
          <a:xfrm>
            <a:off x="6519672" y="1993392"/>
            <a:ext cx="4754880" cy="219456"/>
          </a:xfrm>
          <a:prstGeom prst="rect">
            <a:avLst/>
          </a:prstGeom>
          <a:noFill/>
          <a:ln/>
        </p:spPr>
        <p:txBody>
          <a:bodyPr wrap="square" lIns="0" tIns="0" rIns="0" bIns="0" rtlCol="0" anchor="t"/>
          <a:lstStyle/>
          <a:p>
            <a:pPr algn="l" indent="0" marL="0">
              <a:buNone/>
            </a:pPr>
            <a:r>
              <a:rPr lang="en-US" sz="950" b="1" spc="130" kern="0" dirty="0">
                <a:solidFill>
                  <a:srgbClr val="C4543F"/>
                </a:solidFill>
                <a:latin typeface="Courier New" pitchFamily="34" charset="0"/>
                <a:ea typeface="Courier New" pitchFamily="34" charset="-122"/>
                <a:cs typeface="Courier New" pitchFamily="34" charset="-120"/>
              </a:rPr>
              <a:t>NO QUOTES  ·  A NUMBER</a:t>
            </a:r>
            <a:endParaRPr lang="en-US" sz="950" dirty="0"/>
          </a:p>
        </p:txBody>
      </p:sp>
      <p:sp>
        <p:nvSpPr>
          <p:cNvPr id="22" name="Shape 20"/>
          <p:cNvSpPr/>
          <p:nvPr/>
        </p:nvSpPr>
        <p:spPr>
          <a:xfrm>
            <a:off x="6519672" y="2331720"/>
            <a:ext cx="4754880" cy="731520"/>
          </a:xfrm>
          <a:prstGeom prst="roundRect">
            <a:avLst>
              <a:gd name="adj" fmla="val 6670"/>
            </a:avLst>
          </a:prstGeom>
          <a:solidFill>
            <a:srgbClr val="121A29"/>
          </a:solidFill>
          <a:ln w="12700">
            <a:solidFill>
              <a:srgbClr val="2B3850"/>
            </a:solidFill>
            <a:prstDash val="solid"/>
          </a:ln>
        </p:spPr>
      </p:sp>
      <p:sp>
        <p:nvSpPr>
          <p:cNvPr id="23" name="Text 21"/>
          <p:cNvSpPr txBox="1"/>
          <p:nvPr/>
        </p:nvSpPr>
        <p:spPr>
          <a:xfrm>
            <a:off x="6793992" y="2331720"/>
            <a:ext cx="4206240" cy="731520"/>
          </a:xfrm>
          <a:prstGeom prst="rect">
            <a:avLst/>
          </a:prstGeom>
          <a:noFill/>
          <a:ln/>
        </p:spPr>
        <p:txBody>
          <a:bodyPr wrap="square" lIns="0" tIns="0" rIns="0" bIns="0" rtlCol="0" anchor="ctr"/>
          <a:lstStyle/>
          <a:p>
            <a:pPr algn="l" indent="0" marL="0">
              <a:buNone/>
            </a:pPr>
            <a:r>
              <a:rPr lang="en-US" sz="2600" b="1" dirty="0">
                <a:solidFill>
                  <a:srgbClr val="EDA63F"/>
                </a:solidFill>
                <a:latin typeface="Courier New" pitchFamily="34" charset="0"/>
                <a:ea typeface="Courier New" pitchFamily="34" charset="-122"/>
                <a:cs typeface="Courier New" pitchFamily="34" charset="-120"/>
              </a:rPr>
              <a:t>mov</a:t>
            </a:r>
            <a:pPr algn="l" indent="0" marL="0">
              <a:buNone/>
            </a:pPr>
            <a:r>
              <a:rPr lang="en-US" sz="2600" dirty="0">
                <a:solidFill>
                  <a:srgbClr val="F0F3F8"/>
                </a:solidFill>
                <a:latin typeface="Courier New" pitchFamily="34" charset="0"/>
                <a:ea typeface="Courier New" pitchFamily="34" charset="-122"/>
                <a:cs typeface="Courier New" pitchFamily="34" charset="-120"/>
              </a:rPr>
              <a:t> </a:t>
            </a:r>
            <a:pPr algn="l" indent="0" marL="0">
              <a:buNone/>
            </a:pPr>
            <a:r>
              <a:rPr lang="en-US" sz="2600" b="1" dirty="0">
                <a:solidFill>
                  <a:srgbClr val="3EB9CE"/>
                </a:solidFill>
                <a:latin typeface="Courier New" pitchFamily="34" charset="0"/>
                <a:ea typeface="Courier New" pitchFamily="34" charset="-122"/>
                <a:cs typeface="Courier New" pitchFamily="34" charset="-120"/>
              </a:rPr>
              <a:t>dl</a:t>
            </a:r>
            <a:pPr algn="l" indent="0" marL="0">
              <a:buNone/>
            </a:pPr>
            <a:r>
              <a:rPr lang="en-US" sz="2600" dirty="0">
                <a:solidFill>
                  <a:srgbClr val="F0F3F8"/>
                </a:solidFill>
                <a:latin typeface="Courier New" pitchFamily="34" charset="0"/>
                <a:ea typeface="Courier New" pitchFamily="34" charset="-122"/>
                <a:cs typeface="Courier New" pitchFamily="34" charset="-120"/>
              </a:rPr>
              <a:t>,</a:t>
            </a:r>
            <a:pPr algn="l" indent="0" marL="0">
              <a:buNone/>
            </a:pPr>
            <a:r>
              <a:rPr lang="en-US" sz="2600" dirty="0">
                <a:solidFill>
                  <a:srgbClr val="F0F3F8"/>
                </a:solidFill>
                <a:latin typeface="Courier New" pitchFamily="34" charset="0"/>
                <a:ea typeface="Courier New" pitchFamily="34" charset="-122"/>
                <a:cs typeface="Courier New" pitchFamily="34" charset="-120"/>
              </a:rPr>
              <a:t> </a:t>
            </a:r>
            <a:pPr algn="l" indent="0" marL="0">
              <a:buNone/>
            </a:pPr>
            <a:r>
              <a:rPr lang="en-US" sz="2600" b="1" dirty="0">
                <a:solidFill>
                  <a:srgbClr val="9584E8"/>
                </a:solidFill>
                <a:latin typeface="Courier New" pitchFamily="34" charset="0"/>
                <a:ea typeface="Courier New" pitchFamily="34" charset="-122"/>
                <a:cs typeface="Courier New" pitchFamily="34" charset="-120"/>
              </a:rPr>
              <a:t>5</a:t>
            </a:r>
            <a:endParaRPr lang="en-US" sz="2600" dirty="0"/>
          </a:p>
        </p:txBody>
      </p:sp>
      <p:sp>
        <p:nvSpPr>
          <p:cNvPr id="24" name="Shape 22"/>
          <p:cNvSpPr/>
          <p:nvPr/>
        </p:nvSpPr>
        <p:spPr>
          <a:xfrm>
            <a:off x="6519672" y="3310128"/>
            <a:ext cx="2194560" cy="731520"/>
          </a:xfrm>
          <a:prstGeom prst="roundRect">
            <a:avLst>
              <a:gd name="adj" fmla="val 6670"/>
            </a:avLst>
          </a:prstGeom>
          <a:solidFill>
            <a:srgbClr val="FFFFFF"/>
          </a:solidFill>
          <a:ln w="12700">
            <a:solidFill>
              <a:srgbClr val="EBC4BB"/>
            </a:solidFill>
            <a:prstDash val="solid"/>
          </a:ln>
        </p:spPr>
      </p:sp>
      <p:sp>
        <p:nvSpPr>
          <p:cNvPr id="25" name="Text 23"/>
          <p:cNvSpPr txBox="1"/>
          <p:nvPr/>
        </p:nvSpPr>
        <p:spPr>
          <a:xfrm>
            <a:off x="6684264" y="3310128"/>
            <a:ext cx="877824" cy="731520"/>
          </a:xfrm>
          <a:prstGeom prst="rect">
            <a:avLst/>
          </a:prstGeom>
          <a:noFill/>
          <a:ln/>
        </p:spPr>
        <p:txBody>
          <a:bodyPr wrap="square" lIns="0" tIns="0" rIns="0" bIns="0" rtlCol="0" anchor="ctr"/>
          <a:lstStyle/>
          <a:p>
            <a:pPr algn="l" indent="0" marL="0">
              <a:buNone/>
            </a:pPr>
            <a:r>
              <a:rPr lang="en-US" sz="1800" b="1" dirty="0">
                <a:solidFill>
                  <a:srgbClr val="C4543F"/>
                </a:solidFill>
                <a:latin typeface="Courier New" pitchFamily="34" charset="0"/>
                <a:ea typeface="Courier New" pitchFamily="34" charset="-122"/>
                <a:cs typeface="Courier New" pitchFamily="34" charset="-120"/>
              </a:rPr>
              <a:t>DL</a:t>
            </a:r>
            <a:endParaRPr lang="en-US" sz="1800" dirty="0"/>
          </a:p>
        </p:txBody>
      </p:sp>
      <p:sp>
        <p:nvSpPr>
          <p:cNvPr id="26" name="Shape 24"/>
          <p:cNvSpPr/>
          <p:nvPr/>
        </p:nvSpPr>
        <p:spPr>
          <a:xfrm>
            <a:off x="7576718" y="3429000"/>
            <a:ext cx="1009498" cy="493776"/>
          </a:xfrm>
          <a:prstGeom prst="roundRect">
            <a:avLst>
              <a:gd name="adj" fmla="val 6670"/>
            </a:avLst>
          </a:prstGeom>
          <a:solidFill>
            <a:srgbClr val="F3F5F9"/>
          </a:solidFill>
          <a:ln w="12700">
            <a:solidFill>
              <a:srgbClr val="E2E7EF"/>
            </a:solidFill>
            <a:prstDash val="solid"/>
          </a:ln>
        </p:spPr>
      </p:sp>
      <p:sp>
        <p:nvSpPr>
          <p:cNvPr id="27" name="Text 25"/>
          <p:cNvSpPr txBox="1"/>
          <p:nvPr/>
        </p:nvSpPr>
        <p:spPr>
          <a:xfrm>
            <a:off x="7576718" y="3429000"/>
            <a:ext cx="1009498" cy="493776"/>
          </a:xfrm>
          <a:prstGeom prst="rect">
            <a:avLst/>
          </a:prstGeom>
          <a:noFill/>
          <a:ln/>
        </p:spPr>
        <p:txBody>
          <a:bodyPr wrap="square" lIns="0" tIns="0" rIns="0" bIns="0" rtlCol="0" anchor="ctr"/>
          <a:lstStyle/>
          <a:p>
            <a:pPr algn="ctr" indent="0" marL="0">
              <a:buNone/>
            </a:pPr>
            <a:r>
              <a:rPr lang="en-US" sz="2000" b="1" dirty="0">
                <a:solidFill>
                  <a:srgbClr val="0F1622"/>
                </a:solidFill>
                <a:latin typeface="Courier New" pitchFamily="34" charset="0"/>
                <a:ea typeface="Courier New" pitchFamily="34" charset="-122"/>
                <a:cs typeface="Courier New" pitchFamily="34" charset="-120"/>
              </a:rPr>
              <a:t>5</a:t>
            </a:r>
            <a:endParaRPr lang="en-US" sz="2000" dirty="0"/>
          </a:p>
        </p:txBody>
      </p:sp>
      <p:sp>
        <p:nvSpPr>
          <p:cNvPr id="28" name="Text 26"/>
          <p:cNvSpPr txBox="1"/>
          <p:nvPr/>
        </p:nvSpPr>
        <p:spPr>
          <a:xfrm>
            <a:off x="6519672" y="4114800"/>
            <a:ext cx="2194560" cy="274320"/>
          </a:xfrm>
          <a:prstGeom prst="rect">
            <a:avLst/>
          </a:prstGeom>
          <a:noFill/>
          <a:ln/>
        </p:spPr>
        <p:txBody>
          <a:bodyPr wrap="square" lIns="0" tIns="0" rIns="0" bIns="0" rtlCol="0" anchor="t"/>
          <a:lstStyle/>
          <a:p>
            <a:pPr algn="ctr" indent="0" marL="0">
              <a:buNone/>
            </a:pPr>
            <a:r>
              <a:rPr lang="en-US" sz="1200" dirty="0">
                <a:solidFill>
                  <a:srgbClr val="5B6779"/>
                </a:solidFill>
                <a:latin typeface="Calibri" pitchFamily="34" charset="0"/>
                <a:ea typeface="Calibri" pitchFamily="34" charset="-122"/>
                <a:cs typeface="Calibri" pitchFamily="34" charset="-120"/>
              </a:rPr>
              <a:t>just the number 5</a:t>
            </a:r>
            <a:endParaRPr lang="en-US" sz="1200" dirty="0"/>
          </a:p>
        </p:txBody>
      </p:sp>
      <p:sp>
        <p:nvSpPr>
          <p:cNvPr id="29" name="Shape 27"/>
          <p:cNvSpPr/>
          <p:nvPr/>
        </p:nvSpPr>
        <p:spPr>
          <a:xfrm>
            <a:off x="8851392" y="3675888"/>
            <a:ext cx="502920" cy="0"/>
          </a:xfrm>
          <a:prstGeom prst="line">
            <a:avLst/>
          </a:prstGeom>
          <a:noFill/>
          <a:ln w="19050">
            <a:solidFill>
              <a:srgbClr val="93A0B2"/>
            </a:solidFill>
            <a:prstDash val="solid"/>
            <a:tailEnd type="triangle"/>
          </a:ln>
        </p:spPr>
      </p:sp>
      <p:sp>
        <p:nvSpPr>
          <p:cNvPr id="30" name="Shape 28"/>
          <p:cNvSpPr/>
          <p:nvPr/>
        </p:nvSpPr>
        <p:spPr>
          <a:xfrm>
            <a:off x="9491472" y="3310128"/>
            <a:ext cx="1783080" cy="731520"/>
          </a:xfrm>
          <a:prstGeom prst="roundRect">
            <a:avLst>
              <a:gd name="adj" fmla="val 6670"/>
            </a:avLst>
          </a:prstGeom>
          <a:solidFill>
            <a:srgbClr val="070B12"/>
          </a:solidFill>
          <a:ln w="12700">
            <a:solidFill>
              <a:srgbClr val="2B3850"/>
            </a:solidFill>
            <a:prstDash val="solid"/>
          </a:ln>
        </p:spPr>
      </p:sp>
      <p:sp>
        <p:nvSpPr>
          <p:cNvPr id="31" name="Text 29"/>
          <p:cNvSpPr txBox="1"/>
          <p:nvPr/>
        </p:nvSpPr>
        <p:spPr>
          <a:xfrm>
            <a:off x="9491472" y="3310128"/>
            <a:ext cx="1783080" cy="731520"/>
          </a:xfrm>
          <a:prstGeom prst="rect">
            <a:avLst/>
          </a:prstGeom>
          <a:noFill/>
          <a:ln/>
        </p:spPr>
        <p:txBody>
          <a:bodyPr wrap="square" lIns="0" tIns="0" rIns="0" bIns="0" rtlCol="0" anchor="ctr"/>
          <a:lstStyle/>
          <a:p>
            <a:pPr algn="ctr" indent="0" marL="0">
              <a:buNone/>
            </a:pPr>
            <a:r>
              <a:rPr lang="en-US" sz="2800" b="1" dirty="0">
                <a:solidFill>
                  <a:srgbClr val="E27B66"/>
                </a:solidFill>
                <a:latin typeface="Courier New" pitchFamily="34" charset="0"/>
                <a:ea typeface="Courier New" pitchFamily="34" charset="-122"/>
                <a:cs typeface="Courier New" pitchFamily="34" charset="-120"/>
              </a:rPr>
              <a:t>?</a:t>
            </a:r>
            <a:endParaRPr lang="en-US" sz="2800" dirty="0"/>
          </a:p>
        </p:txBody>
      </p:sp>
      <p:sp>
        <p:nvSpPr>
          <p:cNvPr id="32" name="Text 30"/>
          <p:cNvSpPr txBox="1"/>
          <p:nvPr/>
        </p:nvSpPr>
        <p:spPr>
          <a:xfrm>
            <a:off x="9262872" y="4114800"/>
            <a:ext cx="2240280" cy="274320"/>
          </a:xfrm>
          <a:prstGeom prst="rect">
            <a:avLst/>
          </a:prstGeom>
          <a:noFill/>
          <a:ln/>
        </p:spPr>
        <p:txBody>
          <a:bodyPr wrap="square" lIns="0" tIns="0" rIns="0" bIns="0" rtlCol="0" anchor="t"/>
          <a:lstStyle/>
          <a:p>
            <a:pPr algn="ctr" indent="0" marL="0">
              <a:buNone/>
            </a:pPr>
            <a:r>
              <a:rPr lang="en-US" sz="1200" dirty="0">
                <a:solidFill>
                  <a:srgbClr val="5B6779"/>
                </a:solidFill>
                <a:latin typeface="Calibri" pitchFamily="34" charset="0"/>
                <a:ea typeface="Calibri" pitchFamily="34" charset="-122"/>
                <a:cs typeface="Calibri" pitchFamily="34" charset="-120"/>
              </a:rPr>
              <a:t>prints a strange symbol</a:t>
            </a:r>
            <a:endParaRPr lang="en-US" sz="1200" dirty="0"/>
          </a:p>
        </p:txBody>
      </p:sp>
      <p:sp>
        <p:nvSpPr>
          <p:cNvPr id="33" name="Shape 31"/>
          <p:cNvSpPr/>
          <p:nvPr/>
        </p:nvSpPr>
        <p:spPr>
          <a:xfrm>
            <a:off x="640080" y="4901184"/>
            <a:ext cx="10908792" cy="548640"/>
          </a:xfrm>
          <a:prstGeom prst="roundRect">
            <a:avLst>
              <a:gd name="adj" fmla="val 6670"/>
            </a:avLst>
          </a:prstGeom>
          <a:solidFill>
            <a:srgbClr val="0F1622"/>
          </a:solidFill>
          <a:ln/>
        </p:spPr>
      </p:sp>
      <p:sp>
        <p:nvSpPr>
          <p:cNvPr id="34" name="Text 32"/>
          <p:cNvSpPr txBox="1"/>
          <p:nvPr/>
        </p:nvSpPr>
        <p:spPr>
          <a:xfrm>
            <a:off x="640080" y="4901184"/>
            <a:ext cx="10908792" cy="548640"/>
          </a:xfrm>
          <a:prstGeom prst="rect">
            <a:avLst/>
          </a:prstGeom>
          <a:noFill/>
          <a:ln/>
        </p:spPr>
        <p:txBody>
          <a:bodyPr wrap="square" lIns="0" tIns="0" rIns="0" bIns="0" rtlCol="0" anchor="ctr"/>
          <a:lstStyle/>
          <a:p>
            <a:pPr algn="ctr" indent="0" marL="0">
              <a:buNone/>
            </a:pPr>
            <a:r>
              <a:rPr lang="en-US" sz="1500" b="1" dirty="0">
                <a:solidFill>
                  <a:srgbClr val="EDA63F"/>
                </a:solidFill>
                <a:latin typeface="Courier New" pitchFamily="34" charset="0"/>
                <a:ea typeface="Courier New" pitchFamily="34" charset="-122"/>
                <a:cs typeface="Courier New" pitchFamily="34" charset="-120"/>
              </a:rPr>
              <a:t>'5'</a:t>
            </a:r>
            <a:pPr algn="ctr" indent="0" marL="0">
              <a:buNone/>
            </a:pPr>
            <a:r>
              <a:rPr lang="en-US" sz="1500" dirty="0">
                <a:solidFill>
                  <a:srgbClr val="FFFFFF"/>
                </a:solidFill>
                <a:latin typeface="Calibri" pitchFamily="34" charset="0"/>
                <a:ea typeface="Calibri" pitchFamily="34" charset="-122"/>
                <a:cs typeface="Calibri" pitchFamily="34" charset="-120"/>
              </a:rPr>
              <a:t>  with quotes is the character.        </a:t>
            </a:r>
            <a:pPr algn="ctr" indent="0" marL="0">
              <a:buNone/>
            </a:pPr>
            <a:r>
              <a:rPr lang="en-US" sz="1500" b="1" dirty="0">
                <a:solidFill>
                  <a:srgbClr val="EDA63F"/>
                </a:solidFill>
                <a:latin typeface="Courier New" pitchFamily="34" charset="0"/>
                <a:ea typeface="Courier New" pitchFamily="34" charset="-122"/>
                <a:cs typeface="Courier New" pitchFamily="34" charset="-120"/>
              </a:rPr>
              <a:t>5</a:t>
            </a:r>
            <a:pPr algn="ctr" indent="0" marL="0">
              <a:buNone/>
            </a:pPr>
            <a:r>
              <a:rPr lang="en-US" sz="1500" dirty="0">
                <a:solidFill>
                  <a:srgbClr val="FFFFFF"/>
                </a:solidFill>
                <a:latin typeface="Calibri" pitchFamily="34" charset="0"/>
                <a:ea typeface="Calibri" pitchFamily="34" charset="-122"/>
                <a:cs typeface="Calibri" pitchFamily="34" charset="-120"/>
              </a:rPr>
              <a:t>  without quotes is a plain number.</a:t>
            </a:r>
            <a:endParaRPr lang="en-US" sz="1500" dirty="0"/>
          </a:p>
        </p:txBody>
      </p:sp>
      <p:sp>
        <p:nvSpPr>
          <p:cNvPr id="35" name="Text 33"/>
          <p:cNvSpPr txBox="1"/>
          <p:nvPr/>
        </p:nvSpPr>
        <p:spPr>
          <a:xfrm>
            <a:off x="640080" y="5669280"/>
            <a:ext cx="10908792" cy="274320"/>
          </a:xfrm>
          <a:prstGeom prst="rect">
            <a:avLst/>
          </a:prstGeom>
          <a:noFill/>
          <a:ln/>
        </p:spPr>
        <p:txBody>
          <a:bodyPr wrap="square" lIns="0" tIns="0" rIns="0" bIns="0" rtlCol="0" anchor="t"/>
          <a:lstStyle/>
          <a:p>
            <a:pPr algn="ctr" indent="0" marL="0">
              <a:buNone/>
            </a:pPr>
            <a:r>
              <a:rPr lang="en-US" sz="1200" i="1" dirty="0">
                <a:solidFill>
                  <a:srgbClr val="5B6779"/>
                </a:solidFill>
                <a:latin typeface="Calibri" pitchFamily="34" charset="0"/>
                <a:ea typeface="Calibri" pitchFamily="34" charset="-122"/>
                <a:cs typeface="Calibri" pitchFamily="34" charset="-120"/>
              </a:rPr>
              <a:t>Lab 1: characters are stored as numbers. '5' is stored as 53, and 'A' as 65.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8 · NEW LINE</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Moving to a new line</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13 and 10 are codes for invisible characters that move the cursor. No quotes.</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02</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10</a:t>
            </a:r>
            <a:endParaRPr lang="en-US" sz="900" dirty="0"/>
          </a:p>
        </p:txBody>
      </p:sp>
      <p:sp>
        <p:nvSpPr>
          <p:cNvPr id="7" name="Shape 5"/>
          <p:cNvSpPr/>
          <p:nvPr/>
        </p:nvSpPr>
        <p:spPr>
          <a:xfrm>
            <a:off x="640080" y="1810512"/>
            <a:ext cx="5577840" cy="3017520"/>
          </a:xfrm>
          <a:prstGeom prst="roundRect">
            <a:avLst>
              <a:gd name="adj" fmla="val 6670"/>
            </a:avLst>
          </a:prstGeom>
          <a:solidFill>
            <a:srgbClr val="121A29"/>
          </a:solidFill>
          <a:ln w="12700">
            <a:solidFill>
              <a:srgbClr val="2B3850"/>
            </a:solidFill>
            <a:prstDash val="solid"/>
          </a:ln>
        </p:spPr>
      </p:sp>
      <p:sp>
        <p:nvSpPr>
          <p:cNvPr id="8" name="Text 6"/>
          <p:cNvSpPr txBox="1"/>
          <p:nvPr/>
        </p:nvSpPr>
        <p:spPr>
          <a:xfrm>
            <a:off x="914400" y="1965960"/>
            <a:ext cx="3657600" cy="219456"/>
          </a:xfrm>
          <a:prstGeom prst="rect">
            <a:avLst/>
          </a:prstGeom>
          <a:noFill/>
          <a:ln/>
        </p:spPr>
        <p:txBody>
          <a:bodyPr wrap="square" lIns="0" tIns="0" rIns="0" bIns="0" rtlCol="0" anchor="t"/>
          <a:lstStyle/>
          <a:p>
            <a:pPr algn="l" indent="0" marL="0">
              <a:buNone/>
            </a:pPr>
            <a:r>
              <a:rPr lang="en-US" sz="950" b="1" spc="130" kern="0" dirty="0">
                <a:solidFill>
                  <a:srgbClr val="5C6B83"/>
                </a:solidFill>
                <a:latin typeface="Courier New" pitchFamily="34" charset="0"/>
                <a:ea typeface="Courier New" pitchFamily="34" charset="-122"/>
                <a:cs typeface="Courier New" pitchFamily="34" charset="-120"/>
              </a:rPr>
              <a:t>WHERE THE CURSOR GOES</a:t>
            </a:r>
            <a:endParaRPr lang="en-US" sz="950" dirty="0"/>
          </a:p>
        </p:txBody>
      </p:sp>
      <p:sp>
        <p:nvSpPr>
          <p:cNvPr id="9" name="Text 7"/>
          <p:cNvSpPr txBox="1"/>
          <p:nvPr/>
        </p:nvSpPr>
        <p:spPr>
          <a:xfrm>
            <a:off x="1051560" y="2286000"/>
            <a:ext cx="2743200" cy="548640"/>
          </a:xfrm>
          <a:prstGeom prst="rect">
            <a:avLst/>
          </a:prstGeom>
          <a:noFill/>
          <a:ln/>
        </p:spPr>
        <p:txBody>
          <a:bodyPr wrap="square" lIns="0" tIns="0" rIns="0" bIns="0" rtlCol="0" anchor="ctr"/>
          <a:lstStyle/>
          <a:p>
            <a:pPr algn="l" indent="0" marL="0">
              <a:buNone/>
            </a:pPr>
            <a:r>
              <a:rPr lang="en-US" sz="3000" b="1" dirty="0">
                <a:solidFill>
                  <a:srgbClr val="F0F3F8"/>
                </a:solidFill>
                <a:latin typeface="Courier New" pitchFamily="34" charset="0"/>
                <a:ea typeface="Courier New" pitchFamily="34" charset="-122"/>
                <a:cs typeface="Courier New" pitchFamily="34" charset="-120"/>
              </a:rPr>
              <a:t>HELLO</a:t>
            </a:r>
            <a:endParaRPr lang="en-US" sz="3000" dirty="0"/>
          </a:p>
        </p:txBody>
      </p:sp>
      <p:sp>
        <p:nvSpPr>
          <p:cNvPr id="10" name="Shape 8"/>
          <p:cNvSpPr/>
          <p:nvPr/>
        </p:nvSpPr>
        <p:spPr>
          <a:xfrm>
            <a:off x="2240280" y="2350008"/>
            <a:ext cx="176662" cy="420624"/>
          </a:xfrm>
          <a:prstGeom prst="rect">
            <a:avLst/>
          </a:prstGeom>
          <a:solidFill>
            <a:srgbClr val="EDA63F"/>
          </a:solidFill>
          <a:ln/>
        </p:spPr>
      </p:sp>
      <p:sp>
        <p:nvSpPr>
          <p:cNvPr id="11" name="Shape 9"/>
          <p:cNvSpPr/>
          <p:nvPr/>
        </p:nvSpPr>
        <p:spPr>
          <a:xfrm flipH="1">
            <a:off x="1161288" y="3017520"/>
            <a:ext cx="1170432" cy="0"/>
          </a:xfrm>
          <a:prstGeom prst="line">
            <a:avLst/>
          </a:prstGeom>
          <a:noFill/>
          <a:ln w="25400">
            <a:solidFill>
              <a:srgbClr val="3EB9CE"/>
            </a:solidFill>
            <a:prstDash val="solid"/>
            <a:tailEnd type="triangle"/>
          </a:ln>
        </p:spPr>
      </p:sp>
      <p:sp>
        <p:nvSpPr>
          <p:cNvPr id="12" name="Text 10"/>
          <p:cNvSpPr txBox="1"/>
          <p:nvPr/>
        </p:nvSpPr>
        <p:spPr>
          <a:xfrm>
            <a:off x="2514600" y="2871216"/>
            <a:ext cx="2743200" cy="292608"/>
          </a:xfrm>
          <a:prstGeom prst="rect">
            <a:avLst/>
          </a:prstGeom>
          <a:noFill/>
          <a:ln/>
        </p:spPr>
        <p:txBody>
          <a:bodyPr wrap="square" lIns="0" tIns="0" rIns="0" bIns="0" rtlCol="0" anchor="ctr"/>
          <a:lstStyle/>
          <a:p>
            <a:pPr algn="l" indent="0" marL="0">
              <a:buNone/>
            </a:pPr>
            <a:r>
              <a:rPr lang="en-US" sz="1400" b="1" dirty="0">
                <a:solidFill>
                  <a:srgbClr val="3EB9CE"/>
                </a:solidFill>
                <a:latin typeface="Courier New" pitchFamily="34" charset="0"/>
                <a:ea typeface="Courier New" pitchFamily="34" charset="-122"/>
                <a:cs typeface="Courier New" pitchFamily="34" charset="-120"/>
              </a:rPr>
              <a:t>13</a:t>
            </a:r>
            <a:pPr algn="l" indent="0" marL="0">
              <a:buNone/>
            </a:pPr>
            <a:r>
              <a:rPr lang="en-US" sz="1400" dirty="0">
                <a:solidFill>
                  <a:srgbClr val="F0F3F8"/>
                </a:solidFill>
                <a:latin typeface="Calibri" pitchFamily="34" charset="0"/>
                <a:ea typeface="Calibri" pitchFamily="34" charset="-122"/>
                <a:cs typeface="Calibri" pitchFamily="34" charset="-120"/>
              </a:rPr>
              <a:t>  back to the start</a:t>
            </a:r>
            <a:endParaRPr lang="en-US" sz="1400" dirty="0"/>
          </a:p>
        </p:txBody>
      </p:sp>
      <p:sp>
        <p:nvSpPr>
          <p:cNvPr id="13" name="Shape 11"/>
          <p:cNvSpPr/>
          <p:nvPr/>
        </p:nvSpPr>
        <p:spPr>
          <a:xfrm>
            <a:off x="1161288" y="3108960"/>
            <a:ext cx="0" cy="658368"/>
          </a:xfrm>
          <a:prstGeom prst="line">
            <a:avLst/>
          </a:prstGeom>
          <a:noFill/>
          <a:ln w="25400">
            <a:solidFill>
              <a:srgbClr val="EDA63F"/>
            </a:solidFill>
            <a:prstDash val="solid"/>
            <a:tailEnd type="triangle"/>
          </a:ln>
        </p:spPr>
      </p:sp>
      <p:sp>
        <p:nvSpPr>
          <p:cNvPr id="14" name="Text 12"/>
          <p:cNvSpPr txBox="1"/>
          <p:nvPr/>
        </p:nvSpPr>
        <p:spPr>
          <a:xfrm>
            <a:off x="1417320" y="3291840"/>
            <a:ext cx="2743200" cy="292608"/>
          </a:xfrm>
          <a:prstGeom prst="rect">
            <a:avLst/>
          </a:prstGeom>
          <a:noFill/>
          <a:ln/>
        </p:spPr>
        <p:txBody>
          <a:bodyPr wrap="square" lIns="0" tIns="0" rIns="0" bIns="0" rtlCol="0" anchor="ctr"/>
          <a:lstStyle/>
          <a:p>
            <a:pPr algn="l" indent="0" marL="0">
              <a:buNone/>
            </a:pPr>
            <a:r>
              <a:rPr lang="en-US" sz="1400" b="1" dirty="0">
                <a:solidFill>
                  <a:srgbClr val="EDA63F"/>
                </a:solidFill>
                <a:latin typeface="Courier New" pitchFamily="34" charset="0"/>
                <a:ea typeface="Courier New" pitchFamily="34" charset="-122"/>
                <a:cs typeface="Courier New" pitchFamily="34" charset="-120"/>
              </a:rPr>
              <a:t>10</a:t>
            </a:r>
            <a:pPr algn="l" indent="0" marL="0">
              <a:buNone/>
            </a:pPr>
            <a:r>
              <a:rPr lang="en-US" sz="1400" dirty="0">
                <a:solidFill>
                  <a:srgbClr val="F0F3F8"/>
                </a:solidFill>
                <a:latin typeface="Calibri" pitchFamily="34" charset="0"/>
                <a:ea typeface="Calibri" pitchFamily="34" charset="-122"/>
                <a:cs typeface="Calibri" pitchFamily="34" charset="-120"/>
              </a:rPr>
              <a:t>  down one line</a:t>
            </a:r>
            <a:endParaRPr lang="en-US" sz="1400" dirty="0"/>
          </a:p>
        </p:txBody>
      </p:sp>
      <p:sp>
        <p:nvSpPr>
          <p:cNvPr id="15" name="Shape 13"/>
          <p:cNvSpPr/>
          <p:nvPr/>
        </p:nvSpPr>
        <p:spPr>
          <a:xfrm>
            <a:off x="1069848" y="3886200"/>
            <a:ext cx="176662" cy="420624"/>
          </a:xfrm>
          <a:prstGeom prst="rect">
            <a:avLst/>
          </a:prstGeom>
          <a:solidFill>
            <a:srgbClr val="EDA63F"/>
          </a:solidFill>
          <a:ln/>
        </p:spPr>
      </p:sp>
      <p:sp>
        <p:nvSpPr>
          <p:cNvPr id="16" name="Text 14"/>
          <p:cNvSpPr txBox="1"/>
          <p:nvPr/>
        </p:nvSpPr>
        <p:spPr>
          <a:xfrm>
            <a:off x="1417320" y="3931920"/>
            <a:ext cx="3657600" cy="329184"/>
          </a:xfrm>
          <a:prstGeom prst="rect">
            <a:avLst/>
          </a:prstGeom>
          <a:noFill/>
          <a:ln/>
        </p:spPr>
        <p:txBody>
          <a:bodyPr wrap="square" lIns="0" tIns="0" rIns="0" bIns="0" rtlCol="0" anchor="ctr"/>
          <a:lstStyle/>
          <a:p>
            <a:pPr algn="l" indent="0" marL="0">
              <a:buNone/>
            </a:pPr>
            <a:r>
              <a:rPr lang="en-US" sz="1300" i="1" dirty="0">
                <a:solidFill>
                  <a:srgbClr val="94A3B8"/>
                </a:solidFill>
                <a:latin typeface="Calibri" pitchFamily="34" charset="0"/>
                <a:ea typeface="Calibri" pitchFamily="34" charset="-122"/>
                <a:cs typeface="Calibri" pitchFamily="34" charset="-120"/>
              </a:rPr>
              <a:t>the next character lands here</a:t>
            </a:r>
            <a:endParaRPr lang="en-US" sz="1300" dirty="0"/>
          </a:p>
        </p:txBody>
      </p:sp>
      <p:sp>
        <p:nvSpPr>
          <p:cNvPr id="17" name="Shape 15"/>
          <p:cNvSpPr/>
          <p:nvPr/>
        </p:nvSpPr>
        <p:spPr>
          <a:xfrm>
            <a:off x="6492240" y="1810512"/>
            <a:ext cx="5056632" cy="3017520"/>
          </a:xfrm>
          <a:prstGeom prst="roundRect">
            <a:avLst>
              <a:gd name="adj" fmla="val 6670"/>
            </a:avLst>
          </a:prstGeom>
          <a:solidFill>
            <a:srgbClr val="121A29"/>
          </a:solidFill>
          <a:ln w="12700">
            <a:solidFill>
              <a:srgbClr val="2B3850"/>
            </a:solidFill>
            <a:prstDash val="solid"/>
          </a:ln>
        </p:spPr>
      </p:sp>
      <p:sp>
        <p:nvSpPr>
          <p:cNvPr id="18" name="Shape 16"/>
          <p:cNvSpPr/>
          <p:nvPr/>
        </p:nvSpPr>
        <p:spPr>
          <a:xfrm>
            <a:off x="6720840" y="2130552"/>
            <a:ext cx="73152" cy="1097280"/>
          </a:xfrm>
          <a:prstGeom prst="roundRect">
            <a:avLst>
              <a:gd name="adj" fmla="val 37500"/>
            </a:avLst>
          </a:prstGeom>
          <a:solidFill>
            <a:srgbClr val="3EB9CE"/>
          </a:solidFill>
          <a:ln/>
        </p:spPr>
      </p:sp>
      <p:sp>
        <p:nvSpPr>
          <p:cNvPr id="19" name="Shape 17"/>
          <p:cNvSpPr/>
          <p:nvPr/>
        </p:nvSpPr>
        <p:spPr>
          <a:xfrm>
            <a:off x="6720840" y="3392424"/>
            <a:ext cx="73152" cy="1097280"/>
          </a:xfrm>
          <a:prstGeom prst="roundRect">
            <a:avLst>
              <a:gd name="adj" fmla="val 37500"/>
            </a:avLst>
          </a:prstGeom>
          <a:solidFill>
            <a:srgbClr val="EDA63F"/>
          </a:solidFill>
          <a:ln/>
        </p:spPr>
      </p:sp>
      <p:sp>
        <p:nvSpPr>
          <p:cNvPr id="20" name="Text 18"/>
          <p:cNvSpPr txBox="1"/>
          <p:nvPr/>
        </p:nvSpPr>
        <p:spPr>
          <a:xfrm>
            <a:off x="6967728" y="2103120"/>
            <a:ext cx="4480560" cy="365760"/>
          </a:xfrm>
          <a:prstGeom prst="rect">
            <a:avLst/>
          </a:prstGeom>
          <a:noFill/>
          <a:ln/>
        </p:spPr>
        <p:txBody>
          <a:bodyPr wrap="square" lIns="0" tIns="0" rIns="0" bIns="0" rtlCol="0" anchor="ctr"/>
          <a:lstStyle/>
          <a:p>
            <a:pPr algn="l" indent="0" marL="0">
              <a:buNone/>
            </a:pPr>
            <a:r>
              <a:rPr lang="en-US" sz="1600" b="1" dirty="0">
                <a:solidFill>
                  <a:srgbClr val="EDA63F"/>
                </a:solidFill>
                <a:latin typeface="Courier New" pitchFamily="34" charset="0"/>
                <a:ea typeface="Courier New" pitchFamily="34" charset="-122"/>
                <a:cs typeface="Courier New" pitchFamily="34" charset="-120"/>
              </a:rPr>
              <a:t>mov</a:t>
            </a:r>
            <a:pPr algn="l" indent="0" marL="0">
              <a:buNone/>
            </a:pPr>
            <a:r>
              <a:rPr lang="en-US" sz="1600" dirty="0">
                <a:solidFill>
                  <a:srgbClr val="F0F3F8"/>
                </a:solidFill>
                <a:latin typeface="Courier New" pitchFamily="34" charset="0"/>
                <a:ea typeface="Courier New" pitchFamily="34" charset="-122"/>
                <a:cs typeface="Courier New" pitchFamily="34" charset="-120"/>
              </a:rPr>
              <a:t> </a:t>
            </a:r>
            <a:pPr algn="l" indent="0" marL="0">
              <a:buNone/>
            </a:pPr>
            <a:r>
              <a:rPr lang="en-US" sz="1600" b="1" dirty="0">
                <a:solidFill>
                  <a:srgbClr val="3EB9CE"/>
                </a:solidFill>
                <a:latin typeface="Courier New" pitchFamily="34" charset="0"/>
                <a:ea typeface="Courier New" pitchFamily="34" charset="-122"/>
                <a:cs typeface="Courier New" pitchFamily="34" charset="-120"/>
              </a:rPr>
              <a:t>dl</a:t>
            </a:r>
            <a:pPr algn="l" indent="0" marL="0">
              <a:buNone/>
            </a:pPr>
            <a:r>
              <a:rPr lang="en-US" sz="1600" dirty="0">
                <a:solidFill>
                  <a:srgbClr val="F0F3F8"/>
                </a:solidFill>
                <a:latin typeface="Courier New" pitchFamily="34" charset="0"/>
                <a:ea typeface="Courier New" pitchFamily="34" charset="-122"/>
                <a:cs typeface="Courier New" pitchFamily="34" charset="-120"/>
              </a:rPr>
              <a:t>,</a:t>
            </a:r>
            <a:pPr algn="l" indent="0" marL="0">
              <a:buNone/>
            </a:pPr>
            <a:r>
              <a:rPr lang="en-US" sz="1600" dirty="0">
                <a:solidFill>
                  <a:srgbClr val="F0F3F8"/>
                </a:solidFill>
                <a:latin typeface="Courier New" pitchFamily="34" charset="0"/>
                <a:ea typeface="Courier New" pitchFamily="34" charset="-122"/>
                <a:cs typeface="Courier New" pitchFamily="34" charset="-120"/>
              </a:rPr>
              <a:t> </a:t>
            </a:r>
            <a:pPr algn="l" indent="0" marL="0">
              <a:buNone/>
            </a:pPr>
            <a:r>
              <a:rPr lang="en-US" sz="1600" b="1" dirty="0">
                <a:solidFill>
                  <a:srgbClr val="9584E8"/>
                </a:solidFill>
                <a:latin typeface="Courier New" pitchFamily="34" charset="0"/>
                <a:ea typeface="Courier New" pitchFamily="34" charset="-122"/>
                <a:cs typeface="Courier New" pitchFamily="34" charset="-120"/>
              </a:rPr>
              <a:t>13</a:t>
            </a:r>
            <a:pPr algn="l" indent="0" marL="0">
              <a:buNone/>
            </a:pPr>
            <a:r>
              <a:rPr lang="en-US" sz="1600" dirty="0">
                <a:solidFill>
                  <a:srgbClr val="F0F3F8"/>
                </a:solidFill>
                <a:latin typeface="Courier New" pitchFamily="34" charset="0"/>
                <a:ea typeface="Courier New" pitchFamily="34" charset="-122"/>
                <a:cs typeface="Courier New" pitchFamily="34" charset="-120"/>
              </a:rPr>
              <a:t>     </a:t>
            </a:r>
            <a:pPr algn="l" indent="0" marL="0">
              <a:buNone/>
            </a:pPr>
            <a:r>
              <a:rPr lang="en-US" sz="1600" dirty="0">
                <a:solidFill>
                  <a:srgbClr val="6B7A93"/>
                </a:solidFill>
                <a:latin typeface="Courier New" pitchFamily="34" charset="0"/>
                <a:ea typeface="Courier New" pitchFamily="34" charset="-122"/>
                <a:cs typeface="Courier New" pitchFamily="34" charset="-120"/>
              </a:rPr>
              <a:t>; carriage return</a:t>
            </a:r>
            <a:endParaRPr lang="en-US" sz="1600" dirty="0"/>
          </a:p>
        </p:txBody>
      </p:sp>
      <p:sp>
        <p:nvSpPr>
          <p:cNvPr id="21" name="Text 19"/>
          <p:cNvSpPr txBox="1"/>
          <p:nvPr/>
        </p:nvSpPr>
        <p:spPr>
          <a:xfrm>
            <a:off x="6967728" y="2505456"/>
            <a:ext cx="4480560" cy="365760"/>
          </a:xfrm>
          <a:prstGeom prst="rect">
            <a:avLst/>
          </a:prstGeom>
          <a:noFill/>
          <a:ln/>
        </p:spPr>
        <p:txBody>
          <a:bodyPr wrap="square" lIns="0" tIns="0" rIns="0" bIns="0" rtlCol="0" anchor="ctr"/>
          <a:lstStyle/>
          <a:p>
            <a:pPr algn="l" indent="0" marL="0">
              <a:buNone/>
            </a:pPr>
            <a:r>
              <a:rPr lang="en-US" sz="1600" b="1" dirty="0">
                <a:solidFill>
                  <a:srgbClr val="EDA63F"/>
                </a:solidFill>
                <a:latin typeface="Courier New" pitchFamily="34" charset="0"/>
                <a:ea typeface="Courier New" pitchFamily="34" charset="-122"/>
                <a:cs typeface="Courier New" pitchFamily="34" charset="-120"/>
              </a:rPr>
              <a:t>mov</a:t>
            </a:r>
            <a:pPr algn="l" indent="0" marL="0">
              <a:buNone/>
            </a:pPr>
            <a:r>
              <a:rPr lang="en-US" sz="1600" dirty="0">
                <a:solidFill>
                  <a:srgbClr val="F0F3F8"/>
                </a:solidFill>
                <a:latin typeface="Courier New" pitchFamily="34" charset="0"/>
                <a:ea typeface="Courier New" pitchFamily="34" charset="-122"/>
                <a:cs typeface="Courier New" pitchFamily="34" charset="-120"/>
              </a:rPr>
              <a:t> </a:t>
            </a:r>
            <a:pPr algn="l" indent="0" marL="0">
              <a:buNone/>
            </a:pPr>
            <a:r>
              <a:rPr lang="en-US" sz="1600" b="1" dirty="0">
                <a:solidFill>
                  <a:srgbClr val="3EB9CE"/>
                </a:solidFill>
                <a:latin typeface="Courier New" pitchFamily="34" charset="0"/>
                <a:ea typeface="Courier New" pitchFamily="34" charset="-122"/>
                <a:cs typeface="Courier New" pitchFamily="34" charset="-120"/>
              </a:rPr>
              <a:t>ah</a:t>
            </a:r>
            <a:pPr algn="l" indent="0" marL="0">
              <a:buNone/>
            </a:pPr>
            <a:r>
              <a:rPr lang="en-US" sz="1600" dirty="0">
                <a:solidFill>
                  <a:srgbClr val="F0F3F8"/>
                </a:solidFill>
                <a:latin typeface="Courier New" pitchFamily="34" charset="0"/>
                <a:ea typeface="Courier New" pitchFamily="34" charset="-122"/>
                <a:cs typeface="Courier New" pitchFamily="34" charset="-120"/>
              </a:rPr>
              <a:t>,</a:t>
            </a:r>
            <a:pPr algn="l" indent="0" marL="0">
              <a:buNone/>
            </a:pPr>
            <a:r>
              <a:rPr lang="en-US" sz="1600" dirty="0">
                <a:solidFill>
                  <a:srgbClr val="F0F3F8"/>
                </a:solidFill>
                <a:latin typeface="Courier New" pitchFamily="34" charset="0"/>
                <a:ea typeface="Courier New" pitchFamily="34" charset="-122"/>
                <a:cs typeface="Courier New" pitchFamily="34" charset="-120"/>
              </a:rPr>
              <a:t> </a:t>
            </a:r>
            <a:pPr algn="l" indent="0" marL="0">
              <a:buNone/>
            </a:pPr>
            <a:r>
              <a:rPr lang="en-US" sz="1600" b="1" dirty="0">
                <a:solidFill>
                  <a:srgbClr val="9584E8"/>
                </a:solidFill>
                <a:latin typeface="Courier New" pitchFamily="34" charset="0"/>
                <a:ea typeface="Courier New" pitchFamily="34" charset="-122"/>
                <a:cs typeface="Courier New" pitchFamily="34" charset="-120"/>
              </a:rPr>
              <a:t>2</a:t>
            </a:r>
            <a:endParaRPr lang="en-US" sz="1600" dirty="0"/>
          </a:p>
        </p:txBody>
      </p:sp>
      <p:sp>
        <p:nvSpPr>
          <p:cNvPr id="22" name="Text 20"/>
          <p:cNvSpPr txBox="1"/>
          <p:nvPr/>
        </p:nvSpPr>
        <p:spPr>
          <a:xfrm>
            <a:off x="6967728" y="2907792"/>
            <a:ext cx="4480560" cy="365760"/>
          </a:xfrm>
          <a:prstGeom prst="rect">
            <a:avLst/>
          </a:prstGeom>
          <a:noFill/>
          <a:ln/>
        </p:spPr>
        <p:txBody>
          <a:bodyPr wrap="square" lIns="0" tIns="0" rIns="0" bIns="0" rtlCol="0" anchor="ctr"/>
          <a:lstStyle/>
          <a:p>
            <a:pPr algn="l" indent="0" marL="0">
              <a:buNone/>
            </a:pPr>
            <a:r>
              <a:rPr lang="en-US" sz="1600" b="1" dirty="0">
                <a:solidFill>
                  <a:srgbClr val="EDA63F"/>
                </a:solidFill>
                <a:latin typeface="Courier New" pitchFamily="34" charset="0"/>
                <a:ea typeface="Courier New" pitchFamily="34" charset="-122"/>
                <a:cs typeface="Courier New" pitchFamily="34" charset="-120"/>
              </a:rPr>
              <a:t>int</a:t>
            </a:r>
            <a:pPr algn="l" indent="0" marL="0">
              <a:buNone/>
            </a:pPr>
            <a:r>
              <a:rPr lang="en-US" sz="1600" dirty="0">
                <a:solidFill>
                  <a:srgbClr val="F0F3F8"/>
                </a:solidFill>
                <a:latin typeface="Courier New" pitchFamily="34" charset="0"/>
                <a:ea typeface="Courier New" pitchFamily="34" charset="-122"/>
                <a:cs typeface="Courier New" pitchFamily="34" charset="-120"/>
              </a:rPr>
              <a:t> </a:t>
            </a:r>
            <a:pPr algn="l" indent="0" marL="0">
              <a:buNone/>
            </a:pPr>
            <a:r>
              <a:rPr lang="en-US" sz="1600" b="1" dirty="0">
                <a:solidFill>
                  <a:srgbClr val="9584E8"/>
                </a:solidFill>
                <a:latin typeface="Courier New" pitchFamily="34" charset="0"/>
                <a:ea typeface="Courier New" pitchFamily="34" charset="-122"/>
                <a:cs typeface="Courier New" pitchFamily="34" charset="-120"/>
              </a:rPr>
              <a:t>21h</a:t>
            </a:r>
            <a:endParaRPr lang="en-US" sz="1600" dirty="0"/>
          </a:p>
        </p:txBody>
      </p:sp>
      <p:sp>
        <p:nvSpPr>
          <p:cNvPr id="23" name="Text 21"/>
          <p:cNvSpPr txBox="1"/>
          <p:nvPr/>
        </p:nvSpPr>
        <p:spPr>
          <a:xfrm>
            <a:off x="6967728" y="3401568"/>
            <a:ext cx="4480560" cy="365760"/>
          </a:xfrm>
          <a:prstGeom prst="rect">
            <a:avLst/>
          </a:prstGeom>
          <a:noFill/>
          <a:ln/>
        </p:spPr>
        <p:txBody>
          <a:bodyPr wrap="square" lIns="0" tIns="0" rIns="0" bIns="0" rtlCol="0" anchor="ctr"/>
          <a:lstStyle/>
          <a:p>
            <a:pPr algn="l" indent="0" marL="0">
              <a:buNone/>
            </a:pPr>
            <a:r>
              <a:rPr lang="en-US" sz="1600" b="1" dirty="0">
                <a:solidFill>
                  <a:srgbClr val="EDA63F"/>
                </a:solidFill>
                <a:latin typeface="Courier New" pitchFamily="34" charset="0"/>
                <a:ea typeface="Courier New" pitchFamily="34" charset="-122"/>
                <a:cs typeface="Courier New" pitchFamily="34" charset="-120"/>
              </a:rPr>
              <a:t>mov</a:t>
            </a:r>
            <a:pPr algn="l" indent="0" marL="0">
              <a:buNone/>
            </a:pPr>
            <a:r>
              <a:rPr lang="en-US" sz="1600" dirty="0">
                <a:solidFill>
                  <a:srgbClr val="F0F3F8"/>
                </a:solidFill>
                <a:latin typeface="Courier New" pitchFamily="34" charset="0"/>
                <a:ea typeface="Courier New" pitchFamily="34" charset="-122"/>
                <a:cs typeface="Courier New" pitchFamily="34" charset="-120"/>
              </a:rPr>
              <a:t> </a:t>
            </a:r>
            <a:pPr algn="l" indent="0" marL="0">
              <a:buNone/>
            </a:pPr>
            <a:r>
              <a:rPr lang="en-US" sz="1600" b="1" dirty="0">
                <a:solidFill>
                  <a:srgbClr val="3EB9CE"/>
                </a:solidFill>
                <a:latin typeface="Courier New" pitchFamily="34" charset="0"/>
                <a:ea typeface="Courier New" pitchFamily="34" charset="-122"/>
                <a:cs typeface="Courier New" pitchFamily="34" charset="-120"/>
              </a:rPr>
              <a:t>dl</a:t>
            </a:r>
            <a:pPr algn="l" indent="0" marL="0">
              <a:buNone/>
            </a:pPr>
            <a:r>
              <a:rPr lang="en-US" sz="1600" dirty="0">
                <a:solidFill>
                  <a:srgbClr val="F0F3F8"/>
                </a:solidFill>
                <a:latin typeface="Courier New" pitchFamily="34" charset="0"/>
                <a:ea typeface="Courier New" pitchFamily="34" charset="-122"/>
                <a:cs typeface="Courier New" pitchFamily="34" charset="-120"/>
              </a:rPr>
              <a:t>,</a:t>
            </a:r>
            <a:pPr algn="l" indent="0" marL="0">
              <a:buNone/>
            </a:pPr>
            <a:r>
              <a:rPr lang="en-US" sz="1600" dirty="0">
                <a:solidFill>
                  <a:srgbClr val="F0F3F8"/>
                </a:solidFill>
                <a:latin typeface="Courier New" pitchFamily="34" charset="0"/>
                <a:ea typeface="Courier New" pitchFamily="34" charset="-122"/>
                <a:cs typeface="Courier New" pitchFamily="34" charset="-120"/>
              </a:rPr>
              <a:t> </a:t>
            </a:r>
            <a:pPr algn="l" indent="0" marL="0">
              <a:buNone/>
            </a:pPr>
            <a:r>
              <a:rPr lang="en-US" sz="1600" b="1" dirty="0">
                <a:solidFill>
                  <a:srgbClr val="9584E8"/>
                </a:solidFill>
                <a:latin typeface="Courier New" pitchFamily="34" charset="0"/>
                <a:ea typeface="Courier New" pitchFamily="34" charset="-122"/>
                <a:cs typeface="Courier New" pitchFamily="34" charset="-120"/>
              </a:rPr>
              <a:t>10</a:t>
            </a:r>
            <a:pPr algn="l" indent="0" marL="0">
              <a:buNone/>
            </a:pPr>
            <a:r>
              <a:rPr lang="en-US" sz="1600" dirty="0">
                <a:solidFill>
                  <a:srgbClr val="F0F3F8"/>
                </a:solidFill>
                <a:latin typeface="Courier New" pitchFamily="34" charset="0"/>
                <a:ea typeface="Courier New" pitchFamily="34" charset="-122"/>
                <a:cs typeface="Courier New" pitchFamily="34" charset="-120"/>
              </a:rPr>
              <a:t>     </a:t>
            </a:r>
            <a:pPr algn="l" indent="0" marL="0">
              <a:buNone/>
            </a:pPr>
            <a:r>
              <a:rPr lang="en-US" sz="1600" dirty="0">
                <a:solidFill>
                  <a:srgbClr val="6B7A93"/>
                </a:solidFill>
                <a:latin typeface="Courier New" pitchFamily="34" charset="0"/>
                <a:ea typeface="Courier New" pitchFamily="34" charset="-122"/>
                <a:cs typeface="Courier New" pitchFamily="34" charset="-120"/>
              </a:rPr>
              <a:t>; line feed</a:t>
            </a:r>
            <a:endParaRPr lang="en-US" sz="1600" dirty="0"/>
          </a:p>
        </p:txBody>
      </p:sp>
      <p:sp>
        <p:nvSpPr>
          <p:cNvPr id="24" name="Text 22"/>
          <p:cNvSpPr txBox="1"/>
          <p:nvPr/>
        </p:nvSpPr>
        <p:spPr>
          <a:xfrm>
            <a:off x="6967728" y="3803904"/>
            <a:ext cx="4480560" cy="365760"/>
          </a:xfrm>
          <a:prstGeom prst="rect">
            <a:avLst/>
          </a:prstGeom>
          <a:noFill/>
          <a:ln/>
        </p:spPr>
        <p:txBody>
          <a:bodyPr wrap="square" lIns="0" tIns="0" rIns="0" bIns="0" rtlCol="0" anchor="ctr"/>
          <a:lstStyle/>
          <a:p>
            <a:pPr algn="l" indent="0" marL="0">
              <a:buNone/>
            </a:pPr>
            <a:r>
              <a:rPr lang="en-US" sz="1600" b="1" dirty="0">
                <a:solidFill>
                  <a:srgbClr val="EDA63F"/>
                </a:solidFill>
                <a:latin typeface="Courier New" pitchFamily="34" charset="0"/>
                <a:ea typeface="Courier New" pitchFamily="34" charset="-122"/>
                <a:cs typeface="Courier New" pitchFamily="34" charset="-120"/>
              </a:rPr>
              <a:t>mov</a:t>
            </a:r>
            <a:pPr algn="l" indent="0" marL="0">
              <a:buNone/>
            </a:pPr>
            <a:r>
              <a:rPr lang="en-US" sz="1600" dirty="0">
                <a:solidFill>
                  <a:srgbClr val="F0F3F8"/>
                </a:solidFill>
                <a:latin typeface="Courier New" pitchFamily="34" charset="0"/>
                <a:ea typeface="Courier New" pitchFamily="34" charset="-122"/>
                <a:cs typeface="Courier New" pitchFamily="34" charset="-120"/>
              </a:rPr>
              <a:t> </a:t>
            </a:r>
            <a:pPr algn="l" indent="0" marL="0">
              <a:buNone/>
            </a:pPr>
            <a:r>
              <a:rPr lang="en-US" sz="1600" b="1" dirty="0">
                <a:solidFill>
                  <a:srgbClr val="3EB9CE"/>
                </a:solidFill>
                <a:latin typeface="Courier New" pitchFamily="34" charset="0"/>
                <a:ea typeface="Courier New" pitchFamily="34" charset="-122"/>
                <a:cs typeface="Courier New" pitchFamily="34" charset="-120"/>
              </a:rPr>
              <a:t>ah</a:t>
            </a:r>
            <a:pPr algn="l" indent="0" marL="0">
              <a:buNone/>
            </a:pPr>
            <a:r>
              <a:rPr lang="en-US" sz="1600" dirty="0">
                <a:solidFill>
                  <a:srgbClr val="F0F3F8"/>
                </a:solidFill>
                <a:latin typeface="Courier New" pitchFamily="34" charset="0"/>
                <a:ea typeface="Courier New" pitchFamily="34" charset="-122"/>
                <a:cs typeface="Courier New" pitchFamily="34" charset="-120"/>
              </a:rPr>
              <a:t>,</a:t>
            </a:r>
            <a:pPr algn="l" indent="0" marL="0">
              <a:buNone/>
            </a:pPr>
            <a:r>
              <a:rPr lang="en-US" sz="1600" dirty="0">
                <a:solidFill>
                  <a:srgbClr val="F0F3F8"/>
                </a:solidFill>
                <a:latin typeface="Courier New" pitchFamily="34" charset="0"/>
                <a:ea typeface="Courier New" pitchFamily="34" charset="-122"/>
                <a:cs typeface="Courier New" pitchFamily="34" charset="-120"/>
              </a:rPr>
              <a:t> </a:t>
            </a:r>
            <a:pPr algn="l" indent="0" marL="0">
              <a:buNone/>
            </a:pPr>
            <a:r>
              <a:rPr lang="en-US" sz="1600" b="1" dirty="0">
                <a:solidFill>
                  <a:srgbClr val="9584E8"/>
                </a:solidFill>
                <a:latin typeface="Courier New" pitchFamily="34" charset="0"/>
                <a:ea typeface="Courier New" pitchFamily="34" charset="-122"/>
                <a:cs typeface="Courier New" pitchFamily="34" charset="-120"/>
              </a:rPr>
              <a:t>2</a:t>
            </a:r>
            <a:endParaRPr lang="en-US" sz="1600" dirty="0"/>
          </a:p>
        </p:txBody>
      </p:sp>
      <p:sp>
        <p:nvSpPr>
          <p:cNvPr id="25" name="Text 23"/>
          <p:cNvSpPr txBox="1"/>
          <p:nvPr/>
        </p:nvSpPr>
        <p:spPr>
          <a:xfrm>
            <a:off x="6967728" y="4206240"/>
            <a:ext cx="4480560" cy="365760"/>
          </a:xfrm>
          <a:prstGeom prst="rect">
            <a:avLst/>
          </a:prstGeom>
          <a:noFill/>
          <a:ln/>
        </p:spPr>
        <p:txBody>
          <a:bodyPr wrap="square" lIns="0" tIns="0" rIns="0" bIns="0" rtlCol="0" anchor="ctr"/>
          <a:lstStyle/>
          <a:p>
            <a:pPr algn="l" indent="0" marL="0">
              <a:buNone/>
            </a:pPr>
            <a:r>
              <a:rPr lang="en-US" sz="1600" b="1" dirty="0">
                <a:solidFill>
                  <a:srgbClr val="EDA63F"/>
                </a:solidFill>
                <a:latin typeface="Courier New" pitchFamily="34" charset="0"/>
                <a:ea typeface="Courier New" pitchFamily="34" charset="-122"/>
                <a:cs typeface="Courier New" pitchFamily="34" charset="-120"/>
              </a:rPr>
              <a:t>int</a:t>
            </a:r>
            <a:pPr algn="l" indent="0" marL="0">
              <a:buNone/>
            </a:pPr>
            <a:r>
              <a:rPr lang="en-US" sz="1600" dirty="0">
                <a:solidFill>
                  <a:srgbClr val="F0F3F8"/>
                </a:solidFill>
                <a:latin typeface="Courier New" pitchFamily="34" charset="0"/>
                <a:ea typeface="Courier New" pitchFamily="34" charset="-122"/>
                <a:cs typeface="Courier New" pitchFamily="34" charset="-120"/>
              </a:rPr>
              <a:t> </a:t>
            </a:r>
            <a:pPr algn="l" indent="0" marL="0">
              <a:buNone/>
            </a:pPr>
            <a:r>
              <a:rPr lang="en-US" sz="1600" b="1" dirty="0">
                <a:solidFill>
                  <a:srgbClr val="9584E8"/>
                </a:solidFill>
                <a:latin typeface="Courier New" pitchFamily="34" charset="0"/>
                <a:ea typeface="Courier New" pitchFamily="34" charset="-122"/>
                <a:cs typeface="Courier New" pitchFamily="34" charset="-120"/>
              </a:rPr>
              <a:t>21h</a:t>
            </a:r>
            <a:endParaRPr lang="en-US" sz="1600" dirty="0"/>
          </a:p>
        </p:txBody>
      </p:sp>
      <p:sp>
        <p:nvSpPr>
          <p:cNvPr id="26" name="Shape 24"/>
          <p:cNvSpPr/>
          <p:nvPr/>
        </p:nvSpPr>
        <p:spPr>
          <a:xfrm>
            <a:off x="640080" y="5074920"/>
            <a:ext cx="5303520" cy="841248"/>
          </a:xfrm>
          <a:prstGeom prst="roundRect">
            <a:avLst>
              <a:gd name="adj" fmla="val 6670"/>
            </a:avLst>
          </a:prstGeom>
          <a:solidFill>
            <a:srgbClr val="D7EEF2"/>
          </a:solidFill>
          <a:ln w="12700">
            <a:solidFill>
              <a:srgbClr val="18879B"/>
            </a:solidFill>
            <a:prstDash val="solid"/>
          </a:ln>
        </p:spPr>
      </p:sp>
      <p:sp>
        <p:nvSpPr>
          <p:cNvPr id="27" name="Text 25"/>
          <p:cNvSpPr txBox="1"/>
          <p:nvPr/>
        </p:nvSpPr>
        <p:spPr>
          <a:xfrm>
            <a:off x="822960" y="5074920"/>
            <a:ext cx="822960" cy="841248"/>
          </a:xfrm>
          <a:prstGeom prst="rect">
            <a:avLst/>
          </a:prstGeom>
          <a:noFill/>
          <a:ln/>
        </p:spPr>
        <p:txBody>
          <a:bodyPr wrap="square" lIns="0" tIns="0" rIns="0" bIns="0" rtlCol="0" anchor="ctr"/>
          <a:lstStyle/>
          <a:p>
            <a:pPr algn="ctr" indent="0" marL="0">
              <a:buNone/>
            </a:pPr>
            <a:r>
              <a:rPr lang="en-US" sz="2800" b="1" dirty="0">
                <a:solidFill>
                  <a:srgbClr val="18879B"/>
                </a:solidFill>
                <a:latin typeface="Courier New" pitchFamily="34" charset="0"/>
                <a:ea typeface="Courier New" pitchFamily="34" charset="-122"/>
                <a:cs typeface="Courier New" pitchFamily="34" charset="-120"/>
              </a:rPr>
              <a:t>13</a:t>
            </a:r>
            <a:endParaRPr lang="en-US" sz="2800" dirty="0"/>
          </a:p>
        </p:txBody>
      </p:sp>
      <p:sp>
        <p:nvSpPr>
          <p:cNvPr id="28" name="Text 26"/>
          <p:cNvSpPr txBox="1"/>
          <p:nvPr/>
        </p:nvSpPr>
        <p:spPr>
          <a:xfrm>
            <a:off x="1828800" y="5212080"/>
            <a:ext cx="3840480" cy="219456"/>
          </a:xfrm>
          <a:prstGeom prst="rect">
            <a:avLst/>
          </a:prstGeom>
          <a:noFill/>
          <a:ln/>
        </p:spPr>
        <p:txBody>
          <a:bodyPr wrap="square" lIns="0" tIns="0" rIns="0" bIns="0" rtlCol="0" anchor="t"/>
          <a:lstStyle/>
          <a:p>
            <a:pPr algn="l" indent="0" marL="0">
              <a:buNone/>
            </a:pPr>
            <a:r>
              <a:rPr lang="en-US" sz="950" b="1" spc="130" kern="0" dirty="0">
                <a:solidFill>
                  <a:srgbClr val="18879B"/>
                </a:solidFill>
                <a:latin typeface="Courier New" pitchFamily="34" charset="0"/>
                <a:ea typeface="Courier New" pitchFamily="34" charset="-122"/>
                <a:cs typeface="Courier New" pitchFamily="34" charset="-120"/>
              </a:rPr>
              <a:t>CARRIAGE RETURN</a:t>
            </a:r>
            <a:endParaRPr lang="en-US" sz="950" dirty="0"/>
          </a:p>
        </p:txBody>
      </p:sp>
      <p:sp>
        <p:nvSpPr>
          <p:cNvPr id="29" name="Text 27"/>
          <p:cNvSpPr txBox="1"/>
          <p:nvPr/>
        </p:nvSpPr>
        <p:spPr>
          <a:xfrm>
            <a:off x="1828800" y="5468112"/>
            <a:ext cx="3931920" cy="310896"/>
          </a:xfrm>
          <a:prstGeom prst="rect">
            <a:avLst/>
          </a:prstGeom>
          <a:noFill/>
          <a:ln/>
        </p:spPr>
        <p:txBody>
          <a:bodyPr wrap="square" lIns="0" tIns="0" rIns="0" bIns="0" rtlCol="0" anchor="t"/>
          <a:lstStyle/>
          <a:p>
            <a:pPr algn="l" indent="0" marL="0">
              <a:buNone/>
            </a:pPr>
            <a:r>
              <a:rPr lang="en-US" sz="1500" dirty="0">
                <a:solidFill>
                  <a:srgbClr val="0F1622"/>
                </a:solidFill>
                <a:latin typeface="Calibri" pitchFamily="34" charset="0"/>
                <a:ea typeface="Calibri" pitchFamily="34" charset="-122"/>
                <a:cs typeface="Calibri" pitchFamily="34" charset="-120"/>
              </a:rPr>
              <a:t>Cursor goes back to the start of the line.</a:t>
            </a:r>
            <a:endParaRPr lang="en-US" sz="1500" dirty="0"/>
          </a:p>
        </p:txBody>
      </p:sp>
      <p:sp>
        <p:nvSpPr>
          <p:cNvPr id="30" name="Shape 28"/>
          <p:cNvSpPr/>
          <p:nvPr/>
        </p:nvSpPr>
        <p:spPr>
          <a:xfrm>
            <a:off x="6245352" y="5074920"/>
            <a:ext cx="5303520" cy="841248"/>
          </a:xfrm>
          <a:prstGeom prst="roundRect">
            <a:avLst>
              <a:gd name="adj" fmla="val 6670"/>
            </a:avLst>
          </a:prstGeom>
          <a:solidFill>
            <a:srgbClr val="FBEBD2"/>
          </a:solidFill>
          <a:ln w="12700">
            <a:solidFill>
              <a:srgbClr val="D98A1F"/>
            </a:solidFill>
            <a:prstDash val="solid"/>
          </a:ln>
        </p:spPr>
      </p:sp>
      <p:sp>
        <p:nvSpPr>
          <p:cNvPr id="31" name="Text 29"/>
          <p:cNvSpPr txBox="1"/>
          <p:nvPr/>
        </p:nvSpPr>
        <p:spPr>
          <a:xfrm>
            <a:off x="6428232" y="5074920"/>
            <a:ext cx="822960" cy="841248"/>
          </a:xfrm>
          <a:prstGeom prst="rect">
            <a:avLst/>
          </a:prstGeom>
          <a:noFill/>
          <a:ln/>
        </p:spPr>
        <p:txBody>
          <a:bodyPr wrap="square" lIns="0" tIns="0" rIns="0" bIns="0" rtlCol="0" anchor="ctr"/>
          <a:lstStyle/>
          <a:p>
            <a:pPr algn="ctr" indent="0" marL="0">
              <a:buNone/>
            </a:pPr>
            <a:r>
              <a:rPr lang="en-US" sz="2800" b="1" dirty="0">
                <a:solidFill>
                  <a:srgbClr val="D98A1F"/>
                </a:solidFill>
                <a:latin typeface="Courier New" pitchFamily="34" charset="0"/>
                <a:ea typeface="Courier New" pitchFamily="34" charset="-122"/>
                <a:cs typeface="Courier New" pitchFamily="34" charset="-120"/>
              </a:rPr>
              <a:t>10</a:t>
            </a:r>
            <a:endParaRPr lang="en-US" sz="2800" dirty="0"/>
          </a:p>
        </p:txBody>
      </p:sp>
      <p:sp>
        <p:nvSpPr>
          <p:cNvPr id="32" name="Text 30"/>
          <p:cNvSpPr txBox="1"/>
          <p:nvPr/>
        </p:nvSpPr>
        <p:spPr>
          <a:xfrm>
            <a:off x="7434072" y="5212080"/>
            <a:ext cx="3840480" cy="219456"/>
          </a:xfrm>
          <a:prstGeom prst="rect">
            <a:avLst/>
          </a:prstGeom>
          <a:noFill/>
          <a:ln/>
        </p:spPr>
        <p:txBody>
          <a:bodyPr wrap="square" lIns="0" tIns="0" rIns="0" bIns="0" rtlCol="0" anchor="t"/>
          <a:lstStyle/>
          <a:p>
            <a:pPr algn="l" indent="0" marL="0">
              <a:buNone/>
            </a:pPr>
            <a:r>
              <a:rPr lang="en-US" sz="950" b="1" spc="130" kern="0" dirty="0">
                <a:solidFill>
                  <a:srgbClr val="D98A1F"/>
                </a:solidFill>
                <a:latin typeface="Courier New" pitchFamily="34" charset="0"/>
                <a:ea typeface="Courier New" pitchFamily="34" charset="-122"/>
                <a:cs typeface="Courier New" pitchFamily="34" charset="-120"/>
              </a:rPr>
              <a:t>LINE FEED</a:t>
            </a:r>
            <a:endParaRPr lang="en-US" sz="950" dirty="0"/>
          </a:p>
        </p:txBody>
      </p:sp>
      <p:sp>
        <p:nvSpPr>
          <p:cNvPr id="33" name="Text 31"/>
          <p:cNvSpPr txBox="1"/>
          <p:nvPr/>
        </p:nvSpPr>
        <p:spPr>
          <a:xfrm>
            <a:off x="7434072" y="5468112"/>
            <a:ext cx="3931920" cy="310896"/>
          </a:xfrm>
          <a:prstGeom prst="rect">
            <a:avLst/>
          </a:prstGeom>
          <a:noFill/>
          <a:ln/>
        </p:spPr>
        <p:txBody>
          <a:bodyPr wrap="square" lIns="0" tIns="0" rIns="0" bIns="0" rtlCol="0" anchor="t"/>
          <a:lstStyle/>
          <a:p>
            <a:pPr algn="l" indent="0" marL="0">
              <a:buNone/>
            </a:pPr>
            <a:r>
              <a:rPr lang="en-US" sz="1500" dirty="0">
                <a:solidFill>
                  <a:srgbClr val="0F1622"/>
                </a:solidFill>
                <a:latin typeface="Calibri" pitchFamily="34" charset="0"/>
                <a:ea typeface="Calibri" pitchFamily="34" charset="-122"/>
                <a:cs typeface="Calibri" pitchFamily="34" charset="-120"/>
              </a:rPr>
              <a:t>Cursor goes down one line.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5C6B83"/>
                </a:solidFill>
                <a:latin typeface="Courier New" pitchFamily="34" charset="0"/>
                <a:ea typeface="Courier New" pitchFamily="34" charset="-122"/>
                <a:cs typeface="Courier New" pitchFamily="34" charset="-120"/>
              </a:rPr>
              <a:t>9 · A FULL PROGRAM</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F0F3F8"/>
                </a:solidFill>
                <a:latin typeface="Arial" pitchFamily="34" charset="0"/>
                <a:ea typeface="Arial" pitchFamily="34" charset="-122"/>
                <a:cs typeface="Arial" pitchFamily="34" charset="-120"/>
              </a:rPr>
              <a:t>Putting it together</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94A3B8"/>
                </a:solidFill>
                <a:latin typeface="Calibri" pitchFamily="34" charset="0"/>
                <a:ea typeface="Calibri" pitchFamily="34" charset="-122"/>
                <a:cs typeface="Calibri" pitchFamily="34" charset="-120"/>
              </a:rPr>
              <a:t>Print, new line, print, end. Every program today follows this pattern.</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5C6B83"/>
                </a:solidFill>
                <a:latin typeface="Courier New" pitchFamily="34" charset="0"/>
                <a:ea typeface="Courier New" pitchFamily="34" charset="-122"/>
                <a:cs typeface="Courier New" pitchFamily="34" charset="-120"/>
              </a:rPr>
              <a:t>COAL  ·  LAB 02</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5C6B83"/>
                </a:solidFill>
                <a:latin typeface="Courier New" pitchFamily="34" charset="0"/>
                <a:ea typeface="Courier New" pitchFamily="34" charset="-122"/>
                <a:cs typeface="Courier New" pitchFamily="34" charset="-120"/>
              </a:rPr>
              <a:t>11</a:t>
            </a:r>
            <a:endParaRPr lang="en-US" sz="900" dirty="0"/>
          </a:p>
        </p:txBody>
      </p:sp>
      <p:sp>
        <p:nvSpPr>
          <p:cNvPr id="7" name="Shape 5"/>
          <p:cNvSpPr/>
          <p:nvPr/>
        </p:nvSpPr>
        <p:spPr>
          <a:xfrm>
            <a:off x="640080" y="1810512"/>
            <a:ext cx="6766560" cy="384048"/>
          </a:xfrm>
          <a:prstGeom prst="roundRect">
            <a:avLst>
              <a:gd name="adj" fmla="val 6670"/>
            </a:avLst>
          </a:prstGeom>
          <a:solidFill>
            <a:srgbClr val="182132"/>
          </a:solidFill>
          <a:ln w="12700">
            <a:solidFill>
              <a:srgbClr val="2A3548"/>
            </a:solidFill>
            <a:prstDash val="solid"/>
          </a:ln>
        </p:spPr>
      </p:sp>
      <p:sp>
        <p:nvSpPr>
          <p:cNvPr id="8" name="Text 6"/>
          <p:cNvSpPr txBox="1"/>
          <p:nvPr/>
        </p:nvSpPr>
        <p:spPr>
          <a:xfrm>
            <a:off x="868680" y="1810512"/>
            <a:ext cx="5303520" cy="384048"/>
          </a:xfrm>
          <a:prstGeom prst="rect">
            <a:avLst/>
          </a:prstGeom>
          <a:noFill/>
          <a:ln/>
        </p:spPr>
        <p:txBody>
          <a:bodyPr wrap="square" lIns="0" tIns="0" rIns="0" bIns="0" rtlCol="0" anchor="ctr"/>
          <a:lstStyle/>
          <a:p>
            <a:pPr algn="l" indent="0" marL="0">
              <a:buNone/>
            </a:pPr>
            <a:r>
              <a:rPr lang="en-US" sz="1150" dirty="0">
                <a:solidFill>
                  <a:srgbClr val="94A3B8"/>
                </a:solidFill>
                <a:latin typeface="Courier New" pitchFamily="34" charset="0"/>
                <a:ea typeface="Courier New" pitchFamily="34" charset="-122"/>
                <a:cs typeface="Courier New" pitchFamily="34" charset="-120"/>
              </a:rPr>
              <a:t>.model small  .stack 100h  .data  .code  main proc</a:t>
            </a:r>
            <a:endParaRPr lang="en-US" sz="1150" dirty="0"/>
          </a:p>
        </p:txBody>
      </p:sp>
      <p:sp>
        <p:nvSpPr>
          <p:cNvPr id="9" name="Text 7"/>
          <p:cNvSpPr txBox="1"/>
          <p:nvPr/>
        </p:nvSpPr>
        <p:spPr>
          <a:xfrm>
            <a:off x="6263640" y="1810512"/>
            <a:ext cx="1005840" cy="384048"/>
          </a:xfrm>
          <a:prstGeom prst="rect">
            <a:avLst/>
          </a:prstGeom>
          <a:noFill/>
          <a:ln/>
        </p:spPr>
        <p:txBody>
          <a:bodyPr wrap="square" lIns="0" tIns="0" rIns="0" bIns="0" rtlCol="0" anchor="ctr"/>
          <a:lstStyle/>
          <a:p>
            <a:pPr algn="r" indent="0" marL="0">
              <a:buNone/>
            </a:pPr>
            <a:r>
              <a:rPr lang="en-US" sz="1050" dirty="0">
                <a:solidFill>
                  <a:srgbClr val="94A3B8"/>
                </a:solidFill>
                <a:latin typeface="Courier New" pitchFamily="34" charset="0"/>
                <a:ea typeface="Courier New" pitchFamily="34" charset="-122"/>
                <a:cs typeface="Courier New" pitchFamily="34" charset="-120"/>
              </a:rPr>
              <a:t>5 lines</a:t>
            </a:r>
            <a:endParaRPr lang="en-US" sz="1050" dirty="0"/>
          </a:p>
        </p:txBody>
      </p:sp>
      <p:sp>
        <p:nvSpPr>
          <p:cNvPr id="10" name="Shape 8"/>
          <p:cNvSpPr/>
          <p:nvPr/>
        </p:nvSpPr>
        <p:spPr>
          <a:xfrm>
            <a:off x="640080" y="2359152"/>
            <a:ext cx="310896" cy="457200"/>
          </a:xfrm>
          <a:prstGeom prst="roundRect">
            <a:avLst>
              <a:gd name="adj" fmla="val 6670"/>
            </a:avLst>
          </a:prstGeom>
          <a:solidFill>
            <a:srgbClr val="2A2113"/>
          </a:solidFill>
          <a:ln w="12700">
            <a:solidFill>
              <a:srgbClr val="4A3620"/>
            </a:solidFill>
            <a:prstDash val="solid"/>
          </a:ln>
        </p:spPr>
      </p:sp>
      <p:sp>
        <p:nvSpPr>
          <p:cNvPr id="11" name="Text 9"/>
          <p:cNvSpPr txBox="1"/>
          <p:nvPr/>
        </p:nvSpPr>
        <p:spPr>
          <a:xfrm>
            <a:off x="640080" y="2359152"/>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H</a:t>
            </a:r>
            <a:endParaRPr lang="en-US" sz="1400" dirty="0"/>
          </a:p>
        </p:txBody>
      </p:sp>
      <p:sp>
        <p:nvSpPr>
          <p:cNvPr id="12" name="Shape 10"/>
          <p:cNvSpPr/>
          <p:nvPr/>
        </p:nvSpPr>
        <p:spPr>
          <a:xfrm>
            <a:off x="978408" y="2359152"/>
            <a:ext cx="310896" cy="457200"/>
          </a:xfrm>
          <a:prstGeom prst="roundRect">
            <a:avLst>
              <a:gd name="adj" fmla="val 6670"/>
            </a:avLst>
          </a:prstGeom>
          <a:solidFill>
            <a:srgbClr val="2A2113"/>
          </a:solidFill>
          <a:ln w="12700">
            <a:solidFill>
              <a:srgbClr val="4A3620"/>
            </a:solidFill>
            <a:prstDash val="solid"/>
          </a:ln>
        </p:spPr>
      </p:sp>
      <p:sp>
        <p:nvSpPr>
          <p:cNvPr id="13" name="Text 11"/>
          <p:cNvSpPr txBox="1"/>
          <p:nvPr/>
        </p:nvSpPr>
        <p:spPr>
          <a:xfrm>
            <a:off x="978408" y="2359152"/>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e</a:t>
            </a:r>
            <a:endParaRPr lang="en-US" sz="1400" dirty="0"/>
          </a:p>
        </p:txBody>
      </p:sp>
      <p:sp>
        <p:nvSpPr>
          <p:cNvPr id="14" name="Shape 12"/>
          <p:cNvSpPr/>
          <p:nvPr/>
        </p:nvSpPr>
        <p:spPr>
          <a:xfrm>
            <a:off x="1316736" y="2359152"/>
            <a:ext cx="310896" cy="457200"/>
          </a:xfrm>
          <a:prstGeom prst="roundRect">
            <a:avLst>
              <a:gd name="adj" fmla="val 6670"/>
            </a:avLst>
          </a:prstGeom>
          <a:solidFill>
            <a:srgbClr val="2A2113"/>
          </a:solidFill>
          <a:ln w="12700">
            <a:solidFill>
              <a:srgbClr val="4A3620"/>
            </a:solidFill>
            <a:prstDash val="solid"/>
          </a:ln>
        </p:spPr>
      </p:sp>
      <p:sp>
        <p:nvSpPr>
          <p:cNvPr id="15" name="Text 13"/>
          <p:cNvSpPr txBox="1"/>
          <p:nvPr/>
        </p:nvSpPr>
        <p:spPr>
          <a:xfrm>
            <a:off x="1316736" y="2359152"/>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l</a:t>
            </a:r>
            <a:endParaRPr lang="en-US" sz="1400" dirty="0"/>
          </a:p>
        </p:txBody>
      </p:sp>
      <p:sp>
        <p:nvSpPr>
          <p:cNvPr id="16" name="Shape 14"/>
          <p:cNvSpPr/>
          <p:nvPr/>
        </p:nvSpPr>
        <p:spPr>
          <a:xfrm>
            <a:off x="1655064" y="2359152"/>
            <a:ext cx="310896" cy="457200"/>
          </a:xfrm>
          <a:prstGeom prst="roundRect">
            <a:avLst>
              <a:gd name="adj" fmla="val 6670"/>
            </a:avLst>
          </a:prstGeom>
          <a:solidFill>
            <a:srgbClr val="2A2113"/>
          </a:solidFill>
          <a:ln w="12700">
            <a:solidFill>
              <a:srgbClr val="4A3620"/>
            </a:solidFill>
            <a:prstDash val="solid"/>
          </a:ln>
        </p:spPr>
      </p:sp>
      <p:sp>
        <p:nvSpPr>
          <p:cNvPr id="17" name="Text 15"/>
          <p:cNvSpPr txBox="1"/>
          <p:nvPr/>
        </p:nvSpPr>
        <p:spPr>
          <a:xfrm>
            <a:off x="1655064" y="2359152"/>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l</a:t>
            </a:r>
            <a:endParaRPr lang="en-US" sz="1400" dirty="0"/>
          </a:p>
        </p:txBody>
      </p:sp>
      <p:sp>
        <p:nvSpPr>
          <p:cNvPr id="18" name="Shape 16"/>
          <p:cNvSpPr/>
          <p:nvPr/>
        </p:nvSpPr>
        <p:spPr>
          <a:xfrm>
            <a:off x="1993392" y="2359152"/>
            <a:ext cx="310896" cy="457200"/>
          </a:xfrm>
          <a:prstGeom prst="roundRect">
            <a:avLst>
              <a:gd name="adj" fmla="val 6670"/>
            </a:avLst>
          </a:prstGeom>
          <a:solidFill>
            <a:srgbClr val="2A2113"/>
          </a:solidFill>
          <a:ln w="12700">
            <a:solidFill>
              <a:srgbClr val="4A3620"/>
            </a:solidFill>
            <a:prstDash val="solid"/>
          </a:ln>
        </p:spPr>
      </p:sp>
      <p:sp>
        <p:nvSpPr>
          <p:cNvPr id="19" name="Text 17"/>
          <p:cNvSpPr txBox="1"/>
          <p:nvPr/>
        </p:nvSpPr>
        <p:spPr>
          <a:xfrm>
            <a:off x="1993392" y="2359152"/>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o</a:t>
            </a:r>
            <a:endParaRPr lang="en-US" sz="1400" dirty="0"/>
          </a:p>
        </p:txBody>
      </p:sp>
      <p:sp>
        <p:nvSpPr>
          <p:cNvPr id="20" name="Text 18"/>
          <p:cNvSpPr txBox="1"/>
          <p:nvPr/>
        </p:nvSpPr>
        <p:spPr>
          <a:xfrm>
            <a:off x="6263640" y="2359152"/>
            <a:ext cx="1005840" cy="457200"/>
          </a:xfrm>
          <a:prstGeom prst="rect">
            <a:avLst/>
          </a:prstGeom>
          <a:noFill/>
          <a:ln/>
        </p:spPr>
        <p:txBody>
          <a:bodyPr wrap="square" lIns="0" tIns="0" rIns="0" bIns="0" rtlCol="0" anchor="ctr"/>
          <a:lstStyle/>
          <a:p>
            <a:pPr algn="r" indent="0" marL="0">
              <a:buNone/>
            </a:pPr>
            <a:r>
              <a:rPr lang="en-US" sz="1050" dirty="0">
                <a:solidFill>
                  <a:srgbClr val="94A3B8"/>
                </a:solidFill>
                <a:latin typeface="Courier New" pitchFamily="34" charset="0"/>
                <a:ea typeface="Courier New" pitchFamily="34" charset="-122"/>
                <a:cs typeface="Courier New" pitchFamily="34" charset="-120"/>
              </a:rPr>
              <a:t>15 lines</a:t>
            </a:r>
            <a:endParaRPr lang="en-US" sz="1050" dirty="0"/>
          </a:p>
        </p:txBody>
      </p:sp>
      <p:sp>
        <p:nvSpPr>
          <p:cNvPr id="21" name="Shape 19"/>
          <p:cNvSpPr/>
          <p:nvPr/>
        </p:nvSpPr>
        <p:spPr>
          <a:xfrm>
            <a:off x="640080" y="2980944"/>
            <a:ext cx="2194560" cy="384048"/>
          </a:xfrm>
          <a:prstGeom prst="roundRect">
            <a:avLst>
              <a:gd name="adj" fmla="val 6670"/>
            </a:avLst>
          </a:prstGeom>
          <a:solidFill>
            <a:srgbClr val="122A31"/>
          </a:solidFill>
          <a:ln w="12700">
            <a:solidFill>
              <a:srgbClr val="27505B"/>
            </a:solidFill>
            <a:prstDash val="solid"/>
          </a:ln>
        </p:spPr>
      </p:sp>
      <p:sp>
        <p:nvSpPr>
          <p:cNvPr id="22" name="Text 20"/>
          <p:cNvSpPr txBox="1"/>
          <p:nvPr/>
        </p:nvSpPr>
        <p:spPr>
          <a:xfrm>
            <a:off x="640080" y="2980944"/>
            <a:ext cx="2194560" cy="384048"/>
          </a:xfrm>
          <a:prstGeom prst="rect">
            <a:avLst/>
          </a:prstGeom>
          <a:noFill/>
          <a:ln/>
        </p:spPr>
        <p:txBody>
          <a:bodyPr wrap="square" lIns="0" tIns="0" rIns="0" bIns="0" rtlCol="0" anchor="ctr"/>
          <a:lstStyle/>
          <a:p>
            <a:pPr algn="ctr" indent="0" marL="0">
              <a:buNone/>
            </a:pPr>
            <a:r>
              <a:rPr lang="en-US" sz="1200" b="1" dirty="0">
                <a:solidFill>
                  <a:srgbClr val="3EB9CE"/>
                </a:solidFill>
                <a:latin typeface="Courier New" pitchFamily="34" charset="0"/>
                <a:ea typeface="Courier New" pitchFamily="34" charset="-122"/>
                <a:cs typeface="Courier New" pitchFamily="34" charset="-120"/>
              </a:rPr>
              <a:t>new line: 13, 10</a:t>
            </a:r>
            <a:endParaRPr lang="en-US" sz="1200" dirty="0"/>
          </a:p>
        </p:txBody>
      </p:sp>
      <p:sp>
        <p:nvSpPr>
          <p:cNvPr id="23" name="Text 21"/>
          <p:cNvSpPr txBox="1"/>
          <p:nvPr/>
        </p:nvSpPr>
        <p:spPr>
          <a:xfrm>
            <a:off x="6263640" y="2980944"/>
            <a:ext cx="1005840" cy="384048"/>
          </a:xfrm>
          <a:prstGeom prst="rect">
            <a:avLst/>
          </a:prstGeom>
          <a:noFill/>
          <a:ln/>
        </p:spPr>
        <p:txBody>
          <a:bodyPr wrap="square" lIns="0" tIns="0" rIns="0" bIns="0" rtlCol="0" anchor="ctr"/>
          <a:lstStyle/>
          <a:p>
            <a:pPr algn="r" indent="0" marL="0">
              <a:buNone/>
            </a:pPr>
            <a:r>
              <a:rPr lang="en-US" sz="1050" dirty="0">
                <a:solidFill>
                  <a:srgbClr val="94A3B8"/>
                </a:solidFill>
                <a:latin typeface="Courier New" pitchFamily="34" charset="0"/>
                <a:ea typeface="Courier New" pitchFamily="34" charset="-122"/>
                <a:cs typeface="Courier New" pitchFamily="34" charset="-120"/>
              </a:rPr>
              <a:t>6 lines</a:t>
            </a:r>
            <a:endParaRPr lang="en-US" sz="1050" dirty="0"/>
          </a:p>
        </p:txBody>
      </p:sp>
      <p:sp>
        <p:nvSpPr>
          <p:cNvPr id="24" name="Shape 22"/>
          <p:cNvSpPr/>
          <p:nvPr/>
        </p:nvSpPr>
        <p:spPr>
          <a:xfrm>
            <a:off x="640080" y="3529584"/>
            <a:ext cx="310896" cy="457200"/>
          </a:xfrm>
          <a:prstGeom prst="roundRect">
            <a:avLst>
              <a:gd name="adj" fmla="val 6670"/>
            </a:avLst>
          </a:prstGeom>
          <a:solidFill>
            <a:srgbClr val="2A2113"/>
          </a:solidFill>
          <a:ln w="12700">
            <a:solidFill>
              <a:srgbClr val="4A3620"/>
            </a:solidFill>
            <a:prstDash val="solid"/>
          </a:ln>
        </p:spPr>
      </p:sp>
      <p:sp>
        <p:nvSpPr>
          <p:cNvPr id="25" name="Text 23"/>
          <p:cNvSpPr txBox="1"/>
          <p:nvPr/>
        </p:nvSpPr>
        <p:spPr>
          <a:xfrm>
            <a:off x="640080"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M</a:t>
            </a:r>
            <a:endParaRPr lang="en-US" sz="1400" dirty="0"/>
          </a:p>
        </p:txBody>
      </p:sp>
      <p:sp>
        <p:nvSpPr>
          <p:cNvPr id="26" name="Shape 24"/>
          <p:cNvSpPr/>
          <p:nvPr/>
        </p:nvSpPr>
        <p:spPr>
          <a:xfrm>
            <a:off x="978408" y="3529584"/>
            <a:ext cx="310896" cy="457200"/>
          </a:xfrm>
          <a:prstGeom prst="roundRect">
            <a:avLst>
              <a:gd name="adj" fmla="val 6670"/>
            </a:avLst>
          </a:prstGeom>
          <a:solidFill>
            <a:srgbClr val="2A2113"/>
          </a:solidFill>
          <a:ln w="12700">
            <a:solidFill>
              <a:srgbClr val="4A3620"/>
            </a:solidFill>
            <a:prstDash val="solid"/>
          </a:ln>
        </p:spPr>
      </p:sp>
      <p:sp>
        <p:nvSpPr>
          <p:cNvPr id="27" name="Text 25"/>
          <p:cNvSpPr txBox="1"/>
          <p:nvPr/>
        </p:nvSpPr>
        <p:spPr>
          <a:xfrm>
            <a:off x="978408"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y</a:t>
            </a:r>
            <a:endParaRPr lang="en-US" sz="1400" dirty="0"/>
          </a:p>
        </p:txBody>
      </p:sp>
      <p:sp>
        <p:nvSpPr>
          <p:cNvPr id="28" name="Shape 26"/>
          <p:cNvSpPr/>
          <p:nvPr/>
        </p:nvSpPr>
        <p:spPr>
          <a:xfrm>
            <a:off x="1316736" y="3529584"/>
            <a:ext cx="310896" cy="457200"/>
          </a:xfrm>
          <a:prstGeom prst="roundRect">
            <a:avLst>
              <a:gd name="adj" fmla="val 6670"/>
            </a:avLst>
          </a:prstGeom>
          <a:solidFill>
            <a:srgbClr val="0E1420"/>
          </a:solidFill>
          <a:ln w="12700">
            <a:solidFill>
              <a:srgbClr val="4A3620"/>
            </a:solidFill>
            <a:prstDash val="dash"/>
          </a:ln>
        </p:spPr>
      </p:sp>
      <p:sp>
        <p:nvSpPr>
          <p:cNvPr id="29" name="Shape 27"/>
          <p:cNvSpPr/>
          <p:nvPr/>
        </p:nvSpPr>
        <p:spPr>
          <a:xfrm>
            <a:off x="1655064" y="3529584"/>
            <a:ext cx="310896" cy="457200"/>
          </a:xfrm>
          <a:prstGeom prst="roundRect">
            <a:avLst>
              <a:gd name="adj" fmla="val 6670"/>
            </a:avLst>
          </a:prstGeom>
          <a:solidFill>
            <a:srgbClr val="2A2113"/>
          </a:solidFill>
          <a:ln w="12700">
            <a:solidFill>
              <a:srgbClr val="4A3620"/>
            </a:solidFill>
            <a:prstDash val="solid"/>
          </a:ln>
        </p:spPr>
      </p:sp>
      <p:sp>
        <p:nvSpPr>
          <p:cNvPr id="30" name="Text 28"/>
          <p:cNvSpPr txBox="1"/>
          <p:nvPr/>
        </p:nvSpPr>
        <p:spPr>
          <a:xfrm>
            <a:off x="1655064"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n</a:t>
            </a:r>
            <a:endParaRPr lang="en-US" sz="1400" dirty="0"/>
          </a:p>
        </p:txBody>
      </p:sp>
      <p:sp>
        <p:nvSpPr>
          <p:cNvPr id="31" name="Shape 29"/>
          <p:cNvSpPr/>
          <p:nvPr/>
        </p:nvSpPr>
        <p:spPr>
          <a:xfrm>
            <a:off x="1993392" y="3529584"/>
            <a:ext cx="310896" cy="457200"/>
          </a:xfrm>
          <a:prstGeom prst="roundRect">
            <a:avLst>
              <a:gd name="adj" fmla="val 6670"/>
            </a:avLst>
          </a:prstGeom>
          <a:solidFill>
            <a:srgbClr val="2A2113"/>
          </a:solidFill>
          <a:ln w="12700">
            <a:solidFill>
              <a:srgbClr val="4A3620"/>
            </a:solidFill>
            <a:prstDash val="solid"/>
          </a:ln>
        </p:spPr>
      </p:sp>
      <p:sp>
        <p:nvSpPr>
          <p:cNvPr id="32" name="Text 30"/>
          <p:cNvSpPr txBox="1"/>
          <p:nvPr/>
        </p:nvSpPr>
        <p:spPr>
          <a:xfrm>
            <a:off x="1993392"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a</a:t>
            </a:r>
            <a:endParaRPr lang="en-US" sz="1400" dirty="0"/>
          </a:p>
        </p:txBody>
      </p:sp>
      <p:sp>
        <p:nvSpPr>
          <p:cNvPr id="33" name="Shape 31"/>
          <p:cNvSpPr/>
          <p:nvPr/>
        </p:nvSpPr>
        <p:spPr>
          <a:xfrm>
            <a:off x="2331720" y="3529584"/>
            <a:ext cx="310896" cy="457200"/>
          </a:xfrm>
          <a:prstGeom prst="roundRect">
            <a:avLst>
              <a:gd name="adj" fmla="val 6670"/>
            </a:avLst>
          </a:prstGeom>
          <a:solidFill>
            <a:srgbClr val="2A2113"/>
          </a:solidFill>
          <a:ln w="12700">
            <a:solidFill>
              <a:srgbClr val="4A3620"/>
            </a:solidFill>
            <a:prstDash val="solid"/>
          </a:ln>
        </p:spPr>
      </p:sp>
      <p:sp>
        <p:nvSpPr>
          <p:cNvPr id="34" name="Text 32"/>
          <p:cNvSpPr txBox="1"/>
          <p:nvPr/>
        </p:nvSpPr>
        <p:spPr>
          <a:xfrm>
            <a:off x="2331720"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m</a:t>
            </a:r>
            <a:endParaRPr lang="en-US" sz="1400" dirty="0"/>
          </a:p>
        </p:txBody>
      </p:sp>
      <p:sp>
        <p:nvSpPr>
          <p:cNvPr id="35" name="Shape 33"/>
          <p:cNvSpPr/>
          <p:nvPr/>
        </p:nvSpPr>
        <p:spPr>
          <a:xfrm>
            <a:off x="2670048" y="3529584"/>
            <a:ext cx="310896" cy="457200"/>
          </a:xfrm>
          <a:prstGeom prst="roundRect">
            <a:avLst>
              <a:gd name="adj" fmla="val 6670"/>
            </a:avLst>
          </a:prstGeom>
          <a:solidFill>
            <a:srgbClr val="2A2113"/>
          </a:solidFill>
          <a:ln w="12700">
            <a:solidFill>
              <a:srgbClr val="4A3620"/>
            </a:solidFill>
            <a:prstDash val="solid"/>
          </a:ln>
        </p:spPr>
      </p:sp>
      <p:sp>
        <p:nvSpPr>
          <p:cNvPr id="36" name="Text 34"/>
          <p:cNvSpPr txBox="1"/>
          <p:nvPr/>
        </p:nvSpPr>
        <p:spPr>
          <a:xfrm>
            <a:off x="2670048"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e</a:t>
            </a:r>
            <a:endParaRPr lang="en-US" sz="1400" dirty="0"/>
          </a:p>
        </p:txBody>
      </p:sp>
      <p:sp>
        <p:nvSpPr>
          <p:cNvPr id="37" name="Shape 35"/>
          <p:cNvSpPr/>
          <p:nvPr/>
        </p:nvSpPr>
        <p:spPr>
          <a:xfrm>
            <a:off x="3008376" y="3529584"/>
            <a:ext cx="310896" cy="457200"/>
          </a:xfrm>
          <a:prstGeom prst="roundRect">
            <a:avLst>
              <a:gd name="adj" fmla="val 6670"/>
            </a:avLst>
          </a:prstGeom>
          <a:solidFill>
            <a:srgbClr val="0E1420"/>
          </a:solidFill>
          <a:ln w="12700">
            <a:solidFill>
              <a:srgbClr val="4A3620"/>
            </a:solidFill>
            <a:prstDash val="dash"/>
          </a:ln>
        </p:spPr>
      </p:sp>
      <p:sp>
        <p:nvSpPr>
          <p:cNvPr id="38" name="Shape 36"/>
          <p:cNvSpPr/>
          <p:nvPr/>
        </p:nvSpPr>
        <p:spPr>
          <a:xfrm>
            <a:off x="3346704" y="3529584"/>
            <a:ext cx="310896" cy="457200"/>
          </a:xfrm>
          <a:prstGeom prst="roundRect">
            <a:avLst>
              <a:gd name="adj" fmla="val 6670"/>
            </a:avLst>
          </a:prstGeom>
          <a:solidFill>
            <a:srgbClr val="2A2113"/>
          </a:solidFill>
          <a:ln w="12700">
            <a:solidFill>
              <a:srgbClr val="4A3620"/>
            </a:solidFill>
            <a:prstDash val="solid"/>
          </a:ln>
        </p:spPr>
      </p:sp>
      <p:sp>
        <p:nvSpPr>
          <p:cNvPr id="39" name="Text 37"/>
          <p:cNvSpPr txBox="1"/>
          <p:nvPr/>
        </p:nvSpPr>
        <p:spPr>
          <a:xfrm>
            <a:off x="3346704"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i</a:t>
            </a:r>
            <a:endParaRPr lang="en-US" sz="1400" dirty="0"/>
          </a:p>
        </p:txBody>
      </p:sp>
      <p:sp>
        <p:nvSpPr>
          <p:cNvPr id="40" name="Shape 38"/>
          <p:cNvSpPr/>
          <p:nvPr/>
        </p:nvSpPr>
        <p:spPr>
          <a:xfrm>
            <a:off x="3685032" y="3529584"/>
            <a:ext cx="310896" cy="457200"/>
          </a:xfrm>
          <a:prstGeom prst="roundRect">
            <a:avLst>
              <a:gd name="adj" fmla="val 6670"/>
            </a:avLst>
          </a:prstGeom>
          <a:solidFill>
            <a:srgbClr val="2A2113"/>
          </a:solidFill>
          <a:ln w="12700">
            <a:solidFill>
              <a:srgbClr val="4A3620"/>
            </a:solidFill>
            <a:prstDash val="solid"/>
          </a:ln>
        </p:spPr>
      </p:sp>
      <p:sp>
        <p:nvSpPr>
          <p:cNvPr id="41" name="Text 39"/>
          <p:cNvSpPr txBox="1"/>
          <p:nvPr/>
        </p:nvSpPr>
        <p:spPr>
          <a:xfrm>
            <a:off x="3685032"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s</a:t>
            </a:r>
            <a:endParaRPr lang="en-US" sz="1400" dirty="0"/>
          </a:p>
        </p:txBody>
      </p:sp>
      <p:sp>
        <p:nvSpPr>
          <p:cNvPr id="42" name="Shape 40"/>
          <p:cNvSpPr/>
          <p:nvPr/>
        </p:nvSpPr>
        <p:spPr>
          <a:xfrm>
            <a:off x="4023360" y="3529584"/>
            <a:ext cx="310896" cy="457200"/>
          </a:xfrm>
          <a:prstGeom prst="roundRect">
            <a:avLst>
              <a:gd name="adj" fmla="val 6670"/>
            </a:avLst>
          </a:prstGeom>
          <a:solidFill>
            <a:srgbClr val="0E1420"/>
          </a:solidFill>
          <a:ln w="12700">
            <a:solidFill>
              <a:srgbClr val="4A3620"/>
            </a:solidFill>
            <a:prstDash val="dash"/>
          </a:ln>
        </p:spPr>
      </p:sp>
      <p:sp>
        <p:nvSpPr>
          <p:cNvPr id="43" name="Shape 41"/>
          <p:cNvSpPr/>
          <p:nvPr/>
        </p:nvSpPr>
        <p:spPr>
          <a:xfrm>
            <a:off x="4361688" y="3529584"/>
            <a:ext cx="310896" cy="457200"/>
          </a:xfrm>
          <a:prstGeom prst="roundRect">
            <a:avLst>
              <a:gd name="adj" fmla="val 6670"/>
            </a:avLst>
          </a:prstGeom>
          <a:solidFill>
            <a:srgbClr val="2A2113"/>
          </a:solidFill>
          <a:ln w="12700">
            <a:solidFill>
              <a:srgbClr val="4A3620"/>
            </a:solidFill>
            <a:prstDash val="solid"/>
          </a:ln>
        </p:spPr>
      </p:sp>
      <p:sp>
        <p:nvSpPr>
          <p:cNvPr id="44" name="Text 42"/>
          <p:cNvSpPr txBox="1"/>
          <p:nvPr/>
        </p:nvSpPr>
        <p:spPr>
          <a:xfrm>
            <a:off x="4361688"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H</a:t>
            </a:r>
            <a:endParaRPr lang="en-US" sz="1400" dirty="0"/>
          </a:p>
        </p:txBody>
      </p:sp>
      <p:sp>
        <p:nvSpPr>
          <p:cNvPr id="45" name="Shape 43"/>
          <p:cNvSpPr/>
          <p:nvPr/>
        </p:nvSpPr>
        <p:spPr>
          <a:xfrm>
            <a:off x="4700016" y="3529584"/>
            <a:ext cx="310896" cy="457200"/>
          </a:xfrm>
          <a:prstGeom prst="roundRect">
            <a:avLst>
              <a:gd name="adj" fmla="val 6670"/>
            </a:avLst>
          </a:prstGeom>
          <a:solidFill>
            <a:srgbClr val="2A2113"/>
          </a:solidFill>
          <a:ln w="12700">
            <a:solidFill>
              <a:srgbClr val="4A3620"/>
            </a:solidFill>
            <a:prstDash val="solid"/>
          </a:ln>
        </p:spPr>
      </p:sp>
      <p:sp>
        <p:nvSpPr>
          <p:cNvPr id="46" name="Text 44"/>
          <p:cNvSpPr txBox="1"/>
          <p:nvPr/>
        </p:nvSpPr>
        <p:spPr>
          <a:xfrm>
            <a:off x="4700016"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a</a:t>
            </a:r>
            <a:endParaRPr lang="en-US" sz="1400" dirty="0"/>
          </a:p>
        </p:txBody>
      </p:sp>
      <p:sp>
        <p:nvSpPr>
          <p:cNvPr id="47" name="Shape 45"/>
          <p:cNvSpPr/>
          <p:nvPr/>
        </p:nvSpPr>
        <p:spPr>
          <a:xfrm>
            <a:off x="5038344" y="3529584"/>
            <a:ext cx="310896" cy="457200"/>
          </a:xfrm>
          <a:prstGeom prst="roundRect">
            <a:avLst>
              <a:gd name="adj" fmla="val 6670"/>
            </a:avLst>
          </a:prstGeom>
          <a:solidFill>
            <a:srgbClr val="2A2113"/>
          </a:solidFill>
          <a:ln w="12700">
            <a:solidFill>
              <a:srgbClr val="4A3620"/>
            </a:solidFill>
            <a:prstDash val="solid"/>
          </a:ln>
        </p:spPr>
      </p:sp>
      <p:sp>
        <p:nvSpPr>
          <p:cNvPr id="48" name="Text 46"/>
          <p:cNvSpPr txBox="1"/>
          <p:nvPr/>
        </p:nvSpPr>
        <p:spPr>
          <a:xfrm>
            <a:off x="5038344"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s</a:t>
            </a:r>
            <a:endParaRPr lang="en-US" sz="1400" dirty="0"/>
          </a:p>
        </p:txBody>
      </p:sp>
      <p:sp>
        <p:nvSpPr>
          <p:cNvPr id="49" name="Shape 47"/>
          <p:cNvSpPr/>
          <p:nvPr/>
        </p:nvSpPr>
        <p:spPr>
          <a:xfrm>
            <a:off x="5376672" y="3529584"/>
            <a:ext cx="310896" cy="457200"/>
          </a:xfrm>
          <a:prstGeom prst="roundRect">
            <a:avLst>
              <a:gd name="adj" fmla="val 6670"/>
            </a:avLst>
          </a:prstGeom>
          <a:solidFill>
            <a:srgbClr val="2A2113"/>
          </a:solidFill>
          <a:ln w="12700">
            <a:solidFill>
              <a:srgbClr val="4A3620"/>
            </a:solidFill>
            <a:prstDash val="solid"/>
          </a:ln>
        </p:spPr>
      </p:sp>
      <p:sp>
        <p:nvSpPr>
          <p:cNvPr id="50" name="Text 48"/>
          <p:cNvSpPr txBox="1"/>
          <p:nvPr/>
        </p:nvSpPr>
        <p:spPr>
          <a:xfrm>
            <a:off x="5376672"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h</a:t>
            </a:r>
            <a:endParaRPr lang="en-US" sz="1400" dirty="0"/>
          </a:p>
        </p:txBody>
      </p:sp>
      <p:sp>
        <p:nvSpPr>
          <p:cNvPr id="51" name="Shape 49"/>
          <p:cNvSpPr/>
          <p:nvPr/>
        </p:nvSpPr>
        <p:spPr>
          <a:xfrm>
            <a:off x="5715000" y="3529584"/>
            <a:ext cx="310896" cy="457200"/>
          </a:xfrm>
          <a:prstGeom prst="roundRect">
            <a:avLst>
              <a:gd name="adj" fmla="val 6670"/>
            </a:avLst>
          </a:prstGeom>
          <a:solidFill>
            <a:srgbClr val="2A2113"/>
          </a:solidFill>
          <a:ln w="12700">
            <a:solidFill>
              <a:srgbClr val="4A3620"/>
            </a:solidFill>
            <a:prstDash val="solid"/>
          </a:ln>
        </p:spPr>
      </p:sp>
      <p:sp>
        <p:nvSpPr>
          <p:cNvPr id="52" name="Text 50"/>
          <p:cNvSpPr txBox="1"/>
          <p:nvPr/>
        </p:nvSpPr>
        <p:spPr>
          <a:xfrm>
            <a:off x="5715000"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i</a:t>
            </a:r>
            <a:endParaRPr lang="en-US" sz="1400" dirty="0"/>
          </a:p>
        </p:txBody>
      </p:sp>
      <p:sp>
        <p:nvSpPr>
          <p:cNvPr id="53" name="Shape 51"/>
          <p:cNvSpPr/>
          <p:nvPr/>
        </p:nvSpPr>
        <p:spPr>
          <a:xfrm>
            <a:off x="6053328" y="3529584"/>
            <a:ext cx="310896" cy="457200"/>
          </a:xfrm>
          <a:prstGeom prst="roundRect">
            <a:avLst>
              <a:gd name="adj" fmla="val 6670"/>
            </a:avLst>
          </a:prstGeom>
          <a:solidFill>
            <a:srgbClr val="2A2113"/>
          </a:solidFill>
          <a:ln w="12700">
            <a:solidFill>
              <a:srgbClr val="4A3620"/>
            </a:solidFill>
            <a:prstDash val="solid"/>
          </a:ln>
        </p:spPr>
      </p:sp>
      <p:sp>
        <p:nvSpPr>
          <p:cNvPr id="54" name="Text 52"/>
          <p:cNvSpPr txBox="1"/>
          <p:nvPr/>
        </p:nvSpPr>
        <p:spPr>
          <a:xfrm>
            <a:off x="6053328" y="3529584"/>
            <a:ext cx="310896" cy="457200"/>
          </a:xfrm>
          <a:prstGeom prst="rect">
            <a:avLst/>
          </a:prstGeom>
          <a:noFill/>
          <a:ln/>
        </p:spPr>
        <p:txBody>
          <a:bodyPr wrap="square" lIns="0" tIns="0" rIns="0" bIns="0" rtlCol="0" anchor="ctr"/>
          <a:lstStyle/>
          <a:p>
            <a:pPr algn="ctr" indent="0" marL="0">
              <a:buNone/>
            </a:pPr>
            <a:r>
              <a:rPr lang="en-US" sz="1400" b="1" dirty="0">
                <a:solidFill>
                  <a:srgbClr val="EDA63F"/>
                </a:solidFill>
                <a:latin typeface="Courier New" pitchFamily="34" charset="0"/>
                <a:ea typeface="Courier New" pitchFamily="34" charset="-122"/>
                <a:cs typeface="Courier New" pitchFamily="34" charset="-120"/>
              </a:rPr>
              <a:t>r</a:t>
            </a:r>
            <a:endParaRPr lang="en-US" sz="1400" dirty="0"/>
          </a:p>
        </p:txBody>
      </p:sp>
      <p:sp>
        <p:nvSpPr>
          <p:cNvPr id="55" name="Text 53"/>
          <p:cNvSpPr txBox="1"/>
          <p:nvPr/>
        </p:nvSpPr>
        <p:spPr>
          <a:xfrm>
            <a:off x="6263640" y="3529584"/>
            <a:ext cx="1005840" cy="457200"/>
          </a:xfrm>
          <a:prstGeom prst="rect">
            <a:avLst/>
          </a:prstGeom>
          <a:noFill/>
          <a:ln/>
        </p:spPr>
        <p:txBody>
          <a:bodyPr wrap="square" lIns="0" tIns="0" rIns="0" bIns="0" rtlCol="0" anchor="ctr"/>
          <a:lstStyle/>
          <a:p>
            <a:pPr algn="r" indent="0" marL="0">
              <a:buNone/>
            </a:pPr>
            <a:r>
              <a:rPr lang="en-US" sz="1050" dirty="0">
                <a:solidFill>
                  <a:srgbClr val="94A3B8"/>
                </a:solidFill>
                <a:latin typeface="Courier New" pitchFamily="34" charset="0"/>
                <a:ea typeface="Courier New" pitchFamily="34" charset="-122"/>
                <a:cs typeface="Courier New" pitchFamily="34" charset="-120"/>
              </a:rPr>
              <a:t>51 lines</a:t>
            </a:r>
            <a:endParaRPr lang="en-US" sz="1050" dirty="0"/>
          </a:p>
        </p:txBody>
      </p:sp>
      <p:sp>
        <p:nvSpPr>
          <p:cNvPr id="56" name="Shape 54"/>
          <p:cNvSpPr/>
          <p:nvPr/>
        </p:nvSpPr>
        <p:spPr>
          <a:xfrm>
            <a:off x="640080" y="4151376"/>
            <a:ext cx="2194560" cy="384048"/>
          </a:xfrm>
          <a:prstGeom prst="roundRect">
            <a:avLst>
              <a:gd name="adj" fmla="val 6670"/>
            </a:avLst>
          </a:prstGeom>
          <a:solidFill>
            <a:srgbClr val="132A20"/>
          </a:solidFill>
          <a:ln w="12700">
            <a:solidFill>
              <a:srgbClr val="2A5A40"/>
            </a:solidFill>
            <a:prstDash val="solid"/>
          </a:ln>
        </p:spPr>
      </p:sp>
      <p:sp>
        <p:nvSpPr>
          <p:cNvPr id="57" name="Text 55"/>
          <p:cNvSpPr txBox="1"/>
          <p:nvPr/>
        </p:nvSpPr>
        <p:spPr>
          <a:xfrm>
            <a:off x="640080" y="4151376"/>
            <a:ext cx="2194560" cy="384048"/>
          </a:xfrm>
          <a:prstGeom prst="rect">
            <a:avLst/>
          </a:prstGeom>
          <a:noFill/>
          <a:ln/>
        </p:spPr>
        <p:txBody>
          <a:bodyPr wrap="square" lIns="0" tIns="0" rIns="0" bIns="0" rtlCol="0" anchor="ctr"/>
          <a:lstStyle/>
          <a:p>
            <a:pPr algn="ctr" indent="0" marL="0">
              <a:buNone/>
            </a:pPr>
            <a:r>
              <a:rPr lang="en-US" sz="1200" b="1" dirty="0">
                <a:solidFill>
                  <a:srgbClr val="58B98A"/>
                </a:solidFill>
                <a:latin typeface="Courier New" pitchFamily="34" charset="0"/>
                <a:ea typeface="Courier New" pitchFamily="34" charset="-122"/>
                <a:cs typeface="Courier New" pitchFamily="34" charset="-120"/>
              </a:rPr>
              <a:t>end: 4Ch</a:t>
            </a:r>
            <a:endParaRPr lang="en-US" sz="1200" dirty="0"/>
          </a:p>
        </p:txBody>
      </p:sp>
      <p:sp>
        <p:nvSpPr>
          <p:cNvPr id="58" name="Text 56"/>
          <p:cNvSpPr txBox="1"/>
          <p:nvPr/>
        </p:nvSpPr>
        <p:spPr>
          <a:xfrm>
            <a:off x="6263640" y="4151376"/>
            <a:ext cx="1005840" cy="384048"/>
          </a:xfrm>
          <a:prstGeom prst="rect">
            <a:avLst/>
          </a:prstGeom>
          <a:noFill/>
          <a:ln/>
        </p:spPr>
        <p:txBody>
          <a:bodyPr wrap="square" lIns="0" tIns="0" rIns="0" bIns="0" rtlCol="0" anchor="ctr"/>
          <a:lstStyle/>
          <a:p>
            <a:pPr algn="r" indent="0" marL="0">
              <a:buNone/>
            </a:pPr>
            <a:r>
              <a:rPr lang="en-US" sz="1050" dirty="0">
                <a:solidFill>
                  <a:srgbClr val="94A3B8"/>
                </a:solidFill>
                <a:latin typeface="Courier New" pitchFamily="34" charset="0"/>
                <a:ea typeface="Courier New" pitchFamily="34" charset="-122"/>
                <a:cs typeface="Courier New" pitchFamily="34" charset="-120"/>
              </a:rPr>
              <a:t>2 lines</a:t>
            </a:r>
            <a:endParaRPr lang="en-US" sz="1050" dirty="0"/>
          </a:p>
        </p:txBody>
      </p:sp>
      <p:sp>
        <p:nvSpPr>
          <p:cNvPr id="59" name="Shape 57"/>
          <p:cNvSpPr/>
          <p:nvPr/>
        </p:nvSpPr>
        <p:spPr>
          <a:xfrm>
            <a:off x="640080" y="4700016"/>
            <a:ext cx="6766560" cy="384048"/>
          </a:xfrm>
          <a:prstGeom prst="roundRect">
            <a:avLst>
              <a:gd name="adj" fmla="val 6670"/>
            </a:avLst>
          </a:prstGeom>
          <a:solidFill>
            <a:srgbClr val="182132"/>
          </a:solidFill>
          <a:ln w="12700">
            <a:solidFill>
              <a:srgbClr val="2A3548"/>
            </a:solidFill>
            <a:prstDash val="solid"/>
          </a:ln>
        </p:spPr>
      </p:sp>
      <p:sp>
        <p:nvSpPr>
          <p:cNvPr id="60" name="Text 58"/>
          <p:cNvSpPr txBox="1"/>
          <p:nvPr/>
        </p:nvSpPr>
        <p:spPr>
          <a:xfrm>
            <a:off x="868680" y="4700016"/>
            <a:ext cx="5303520" cy="384048"/>
          </a:xfrm>
          <a:prstGeom prst="rect">
            <a:avLst/>
          </a:prstGeom>
          <a:noFill/>
          <a:ln/>
        </p:spPr>
        <p:txBody>
          <a:bodyPr wrap="square" lIns="0" tIns="0" rIns="0" bIns="0" rtlCol="0" anchor="ctr"/>
          <a:lstStyle/>
          <a:p>
            <a:pPr algn="l" indent="0" marL="0">
              <a:buNone/>
            </a:pPr>
            <a:r>
              <a:rPr lang="en-US" sz="1150" dirty="0">
                <a:solidFill>
                  <a:srgbClr val="94A3B8"/>
                </a:solidFill>
                <a:latin typeface="Courier New" pitchFamily="34" charset="0"/>
                <a:ea typeface="Courier New" pitchFamily="34" charset="-122"/>
                <a:cs typeface="Courier New" pitchFamily="34" charset="-120"/>
              </a:rPr>
              <a:t>main endp  end main</a:t>
            </a:r>
            <a:endParaRPr lang="en-US" sz="1150" dirty="0"/>
          </a:p>
        </p:txBody>
      </p:sp>
      <p:sp>
        <p:nvSpPr>
          <p:cNvPr id="61" name="Text 59"/>
          <p:cNvSpPr txBox="1"/>
          <p:nvPr/>
        </p:nvSpPr>
        <p:spPr>
          <a:xfrm>
            <a:off x="6263640" y="4700016"/>
            <a:ext cx="1005840" cy="384048"/>
          </a:xfrm>
          <a:prstGeom prst="rect">
            <a:avLst/>
          </a:prstGeom>
          <a:noFill/>
          <a:ln/>
        </p:spPr>
        <p:txBody>
          <a:bodyPr wrap="square" lIns="0" tIns="0" rIns="0" bIns="0" rtlCol="0" anchor="ctr"/>
          <a:lstStyle/>
          <a:p>
            <a:pPr algn="r" indent="0" marL="0">
              <a:buNone/>
            </a:pPr>
            <a:r>
              <a:rPr lang="en-US" sz="1050" dirty="0">
                <a:solidFill>
                  <a:srgbClr val="94A3B8"/>
                </a:solidFill>
                <a:latin typeface="Courier New" pitchFamily="34" charset="0"/>
                <a:ea typeface="Courier New" pitchFamily="34" charset="-122"/>
                <a:cs typeface="Courier New" pitchFamily="34" charset="-120"/>
              </a:rPr>
              <a:t>2 lines</a:t>
            </a:r>
            <a:endParaRPr lang="en-US" sz="1050" dirty="0"/>
          </a:p>
        </p:txBody>
      </p:sp>
      <p:sp>
        <p:nvSpPr>
          <p:cNvPr id="62" name="Shape 60"/>
          <p:cNvSpPr/>
          <p:nvPr/>
        </p:nvSpPr>
        <p:spPr>
          <a:xfrm>
            <a:off x="640080" y="5266944"/>
            <a:ext cx="237744" cy="310896"/>
          </a:xfrm>
          <a:prstGeom prst="roundRect">
            <a:avLst>
              <a:gd name="adj" fmla="val 6670"/>
            </a:avLst>
          </a:prstGeom>
          <a:solidFill>
            <a:srgbClr val="2A2113"/>
          </a:solidFill>
          <a:ln w="12700">
            <a:solidFill>
              <a:srgbClr val="4A3620"/>
            </a:solidFill>
            <a:prstDash val="solid"/>
          </a:ln>
        </p:spPr>
      </p:sp>
      <p:sp>
        <p:nvSpPr>
          <p:cNvPr id="63" name="Text 61"/>
          <p:cNvSpPr txBox="1"/>
          <p:nvPr/>
        </p:nvSpPr>
        <p:spPr>
          <a:xfrm>
            <a:off x="1005840" y="5266944"/>
            <a:ext cx="3017520" cy="310896"/>
          </a:xfrm>
          <a:prstGeom prst="rect">
            <a:avLst/>
          </a:prstGeom>
          <a:noFill/>
          <a:ln/>
        </p:spPr>
        <p:txBody>
          <a:bodyPr wrap="square" lIns="0" tIns="0" rIns="0" bIns="0" rtlCol="0" anchor="ctr"/>
          <a:lstStyle/>
          <a:p>
            <a:pPr algn="l" indent="0" marL="0">
              <a:buNone/>
            </a:pPr>
            <a:r>
              <a:rPr lang="en-US" sz="1200" dirty="0">
                <a:solidFill>
                  <a:srgbClr val="94A3B8"/>
                </a:solidFill>
                <a:latin typeface="Calibri" pitchFamily="34" charset="0"/>
                <a:ea typeface="Calibri" pitchFamily="34" charset="-122"/>
                <a:cs typeface="Calibri" pitchFamily="34" charset="-120"/>
              </a:rPr>
              <a:t>= one character = 3 lines of code</a:t>
            </a:r>
            <a:endParaRPr lang="en-US" sz="1200" dirty="0"/>
          </a:p>
        </p:txBody>
      </p:sp>
      <p:sp>
        <p:nvSpPr>
          <p:cNvPr id="64" name="Shape 62"/>
          <p:cNvSpPr/>
          <p:nvPr/>
        </p:nvSpPr>
        <p:spPr>
          <a:xfrm>
            <a:off x="3931920" y="5266944"/>
            <a:ext cx="237744" cy="310896"/>
          </a:xfrm>
          <a:prstGeom prst="roundRect">
            <a:avLst>
              <a:gd name="adj" fmla="val 6670"/>
            </a:avLst>
          </a:prstGeom>
          <a:solidFill>
            <a:srgbClr val="0E1420"/>
          </a:solidFill>
          <a:ln w="12700">
            <a:solidFill>
              <a:srgbClr val="4A3620"/>
            </a:solidFill>
            <a:prstDash val="dash"/>
          </a:ln>
        </p:spPr>
      </p:sp>
      <p:sp>
        <p:nvSpPr>
          <p:cNvPr id="65" name="Text 63"/>
          <p:cNvSpPr txBox="1"/>
          <p:nvPr/>
        </p:nvSpPr>
        <p:spPr>
          <a:xfrm>
            <a:off x="4297680" y="5266944"/>
            <a:ext cx="1828800" cy="310896"/>
          </a:xfrm>
          <a:prstGeom prst="rect">
            <a:avLst/>
          </a:prstGeom>
          <a:noFill/>
          <a:ln/>
        </p:spPr>
        <p:txBody>
          <a:bodyPr wrap="square" lIns="0" tIns="0" rIns="0" bIns="0" rtlCol="0" anchor="ctr"/>
          <a:lstStyle/>
          <a:p>
            <a:pPr algn="l" indent="0" marL="0">
              <a:buNone/>
            </a:pPr>
            <a:r>
              <a:rPr lang="en-US" sz="1200" dirty="0">
                <a:solidFill>
                  <a:srgbClr val="94A3B8"/>
                </a:solidFill>
                <a:latin typeface="Calibri" pitchFamily="34" charset="0"/>
                <a:ea typeface="Calibri" pitchFamily="34" charset="-122"/>
                <a:cs typeface="Calibri" pitchFamily="34" charset="-120"/>
              </a:rPr>
              <a:t>= a space</a:t>
            </a:r>
            <a:endParaRPr lang="en-US" sz="1200" dirty="0"/>
          </a:p>
        </p:txBody>
      </p:sp>
      <p:sp>
        <p:nvSpPr>
          <p:cNvPr id="66" name="Shape 64"/>
          <p:cNvSpPr/>
          <p:nvPr/>
        </p:nvSpPr>
        <p:spPr>
          <a:xfrm>
            <a:off x="7818120" y="1810512"/>
            <a:ext cx="3730752" cy="1645920"/>
          </a:xfrm>
          <a:prstGeom prst="roundRect">
            <a:avLst>
              <a:gd name="adj" fmla="val 6670"/>
            </a:avLst>
          </a:prstGeom>
          <a:solidFill>
            <a:srgbClr val="182132"/>
          </a:solidFill>
          <a:ln w="12700">
            <a:solidFill>
              <a:srgbClr val="2A3548"/>
            </a:solidFill>
            <a:prstDash val="solid"/>
          </a:ln>
        </p:spPr>
      </p:sp>
      <p:sp>
        <p:nvSpPr>
          <p:cNvPr id="67" name="Shape 65"/>
          <p:cNvSpPr/>
          <p:nvPr/>
        </p:nvSpPr>
        <p:spPr>
          <a:xfrm>
            <a:off x="7982712" y="1947672"/>
            <a:ext cx="100584" cy="100584"/>
          </a:xfrm>
          <a:prstGeom prst="ellipse">
            <a:avLst/>
          </a:prstGeom>
          <a:solidFill>
            <a:srgbClr val="E27B66"/>
          </a:solidFill>
          <a:ln/>
        </p:spPr>
      </p:sp>
      <p:sp>
        <p:nvSpPr>
          <p:cNvPr id="68" name="Shape 66"/>
          <p:cNvSpPr/>
          <p:nvPr/>
        </p:nvSpPr>
        <p:spPr>
          <a:xfrm>
            <a:off x="8156448" y="1947672"/>
            <a:ext cx="100584" cy="100584"/>
          </a:xfrm>
          <a:prstGeom prst="ellipse">
            <a:avLst/>
          </a:prstGeom>
          <a:solidFill>
            <a:srgbClr val="EDA63F"/>
          </a:solidFill>
          <a:ln/>
        </p:spPr>
      </p:sp>
      <p:sp>
        <p:nvSpPr>
          <p:cNvPr id="69" name="Shape 67"/>
          <p:cNvSpPr/>
          <p:nvPr/>
        </p:nvSpPr>
        <p:spPr>
          <a:xfrm>
            <a:off x="8330184" y="1947672"/>
            <a:ext cx="100584" cy="100584"/>
          </a:xfrm>
          <a:prstGeom prst="ellipse">
            <a:avLst/>
          </a:prstGeom>
          <a:solidFill>
            <a:srgbClr val="58B98A"/>
          </a:solidFill>
          <a:ln/>
        </p:spPr>
      </p:sp>
      <p:sp>
        <p:nvSpPr>
          <p:cNvPr id="70" name="Text 68"/>
          <p:cNvSpPr txBox="1"/>
          <p:nvPr/>
        </p:nvSpPr>
        <p:spPr>
          <a:xfrm>
            <a:off x="8549640" y="1883664"/>
            <a:ext cx="2816352" cy="219456"/>
          </a:xfrm>
          <a:prstGeom prst="rect">
            <a:avLst/>
          </a:prstGeom>
          <a:noFill/>
          <a:ln/>
        </p:spPr>
        <p:txBody>
          <a:bodyPr wrap="square" lIns="0" tIns="0" rIns="0" bIns="0" rtlCol="0" anchor="t"/>
          <a:lstStyle/>
          <a:p>
            <a:pPr algn="l" indent="0" marL="0">
              <a:buNone/>
            </a:pPr>
            <a:r>
              <a:rPr lang="en-US" sz="900" dirty="0">
                <a:solidFill>
                  <a:srgbClr val="5C6B83"/>
                </a:solidFill>
                <a:latin typeface="Courier New" pitchFamily="34" charset="0"/>
                <a:ea typeface="Courier New" pitchFamily="34" charset="-122"/>
                <a:cs typeface="Courier New" pitchFamily="34" charset="-120"/>
              </a:rPr>
              <a:t>emulator screen</a:t>
            </a:r>
            <a:endParaRPr lang="en-US" sz="900" dirty="0"/>
          </a:p>
        </p:txBody>
      </p:sp>
      <p:sp>
        <p:nvSpPr>
          <p:cNvPr id="71" name="Shape 69"/>
          <p:cNvSpPr/>
          <p:nvPr/>
        </p:nvSpPr>
        <p:spPr>
          <a:xfrm>
            <a:off x="7946136" y="2176272"/>
            <a:ext cx="3474720" cy="1152144"/>
          </a:xfrm>
          <a:prstGeom prst="roundRect">
            <a:avLst>
              <a:gd name="adj" fmla="val 6670"/>
            </a:avLst>
          </a:prstGeom>
          <a:solidFill>
            <a:srgbClr val="070B12"/>
          </a:solidFill>
          <a:ln w="12700">
            <a:solidFill>
              <a:srgbClr val="2B3850"/>
            </a:solidFill>
            <a:prstDash val="solid"/>
          </a:ln>
        </p:spPr>
      </p:sp>
      <p:sp>
        <p:nvSpPr>
          <p:cNvPr id="72" name="Text 70"/>
          <p:cNvSpPr txBox="1"/>
          <p:nvPr/>
        </p:nvSpPr>
        <p:spPr>
          <a:xfrm>
            <a:off x="8174736" y="2359152"/>
            <a:ext cx="3200400" cy="329184"/>
          </a:xfrm>
          <a:prstGeom prst="rect">
            <a:avLst/>
          </a:prstGeom>
          <a:noFill/>
          <a:ln/>
        </p:spPr>
        <p:txBody>
          <a:bodyPr wrap="square" lIns="0" tIns="0" rIns="0" bIns="0" rtlCol="0" anchor="ctr"/>
          <a:lstStyle/>
          <a:p>
            <a:pPr algn="l" indent="0" marL="0">
              <a:buNone/>
            </a:pPr>
            <a:r>
              <a:rPr lang="en-US" sz="1500" b="1" dirty="0">
                <a:solidFill>
                  <a:srgbClr val="F0F3F8"/>
                </a:solidFill>
                <a:latin typeface="Courier New" pitchFamily="34" charset="0"/>
                <a:ea typeface="Courier New" pitchFamily="34" charset="-122"/>
                <a:cs typeface="Courier New" pitchFamily="34" charset="-120"/>
              </a:rPr>
              <a:t>Hello</a:t>
            </a:r>
            <a:endParaRPr lang="en-US" sz="1500" dirty="0"/>
          </a:p>
        </p:txBody>
      </p:sp>
      <p:sp>
        <p:nvSpPr>
          <p:cNvPr id="73" name="Text 71"/>
          <p:cNvSpPr txBox="1"/>
          <p:nvPr/>
        </p:nvSpPr>
        <p:spPr>
          <a:xfrm>
            <a:off x="8174736" y="2724912"/>
            <a:ext cx="3200400" cy="329184"/>
          </a:xfrm>
          <a:prstGeom prst="rect">
            <a:avLst/>
          </a:prstGeom>
          <a:noFill/>
          <a:ln/>
        </p:spPr>
        <p:txBody>
          <a:bodyPr wrap="square" lIns="0" tIns="0" rIns="0" bIns="0" rtlCol="0" anchor="ctr"/>
          <a:lstStyle/>
          <a:p>
            <a:pPr algn="l" indent="0" marL="0">
              <a:buNone/>
            </a:pPr>
            <a:r>
              <a:rPr lang="en-US" sz="1500" b="1" dirty="0">
                <a:solidFill>
                  <a:srgbClr val="F0F3F8"/>
                </a:solidFill>
                <a:latin typeface="Courier New" pitchFamily="34" charset="0"/>
                <a:ea typeface="Courier New" pitchFamily="34" charset="-122"/>
                <a:cs typeface="Courier New" pitchFamily="34" charset="-120"/>
              </a:rPr>
              <a:t>My name is Hashir</a:t>
            </a:r>
            <a:endParaRPr lang="en-US" sz="1500" dirty="0"/>
          </a:p>
        </p:txBody>
      </p:sp>
      <p:sp>
        <p:nvSpPr>
          <p:cNvPr id="74" name="Shape 72"/>
          <p:cNvSpPr/>
          <p:nvPr/>
        </p:nvSpPr>
        <p:spPr>
          <a:xfrm>
            <a:off x="10154412" y="2761488"/>
            <a:ext cx="107533" cy="256032"/>
          </a:xfrm>
          <a:prstGeom prst="rect">
            <a:avLst/>
          </a:prstGeom>
          <a:solidFill>
            <a:srgbClr val="EDA63F"/>
          </a:solidFill>
          <a:ln/>
        </p:spPr>
      </p:sp>
      <p:sp>
        <p:nvSpPr>
          <p:cNvPr id="75" name="Shape 73"/>
          <p:cNvSpPr/>
          <p:nvPr/>
        </p:nvSpPr>
        <p:spPr>
          <a:xfrm>
            <a:off x="7818120" y="3675888"/>
            <a:ext cx="3730752" cy="1408176"/>
          </a:xfrm>
          <a:prstGeom prst="roundRect">
            <a:avLst>
              <a:gd name="adj" fmla="val 6670"/>
            </a:avLst>
          </a:prstGeom>
          <a:solidFill>
            <a:srgbClr val="2A2113"/>
          </a:solidFill>
          <a:ln w="12700">
            <a:solidFill>
              <a:srgbClr val="4A3620"/>
            </a:solidFill>
            <a:prstDash val="solid"/>
          </a:ln>
        </p:spPr>
      </p:sp>
      <p:sp>
        <p:nvSpPr>
          <p:cNvPr id="76" name="Text 74"/>
          <p:cNvSpPr txBox="1"/>
          <p:nvPr/>
        </p:nvSpPr>
        <p:spPr>
          <a:xfrm>
            <a:off x="8092440" y="3840480"/>
            <a:ext cx="3291840" cy="219456"/>
          </a:xfrm>
          <a:prstGeom prst="rect">
            <a:avLst/>
          </a:prstGeom>
          <a:noFill/>
          <a:ln/>
        </p:spPr>
        <p:txBody>
          <a:bodyPr wrap="square" lIns="0" tIns="0" rIns="0" bIns="0" rtlCol="0" anchor="t"/>
          <a:lstStyle/>
          <a:p>
            <a:pPr algn="l" indent="0" marL="0">
              <a:buNone/>
            </a:pPr>
            <a:r>
              <a:rPr lang="en-US" sz="950" b="1" spc="130" kern="0" dirty="0">
                <a:solidFill>
                  <a:srgbClr val="EDA63F"/>
                </a:solidFill>
                <a:latin typeface="Courier New" pitchFamily="34" charset="0"/>
                <a:ea typeface="Courier New" pitchFamily="34" charset="-122"/>
                <a:cs typeface="Courier New" pitchFamily="34" charset="-120"/>
              </a:rPr>
              <a:t>A SPACE IS A CHARACTER TOO</a:t>
            </a:r>
            <a:endParaRPr lang="en-US" sz="950" dirty="0"/>
          </a:p>
        </p:txBody>
      </p:sp>
      <p:sp>
        <p:nvSpPr>
          <p:cNvPr id="77" name="Text 75"/>
          <p:cNvSpPr txBox="1"/>
          <p:nvPr/>
        </p:nvSpPr>
        <p:spPr>
          <a:xfrm>
            <a:off x="8092440" y="4160520"/>
            <a:ext cx="3291840" cy="274320"/>
          </a:xfrm>
          <a:prstGeom prst="rect">
            <a:avLst/>
          </a:prstGeom>
          <a:noFill/>
          <a:ln/>
        </p:spPr>
        <p:txBody>
          <a:bodyPr wrap="square" lIns="0" tIns="0" rIns="0" bIns="0" rtlCol="0" anchor="ctr"/>
          <a:lstStyle/>
          <a:p>
            <a:pPr algn="l" indent="0" marL="0">
              <a:buNone/>
            </a:pPr>
            <a:r>
              <a:rPr lang="en-US" sz="1300" b="1" dirty="0">
                <a:solidFill>
                  <a:srgbClr val="EDA63F"/>
                </a:solidFill>
                <a:latin typeface="Courier New" pitchFamily="34" charset="0"/>
                <a:ea typeface="Courier New" pitchFamily="34" charset="-122"/>
                <a:cs typeface="Courier New" pitchFamily="34" charset="-120"/>
              </a:rPr>
              <a:t>mov</a:t>
            </a:r>
            <a:pPr algn="l" indent="0" marL="0">
              <a:buNone/>
            </a:pPr>
            <a:r>
              <a:rPr lang="en-US" sz="1300" dirty="0">
                <a:solidFill>
                  <a:srgbClr val="F0F3F8"/>
                </a:solidFill>
                <a:latin typeface="Courier New" pitchFamily="34" charset="0"/>
                <a:ea typeface="Courier New" pitchFamily="34" charset="-122"/>
                <a:cs typeface="Courier New" pitchFamily="34" charset="-120"/>
              </a:rPr>
              <a:t> </a:t>
            </a:r>
            <a:pPr algn="l" indent="0" marL="0">
              <a:buNone/>
            </a:pPr>
            <a:r>
              <a:rPr lang="en-US" sz="1300" b="1" dirty="0">
                <a:solidFill>
                  <a:srgbClr val="3EB9CE"/>
                </a:solidFill>
                <a:latin typeface="Courier New" pitchFamily="34" charset="0"/>
                <a:ea typeface="Courier New" pitchFamily="34" charset="-122"/>
                <a:cs typeface="Courier New" pitchFamily="34" charset="-120"/>
              </a:rPr>
              <a:t>dl</a:t>
            </a:r>
            <a:pPr algn="l" indent="0" marL="0">
              <a:buNone/>
            </a:pPr>
            <a:r>
              <a:rPr lang="en-US" sz="1300" dirty="0">
                <a:solidFill>
                  <a:srgbClr val="F0F3F8"/>
                </a:solidFill>
                <a:latin typeface="Courier New" pitchFamily="34" charset="0"/>
                <a:ea typeface="Courier New" pitchFamily="34" charset="-122"/>
                <a:cs typeface="Courier New" pitchFamily="34" charset="-120"/>
              </a:rPr>
              <a:t>,</a:t>
            </a:r>
            <a:pPr algn="l" indent="0" marL="0">
              <a:buNone/>
            </a:pPr>
            <a:r>
              <a:rPr lang="en-US" sz="1300" dirty="0">
                <a:solidFill>
                  <a:srgbClr val="F0F3F8"/>
                </a:solidFill>
                <a:latin typeface="Courier New" pitchFamily="34" charset="0"/>
                <a:ea typeface="Courier New" pitchFamily="34" charset="-122"/>
                <a:cs typeface="Courier New" pitchFamily="34" charset="-120"/>
              </a:rPr>
              <a:t> </a:t>
            </a:r>
            <a:pPr algn="l" indent="0" marL="0">
              <a:buNone/>
            </a:pPr>
            <a:r>
              <a:rPr lang="en-US" sz="1300" b="1" dirty="0">
                <a:solidFill>
                  <a:srgbClr val="9584E8"/>
                </a:solidFill>
                <a:latin typeface="Courier New" pitchFamily="34" charset="0"/>
                <a:ea typeface="Courier New" pitchFamily="34" charset="-122"/>
                <a:cs typeface="Courier New" pitchFamily="34" charset="-120"/>
              </a:rPr>
              <a:t>' '</a:t>
            </a:r>
            <a:pPr algn="l" indent="0" marL="0">
              <a:buNone/>
            </a:pPr>
            <a:r>
              <a:rPr lang="en-US" sz="1300" dirty="0">
                <a:solidFill>
                  <a:srgbClr val="F0F3F8"/>
                </a:solidFill>
                <a:latin typeface="Courier New" pitchFamily="34" charset="0"/>
                <a:ea typeface="Courier New" pitchFamily="34" charset="-122"/>
                <a:cs typeface="Courier New" pitchFamily="34" charset="-120"/>
              </a:rPr>
              <a:t>    </a:t>
            </a:r>
            <a:pPr algn="l" indent="0" marL="0">
              <a:buNone/>
            </a:pPr>
            <a:r>
              <a:rPr lang="en-US" sz="1300" dirty="0">
                <a:solidFill>
                  <a:srgbClr val="6B7A93"/>
                </a:solidFill>
                <a:latin typeface="Courier New" pitchFamily="34" charset="0"/>
                <a:ea typeface="Courier New" pitchFamily="34" charset="-122"/>
                <a:cs typeface="Courier New" pitchFamily="34" charset="-120"/>
              </a:rPr>
              <a:t>; space</a:t>
            </a:r>
            <a:endParaRPr lang="en-US" sz="1300" dirty="0"/>
          </a:p>
        </p:txBody>
      </p:sp>
      <p:sp>
        <p:nvSpPr>
          <p:cNvPr id="78" name="Text 76"/>
          <p:cNvSpPr txBox="1"/>
          <p:nvPr/>
        </p:nvSpPr>
        <p:spPr>
          <a:xfrm>
            <a:off x="8092440" y="4434840"/>
            <a:ext cx="3291840" cy="274320"/>
          </a:xfrm>
          <a:prstGeom prst="rect">
            <a:avLst/>
          </a:prstGeom>
          <a:noFill/>
          <a:ln/>
        </p:spPr>
        <p:txBody>
          <a:bodyPr wrap="square" lIns="0" tIns="0" rIns="0" bIns="0" rtlCol="0" anchor="ctr"/>
          <a:lstStyle/>
          <a:p>
            <a:pPr algn="l" indent="0" marL="0">
              <a:buNone/>
            </a:pPr>
            <a:r>
              <a:rPr lang="en-US" sz="1300" b="1" dirty="0">
                <a:solidFill>
                  <a:srgbClr val="EDA63F"/>
                </a:solidFill>
                <a:latin typeface="Courier New" pitchFamily="34" charset="0"/>
                <a:ea typeface="Courier New" pitchFamily="34" charset="-122"/>
                <a:cs typeface="Courier New" pitchFamily="34" charset="-120"/>
              </a:rPr>
              <a:t>mov</a:t>
            </a:r>
            <a:pPr algn="l" indent="0" marL="0">
              <a:buNone/>
            </a:pPr>
            <a:r>
              <a:rPr lang="en-US" sz="1300" dirty="0">
                <a:solidFill>
                  <a:srgbClr val="F0F3F8"/>
                </a:solidFill>
                <a:latin typeface="Courier New" pitchFamily="34" charset="0"/>
                <a:ea typeface="Courier New" pitchFamily="34" charset="-122"/>
                <a:cs typeface="Courier New" pitchFamily="34" charset="-120"/>
              </a:rPr>
              <a:t> </a:t>
            </a:r>
            <a:pPr algn="l" indent="0" marL="0">
              <a:buNone/>
            </a:pPr>
            <a:r>
              <a:rPr lang="en-US" sz="1300" b="1" dirty="0">
                <a:solidFill>
                  <a:srgbClr val="3EB9CE"/>
                </a:solidFill>
                <a:latin typeface="Courier New" pitchFamily="34" charset="0"/>
                <a:ea typeface="Courier New" pitchFamily="34" charset="-122"/>
                <a:cs typeface="Courier New" pitchFamily="34" charset="-120"/>
              </a:rPr>
              <a:t>ah</a:t>
            </a:r>
            <a:pPr algn="l" indent="0" marL="0">
              <a:buNone/>
            </a:pPr>
            <a:r>
              <a:rPr lang="en-US" sz="1300" dirty="0">
                <a:solidFill>
                  <a:srgbClr val="F0F3F8"/>
                </a:solidFill>
                <a:latin typeface="Courier New" pitchFamily="34" charset="0"/>
                <a:ea typeface="Courier New" pitchFamily="34" charset="-122"/>
                <a:cs typeface="Courier New" pitchFamily="34" charset="-120"/>
              </a:rPr>
              <a:t>,</a:t>
            </a:r>
            <a:pPr algn="l" indent="0" marL="0">
              <a:buNone/>
            </a:pPr>
            <a:r>
              <a:rPr lang="en-US" sz="1300" dirty="0">
                <a:solidFill>
                  <a:srgbClr val="F0F3F8"/>
                </a:solidFill>
                <a:latin typeface="Courier New" pitchFamily="34" charset="0"/>
                <a:ea typeface="Courier New" pitchFamily="34" charset="-122"/>
                <a:cs typeface="Courier New" pitchFamily="34" charset="-120"/>
              </a:rPr>
              <a:t> </a:t>
            </a:r>
            <a:pPr algn="l" indent="0" marL="0">
              <a:buNone/>
            </a:pPr>
            <a:r>
              <a:rPr lang="en-US" sz="1300" b="1" dirty="0">
                <a:solidFill>
                  <a:srgbClr val="9584E8"/>
                </a:solidFill>
                <a:latin typeface="Courier New" pitchFamily="34" charset="0"/>
                <a:ea typeface="Courier New" pitchFamily="34" charset="-122"/>
                <a:cs typeface="Courier New" pitchFamily="34" charset="-120"/>
              </a:rPr>
              <a:t>2</a:t>
            </a:r>
            <a:endParaRPr lang="en-US" sz="1300" dirty="0"/>
          </a:p>
        </p:txBody>
      </p:sp>
      <p:sp>
        <p:nvSpPr>
          <p:cNvPr id="79" name="Text 77"/>
          <p:cNvSpPr txBox="1"/>
          <p:nvPr/>
        </p:nvSpPr>
        <p:spPr>
          <a:xfrm>
            <a:off x="8092440" y="4709160"/>
            <a:ext cx="3291840" cy="274320"/>
          </a:xfrm>
          <a:prstGeom prst="rect">
            <a:avLst/>
          </a:prstGeom>
          <a:noFill/>
          <a:ln/>
        </p:spPr>
        <p:txBody>
          <a:bodyPr wrap="square" lIns="0" tIns="0" rIns="0" bIns="0" rtlCol="0" anchor="ctr"/>
          <a:lstStyle/>
          <a:p>
            <a:pPr algn="l" indent="0" marL="0">
              <a:buNone/>
            </a:pPr>
            <a:r>
              <a:rPr lang="en-US" sz="1300" b="1" dirty="0">
                <a:solidFill>
                  <a:srgbClr val="EDA63F"/>
                </a:solidFill>
                <a:latin typeface="Courier New" pitchFamily="34" charset="0"/>
                <a:ea typeface="Courier New" pitchFamily="34" charset="-122"/>
                <a:cs typeface="Courier New" pitchFamily="34" charset="-120"/>
              </a:rPr>
              <a:t>int</a:t>
            </a:r>
            <a:pPr algn="l" indent="0" marL="0">
              <a:buNone/>
            </a:pPr>
            <a:r>
              <a:rPr lang="en-US" sz="1300" dirty="0">
                <a:solidFill>
                  <a:srgbClr val="F0F3F8"/>
                </a:solidFill>
                <a:latin typeface="Courier New" pitchFamily="34" charset="0"/>
                <a:ea typeface="Courier New" pitchFamily="34" charset="-122"/>
                <a:cs typeface="Courier New" pitchFamily="34" charset="-120"/>
              </a:rPr>
              <a:t> </a:t>
            </a:r>
            <a:pPr algn="l" indent="0" marL="0">
              <a:buNone/>
            </a:pPr>
            <a:r>
              <a:rPr lang="en-US" sz="1300" b="1" dirty="0">
                <a:solidFill>
                  <a:srgbClr val="9584E8"/>
                </a:solidFill>
                <a:latin typeface="Courier New" pitchFamily="34" charset="0"/>
                <a:ea typeface="Courier New" pitchFamily="34" charset="-122"/>
                <a:cs typeface="Courier New" pitchFamily="34" charset="-120"/>
              </a:rPr>
              <a:t>21h</a:t>
            </a:r>
            <a:endParaRPr lang="en-US" sz="1300" dirty="0"/>
          </a:p>
        </p:txBody>
      </p:sp>
      <p:sp>
        <p:nvSpPr>
          <p:cNvPr id="80" name="Shape 78"/>
          <p:cNvSpPr/>
          <p:nvPr/>
        </p:nvSpPr>
        <p:spPr>
          <a:xfrm>
            <a:off x="640080" y="5742432"/>
            <a:ext cx="10908792" cy="457200"/>
          </a:xfrm>
          <a:prstGeom prst="roundRect">
            <a:avLst>
              <a:gd name="adj" fmla="val 6670"/>
            </a:avLst>
          </a:prstGeom>
          <a:solidFill>
            <a:srgbClr val="182132"/>
          </a:solidFill>
          <a:ln w="12700">
            <a:solidFill>
              <a:srgbClr val="2A3548"/>
            </a:solidFill>
            <a:prstDash val="solid"/>
          </a:ln>
        </p:spPr>
      </p:sp>
      <p:sp>
        <p:nvSpPr>
          <p:cNvPr id="81" name="Text 79"/>
          <p:cNvSpPr txBox="1"/>
          <p:nvPr/>
        </p:nvSpPr>
        <p:spPr>
          <a:xfrm>
            <a:off x="640080" y="5742432"/>
            <a:ext cx="10908792" cy="457200"/>
          </a:xfrm>
          <a:prstGeom prst="rect">
            <a:avLst/>
          </a:prstGeom>
          <a:noFill/>
          <a:ln/>
        </p:spPr>
        <p:txBody>
          <a:bodyPr wrap="square" lIns="0" tIns="0" rIns="0" bIns="0" rtlCol="0" anchor="ctr"/>
          <a:lstStyle/>
          <a:p>
            <a:pPr algn="ctr" indent="0" marL="0">
              <a:buNone/>
            </a:pPr>
            <a:r>
              <a:rPr lang="en-US" sz="1400" dirty="0">
                <a:solidFill>
                  <a:srgbClr val="F0F3F8"/>
                </a:solidFill>
                <a:latin typeface="Calibri" pitchFamily="34" charset="0"/>
                <a:ea typeface="Calibri" pitchFamily="34" charset="-122"/>
                <a:cs typeface="Calibri" pitchFamily="34" charset="-120"/>
              </a:rPr>
              <a:t>About 80 lines of code for two lines of text. That is normal today. Your turn next.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10 · QUICK CHECK</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Can you answer these?</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Answer out loud. No notes, no scrolling back.</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02</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12</a:t>
            </a:r>
            <a:endParaRPr lang="en-US" sz="900" dirty="0"/>
          </a:p>
        </p:txBody>
      </p:sp>
      <p:sp>
        <p:nvSpPr>
          <p:cNvPr id="7" name="Shape 5"/>
          <p:cNvSpPr/>
          <p:nvPr/>
        </p:nvSpPr>
        <p:spPr>
          <a:xfrm>
            <a:off x="640080" y="1810512"/>
            <a:ext cx="5303520" cy="1828800"/>
          </a:xfrm>
          <a:prstGeom prst="roundRect">
            <a:avLst>
              <a:gd name="adj" fmla="val 6670"/>
            </a:avLst>
          </a:prstGeom>
          <a:solidFill>
            <a:srgbClr val="F3F5F9"/>
          </a:solidFill>
          <a:ln w="12700">
            <a:solidFill>
              <a:srgbClr val="E2E7EF"/>
            </a:solidFill>
            <a:prstDash val="solid"/>
          </a:ln>
        </p:spPr>
      </p:sp>
      <p:sp>
        <p:nvSpPr>
          <p:cNvPr id="8" name="Shape 6"/>
          <p:cNvSpPr/>
          <p:nvPr/>
        </p:nvSpPr>
        <p:spPr>
          <a:xfrm>
            <a:off x="914400" y="2103120"/>
            <a:ext cx="402336" cy="402336"/>
          </a:xfrm>
          <a:prstGeom prst="ellipse">
            <a:avLst/>
          </a:prstGeom>
          <a:solidFill>
            <a:srgbClr val="D7EEF2"/>
          </a:solidFill>
          <a:ln/>
        </p:spPr>
      </p:sp>
      <p:sp>
        <p:nvSpPr>
          <p:cNvPr id="9" name="Text 7"/>
          <p:cNvSpPr txBox="1"/>
          <p:nvPr/>
        </p:nvSpPr>
        <p:spPr>
          <a:xfrm>
            <a:off x="914400" y="2103120"/>
            <a:ext cx="402336" cy="402336"/>
          </a:xfrm>
          <a:prstGeom prst="rect">
            <a:avLst/>
          </a:prstGeom>
          <a:noFill/>
          <a:ln/>
        </p:spPr>
        <p:txBody>
          <a:bodyPr wrap="square" lIns="0" tIns="0" rIns="0" bIns="0" rtlCol="0" anchor="ctr"/>
          <a:lstStyle/>
          <a:p>
            <a:pPr algn="ctr" indent="0" marL="0">
              <a:buNone/>
            </a:pPr>
            <a:r>
              <a:rPr lang="en-US" sz="1400" b="1" dirty="0">
                <a:solidFill>
                  <a:srgbClr val="18879B"/>
                </a:solidFill>
                <a:latin typeface="Courier New" pitchFamily="34" charset="0"/>
                <a:ea typeface="Courier New" pitchFamily="34" charset="-122"/>
                <a:cs typeface="Courier New" pitchFamily="34" charset="-120"/>
              </a:rPr>
              <a:t>1</a:t>
            </a:r>
            <a:endParaRPr lang="en-US" sz="1400" dirty="0"/>
          </a:p>
        </p:txBody>
      </p:sp>
      <p:sp>
        <p:nvSpPr>
          <p:cNvPr id="10" name="Text 8"/>
          <p:cNvSpPr txBox="1"/>
          <p:nvPr/>
        </p:nvSpPr>
        <p:spPr>
          <a:xfrm>
            <a:off x="1508760" y="2084832"/>
            <a:ext cx="4206240" cy="457200"/>
          </a:xfrm>
          <a:prstGeom prst="rect">
            <a:avLst/>
          </a:prstGeom>
          <a:noFill/>
          <a:ln/>
        </p:spPr>
        <p:txBody>
          <a:bodyPr wrap="square" lIns="0" tIns="0" rIns="0" bIns="0" rtlCol="0" anchor="ctr"/>
          <a:lstStyle/>
          <a:p>
            <a:pPr algn="l" indent="0" marL="0">
              <a:buNone/>
            </a:pPr>
            <a:r>
              <a:rPr lang="en-US" sz="2100" b="1" dirty="0">
                <a:solidFill>
                  <a:srgbClr val="0F1622"/>
                </a:solidFill>
                <a:latin typeface="Arial" pitchFamily="34" charset="0"/>
                <a:ea typeface="Arial" pitchFamily="34" charset="-122"/>
                <a:cs typeface="Arial" pitchFamily="34" charset="-120"/>
              </a:rPr>
              <a:t>What goes into DL?</a:t>
            </a:r>
            <a:endParaRPr lang="en-US" sz="2100" dirty="0"/>
          </a:p>
        </p:txBody>
      </p:sp>
      <p:sp>
        <p:nvSpPr>
          <p:cNvPr id="11" name="Shape 9"/>
          <p:cNvSpPr/>
          <p:nvPr/>
        </p:nvSpPr>
        <p:spPr>
          <a:xfrm>
            <a:off x="1508760" y="2798064"/>
            <a:ext cx="2926080" cy="475488"/>
          </a:xfrm>
          <a:prstGeom prst="roundRect">
            <a:avLst>
              <a:gd name="adj" fmla="val 6670"/>
            </a:avLst>
          </a:prstGeom>
          <a:solidFill>
            <a:srgbClr val="121A29"/>
          </a:solidFill>
          <a:ln w="12700">
            <a:solidFill>
              <a:srgbClr val="2B3850"/>
            </a:solidFill>
            <a:prstDash val="solid"/>
          </a:ln>
        </p:spPr>
      </p:sp>
      <p:sp>
        <p:nvSpPr>
          <p:cNvPr id="12" name="Text 10"/>
          <p:cNvSpPr txBox="1"/>
          <p:nvPr/>
        </p:nvSpPr>
        <p:spPr>
          <a:xfrm>
            <a:off x="1691640" y="2798064"/>
            <a:ext cx="2651760" cy="475488"/>
          </a:xfrm>
          <a:prstGeom prst="rect">
            <a:avLst/>
          </a:prstGeom>
          <a:noFill/>
          <a:ln/>
        </p:spPr>
        <p:txBody>
          <a:bodyPr wrap="square" lIns="0" tIns="0" rIns="0" bIns="0" rtlCol="0" anchor="ctr"/>
          <a:lstStyle/>
          <a:p>
            <a:pPr algn="l" indent="0" marL="0">
              <a:buNone/>
            </a:pPr>
            <a:r>
              <a:rPr lang="en-US" sz="1400" b="1" dirty="0">
                <a:solidFill>
                  <a:srgbClr val="EDA63F"/>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3EB9CE"/>
                </a:solidFill>
                <a:latin typeface="Courier New" pitchFamily="34" charset="0"/>
                <a:ea typeface="Courier New" pitchFamily="34" charset="-122"/>
                <a:cs typeface="Courier New" pitchFamily="34" charset="-120"/>
              </a:rPr>
              <a:t>dl</a:t>
            </a:r>
            <a:pPr algn="l" indent="0" marL="0">
              <a:buNone/>
            </a:pPr>
            <a:r>
              <a:rPr lang="en-US" sz="1400" dirty="0">
                <a:solidFill>
                  <a:srgbClr val="F0F3F8"/>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F0F3F8"/>
                </a:solidFill>
                <a:latin typeface="Courier New" pitchFamily="34" charset="0"/>
                <a:ea typeface="Courier New" pitchFamily="34" charset="-122"/>
                <a:cs typeface="Courier New" pitchFamily="34" charset="-120"/>
              </a:rPr>
              <a:t>___</a:t>
            </a:r>
            <a:endParaRPr lang="en-US" sz="1400" dirty="0"/>
          </a:p>
        </p:txBody>
      </p:sp>
      <p:sp>
        <p:nvSpPr>
          <p:cNvPr id="13" name="Shape 11"/>
          <p:cNvSpPr/>
          <p:nvPr/>
        </p:nvSpPr>
        <p:spPr>
          <a:xfrm>
            <a:off x="6245352" y="1810512"/>
            <a:ext cx="5303520" cy="1828800"/>
          </a:xfrm>
          <a:prstGeom prst="roundRect">
            <a:avLst>
              <a:gd name="adj" fmla="val 6670"/>
            </a:avLst>
          </a:prstGeom>
          <a:solidFill>
            <a:srgbClr val="F3F5F9"/>
          </a:solidFill>
          <a:ln w="12700">
            <a:solidFill>
              <a:srgbClr val="E2E7EF"/>
            </a:solidFill>
            <a:prstDash val="solid"/>
          </a:ln>
        </p:spPr>
      </p:sp>
      <p:sp>
        <p:nvSpPr>
          <p:cNvPr id="14" name="Shape 12"/>
          <p:cNvSpPr/>
          <p:nvPr/>
        </p:nvSpPr>
        <p:spPr>
          <a:xfrm>
            <a:off x="6519672" y="2103120"/>
            <a:ext cx="402336" cy="402336"/>
          </a:xfrm>
          <a:prstGeom prst="ellipse">
            <a:avLst/>
          </a:prstGeom>
          <a:solidFill>
            <a:srgbClr val="FBEBD2"/>
          </a:solidFill>
          <a:ln/>
        </p:spPr>
      </p:sp>
      <p:sp>
        <p:nvSpPr>
          <p:cNvPr id="15" name="Text 13"/>
          <p:cNvSpPr txBox="1"/>
          <p:nvPr/>
        </p:nvSpPr>
        <p:spPr>
          <a:xfrm>
            <a:off x="6519672" y="2103120"/>
            <a:ext cx="402336" cy="402336"/>
          </a:xfrm>
          <a:prstGeom prst="rect">
            <a:avLst/>
          </a:prstGeom>
          <a:noFill/>
          <a:ln/>
        </p:spPr>
        <p:txBody>
          <a:bodyPr wrap="square" lIns="0" tIns="0" rIns="0" bIns="0" rtlCol="0" anchor="ctr"/>
          <a:lstStyle/>
          <a:p>
            <a:pPr algn="ctr" indent="0" marL="0">
              <a:buNone/>
            </a:pPr>
            <a:r>
              <a:rPr lang="en-US" sz="1400" b="1" dirty="0">
                <a:solidFill>
                  <a:srgbClr val="D98A1F"/>
                </a:solidFill>
                <a:latin typeface="Courier New" pitchFamily="34" charset="0"/>
                <a:ea typeface="Courier New" pitchFamily="34" charset="-122"/>
                <a:cs typeface="Courier New" pitchFamily="34" charset="-120"/>
              </a:rPr>
              <a:t>2</a:t>
            </a:r>
            <a:endParaRPr lang="en-US" sz="1400" dirty="0"/>
          </a:p>
        </p:txBody>
      </p:sp>
      <p:sp>
        <p:nvSpPr>
          <p:cNvPr id="16" name="Text 14"/>
          <p:cNvSpPr txBox="1"/>
          <p:nvPr/>
        </p:nvSpPr>
        <p:spPr>
          <a:xfrm>
            <a:off x="7114032" y="2084832"/>
            <a:ext cx="4206240" cy="457200"/>
          </a:xfrm>
          <a:prstGeom prst="rect">
            <a:avLst/>
          </a:prstGeom>
          <a:noFill/>
          <a:ln/>
        </p:spPr>
        <p:txBody>
          <a:bodyPr wrap="square" lIns="0" tIns="0" rIns="0" bIns="0" rtlCol="0" anchor="ctr"/>
          <a:lstStyle/>
          <a:p>
            <a:pPr algn="l" indent="0" marL="0">
              <a:buNone/>
            </a:pPr>
            <a:r>
              <a:rPr lang="en-US" sz="2100" b="1" dirty="0">
                <a:solidFill>
                  <a:srgbClr val="0F1622"/>
                </a:solidFill>
                <a:latin typeface="Arial" pitchFamily="34" charset="0"/>
                <a:ea typeface="Arial" pitchFamily="34" charset="-122"/>
                <a:cs typeface="Arial" pitchFamily="34" charset="-120"/>
              </a:rPr>
              <a:t>What does AH = 2 mean?</a:t>
            </a:r>
            <a:endParaRPr lang="en-US" sz="2100" dirty="0"/>
          </a:p>
        </p:txBody>
      </p:sp>
      <p:sp>
        <p:nvSpPr>
          <p:cNvPr id="17" name="Shape 15"/>
          <p:cNvSpPr/>
          <p:nvPr/>
        </p:nvSpPr>
        <p:spPr>
          <a:xfrm>
            <a:off x="7114032" y="2798064"/>
            <a:ext cx="2926080" cy="475488"/>
          </a:xfrm>
          <a:prstGeom prst="roundRect">
            <a:avLst>
              <a:gd name="adj" fmla="val 6670"/>
            </a:avLst>
          </a:prstGeom>
          <a:solidFill>
            <a:srgbClr val="121A29"/>
          </a:solidFill>
          <a:ln w="12700">
            <a:solidFill>
              <a:srgbClr val="2B3850"/>
            </a:solidFill>
            <a:prstDash val="solid"/>
          </a:ln>
        </p:spPr>
      </p:sp>
      <p:sp>
        <p:nvSpPr>
          <p:cNvPr id="18" name="Text 16"/>
          <p:cNvSpPr txBox="1"/>
          <p:nvPr/>
        </p:nvSpPr>
        <p:spPr>
          <a:xfrm>
            <a:off x="7296912" y="2798064"/>
            <a:ext cx="2651760" cy="475488"/>
          </a:xfrm>
          <a:prstGeom prst="rect">
            <a:avLst/>
          </a:prstGeom>
          <a:noFill/>
          <a:ln/>
        </p:spPr>
        <p:txBody>
          <a:bodyPr wrap="square" lIns="0" tIns="0" rIns="0" bIns="0" rtlCol="0" anchor="ctr"/>
          <a:lstStyle/>
          <a:p>
            <a:pPr algn="l" indent="0" marL="0">
              <a:buNone/>
            </a:pPr>
            <a:r>
              <a:rPr lang="en-US" sz="1400" b="1" dirty="0">
                <a:solidFill>
                  <a:srgbClr val="EDA63F"/>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3EB9CE"/>
                </a:solidFill>
                <a:latin typeface="Courier New" pitchFamily="34" charset="0"/>
                <a:ea typeface="Courier New" pitchFamily="34" charset="-122"/>
                <a:cs typeface="Courier New" pitchFamily="34" charset="-120"/>
              </a:rPr>
              <a:t>ah</a:t>
            </a:r>
            <a:pPr algn="l" indent="0" marL="0">
              <a:buNone/>
            </a:pPr>
            <a:r>
              <a:rPr lang="en-US" sz="1400" dirty="0">
                <a:solidFill>
                  <a:srgbClr val="F0F3F8"/>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9584E8"/>
                </a:solidFill>
                <a:latin typeface="Courier New" pitchFamily="34" charset="0"/>
                <a:ea typeface="Courier New" pitchFamily="34" charset="-122"/>
                <a:cs typeface="Courier New" pitchFamily="34" charset="-120"/>
              </a:rPr>
              <a:t>2</a:t>
            </a:r>
            <a:endParaRPr lang="en-US" sz="1400" dirty="0"/>
          </a:p>
        </p:txBody>
      </p:sp>
      <p:sp>
        <p:nvSpPr>
          <p:cNvPr id="19" name="Shape 17"/>
          <p:cNvSpPr/>
          <p:nvPr/>
        </p:nvSpPr>
        <p:spPr>
          <a:xfrm>
            <a:off x="640080" y="3840480"/>
            <a:ext cx="5303520" cy="1828800"/>
          </a:xfrm>
          <a:prstGeom prst="roundRect">
            <a:avLst>
              <a:gd name="adj" fmla="val 6670"/>
            </a:avLst>
          </a:prstGeom>
          <a:solidFill>
            <a:srgbClr val="F3F5F9"/>
          </a:solidFill>
          <a:ln w="12700">
            <a:solidFill>
              <a:srgbClr val="E2E7EF"/>
            </a:solidFill>
            <a:prstDash val="solid"/>
          </a:ln>
        </p:spPr>
      </p:sp>
      <p:sp>
        <p:nvSpPr>
          <p:cNvPr id="20" name="Shape 18"/>
          <p:cNvSpPr/>
          <p:nvPr/>
        </p:nvSpPr>
        <p:spPr>
          <a:xfrm>
            <a:off x="914400" y="4133088"/>
            <a:ext cx="402336" cy="402336"/>
          </a:xfrm>
          <a:prstGeom prst="ellipse">
            <a:avLst/>
          </a:prstGeom>
          <a:solidFill>
            <a:srgbClr val="E6E2FA"/>
          </a:solidFill>
          <a:ln/>
        </p:spPr>
      </p:sp>
      <p:sp>
        <p:nvSpPr>
          <p:cNvPr id="21" name="Text 19"/>
          <p:cNvSpPr txBox="1"/>
          <p:nvPr/>
        </p:nvSpPr>
        <p:spPr>
          <a:xfrm>
            <a:off x="914400" y="4133088"/>
            <a:ext cx="402336" cy="402336"/>
          </a:xfrm>
          <a:prstGeom prst="rect">
            <a:avLst/>
          </a:prstGeom>
          <a:noFill/>
          <a:ln/>
        </p:spPr>
        <p:txBody>
          <a:bodyPr wrap="square" lIns="0" tIns="0" rIns="0" bIns="0" rtlCol="0" anchor="ctr"/>
          <a:lstStyle/>
          <a:p>
            <a:pPr algn="ctr" indent="0" marL="0">
              <a:buNone/>
            </a:pPr>
            <a:r>
              <a:rPr lang="en-US" sz="1400" b="1" dirty="0">
                <a:solidFill>
                  <a:srgbClr val="6B58CC"/>
                </a:solidFill>
                <a:latin typeface="Courier New" pitchFamily="34" charset="0"/>
                <a:ea typeface="Courier New" pitchFamily="34" charset="-122"/>
                <a:cs typeface="Courier New" pitchFamily="34" charset="-120"/>
              </a:rPr>
              <a:t>3</a:t>
            </a:r>
            <a:endParaRPr lang="en-US" sz="1400" dirty="0"/>
          </a:p>
        </p:txBody>
      </p:sp>
      <p:sp>
        <p:nvSpPr>
          <p:cNvPr id="22" name="Text 20"/>
          <p:cNvSpPr txBox="1"/>
          <p:nvPr/>
        </p:nvSpPr>
        <p:spPr>
          <a:xfrm>
            <a:off x="1508760" y="4114800"/>
            <a:ext cx="4206240" cy="457200"/>
          </a:xfrm>
          <a:prstGeom prst="rect">
            <a:avLst/>
          </a:prstGeom>
          <a:noFill/>
          <a:ln/>
        </p:spPr>
        <p:txBody>
          <a:bodyPr wrap="square" lIns="0" tIns="0" rIns="0" bIns="0" rtlCol="0" anchor="ctr"/>
          <a:lstStyle/>
          <a:p>
            <a:pPr algn="l" indent="0" marL="0">
              <a:buNone/>
            </a:pPr>
            <a:r>
              <a:rPr lang="en-US" sz="2100" b="1" dirty="0">
                <a:solidFill>
                  <a:srgbClr val="0F1622"/>
                </a:solidFill>
                <a:latin typeface="Arial" pitchFamily="34" charset="0"/>
                <a:ea typeface="Arial" pitchFamily="34" charset="-122"/>
                <a:cs typeface="Arial" pitchFamily="34" charset="-120"/>
              </a:rPr>
              <a:t>What does INT 21h do?</a:t>
            </a:r>
            <a:endParaRPr lang="en-US" sz="2100" dirty="0"/>
          </a:p>
        </p:txBody>
      </p:sp>
      <p:sp>
        <p:nvSpPr>
          <p:cNvPr id="23" name="Shape 21"/>
          <p:cNvSpPr/>
          <p:nvPr/>
        </p:nvSpPr>
        <p:spPr>
          <a:xfrm>
            <a:off x="1508760" y="4828032"/>
            <a:ext cx="2926080" cy="475488"/>
          </a:xfrm>
          <a:prstGeom prst="roundRect">
            <a:avLst>
              <a:gd name="adj" fmla="val 6670"/>
            </a:avLst>
          </a:prstGeom>
          <a:solidFill>
            <a:srgbClr val="121A29"/>
          </a:solidFill>
          <a:ln w="12700">
            <a:solidFill>
              <a:srgbClr val="2B3850"/>
            </a:solidFill>
            <a:prstDash val="solid"/>
          </a:ln>
        </p:spPr>
      </p:sp>
      <p:sp>
        <p:nvSpPr>
          <p:cNvPr id="24" name="Text 22"/>
          <p:cNvSpPr txBox="1"/>
          <p:nvPr/>
        </p:nvSpPr>
        <p:spPr>
          <a:xfrm>
            <a:off x="1691640" y="4828032"/>
            <a:ext cx="2651760" cy="475488"/>
          </a:xfrm>
          <a:prstGeom prst="rect">
            <a:avLst/>
          </a:prstGeom>
          <a:noFill/>
          <a:ln/>
        </p:spPr>
        <p:txBody>
          <a:bodyPr wrap="square" lIns="0" tIns="0" rIns="0" bIns="0" rtlCol="0" anchor="ctr"/>
          <a:lstStyle/>
          <a:p>
            <a:pPr algn="l" indent="0" marL="0">
              <a:buNone/>
            </a:pPr>
            <a:r>
              <a:rPr lang="en-US" sz="1400" b="1" dirty="0">
                <a:solidFill>
                  <a:srgbClr val="EDA63F"/>
                </a:solidFill>
                <a:latin typeface="Courier New" pitchFamily="34" charset="0"/>
                <a:ea typeface="Courier New" pitchFamily="34" charset="-122"/>
                <a:cs typeface="Courier New" pitchFamily="34" charset="-120"/>
              </a:rPr>
              <a:t>int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9584E8"/>
                </a:solidFill>
                <a:latin typeface="Courier New" pitchFamily="34" charset="0"/>
                <a:ea typeface="Courier New" pitchFamily="34" charset="-122"/>
                <a:cs typeface="Courier New" pitchFamily="34" charset="-120"/>
              </a:rPr>
              <a:t>21h</a:t>
            </a:r>
            <a:endParaRPr lang="en-US" sz="1400" dirty="0"/>
          </a:p>
        </p:txBody>
      </p:sp>
      <p:sp>
        <p:nvSpPr>
          <p:cNvPr id="25" name="Shape 23"/>
          <p:cNvSpPr/>
          <p:nvPr/>
        </p:nvSpPr>
        <p:spPr>
          <a:xfrm>
            <a:off x="6245352" y="3840480"/>
            <a:ext cx="5303520" cy="1828800"/>
          </a:xfrm>
          <a:prstGeom prst="roundRect">
            <a:avLst>
              <a:gd name="adj" fmla="val 6670"/>
            </a:avLst>
          </a:prstGeom>
          <a:solidFill>
            <a:srgbClr val="F3F5F9"/>
          </a:solidFill>
          <a:ln w="12700">
            <a:solidFill>
              <a:srgbClr val="E2E7EF"/>
            </a:solidFill>
            <a:prstDash val="solid"/>
          </a:ln>
        </p:spPr>
      </p:sp>
      <p:sp>
        <p:nvSpPr>
          <p:cNvPr id="26" name="Shape 24"/>
          <p:cNvSpPr/>
          <p:nvPr/>
        </p:nvSpPr>
        <p:spPr>
          <a:xfrm>
            <a:off x="6519672" y="4133088"/>
            <a:ext cx="402336" cy="402336"/>
          </a:xfrm>
          <a:prstGeom prst="ellipse">
            <a:avLst/>
          </a:prstGeom>
          <a:solidFill>
            <a:srgbClr val="DBEDE3"/>
          </a:solidFill>
          <a:ln/>
        </p:spPr>
      </p:sp>
      <p:sp>
        <p:nvSpPr>
          <p:cNvPr id="27" name="Text 25"/>
          <p:cNvSpPr txBox="1"/>
          <p:nvPr/>
        </p:nvSpPr>
        <p:spPr>
          <a:xfrm>
            <a:off x="6519672" y="4133088"/>
            <a:ext cx="402336" cy="402336"/>
          </a:xfrm>
          <a:prstGeom prst="rect">
            <a:avLst/>
          </a:prstGeom>
          <a:noFill/>
          <a:ln/>
        </p:spPr>
        <p:txBody>
          <a:bodyPr wrap="square" lIns="0" tIns="0" rIns="0" bIns="0" rtlCol="0" anchor="ctr"/>
          <a:lstStyle/>
          <a:p>
            <a:pPr algn="ctr" indent="0" marL="0">
              <a:buNone/>
            </a:pPr>
            <a:r>
              <a:rPr lang="en-US" sz="1400" b="1" dirty="0">
                <a:solidFill>
                  <a:srgbClr val="37865F"/>
                </a:solidFill>
                <a:latin typeface="Courier New" pitchFamily="34" charset="0"/>
                <a:ea typeface="Courier New" pitchFamily="34" charset="-122"/>
                <a:cs typeface="Courier New" pitchFamily="34" charset="-120"/>
              </a:rPr>
              <a:t>4</a:t>
            </a:r>
            <a:endParaRPr lang="en-US" sz="1400" dirty="0"/>
          </a:p>
        </p:txBody>
      </p:sp>
      <p:sp>
        <p:nvSpPr>
          <p:cNvPr id="28" name="Text 26"/>
          <p:cNvSpPr txBox="1"/>
          <p:nvPr/>
        </p:nvSpPr>
        <p:spPr>
          <a:xfrm>
            <a:off x="7114032" y="4114800"/>
            <a:ext cx="4206240" cy="457200"/>
          </a:xfrm>
          <a:prstGeom prst="rect">
            <a:avLst/>
          </a:prstGeom>
          <a:noFill/>
          <a:ln/>
        </p:spPr>
        <p:txBody>
          <a:bodyPr wrap="square" lIns="0" tIns="0" rIns="0" bIns="0" rtlCol="0" anchor="ctr"/>
          <a:lstStyle/>
          <a:p>
            <a:pPr algn="l" indent="0" marL="0">
              <a:buNone/>
            </a:pPr>
            <a:r>
              <a:rPr lang="en-US" sz="2100" b="1" dirty="0">
                <a:solidFill>
                  <a:srgbClr val="0F1622"/>
                </a:solidFill>
                <a:latin typeface="Arial" pitchFamily="34" charset="0"/>
                <a:ea typeface="Arial" pitchFamily="34" charset="-122"/>
                <a:cs typeface="Arial" pitchFamily="34" charset="-120"/>
              </a:rPr>
              <a:t>How do we move to a new line?</a:t>
            </a:r>
            <a:endParaRPr lang="en-US" sz="2100" dirty="0"/>
          </a:p>
        </p:txBody>
      </p:sp>
      <p:sp>
        <p:nvSpPr>
          <p:cNvPr id="29" name="Shape 27"/>
          <p:cNvSpPr/>
          <p:nvPr/>
        </p:nvSpPr>
        <p:spPr>
          <a:xfrm>
            <a:off x="7114032" y="4828032"/>
            <a:ext cx="2926080" cy="475488"/>
          </a:xfrm>
          <a:prstGeom prst="roundRect">
            <a:avLst>
              <a:gd name="adj" fmla="val 6670"/>
            </a:avLst>
          </a:prstGeom>
          <a:solidFill>
            <a:srgbClr val="121A29"/>
          </a:solidFill>
          <a:ln w="12700">
            <a:solidFill>
              <a:srgbClr val="2B3850"/>
            </a:solidFill>
            <a:prstDash val="solid"/>
          </a:ln>
        </p:spPr>
      </p:sp>
      <p:sp>
        <p:nvSpPr>
          <p:cNvPr id="30" name="Text 28"/>
          <p:cNvSpPr txBox="1"/>
          <p:nvPr/>
        </p:nvSpPr>
        <p:spPr>
          <a:xfrm>
            <a:off x="7296912" y="4828032"/>
            <a:ext cx="2651760" cy="475488"/>
          </a:xfrm>
          <a:prstGeom prst="rect">
            <a:avLst/>
          </a:prstGeom>
          <a:noFill/>
          <a:ln/>
        </p:spPr>
        <p:txBody>
          <a:bodyPr wrap="square" lIns="0" tIns="0" rIns="0" bIns="0" rtlCol="0" anchor="ctr"/>
          <a:lstStyle/>
          <a:p>
            <a:pPr algn="l" indent="0" marL="0">
              <a:buNone/>
            </a:pPr>
            <a:r>
              <a:rPr lang="en-US" sz="1400" b="1" dirty="0">
                <a:solidFill>
                  <a:srgbClr val="EDA63F"/>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3EB9CE"/>
                </a:solidFill>
                <a:latin typeface="Courier New" pitchFamily="34" charset="0"/>
                <a:ea typeface="Courier New" pitchFamily="34" charset="-122"/>
                <a:cs typeface="Courier New" pitchFamily="34" charset="-120"/>
              </a:rPr>
              <a:t>dl</a:t>
            </a:r>
            <a:pPr algn="l" indent="0" marL="0">
              <a:buNone/>
            </a:pPr>
            <a:r>
              <a:rPr lang="en-US" sz="1400" dirty="0">
                <a:solidFill>
                  <a:srgbClr val="F0F3F8"/>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F0F3F8"/>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6B7A93"/>
                </a:solidFill>
                <a:latin typeface="Courier New" pitchFamily="34" charset="0"/>
                <a:ea typeface="Courier New" pitchFamily="34" charset="-122"/>
                <a:cs typeface="Courier New" pitchFamily="34" charset="-120"/>
              </a:rPr>
              <a:t>; twice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5C6B83"/>
                </a:solidFill>
                <a:latin typeface="Courier New" pitchFamily="34" charset="0"/>
                <a:ea typeface="Courier New" pitchFamily="34" charset="-122"/>
                <a:cs typeface="Courier New" pitchFamily="34" charset="-120"/>
              </a:rPr>
              <a:t>PRACTICAL</a:t>
            </a:r>
            <a:endParaRPr lang="en-US" sz="1050" dirty="0"/>
          </a:p>
        </p:txBody>
      </p:sp>
      <p:sp>
        <p:nvSpPr>
          <p:cNvPr id="3" name="Text 1"/>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5C6B83"/>
                </a:solidFill>
                <a:latin typeface="Courier New" pitchFamily="34" charset="0"/>
                <a:ea typeface="Courier New" pitchFamily="34" charset="-122"/>
                <a:cs typeface="Courier New" pitchFamily="34" charset="-120"/>
              </a:rPr>
              <a:t>COAL  ·  LAB 02</a:t>
            </a:r>
            <a:endParaRPr lang="en-US" sz="900" dirty="0"/>
          </a:p>
        </p:txBody>
      </p:sp>
      <p:sp>
        <p:nvSpPr>
          <p:cNvPr id="4" name="Text 2"/>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5C6B83"/>
                </a:solidFill>
                <a:latin typeface="Courier New" pitchFamily="34" charset="0"/>
                <a:ea typeface="Courier New" pitchFamily="34" charset="-122"/>
                <a:cs typeface="Courier New" pitchFamily="34" charset="-120"/>
              </a:rPr>
              <a:t>13</a:t>
            </a:r>
            <a:endParaRPr lang="en-US" sz="900" dirty="0"/>
          </a:p>
        </p:txBody>
      </p:sp>
      <p:sp>
        <p:nvSpPr>
          <p:cNvPr id="5" name="Text 3"/>
          <p:cNvSpPr txBox="1"/>
          <p:nvPr/>
        </p:nvSpPr>
        <p:spPr>
          <a:xfrm>
            <a:off x="640080" y="777240"/>
            <a:ext cx="10908792" cy="822960"/>
          </a:xfrm>
          <a:prstGeom prst="rect">
            <a:avLst/>
          </a:prstGeom>
          <a:noFill/>
          <a:ln/>
        </p:spPr>
        <p:txBody>
          <a:bodyPr wrap="square" lIns="0" tIns="0" rIns="0" bIns="0" rtlCol="0" anchor="t"/>
          <a:lstStyle/>
          <a:p>
            <a:pPr algn="l" indent="0" marL="0">
              <a:buNone/>
            </a:pPr>
            <a:r>
              <a:rPr lang="en-US" sz="4400" b="1" dirty="0">
                <a:solidFill>
                  <a:srgbClr val="F0F3F8"/>
                </a:solidFill>
                <a:latin typeface="Arial" pitchFamily="34" charset="0"/>
                <a:ea typeface="Arial" pitchFamily="34" charset="-122"/>
                <a:cs typeface="Arial" pitchFamily="34" charset="-120"/>
              </a:rPr>
              <a:t>Now you code.</a:t>
            </a:r>
            <a:endParaRPr lang="en-US" sz="4400" dirty="0"/>
          </a:p>
        </p:txBody>
      </p:sp>
      <p:sp>
        <p:nvSpPr>
          <p:cNvPr id="6" name="Text 4"/>
          <p:cNvSpPr txBox="1"/>
          <p:nvPr/>
        </p:nvSpPr>
        <p:spPr>
          <a:xfrm>
            <a:off x="640080" y="1645920"/>
            <a:ext cx="10908792" cy="365760"/>
          </a:xfrm>
          <a:prstGeom prst="rect">
            <a:avLst/>
          </a:prstGeom>
          <a:noFill/>
          <a:ln/>
        </p:spPr>
        <p:txBody>
          <a:bodyPr wrap="square" lIns="0" tIns="0" rIns="0" bIns="0" rtlCol="0" anchor="t"/>
          <a:lstStyle/>
          <a:p>
            <a:pPr algn="l" indent="0" marL="0">
              <a:buNone/>
            </a:pPr>
            <a:r>
              <a:rPr lang="en-US" sz="1600" dirty="0">
                <a:solidFill>
                  <a:srgbClr val="94A3B8"/>
                </a:solidFill>
                <a:latin typeface="Calibri" pitchFamily="34" charset="0"/>
                <a:ea typeface="Calibri" pitchFamily="34" charset="-122"/>
                <a:cs typeface="Calibri" pitchFamily="34" charset="-120"/>
              </a:rPr>
              <a:t>Open EMU8086 and type every example yourself. No copy and paste: typing it is how it sticks.</a:t>
            </a:r>
            <a:endParaRPr lang="en-US" sz="1600" dirty="0"/>
          </a:p>
        </p:txBody>
      </p:sp>
      <p:sp>
        <p:nvSpPr>
          <p:cNvPr id="7" name="Shape 5"/>
          <p:cNvSpPr/>
          <p:nvPr/>
        </p:nvSpPr>
        <p:spPr>
          <a:xfrm>
            <a:off x="640080" y="2377440"/>
            <a:ext cx="5394960" cy="2926080"/>
          </a:xfrm>
          <a:prstGeom prst="roundRect">
            <a:avLst>
              <a:gd name="adj" fmla="val 6670"/>
            </a:avLst>
          </a:prstGeom>
          <a:solidFill>
            <a:srgbClr val="182132"/>
          </a:solidFill>
          <a:ln w="12700">
            <a:solidFill>
              <a:srgbClr val="2A3548"/>
            </a:solidFill>
            <a:prstDash val="solid"/>
          </a:ln>
        </p:spPr>
      </p:sp>
      <p:sp>
        <p:nvSpPr>
          <p:cNvPr id="8" name="Text 6"/>
          <p:cNvSpPr txBox="1"/>
          <p:nvPr/>
        </p:nvSpPr>
        <p:spPr>
          <a:xfrm>
            <a:off x="950976" y="2596896"/>
            <a:ext cx="3657600" cy="219456"/>
          </a:xfrm>
          <a:prstGeom prst="rect">
            <a:avLst/>
          </a:prstGeom>
          <a:noFill/>
          <a:ln/>
        </p:spPr>
        <p:txBody>
          <a:bodyPr wrap="square" lIns="0" tIns="0" rIns="0" bIns="0" rtlCol="0" anchor="t"/>
          <a:lstStyle/>
          <a:p>
            <a:pPr algn="l" indent="0" marL="0">
              <a:buNone/>
            </a:pPr>
            <a:r>
              <a:rPr lang="en-US" sz="950" b="1" spc="130" kern="0" dirty="0">
                <a:solidFill>
                  <a:srgbClr val="EDA63F"/>
                </a:solidFill>
                <a:latin typeface="Courier New" pitchFamily="34" charset="0"/>
                <a:ea typeface="Courier New" pitchFamily="34" charset="-122"/>
                <a:cs typeface="Courier New" pitchFamily="34" charset="-120"/>
              </a:rPr>
              <a:t>IN EMU8086</a:t>
            </a:r>
            <a:endParaRPr lang="en-US" sz="950" dirty="0"/>
          </a:p>
        </p:txBody>
      </p:sp>
      <p:sp>
        <p:nvSpPr>
          <p:cNvPr id="9" name="Shape 7"/>
          <p:cNvSpPr/>
          <p:nvPr/>
        </p:nvSpPr>
        <p:spPr>
          <a:xfrm>
            <a:off x="950976" y="3035808"/>
            <a:ext cx="274320" cy="274320"/>
          </a:xfrm>
          <a:prstGeom prst="ellipse">
            <a:avLst/>
          </a:prstGeom>
          <a:solidFill>
            <a:srgbClr val="0E1420"/>
          </a:solidFill>
          <a:ln/>
        </p:spPr>
      </p:sp>
      <p:sp>
        <p:nvSpPr>
          <p:cNvPr id="10" name="Text 8"/>
          <p:cNvSpPr txBox="1"/>
          <p:nvPr/>
        </p:nvSpPr>
        <p:spPr>
          <a:xfrm>
            <a:off x="950976" y="3035808"/>
            <a:ext cx="274320" cy="274320"/>
          </a:xfrm>
          <a:prstGeom prst="rect">
            <a:avLst/>
          </a:prstGeom>
          <a:noFill/>
          <a:ln/>
        </p:spPr>
        <p:txBody>
          <a:bodyPr wrap="square" lIns="0" tIns="0" rIns="0" bIns="0" rtlCol="0" anchor="ctr"/>
          <a:lstStyle/>
          <a:p>
            <a:pPr algn="ctr" indent="0" marL="0">
              <a:buNone/>
            </a:pPr>
            <a:r>
              <a:rPr lang="en-US" sz="1000" b="1" dirty="0">
                <a:solidFill>
                  <a:srgbClr val="3EB9CE"/>
                </a:solidFill>
                <a:latin typeface="Courier New" pitchFamily="34" charset="0"/>
                <a:ea typeface="Courier New" pitchFamily="34" charset="-122"/>
                <a:cs typeface="Courier New" pitchFamily="34" charset="-120"/>
              </a:rPr>
              <a:t>1</a:t>
            </a:r>
            <a:endParaRPr lang="en-US" sz="1000" dirty="0"/>
          </a:p>
        </p:txBody>
      </p:sp>
      <p:sp>
        <p:nvSpPr>
          <p:cNvPr id="11" name="Text 9"/>
          <p:cNvSpPr txBox="1"/>
          <p:nvPr/>
        </p:nvSpPr>
        <p:spPr>
          <a:xfrm>
            <a:off x="1371600" y="2980944"/>
            <a:ext cx="4480560" cy="365760"/>
          </a:xfrm>
          <a:prstGeom prst="rect">
            <a:avLst/>
          </a:prstGeom>
          <a:noFill/>
          <a:ln/>
        </p:spPr>
        <p:txBody>
          <a:bodyPr wrap="square" lIns="0" tIns="0" rIns="0" bIns="0" rtlCol="0" anchor="ctr"/>
          <a:lstStyle/>
          <a:p>
            <a:pPr algn="l" indent="0" marL="0">
              <a:buNone/>
            </a:pPr>
            <a:r>
              <a:rPr lang="en-US" sz="1400" dirty="0">
                <a:solidFill>
                  <a:srgbClr val="94A3B8"/>
                </a:solidFill>
                <a:latin typeface="Calibri" pitchFamily="34" charset="0"/>
                <a:ea typeface="Calibri" pitchFamily="34" charset="-122"/>
                <a:cs typeface="Calibri" pitchFamily="34" charset="-120"/>
              </a:rPr>
              <a:t>Click </a:t>
            </a:r>
            <a:pPr algn="l" indent="0" marL="0">
              <a:buNone/>
            </a:pPr>
            <a:r>
              <a:rPr lang="en-US" sz="1400" b="1" dirty="0">
                <a:solidFill>
                  <a:srgbClr val="F0F3F8"/>
                </a:solidFill>
                <a:latin typeface="Courier New" pitchFamily="34" charset="0"/>
                <a:ea typeface="Courier New" pitchFamily="34" charset="-122"/>
                <a:cs typeface="Courier New" pitchFamily="34" charset="-120"/>
              </a:rPr>
              <a:t>new</a:t>
            </a:r>
            <a:pPr algn="l" indent="0" marL="0">
              <a:buNone/>
            </a:pPr>
            <a:r>
              <a:rPr lang="en-US" sz="1400" dirty="0">
                <a:solidFill>
                  <a:srgbClr val="94A3B8"/>
                </a:solidFill>
                <a:latin typeface="Calibri" pitchFamily="34" charset="0"/>
                <a:ea typeface="Calibri" pitchFamily="34" charset="-122"/>
                <a:cs typeface="Calibri" pitchFamily="34" charset="-120"/>
              </a:rPr>
              <a:t>, then choose </a:t>
            </a:r>
            <a:pPr algn="l" indent="0" marL="0">
              <a:buNone/>
            </a:pPr>
            <a:r>
              <a:rPr lang="en-US" sz="1400" b="1" dirty="0">
                <a:solidFill>
                  <a:srgbClr val="F0F3F8"/>
                </a:solidFill>
                <a:latin typeface="Calibri" pitchFamily="34" charset="0"/>
                <a:ea typeface="Calibri" pitchFamily="34" charset="-122"/>
                <a:cs typeface="Calibri" pitchFamily="34" charset="-120"/>
              </a:rPr>
              <a:t>empty workspace</a:t>
            </a:r>
            <a:pPr algn="l" indent="0" marL="0">
              <a:buNone/>
            </a:pPr>
            <a:r>
              <a:rPr lang="en-US" sz="1400" dirty="0">
                <a:solidFill>
                  <a:srgbClr val="94A3B8"/>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950976" y="3584448"/>
            <a:ext cx="274320" cy="274320"/>
          </a:xfrm>
          <a:prstGeom prst="ellipse">
            <a:avLst/>
          </a:prstGeom>
          <a:solidFill>
            <a:srgbClr val="0E1420"/>
          </a:solidFill>
          <a:ln/>
        </p:spPr>
      </p:sp>
      <p:sp>
        <p:nvSpPr>
          <p:cNvPr id="13" name="Text 11"/>
          <p:cNvSpPr txBox="1"/>
          <p:nvPr/>
        </p:nvSpPr>
        <p:spPr>
          <a:xfrm>
            <a:off x="950976" y="3584448"/>
            <a:ext cx="274320" cy="274320"/>
          </a:xfrm>
          <a:prstGeom prst="rect">
            <a:avLst/>
          </a:prstGeom>
          <a:noFill/>
          <a:ln/>
        </p:spPr>
        <p:txBody>
          <a:bodyPr wrap="square" lIns="0" tIns="0" rIns="0" bIns="0" rtlCol="0" anchor="ctr"/>
          <a:lstStyle/>
          <a:p>
            <a:pPr algn="ctr" indent="0" marL="0">
              <a:buNone/>
            </a:pPr>
            <a:r>
              <a:rPr lang="en-US" sz="1000" b="1" dirty="0">
                <a:solidFill>
                  <a:srgbClr val="3EB9CE"/>
                </a:solidFill>
                <a:latin typeface="Courier New" pitchFamily="34" charset="0"/>
                <a:ea typeface="Courier New" pitchFamily="34" charset="-122"/>
                <a:cs typeface="Courier New" pitchFamily="34" charset="-120"/>
              </a:rPr>
              <a:t>2</a:t>
            </a:r>
            <a:endParaRPr lang="en-US" sz="1000" dirty="0"/>
          </a:p>
        </p:txBody>
      </p:sp>
      <p:sp>
        <p:nvSpPr>
          <p:cNvPr id="14" name="Text 12"/>
          <p:cNvSpPr txBox="1"/>
          <p:nvPr/>
        </p:nvSpPr>
        <p:spPr>
          <a:xfrm>
            <a:off x="1371600" y="3529584"/>
            <a:ext cx="4480560" cy="365760"/>
          </a:xfrm>
          <a:prstGeom prst="rect">
            <a:avLst/>
          </a:prstGeom>
          <a:noFill/>
          <a:ln/>
        </p:spPr>
        <p:txBody>
          <a:bodyPr wrap="square" lIns="0" tIns="0" rIns="0" bIns="0" rtlCol="0" anchor="ctr"/>
          <a:lstStyle/>
          <a:p>
            <a:pPr algn="l" indent="0" marL="0">
              <a:buNone/>
            </a:pPr>
            <a:r>
              <a:rPr lang="en-US" sz="1400" dirty="0">
                <a:solidFill>
                  <a:srgbClr val="94A3B8"/>
                </a:solidFill>
                <a:latin typeface="Calibri" pitchFamily="34" charset="0"/>
                <a:ea typeface="Calibri" pitchFamily="34" charset="-122"/>
                <a:cs typeface="Calibri" pitchFamily="34" charset="-120"/>
              </a:rPr>
              <a:t>Type the code from your handout.</a:t>
            </a:r>
            <a:endParaRPr lang="en-US" sz="1400" dirty="0"/>
          </a:p>
        </p:txBody>
      </p:sp>
      <p:sp>
        <p:nvSpPr>
          <p:cNvPr id="15" name="Shape 13"/>
          <p:cNvSpPr/>
          <p:nvPr/>
        </p:nvSpPr>
        <p:spPr>
          <a:xfrm>
            <a:off x="950976" y="4133088"/>
            <a:ext cx="274320" cy="274320"/>
          </a:xfrm>
          <a:prstGeom prst="ellipse">
            <a:avLst/>
          </a:prstGeom>
          <a:solidFill>
            <a:srgbClr val="0E1420"/>
          </a:solidFill>
          <a:ln/>
        </p:spPr>
      </p:sp>
      <p:sp>
        <p:nvSpPr>
          <p:cNvPr id="16" name="Text 14"/>
          <p:cNvSpPr txBox="1"/>
          <p:nvPr/>
        </p:nvSpPr>
        <p:spPr>
          <a:xfrm>
            <a:off x="950976" y="4133088"/>
            <a:ext cx="274320" cy="274320"/>
          </a:xfrm>
          <a:prstGeom prst="rect">
            <a:avLst/>
          </a:prstGeom>
          <a:noFill/>
          <a:ln/>
        </p:spPr>
        <p:txBody>
          <a:bodyPr wrap="square" lIns="0" tIns="0" rIns="0" bIns="0" rtlCol="0" anchor="ctr"/>
          <a:lstStyle/>
          <a:p>
            <a:pPr algn="ctr" indent="0" marL="0">
              <a:buNone/>
            </a:pPr>
            <a:r>
              <a:rPr lang="en-US" sz="1000" b="1" dirty="0">
                <a:solidFill>
                  <a:srgbClr val="3EB9CE"/>
                </a:solidFill>
                <a:latin typeface="Courier New" pitchFamily="34" charset="0"/>
                <a:ea typeface="Courier New" pitchFamily="34" charset="-122"/>
                <a:cs typeface="Courier New" pitchFamily="34" charset="-120"/>
              </a:rPr>
              <a:t>3</a:t>
            </a:r>
            <a:endParaRPr lang="en-US" sz="1000" dirty="0"/>
          </a:p>
        </p:txBody>
      </p:sp>
      <p:sp>
        <p:nvSpPr>
          <p:cNvPr id="17" name="Text 15"/>
          <p:cNvSpPr txBox="1"/>
          <p:nvPr/>
        </p:nvSpPr>
        <p:spPr>
          <a:xfrm>
            <a:off x="1371600" y="4078224"/>
            <a:ext cx="4480560" cy="365760"/>
          </a:xfrm>
          <a:prstGeom prst="rect">
            <a:avLst/>
          </a:prstGeom>
          <a:noFill/>
          <a:ln/>
        </p:spPr>
        <p:txBody>
          <a:bodyPr wrap="square" lIns="0" tIns="0" rIns="0" bIns="0" rtlCol="0" anchor="ctr"/>
          <a:lstStyle/>
          <a:p>
            <a:pPr algn="l" indent="0" marL="0">
              <a:buNone/>
            </a:pPr>
            <a:r>
              <a:rPr lang="en-US" sz="1400" dirty="0">
                <a:solidFill>
                  <a:srgbClr val="94A3B8"/>
                </a:solidFill>
                <a:latin typeface="Calibri" pitchFamily="34" charset="0"/>
                <a:ea typeface="Calibri" pitchFamily="34" charset="-122"/>
                <a:cs typeface="Calibri" pitchFamily="34" charset="-120"/>
              </a:rPr>
              <a:t>Click </a:t>
            </a:r>
            <a:pPr algn="l" indent="0" marL="0">
              <a:buNone/>
            </a:pPr>
            <a:r>
              <a:rPr lang="en-US" sz="1400" b="1" dirty="0">
                <a:solidFill>
                  <a:srgbClr val="F0F3F8"/>
                </a:solidFill>
                <a:latin typeface="Courier New" pitchFamily="34" charset="0"/>
                <a:ea typeface="Courier New" pitchFamily="34" charset="-122"/>
                <a:cs typeface="Courier New" pitchFamily="34" charset="-120"/>
              </a:rPr>
              <a:t>emulate</a:t>
            </a:r>
            <a:pPr algn="l" indent="0" marL="0">
              <a:buNone/>
            </a:pPr>
            <a:r>
              <a:rPr lang="en-US" sz="1400" dirty="0">
                <a:solidFill>
                  <a:srgbClr val="94A3B8"/>
                </a:solidFill>
                <a:latin typeface="Calibri" pitchFamily="34" charset="0"/>
                <a:ea typeface="Calibri" pitchFamily="34" charset="-122"/>
                <a:cs typeface="Calibri" pitchFamily="34" charset="-120"/>
              </a:rPr>
              <a:t>. Fix any errors it reports.</a:t>
            </a:r>
            <a:endParaRPr lang="en-US" sz="1400" dirty="0"/>
          </a:p>
        </p:txBody>
      </p:sp>
      <p:sp>
        <p:nvSpPr>
          <p:cNvPr id="18" name="Shape 16"/>
          <p:cNvSpPr/>
          <p:nvPr/>
        </p:nvSpPr>
        <p:spPr>
          <a:xfrm>
            <a:off x="950976" y="4681728"/>
            <a:ext cx="274320" cy="274320"/>
          </a:xfrm>
          <a:prstGeom prst="ellipse">
            <a:avLst/>
          </a:prstGeom>
          <a:solidFill>
            <a:srgbClr val="0E1420"/>
          </a:solidFill>
          <a:ln/>
        </p:spPr>
      </p:sp>
      <p:sp>
        <p:nvSpPr>
          <p:cNvPr id="19" name="Text 17"/>
          <p:cNvSpPr txBox="1"/>
          <p:nvPr/>
        </p:nvSpPr>
        <p:spPr>
          <a:xfrm>
            <a:off x="950976" y="4681728"/>
            <a:ext cx="274320" cy="274320"/>
          </a:xfrm>
          <a:prstGeom prst="rect">
            <a:avLst/>
          </a:prstGeom>
          <a:noFill/>
          <a:ln/>
        </p:spPr>
        <p:txBody>
          <a:bodyPr wrap="square" lIns="0" tIns="0" rIns="0" bIns="0" rtlCol="0" anchor="ctr"/>
          <a:lstStyle/>
          <a:p>
            <a:pPr algn="ctr" indent="0" marL="0">
              <a:buNone/>
            </a:pPr>
            <a:r>
              <a:rPr lang="en-US" sz="1000" b="1" dirty="0">
                <a:solidFill>
                  <a:srgbClr val="3EB9CE"/>
                </a:solidFill>
                <a:latin typeface="Courier New" pitchFamily="34" charset="0"/>
                <a:ea typeface="Courier New" pitchFamily="34" charset="-122"/>
                <a:cs typeface="Courier New" pitchFamily="34" charset="-120"/>
              </a:rPr>
              <a:t>4</a:t>
            </a:r>
            <a:endParaRPr lang="en-US" sz="1000" dirty="0"/>
          </a:p>
        </p:txBody>
      </p:sp>
      <p:sp>
        <p:nvSpPr>
          <p:cNvPr id="20" name="Text 18"/>
          <p:cNvSpPr txBox="1"/>
          <p:nvPr/>
        </p:nvSpPr>
        <p:spPr>
          <a:xfrm>
            <a:off x="1371600" y="4626864"/>
            <a:ext cx="4480560" cy="365760"/>
          </a:xfrm>
          <a:prstGeom prst="rect">
            <a:avLst/>
          </a:prstGeom>
          <a:noFill/>
          <a:ln/>
        </p:spPr>
        <p:txBody>
          <a:bodyPr wrap="square" lIns="0" tIns="0" rIns="0" bIns="0" rtlCol="0" anchor="ctr"/>
          <a:lstStyle/>
          <a:p>
            <a:pPr algn="l" indent="0" marL="0">
              <a:buNone/>
            </a:pPr>
            <a:r>
              <a:rPr lang="en-US" sz="1400" dirty="0">
                <a:solidFill>
                  <a:srgbClr val="94A3B8"/>
                </a:solidFill>
                <a:latin typeface="Calibri" pitchFamily="34" charset="0"/>
                <a:ea typeface="Calibri" pitchFamily="34" charset="-122"/>
                <a:cs typeface="Calibri" pitchFamily="34" charset="-120"/>
              </a:rPr>
              <a:t>Click </a:t>
            </a:r>
            <a:pPr algn="l" indent="0" marL="0">
              <a:buNone/>
            </a:pPr>
            <a:r>
              <a:rPr lang="en-US" sz="1400" b="1" dirty="0">
                <a:solidFill>
                  <a:srgbClr val="F0F3F8"/>
                </a:solidFill>
                <a:latin typeface="Courier New" pitchFamily="34" charset="0"/>
                <a:ea typeface="Courier New" pitchFamily="34" charset="-122"/>
                <a:cs typeface="Courier New" pitchFamily="34" charset="-120"/>
              </a:rPr>
              <a:t>run</a:t>
            </a:r>
            <a:pPr algn="l" indent="0" marL="0">
              <a:buNone/>
            </a:pPr>
            <a:r>
              <a:rPr lang="en-US" sz="1400" dirty="0">
                <a:solidFill>
                  <a:srgbClr val="94A3B8"/>
                </a:solidFill>
                <a:latin typeface="Calibri" pitchFamily="34" charset="0"/>
                <a:ea typeface="Calibri" pitchFamily="34" charset="-122"/>
                <a:cs typeface="Calibri" pitchFamily="34" charset="-120"/>
              </a:rPr>
              <a:t>. Your output appears in the emulator screen.</a:t>
            </a:r>
            <a:endParaRPr lang="en-US" sz="1400" dirty="0"/>
          </a:p>
        </p:txBody>
      </p:sp>
      <p:sp>
        <p:nvSpPr>
          <p:cNvPr id="21" name="Shape 19"/>
          <p:cNvSpPr/>
          <p:nvPr/>
        </p:nvSpPr>
        <p:spPr>
          <a:xfrm>
            <a:off x="6153912" y="2377440"/>
            <a:ext cx="5394960" cy="2926080"/>
          </a:xfrm>
          <a:prstGeom prst="roundRect">
            <a:avLst>
              <a:gd name="adj" fmla="val 6670"/>
            </a:avLst>
          </a:prstGeom>
          <a:solidFill>
            <a:srgbClr val="122A31"/>
          </a:solidFill>
          <a:ln w="12700">
            <a:solidFill>
              <a:srgbClr val="27505B"/>
            </a:solidFill>
            <a:prstDash val="solid"/>
          </a:ln>
        </p:spPr>
      </p:sp>
      <p:sp>
        <p:nvSpPr>
          <p:cNvPr id="22" name="Text 20"/>
          <p:cNvSpPr txBox="1"/>
          <p:nvPr/>
        </p:nvSpPr>
        <p:spPr>
          <a:xfrm>
            <a:off x="6464808" y="2596896"/>
            <a:ext cx="3657600" cy="219456"/>
          </a:xfrm>
          <a:prstGeom prst="rect">
            <a:avLst/>
          </a:prstGeom>
          <a:noFill/>
          <a:ln/>
        </p:spPr>
        <p:txBody>
          <a:bodyPr wrap="square" lIns="0" tIns="0" rIns="0" bIns="0" rtlCol="0" anchor="t"/>
          <a:lstStyle/>
          <a:p>
            <a:pPr algn="l" indent="0" marL="0">
              <a:buNone/>
            </a:pPr>
            <a:r>
              <a:rPr lang="en-US" sz="950" b="1" spc="130" kern="0" dirty="0">
                <a:solidFill>
                  <a:srgbClr val="3EB9CE"/>
                </a:solidFill>
                <a:latin typeface="Courier New" pitchFamily="34" charset="0"/>
                <a:ea typeface="Courier New" pitchFamily="34" charset="-122"/>
                <a:cs typeface="Courier New" pitchFamily="34" charset="-120"/>
              </a:rPr>
              <a:t>FOR EVERY EXAMPLE</a:t>
            </a:r>
            <a:endParaRPr lang="en-US" sz="950" dirty="0"/>
          </a:p>
        </p:txBody>
      </p:sp>
      <p:sp>
        <p:nvSpPr>
          <p:cNvPr id="23" name="Shape 21"/>
          <p:cNvSpPr/>
          <p:nvPr/>
        </p:nvSpPr>
        <p:spPr>
          <a:xfrm>
            <a:off x="6464808" y="3063240"/>
            <a:ext cx="2103120" cy="502920"/>
          </a:xfrm>
          <a:prstGeom prst="roundRect">
            <a:avLst>
              <a:gd name="adj" fmla="val 6670"/>
            </a:avLst>
          </a:prstGeom>
          <a:solidFill>
            <a:srgbClr val="0E1420"/>
          </a:solidFill>
          <a:ln w="12700">
            <a:solidFill>
              <a:srgbClr val="27505B"/>
            </a:solidFill>
            <a:prstDash val="solid"/>
          </a:ln>
        </p:spPr>
      </p:sp>
      <p:sp>
        <p:nvSpPr>
          <p:cNvPr id="24" name="Text 22"/>
          <p:cNvSpPr txBox="1"/>
          <p:nvPr/>
        </p:nvSpPr>
        <p:spPr>
          <a:xfrm>
            <a:off x="6464808" y="3063240"/>
            <a:ext cx="2103120" cy="502920"/>
          </a:xfrm>
          <a:prstGeom prst="rect">
            <a:avLst/>
          </a:prstGeom>
          <a:noFill/>
          <a:ln/>
        </p:spPr>
        <p:txBody>
          <a:bodyPr wrap="square" lIns="0" tIns="0" rIns="0" bIns="0" rtlCol="0" anchor="ctr"/>
          <a:lstStyle/>
          <a:p>
            <a:pPr algn="ctr" indent="0" marL="0">
              <a:buNone/>
            </a:pPr>
            <a:r>
              <a:rPr lang="en-US" sz="1400" b="1" dirty="0">
                <a:solidFill>
                  <a:srgbClr val="F0F3F8"/>
                </a:solidFill>
                <a:latin typeface="Calibri" pitchFamily="34" charset="0"/>
                <a:ea typeface="Calibri" pitchFamily="34" charset="-122"/>
                <a:cs typeface="Calibri" pitchFamily="34" charset="-120"/>
              </a:rPr>
              <a:t>1  Type it</a:t>
            </a:r>
            <a:endParaRPr lang="en-US" sz="1400" dirty="0"/>
          </a:p>
        </p:txBody>
      </p:sp>
      <p:sp>
        <p:nvSpPr>
          <p:cNvPr id="25" name="Shape 23"/>
          <p:cNvSpPr/>
          <p:nvPr/>
        </p:nvSpPr>
        <p:spPr>
          <a:xfrm>
            <a:off x="9116568" y="3063240"/>
            <a:ext cx="2103120" cy="502920"/>
          </a:xfrm>
          <a:prstGeom prst="roundRect">
            <a:avLst>
              <a:gd name="adj" fmla="val 6670"/>
            </a:avLst>
          </a:prstGeom>
          <a:solidFill>
            <a:srgbClr val="0E1420"/>
          </a:solidFill>
          <a:ln w="12700">
            <a:solidFill>
              <a:srgbClr val="27505B"/>
            </a:solidFill>
            <a:prstDash val="solid"/>
          </a:ln>
        </p:spPr>
      </p:sp>
      <p:sp>
        <p:nvSpPr>
          <p:cNvPr id="26" name="Text 24"/>
          <p:cNvSpPr txBox="1"/>
          <p:nvPr/>
        </p:nvSpPr>
        <p:spPr>
          <a:xfrm>
            <a:off x="9116568" y="3063240"/>
            <a:ext cx="2103120" cy="502920"/>
          </a:xfrm>
          <a:prstGeom prst="rect">
            <a:avLst/>
          </a:prstGeom>
          <a:noFill/>
          <a:ln/>
        </p:spPr>
        <p:txBody>
          <a:bodyPr wrap="square" lIns="0" tIns="0" rIns="0" bIns="0" rtlCol="0" anchor="ctr"/>
          <a:lstStyle/>
          <a:p>
            <a:pPr algn="ctr" indent="0" marL="0">
              <a:buNone/>
            </a:pPr>
            <a:r>
              <a:rPr lang="en-US" sz="1400" b="1" dirty="0">
                <a:solidFill>
                  <a:srgbClr val="F0F3F8"/>
                </a:solidFill>
                <a:latin typeface="Calibri" pitchFamily="34" charset="0"/>
                <a:ea typeface="Calibri" pitchFamily="34" charset="-122"/>
                <a:cs typeface="Calibri" pitchFamily="34" charset="-120"/>
              </a:rPr>
              <a:t>2  Run it</a:t>
            </a:r>
            <a:endParaRPr lang="en-US" sz="1400" dirty="0"/>
          </a:p>
        </p:txBody>
      </p:sp>
      <p:sp>
        <p:nvSpPr>
          <p:cNvPr id="27" name="Shape 25"/>
          <p:cNvSpPr/>
          <p:nvPr/>
        </p:nvSpPr>
        <p:spPr>
          <a:xfrm>
            <a:off x="9116568" y="4343400"/>
            <a:ext cx="2103120" cy="502920"/>
          </a:xfrm>
          <a:prstGeom prst="roundRect">
            <a:avLst>
              <a:gd name="adj" fmla="val 6670"/>
            </a:avLst>
          </a:prstGeom>
          <a:solidFill>
            <a:srgbClr val="0E1420"/>
          </a:solidFill>
          <a:ln w="12700">
            <a:solidFill>
              <a:srgbClr val="27505B"/>
            </a:solidFill>
            <a:prstDash val="solid"/>
          </a:ln>
        </p:spPr>
      </p:sp>
      <p:sp>
        <p:nvSpPr>
          <p:cNvPr id="28" name="Text 26"/>
          <p:cNvSpPr txBox="1"/>
          <p:nvPr/>
        </p:nvSpPr>
        <p:spPr>
          <a:xfrm>
            <a:off x="9116568" y="4343400"/>
            <a:ext cx="2103120" cy="502920"/>
          </a:xfrm>
          <a:prstGeom prst="rect">
            <a:avLst/>
          </a:prstGeom>
          <a:noFill/>
          <a:ln/>
        </p:spPr>
        <p:txBody>
          <a:bodyPr wrap="square" lIns="0" tIns="0" rIns="0" bIns="0" rtlCol="0" anchor="ctr"/>
          <a:lstStyle/>
          <a:p>
            <a:pPr algn="ctr" indent="0" marL="0">
              <a:buNone/>
            </a:pPr>
            <a:r>
              <a:rPr lang="en-US" sz="1400" b="1" dirty="0">
                <a:solidFill>
                  <a:srgbClr val="F0F3F8"/>
                </a:solidFill>
                <a:latin typeface="Calibri" pitchFamily="34" charset="0"/>
                <a:ea typeface="Calibri" pitchFamily="34" charset="-122"/>
                <a:cs typeface="Calibri" pitchFamily="34" charset="-120"/>
              </a:rPr>
              <a:t>3  Change one thing</a:t>
            </a:r>
            <a:endParaRPr lang="en-US" sz="1400" dirty="0"/>
          </a:p>
        </p:txBody>
      </p:sp>
      <p:sp>
        <p:nvSpPr>
          <p:cNvPr id="29" name="Shape 27"/>
          <p:cNvSpPr/>
          <p:nvPr/>
        </p:nvSpPr>
        <p:spPr>
          <a:xfrm>
            <a:off x="6464808" y="4343400"/>
            <a:ext cx="2103120" cy="502920"/>
          </a:xfrm>
          <a:prstGeom prst="roundRect">
            <a:avLst>
              <a:gd name="adj" fmla="val 6670"/>
            </a:avLst>
          </a:prstGeom>
          <a:solidFill>
            <a:srgbClr val="0E1420"/>
          </a:solidFill>
          <a:ln w="12700">
            <a:solidFill>
              <a:srgbClr val="27505B"/>
            </a:solidFill>
            <a:prstDash val="solid"/>
          </a:ln>
        </p:spPr>
      </p:sp>
      <p:sp>
        <p:nvSpPr>
          <p:cNvPr id="30" name="Text 28"/>
          <p:cNvSpPr txBox="1"/>
          <p:nvPr/>
        </p:nvSpPr>
        <p:spPr>
          <a:xfrm>
            <a:off x="6464808" y="4343400"/>
            <a:ext cx="2103120" cy="502920"/>
          </a:xfrm>
          <a:prstGeom prst="rect">
            <a:avLst/>
          </a:prstGeom>
          <a:noFill/>
          <a:ln/>
        </p:spPr>
        <p:txBody>
          <a:bodyPr wrap="square" lIns="0" tIns="0" rIns="0" bIns="0" rtlCol="0" anchor="ctr"/>
          <a:lstStyle/>
          <a:p>
            <a:pPr algn="ctr" indent="0" marL="0">
              <a:buNone/>
            </a:pPr>
            <a:r>
              <a:rPr lang="en-US" sz="1400" b="1" dirty="0">
                <a:solidFill>
                  <a:srgbClr val="F0F3F8"/>
                </a:solidFill>
                <a:latin typeface="Calibri" pitchFamily="34" charset="0"/>
                <a:ea typeface="Calibri" pitchFamily="34" charset="-122"/>
                <a:cs typeface="Calibri" pitchFamily="34" charset="-120"/>
              </a:rPr>
              <a:t>4  Run it again</a:t>
            </a:r>
            <a:endParaRPr lang="en-US" sz="1400" dirty="0"/>
          </a:p>
        </p:txBody>
      </p:sp>
      <p:sp>
        <p:nvSpPr>
          <p:cNvPr id="31" name="Shape 29"/>
          <p:cNvSpPr/>
          <p:nvPr/>
        </p:nvSpPr>
        <p:spPr>
          <a:xfrm>
            <a:off x="8641080" y="3314700"/>
            <a:ext cx="402336" cy="0"/>
          </a:xfrm>
          <a:prstGeom prst="line">
            <a:avLst/>
          </a:prstGeom>
          <a:noFill/>
          <a:ln w="19050">
            <a:solidFill>
              <a:srgbClr val="3EB9CE"/>
            </a:solidFill>
            <a:prstDash val="solid"/>
            <a:tailEnd type="triangle"/>
          </a:ln>
        </p:spPr>
      </p:sp>
      <p:sp>
        <p:nvSpPr>
          <p:cNvPr id="32" name="Shape 30"/>
          <p:cNvSpPr/>
          <p:nvPr/>
        </p:nvSpPr>
        <p:spPr>
          <a:xfrm>
            <a:off x="10168128" y="3639312"/>
            <a:ext cx="0" cy="630936"/>
          </a:xfrm>
          <a:prstGeom prst="line">
            <a:avLst/>
          </a:prstGeom>
          <a:noFill/>
          <a:ln w="19050">
            <a:solidFill>
              <a:srgbClr val="3EB9CE"/>
            </a:solidFill>
            <a:prstDash val="solid"/>
            <a:tailEnd type="triangle"/>
          </a:ln>
        </p:spPr>
      </p:sp>
      <p:sp>
        <p:nvSpPr>
          <p:cNvPr id="33" name="Shape 31"/>
          <p:cNvSpPr/>
          <p:nvPr/>
        </p:nvSpPr>
        <p:spPr>
          <a:xfrm flipH="1">
            <a:off x="8641080" y="4594860"/>
            <a:ext cx="402336" cy="0"/>
          </a:xfrm>
          <a:prstGeom prst="line">
            <a:avLst/>
          </a:prstGeom>
          <a:noFill/>
          <a:ln w="19050">
            <a:solidFill>
              <a:srgbClr val="3EB9CE"/>
            </a:solidFill>
            <a:prstDash val="solid"/>
            <a:tailEnd type="triangle"/>
          </a:ln>
        </p:spPr>
      </p:sp>
      <p:sp>
        <p:nvSpPr>
          <p:cNvPr id="34" name="Shape 32"/>
          <p:cNvSpPr/>
          <p:nvPr/>
        </p:nvSpPr>
        <p:spPr>
          <a:xfrm flipV="1">
            <a:off x="7516368" y="3639312"/>
            <a:ext cx="0" cy="630936"/>
          </a:xfrm>
          <a:prstGeom prst="line">
            <a:avLst/>
          </a:prstGeom>
          <a:noFill/>
          <a:ln w="19050">
            <a:solidFill>
              <a:srgbClr val="3EB9CE"/>
            </a:solidFill>
            <a:prstDash val="solid"/>
            <a:tailEnd type="triangle"/>
          </a:ln>
        </p:spPr>
      </p:sp>
      <p:sp>
        <p:nvSpPr>
          <p:cNvPr id="35" name="Text 33"/>
          <p:cNvSpPr txBox="1"/>
          <p:nvPr/>
        </p:nvSpPr>
        <p:spPr>
          <a:xfrm>
            <a:off x="7626096" y="3822192"/>
            <a:ext cx="1463040" cy="274320"/>
          </a:xfrm>
          <a:prstGeom prst="rect">
            <a:avLst/>
          </a:prstGeom>
          <a:noFill/>
          <a:ln/>
        </p:spPr>
        <p:txBody>
          <a:bodyPr wrap="square" lIns="0" tIns="0" rIns="0" bIns="0" rtlCol="0" anchor="ctr"/>
          <a:lstStyle/>
          <a:p>
            <a:pPr algn="l" indent="0" marL="0">
              <a:buNone/>
            </a:pPr>
            <a:r>
              <a:rPr lang="en-US" sz="1100" i="1" dirty="0">
                <a:solidFill>
                  <a:srgbClr val="94A3B8"/>
                </a:solidFill>
                <a:latin typeface="Calibri" pitchFamily="34" charset="0"/>
                <a:ea typeface="Calibri" pitchFamily="34" charset="-122"/>
                <a:cs typeface="Calibri" pitchFamily="34" charset="-120"/>
              </a:rPr>
              <a:t>next example</a:t>
            </a:r>
            <a:endParaRPr lang="en-US" sz="1100" dirty="0"/>
          </a:p>
        </p:txBody>
      </p:sp>
      <p:sp>
        <p:nvSpPr>
          <p:cNvPr id="36" name="Text 34"/>
          <p:cNvSpPr txBox="1"/>
          <p:nvPr/>
        </p:nvSpPr>
        <p:spPr>
          <a:xfrm>
            <a:off x="640080" y="5577840"/>
            <a:ext cx="10908792" cy="411480"/>
          </a:xfrm>
          <a:prstGeom prst="rect">
            <a:avLst/>
          </a:prstGeom>
          <a:noFill/>
          <a:ln/>
        </p:spPr>
        <p:txBody>
          <a:bodyPr wrap="square" lIns="0" tIns="0" rIns="0" bIns="0" rtlCol="0" anchor="ctr"/>
          <a:lstStyle/>
          <a:p>
            <a:pPr algn="ctr" indent="0" marL="0">
              <a:buNone/>
            </a:pPr>
            <a:r>
              <a:rPr lang="en-US" sz="1700" b="1" dirty="0">
                <a:solidFill>
                  <a:srgbClr val="EDA63F"/>
                </a:solidFill>
                <a:latin typeface="Courier New" pitchFamily="34" charset="0"/>
                <a:ea typeface="Courier New" pitchFamily="34" charset="-122"/>
                <a:cs typeface="Courier New" pitchFamily="34" charset="-120"/>
              </a:rPr>
              <a:t>Examples 1 to 6   →   Final task   →   Submit before you leave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COAL Lab 2: Basic Assembly Programming</dc:title>
  <dc:subject>PptxGenJS Presentation</dc:subject>
  <dc:creator>Muhammad Hashir Shaikh</dc:creator>
  <cp:lastModifiedBy>Muhammad Hashir Shaikh</cp:lastModifiedBy>
  <cp:revision>1</cp:revision>
  <dcterms:created xsi:type="dcterms:W3CDTF">2026-09-21T14:07:58Z</dcterms:created>
  <dcterms:modified xsi:type="dcterms:W3CDTF">2026-09-21T14:07:58Z</dcterms:modified>
</cp:coreProperties>
</file>