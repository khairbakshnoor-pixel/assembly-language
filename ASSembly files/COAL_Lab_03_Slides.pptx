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3. Last week the programs only printed. This week they read keys from the keyboard, and do very small sums.
Keep the slides to about 20 minutes. Most of the two hours is the practical.
On the screen: in each line, the student typed the first letter and the program printed the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at most. This is only a reminder.
DL holds what we print. AH picks the DOS service. INT 21h runs it.
Point out 02h: it is the same 2 from Lab 2. The h just means hexadecimal. For 0 to 9 it makes no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are the whole idea: pick service 01h, then call DOS.
The program stops at INT 21h and waits until a key is pressed. That surprises students: it looks frozen, but it is waiting.
The key comes back in AL. Nothing is printed by our code yet.
Mention the copy now, because they will need it in Example 3: every INT 21h can change AL, so mov bl, al keeps a safe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two lines, one number changes.
01h: DOS prints the key as you press it. That printing is called the echo.
07h: DOS does not print it. The key still arrives in AL.
Do not go further than this. No strings, no reading a whole line. One key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showed the ASCII table. Here we only need three ranges and three extra codes.
The key point: a character is really a number. When a student presses A, AL gets 65.
The ranges are in order, which is why adding 1 to a letter gives the next letter. We use that later today.
Stay in decimal. Only mention hex so the registers panel does not confuse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 al, 5 puts the plain number 5 in AL. No quotes: this is a number, not a character.
add al, 3 means AL = AL + 3. The old 5 is replaced by 8.
Nothing appears on the screen. Show single step in EMU8086 and point at AL in the registers panel.
Stop here. No sums of typed digits, no numbers above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 al, 3 means AL = AL - 3. 8 becomes 5.
Again the answer replaces the old value, and again nothing is printed.
Keep results at 0 or above. Going below 0 gives values that belong to a later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quotes, the assembler stores the ASCII code of the character. '5' becomes 53.
Without quotes, it is the plain number 5. That is what add and sub work with today.
The link to input: when a student types 5, AL gets 53. If they add 3 to that, they get 56, which prints as 8. It looks right by luck, so warn them now.
Do not teach conversion. Just make them aware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new, only combining.
Read a key: it lands in AL. Copy it to DL. Add 1. Print DL.
Because c is 99 in the ASCII table, adding 1 gives 100, and 100 is d.
Ask: what do you get if you press 4? (5, digits are in order too.) What if you press z? (123, which is {, not a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AL. The key arrives in AL after INT 21h.
2. Both read one key into AL. 01h shows it on the screen (echo). 07h does not.
3. 65 to 90. Small letters are 97 to 122, digits 48 to 57.
4. AL = AL + 3. The answer stays in AL.
Bonus if there is time: the user types 5. What number is in AL?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the practical sheet now.
Insist on typing, not pasting.
Walk around. The most common problems today: the program looks frozen (it is waiting for a key), the key is lost after a new line (not saved in BL), and confusion about hex in the registers panel.
Practice tasks are not submitted. The final task is: students submit the .asm file and two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LAB 03  ·  8086 ASSEMBLY</a:t>
            </a:r>
            <a:endParaRPr lang="en-US" sz="1050" dirty="0"/>
          </a:p>
        </p:txBody>
      </p:sp>
      <p:sp>
        <p:nvSpPr>
          <p:cNvPr id="3" name="Text 1"/>
          <p:cNvSpPr txBox="1"/>
          <p:nvPr/>
        </p:nvSpPr>
        <p:spPr>
          <a:xfrm>
            <a:off x="640080" y="1417320"/>
            <a:ext cx="6949440" cy="2103120"/>
          </a:xfrm>
          <a:prstGeom prst="rect">
            <a:avLst/>
          </a:prstGeom>
          <a:noFill/>
          <a:ln/>
        </p:spPr>
        <p:txBody>
          <a:bodyPr wrap="square" lIns="0" tIns="0" rIns="0" bIns="0" rtlCol="0" anchor="b"/>
          <a:lstStyle/>
          <a:p>
            <a:pPr algn="l" indent="0" marL="0">
              <a:buNone/>
            </a:pPr>
            <a:r>
              <a:rPr lang="en-US" sz="4000" b="1" dirty="0">
                <a:solidFill>
                  <a:srgbClr val="F0F3F8"/>
                </a:solidFill>
                <a:latin typeface="Arial" pitchFamily="34" charset="0"/>
                <a:ea typeface="Arial" pitchFamily="34" charset="-122"/>
                <a:cs typeface="Arial" pitchFamily="34" charset="-120"/>
              </a:rPr>
              <a:t>COAL Lab 3:</a:t>
            </a:r>
            <a:endParaRPr lang="en-US" sz="4000" dirty="0"/>
          </a:p>
          <a:p>
            <a:pPr algn="l" indent="0" marL="0">
              <a:buNone/>
            </a:pPr>
            <a:r>
              <a:rPr lang="en-US" sz="4000" b="1" dirty="0">
                <a:solidFill>
                  <a:srgbClr val="F0F3F8"/>
                </a:solidFill>
                <a:latin typeface="Arial" pitchFamily="34" charset="0"/>
                <a:ea typeface="Arial" pitchFamily="34" charset="-122"/>
                <a:cs typeface="Arial" pitchFamily="34" charset="-120"/>
              </a:rPr>
              <a:t>Input &amp; Basic</a:t>
            </a:r>
            <a:endParaRPr lang="en-US" sz="4000" dirty="0"/>
          </a:p>
          <a:p>
            <a:pPr algn="l" indent="0" marL="0">
              <a:buNone/>
            </a:pPr>
            <a:r>
              <a:rPr lang="en-US" sz="4000" b="1" dirty="0">
                <a:solidFill>
                  <a:srgbClr val="F0F3F8"/>
                </a:solidFill>
                <a:latin typeface="Arial" pitchFamily="34" charset="0"/>
                <a:ea typeface="Arial" pitchFamily="34" charset="-122"/>
                <a:cs typeface="Arial" pitchFamily="34" charset="-120"/>
              </a:rPr>
              <a:t>Operations</a:t>
            </a:r>
            <a:endParaRPr lang="en-US" sz="4000" dirty="0"/>
          </a:p>
        </p:txBody>
      </p:sp>
      <p:sp>
        <p:nvSpPr>
          <p:cNvPr id="4" name="Text 2"/>
          <p:cNvSpPr txBox="1"/>
          <p:nvPr/>
        </p:nvSpPr>
        <p:spPr>
          <a:xfrm>
            <a:off x="640080" y="3840480"/>
            <a:ext cx="6675120" cy="329184"/>
          </a:xfrm>
          <a:prstGeom prst="rect">
            <a:avLst/>
          </a:prstGeom>
          <a:noFill/>
          <a:ln/>
        </p:spPr>
        <p:txBody>
          <a:bodyPr wrap="square" lIns="0" tIns="0" rIns="0" bIns="0" rtlCol="0" anchor="t"/>
          <a:lstStyle/>
          <a:p>
            <a:pPr algn="l" indent="0" marL="0">
              <a:buNone/>
            </a:pPr>
            <a:r>
              <a:rPr lang="en-US" sz="1700" b="1" dirty="0">
                <a:solidFill>
                  <a:srgbClr val="EDA63F"/>
                </a:solidFill>
                <a:latin typeface="Arial" pitchFamily="34" charset="0"/>
                <a:ea typeface="Arial" pitchFamily="34" charset="-122"/>
                <a:cs typeface="Arial" pitchFamily="34" charset="-120"/>
              </a:rPr>
              <a:t>Muhammad Hashir Shaikh</a:t>
            </a:r>
            <a:endParaRPr lang="en-US" sz="1700" dirty="0"/>
          </a:p>
        </p:txBody>
      </p:sp>
      <p:sp>
        <p:nvSpPr>
          <p:cNvPr id="5" name="Text 3"/>
          <p:cNvSpPr txBox="1"/>
          <p:nvPr/>
        </p:nvSpPr>
        <p:spPr>
          <a:xfrm>
            <a:off x="640080" y="4224528"/>
            <a:ext cx="6675120" cy="329184"/>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Today our programs start listening to the keyboard.</a:t>
            </a:r>
            <a:endParaRPr lang="en-US" sz="1500" dirty="0"/>
          </a:p>
        </p:txBody>
      </p:sp>
      <p:sp>
        <p:nvSpPr>
          <p:cNvPr id="6" name="Shape 4"/>
          <p:cNvSpPr/>
          <p:nvPr/>
        </p:nvSpPr>
        <p:spPr>
          <a:xfrm>
            <a:off x="640080" y="4956048"/>
            <a:ext cx="1049528" cy="329184"/>
          </a:xfrm>
          <a:prstGeom prst="roundRect">
            <a:avLst>
              <a:gd name="adj" fmla="val 6670"/>
            </a:avLst>
          </a:prstGeom>
          <a:solidFill>
            <a:srgbClr val="182132"/>
          </a:solidFill>
          <a:ln w="12700">
            <a:solidFill>
              <a:srgbClr val="2A3548"/>
            </a:solidFill>
            <a:prstDash val="solid"/>
          </a:ln>
        </p:spPr>
      </p:sp>
      <p:sp>
        <p:nvSpPr>
          <p:cNvPr id="7" name="Text 5"/>
          <p:cNvSpPr txBox="1"/>
          <p:nvPr/>
        </p:nvSpPr>
        <p:spPr>
          <a:xfrm>
            <a:off x="640080" y="4956048"/>
            <a:ext cx="1049528" cy="329184"/>
          </a:xfrm>
          <a:prstGeom prst="rect">
            <a:avLst/>
          </a:prstGeom>
          <a:noFill/>
          <a:ln/>
        </p:spPr>
        <p:txBody>
          <a:bodyPr wrap="square" lIns="0" tIns="0" rIns="0" bIns="0" rtlCol="0" anchor="ctr"/>
          <a:lstStyle/>
          <a:p>
            <a:pPr algn="ctr" indent="0" marL="0">
              <a:buNone/>
            </a:pPr>
            <a:r>
              <a:rPr lang="en-US" sz="1000" b="1" spc="160" kern="0" dirty="0">
                <a:solidFill>
                  <a:srgbClr val="3EB9CE"/>
                </a:solidFill>
                <a:latin typeface="Courier New" pitchFamily="34" charset="0"/>
                <a:ea typeface="Courier New" pitchFamily="34" charset="-122"/>
                <a:cs typeface="Courier New" pitchFamily="34" charset="-120"/>
              </a:rPr>
              <a:t>INPUT</a:t>
            </a:r>
            <a:endParaRPr lang="en-US" sz="1000" dirty="0"/>
          </a:p>
        </p:txBody>
      </p:sp>
      <p:sp>
        <p:nvSpPr>
          <p:cNvPr id="8" name="Shape 6"/>
          <p:cNvSpPr/>
          <p:nvPr/>
        </p:nvSpPr>
        <p:spPr>
          <a:xfrm>
            <a:off x="1854200" y="4956048"/>
            <a:ext cx="953008" cy="329184"/>
          </a:xfrm>
          <a:prstGeom prst="roundRect">
            <a:avLst>
              <a:gd name="adj" fmla="val 6670"/>
            </a:avLst>
          </a:prstGeom>
          <a:solidFill>
            <a:srgbClr val="182132"/>
          </a:solidFill>
          <a:ln w="12700">
            <a:solidFill>
              <a:srgbClr val="2A3548"/>
            </a:solidFill>
            <a:prstDash val="solid"/>
          </a:ln>
        </p:spPr>
      </p:sp>
      <p:sp>
        <p:nvSpPr>
          <p:cNvPr id="9" name="Text 7"/>
          <p:cNvSpPr txBox="1"/>
          <p:nvPr/>
        </p:nvSpPr>
        <p:spPr>
          <a:xfrm>
            <a:off x="1854200" y="4956048"/>
            <a:ext cx="953008" cy="329184"/>
          </a:xfrm>
          <a:prstGeom prst="rect">
            <a:avLst/>
          </a:prstGeom>
          <a:noFill/>
          <a:ln/>
        </p:spPr>
        <p:txBody>
          <a:bodyPr wrap="square" lIns="0" tIns="0" rIns="0" bIns="0" rtlCol="0" anchor="ctr"/>
          <a:lstStyle/>
          <a:p>
            <a:pPr algn="ctr" indent="0" marL="0">
              <a:buNone/>
            </a:pPr>
            <a:r>
              <a:rPr lang="en-US" sz="1000" b="1" spc="160" kern="0" dirty="0">
                <a:solidFill>
                  <a:srgbClr val="EDA63F"/>
                </a:solidFill>
                <a:latin typeface="Courier New" pitchFamily="34" charset="0"/>
                <a:ea typeface="Courier New" pitchFamily="34" charset="-122"/>
                <a:cs typeface="Courier New" pitchFamily="34" charset="-120"/>
              </a:rPr>
              <a:t>ECHO</a:t>
            </a:r>
            <a:endParaRPr lang="en-US" sz="1000" dirty="0"/>
          </a:p>
        </p:txBody>
      </p:sp>
      <p:sp>
        <p:nvSpPr>
          <p:cNvPr id="10" name="Shape 8"/>
          <p:cNvSpPr/>
          <p:nvPr/>
        </p:nvSpPr>
        <p:spPr>
          <a:xfrm>
            <a:off x="2971800" y="4956048"/>
            <a:ext cx="1049528" cy="329184"/>
          </a:xfrm>
          <a:prstGeom prst="roundRect">
            <a:avLst>
              <a:gd name="adj" fmla="val 6670"/>
            </a:avLst>
          </a:prstGeom>
          <a:solidFill>
            <a:srgbClr val="182132"/>
          </a:solidFill>
          <a:ln w="12700">
            <a:solidFill>
              <a:srgbClr val="2A3548"/>
            </a:solidFill>
            <a:prstDash val="solid"/>
          </a:ln>
        </p:spPr>
      </p:sp>
      <p:sp>
        <p:nvSpPr>
          <p:cNvPr id="11" name="Text 9"/>
          <p:cNvSpPr txBox="1"/>
          <p:nvPr/>
        </p:nvSpPr>
        <p:spPr>
          <a:xfrm>
            <a:off x="2971800" y="4956048"/>
            <a:ext cx="1049528" cy="329184"/>
          </a:xfrm>
          <a:prstGeom prst="rect">
            <a:avLst/>
          </a:prstGeom>
          <a:noFill/>
          <a:ln/>
        </p:spPr>
        <p:txBody>
          <a:bodyPr wrap="square" lIns="0" tIns="0" rIns="0" bIns="0" rtlCol="0" anchor="ctr"/>
          <a:lstStyle/>
          <a:p>
            <a:pPr algn="ctr" indent="0" marL="0">
              <a:buNone/>
            </a:pPr>
            <a:r>
              <a:rPr lang="en-US" sz="1000" b="1" spc="160" kern="0" dirty="0">
                <a:solidFill>
                  <a:srgbClr val="9584E8"/>
                </a:solidFill>
                <a:latin typeface="Courier New" pitchFamily="34" charset="0"/>
                <a:ea typeface="Courier New" pitchFamily="34" charset="-122"/>
                <a:cs typeface="Courier New" pitchFamily="34" charset="-120"/>
              </a:rPr>
              <a:t>ASCII</a:t>
            </a:r>
            <a:endParaRPr lang="en-US" sz="1000" dirty="0"/>
          </a:p>
        </p:txBody>
      </p:sp>
      <p:sp>
        <p:nvSpPr>
          <p:cNvPr id="12" name="Shape 10"/>
          <p:cNvSpPr/>
          <p:nvPr/>
        </p:nvSpPr>
        <p:spPr>
          <a:xfrm>
            <a:off x="4185920" y="4956048"/>
            <a:ext cx="1435608" cy="329184"/>
          </a:xfrm>
          <a:prstGeom prst="roundRect">
            <a:avLst>
              <a:gd name="adj" fmla="val 6670"/>
            </a:avLst>
          </a:prstGeom>
          <a:solidFill>
            <a:srgbClr val="182132"/>
          </a:solidFill>
          <a:ln w="12700">
            <a:solidFill>
              <a:srgbClr val="2A3548"/>
            </a:solidFill>
            <a:prstDash val="solid"/>
          </a:ln>
        </p:spPr>
      </p:sp>
      <p:sp>
        <p:nvSpPr>
          <p:cNvPr id="13" name="Text 11"/>
          <p:cNvSpPr txBox="1"/>
          <p:nvPr/>
        </p:nvSpPr>
        <p:spPr>
          <a:xfrm>
            <a:off x="4185920" y="4956048"/>
            <a:ext cx="1435608" cy="329184"/>
          </a:xfrm>
          <a:prstGeom prst="rect">
            <a:avLst/>
          </a:prstGeom>
          <a:noFill/>
          <a:ln/>
        </p:spPr>
        <p:txBody>
          <a:bodyPr wrap="square" lIns="0" tIns="0" rIns="0" bIns="0" rtlCol="0" anchor="ctr"/>
          <a:lstStyle/>
          <a:p>
            <a:pPr algn="ctr" indent="0" marL="0">
              <a:buNone/>
            </a:pPr>
            <a:r>
              <a:rPr lang="en-US" sz="1000" b="1" spc="160" kern="0" dirty="0">
                <a:solidFill>
                  <a:srgbClr val="58B98A"/>
                </a:solidFill>
                <a:latin typeface="Courier New" pitchFamily="34" charset="0"/>
                <a:ea typeface="Courier New" pitchFamily="34" charset="-122"/>
                <a:cs typeface="Courier New" pitchFamily="34" charset="-120"/>
              </a:rPr>
              <a:t>ADD &amp; SUB</a:t>
            </a:r>
            <a:endParaRPr lang="en-US" sz="1000" dirty="0"/>
          </a:p>
        </p:txBody>
      </p:sp>
      <p:sp>
        <p:nvSpPr>
          <p:cNvPr id="14" name="Shape 12"/>
          <p:cNvSpPr/>
          <p:nvPr/>
        </p:nvSpPr>
        <p:spPr>
          <a:xfrm>
            <a:off x="7818120" y="1783080"/>
            <a:ext cx="3730752" cy="2514600"/>
          </a:xfrm>
          <a:prstGeom prst="roundRect">
            <a:avLst>
              <a:gd name="adj" fmla="val 6670"/>
            </a:avLst>
          </a:prstGeom>
          <a:solidFill>
            <a:srgbClr val="182132"/>
          </a:solidFill>
          <a:ln w="12700">
            <a:solidFill>
              <a:srgbClr val="2A3548"/>
            </a:solidFill>
            <a:prstDash val="solid"/>
          </a:ln>
        </p:spPr>
      </p:sp>
      <p:sp>
        <p:nvSpPr>
          <p:cNvPr id="15" name="Shape 13"/>
          <p:cNvSpPr/>
          <p:nvPr/>
        </p:nvSpPr>
        <p:spPr>
          <a:xfrm>
            <a:off x="7982712" y="1920240"/>
            <a:ext cx="100584" cy="100584"/>
          </a:xfrm>
          <a:prstGeom prst="ellipse">
            <a:avLst/>
          </a:prstGeom>
          <a:solidFill>
            <a:srgbClr val="E27B66"/>
          </a:solidFill>
          <a:ln/>
        </p:spPr>
      </p:sp>
      <p:sp>
        <p:nvSpPr>
          <p:cNvPr id="16" name="Shape 14"/>
          <p:cNvSpPr/>
          <p:nvPr/>
        </p:nvSpPr>
        <p:spPr>
          <a:xfrm>
            <a:off x="8156448" y="1920240"/>
            <a:ext cx="100584" cy="100584"/>
          </a:xfrm>
          <a:prstGeom prst="ellipse">
            <a:avLst/>
          </a:prstGeom>
          <a:solidFill>
            <a:srgbClr val="EDA63F"/>
          </a:solidFill>
          <a:ln/>
        </p:spPr>
      </p:sp>
      <p:sp>
        <p:nvSpPr>
          <p:cNvPr id="17" name="Shape 15"/>
          <p:cNvSpPr/>
          <p:nvPr/>
        </p:nvSpPr>
        <p:spPr>
          <a:xfrm>
            <a:off x="8330184" y="1920240"/>
            <a:ext cx="100584" cy="100584"/>
          </a:xfrm>
          <a:prstGeom prst="ellipse">
            <a:avLst/>
          </a:prstGeom>
          <a:solidFill>
            <a:srgbClr val="58B98A"/>
          </a:solidFill>
          <a:ln/>
        </p:spPr>
      </p:sp>
      <p:sp>
        <p:nvSpPr>
          <p:cNvPr id="18" name="Text 16"/>
          <p:cNvSpPr txBox="1"/>
          <p:nvPr/>
        </p:nvSpPr>
        <p:spPr>
          <a:xfrm>
            <a:off x="8549640" y="1856232"/>
            <a:ext cx="2816352" cy="219456"/>
          </a:xfrm>
          <a:prstGeom prst="rect">
            <a:avLst/>
          </a:prstGeom>
          <a:noFill/>
          <a:ln/>
        </p:spPr>
        <p:txBody>
          <a:bodyPr wrap="square" lIns="0" tIns="0" rIns="0" bIns="0" rtlCol="0" anchor="t"/>
          <a:lstStyle/>
          <a:p>
            <a:pPr algn="l" indent="0" marL="0">
              <a:buNone/>
            </a:pPr>
            <a:r>
              <a:rPr lang="en-US" sz="900" dirty="0">
                <a:solidFill>
                  <a:srgbClr val="5C6B83"/>
                </a:solidFill>
                <a:latin typeface="Courier New" pitchFamily="34" charset="0"/>
                <a:ea typeface="Courier New" pitchFamily="34" charset="-122"/>
                <a:cs typeface="Courier New" pitchFamily="34" charset="-120"/>
              </a:rPr>
              <a:t>emulator screen</a:t>
            </a:r>
            <a:endParaRPr lang="en-US" sz="900" dirty="0"/>
          </a:p>
        </p:txBody>
      </p:sp>
      <p:sp>
        <p:nvSpPr>
          <p:cNvPr id="19" name="Shape 17"/>
          <p:cNvSpPr/>
          <p:nvPr/>
        </p:nvSpPr>
        <p:spPr>
          <a:xfrm>
            <a:off x="7946136" y="2148840"/>
            <a:ext cx="3474720" cy="2020824"/>
          </a:xfrm>
          <a:prstGeom prst="roundRect">
            <a:avLst>
              <a:gd name="adj" fmla="val 6670"/>
            </a:avLst>
          </a:prstGeom>
          <a:solidFill>
            <a:srgbClr val="070B12"/>
          </a:solidFill>
          <a:ln w="12700">
            <a:solidFill>
              <a:srgbClr val="2B3850"/>
            </a:solidFill>
            <a:prstDash val="solid"/>
          </a:ln>
        </p:spPr>
      </p:sp>
      <p:sp>
        <p:nvSpPr>
          <p:cNvPr id="20" name="Text 18"/>
          <p:cNvSpPr txBox="1"/>
          <p:nvPr/>
        </p:nvSpPr>
        <p:spPr>
          <a:xfrm>
            <a:off x="8220456" y="2350008"/>
            <a:ext cx="2743200" cy="411480"/>
          </a:xfrm>
          <a:prstGeom prst="rect">
            <a:avLst/>
          </a:prstGeom>
          <a:noFill/>
          <a:ln/>
        </p:spPr>
        <p:txBody>
          <a:bodyPr wrap="square" lIns="0" tIns="0" rIns="0" bIns="0" rtlCol="0" anchor="ctr"/>
          <a:lstStyle/>
          <a:p>
            <a:pPr algn="l" indent="0" marL="0">
              <a:buNone/>
            </a:pPr>
            <a:r>
              <a:rPr lang="en-US" sz="2200" b="1" dirty="0">
                <a:solidFill>
                  <a:srgbClr val="F0F3F8"/>
                </a:solidFill>
                <a:latin typeface="Courier New" pitchFamily="34" charset="0"/>
                <a:ea typeface="Courier New" pitchFamily="34" charset="-122"/>
                <a:cs typeface="Courier New" pitchFamily="34" charset="-120"/>
              </a:rPr>
              <a:t>kk</a:t>
            </a:r>
            <a:endParaRPr lang="en-US" sz="2200" dirty="0"/>
          </a:p>
        </p:txBody>
      </p:sp>
      <p:sp>
        <p:nvSpPr>
          <p:cNvPr id="21" name="Text 19"/>
          <p:cNvSpPr txBox="1"/>
          <p:nvPr/>
        </p:nvSpPr>
        <p:spPr>
          <a:xfrm>
            <a:off x="8220456" y="2825496"/>
            <a:ext cx="2743200" cy="411480"/>
          </a:xfrm>
          <a:prstGeom prst="rect">
            <a:avLst/>
          </a:prstGeom>
          <a:noFill/>
          <a:ln/>
        </p:spPr>
        <p:txBody>
          <a:bodyPr wrap="square" lIns="0" tIns="0" rIns="0" bIns="0" rtlCol="0" anchor="ctr"/>
          <a:lstStyle/>
          <a:p>
            <a:pPr algn="l" indent="0" marL="0">
              <a:buNone/>
            </a:pPr>
            <a:r>
              <a:rPr lang="en-US" sz="2200" b="1" dirty="0">
                <a:solidFill>
                  <a:srgbClr val="F0F3F8"/>
                </a:solidFill>
                <a:latin typeface="Courier New" pitchFamily="34" charset="0"/>
                <a:ea typeface="Courier New" pitchFamily="34" charset="-122"/>
                <a:cs typeface="Courier New" pitchFamily="34" charset="-120"/>
              </a:rPr>
              <a:t>ab</a:t>
            </a:r>
            <a:endParaRPr lang="en-US" sz="2200" dirty="0"/>
          </a:p>
        </p:txBody>
      </p:sp>
      <p:sp>
        <p:nvSpPr>
          <p:cNvPr id="22" name="Text 20"/>
          <p:cNvSpPr txBox="1"/>
          <p:nvPr/>
        </p:nvSpPr>
        <p:spPr>
          <a:xfrm>
            <a:off x="8220456" y="3300984"/>
            <a:ext cx="2743200" cy="411480"/>
          </a:xfrm>
          <a:prstGeom prst="rect">
            <a:avLst/>
          </a:prstGeom>
          <a:noFill/>
          <a:ln/>
        </p:spPr>
        <p:txBody>
          <a:bodyPr wrap="square" lIns="0" tIns="0" rIns="0" bIns="0" rtlCol="0" anchor="ctr"/>
          <a:lstStyle/>
          <a:p>
            <a:pPr algn="l" indent="0" marL="0">
              <a:buNone/>
            </a:pPr>
            <a:r>
              <a:rPr lang="en-US" sz="2200" b="1" dirty="0">
                <a:solidFill>
                  <a:srgbClr val="F0F3F8"/>
                </a:solidFill>
                <a:latin typeface="Courier New" pitchFamily="34" charset="0"/>
                <a:ea typeface="Courier New" pitchFamily="34" charset="-122"/>
                <a:cs typeface="Courier New" pitchFamily="34" charset="-120"/>
              </a:rPr>
              <a:t>gh</a:t>
            </a:r>
            <a:endParaRPr lang="en-US" sz="2200" dirty="0"/>
          </a:p>
        </p:txBody>
      </p:sp>
      <p:sp>
        <p:nvSpPr>
          <p:cNvPr id="23" name="Shape 21"/>
          <p:cNvSpPr/>
          <p:nvPr/>
        </p:nvSpPr>
        <p:spPr>
          <a:xfrm>
            <a:off x="8592312" y="3355848"/>
            <a:ext cx="126736" cy="301752"/>
          </a:xfrm>
          <a:prstGeom prst="rect">
            <a:avLst/>
          </a:prstGeom>
          <a:solidFill>
            <a:srgbClr val="EDA63F"/>
          </a:solidFill>
          <a:ln/>
        </p:spPr>
      </p:sp>
      <p:sp>
        <p:nvSpPr>
          <p:cNvPr id="24" name="Text 22"/>
          <p:cNvSpPr txBox="1"/>
          <p:nvPr/>
        </p:nvSpPr>
        <p:spPr>
          <a:xfrm>
            <a:off x="7818120" y="4434840"/>
            <a:ext cx="3730752" cy="256032"/>
          </a:xfrm>
          <a:prstGeom prst="rect">
            <a:avLst/>
          </a:prstGeom>
          <a:noFill/>
          <a:ln/>
        </p:spPr>
        <p:txBody>
          <a:bodyPr wrap="square" lIns="0" tIns="0" rIns="0" bIns="0" rtlCol="0" anchor="t"/>
          <a:lstStyle/>
          <a:p>
            <a:pPr algn="ctr" indent="0" marL="0">
              <a:buNone/>
            </a:pPr>
            <a:r>
              <a:rPr lang="en-US" sz="1100" i="1" dirty="0">
                <a:solidFill>
                  <a:srgbClr val="5C6B83"/>
                </a:solidFill>
                <a:latin typeface="Calibri" pitchFamily="34" charset="0"/>
                <a:ea typeface="Calibri" pitchFamily="34" charset="-122"/>
                <a:cs typeface="Calibri" pitchFamily="34" charset="-120"/>
              </a:rPr>
              <a:t>you type one letter, the program answers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QUICK RECAP  ·  LAB 2</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What you already know</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Printing one character takes three pieces. We use all of them again today.</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02</a:t>
            </a:r>
            <a:endParaRPr lang="en-US" sz="900" dirty="0"/>
          </a:p>
        </p:txBody>
      </p:sp>
      <p:sp>
        <p:nvSpPr>
          <p:cNvPr id="7" name="Shape 5"/>
          <p:cNvSpPr/>
          <p:nvPr/>
        </p:nvSpPr>
        <p:spPr>
          <a:xfrm>
            <a:off x="640080" y="1874520"/>
            <a:ext cx="2331720" cy="2697480"/>
          </a:xfrm>
          <a:prstGeom prst="roundRect">
            <a:avLst>
              <a:gd name="adj" fmla="val 6670"/>
            </a:avLst>
          </a:prstGeom>
          <a:solidFill>
            <a:srgbClr val="F3F5F9"/>
          </a:solidFill>
          <a:ln w="12700">
            <a:solidFill>
              <a:srgbClr val="E2E7EF"/>
            </a:solidFill>
            <a:prstDash val="solid"/>
          </a:ln>
        </p:spPr>
      </p:sp>
      <p:sp>
        <p:nvSpPr>
          <p:cNvPr id="8" name="Text 6"/>
          <p:cNvSpPr txBox="1"/>
          <p:nvPr/>
        </p:nvSpPr>
        <p:spPr>
          <a:xfrm>
            <a:off x="868680" y="2103120"/>
            <a:ext cx="1965960" cy="219456"/>
          </a:xfrm>
          <a:prstGeom prst="rect">
            <a:avLst/>
          </a:prstGeom>
          <a:noFill/>
          <a:ln/>
        </p:spPr>
        <p:txBody>
          <a:bodyPr wrap="square" lIns="0" tIns="0" rIns="0" bIns="0" rtlCol="0" anchor="t"/>
          <a:lstStyle/>
          <a:p>
            <a:pPr algn="l" indent="0" marL="0">
              <a:buNone/>
            </a:pPr>
            <a:r>
              <a:rPr lang="en-US" sz="950" b="1" spc="130" kern="0" dirty="0">
                <a:solidFill>
                  <a:srgbClr val="D98A1F"/>
                </a:solidFill>
                <a:latin typeface="Courier New" pitchFamily="34" charset="0"/>
                <a:ea typeface="Courier New" pitchFamily="34" charset="-122"/>
                <a:cs typeface="Courier New" pitchFamily="34" charset="-120"/>
              </a:rPr>
              <a:t>OUTPUT  →  DL</a:t>
            </a:r>
            <a:endParaRPr lang="en-US" sz="950" dirty="0"/>
          </a:p>
        </p:txBody>
      </p:sp>
      <p:sp>
        <p:nvSpPr>
          <p:cNvPr id="9" name="Shape 7"/>
          <p:cNvSpPr/>
          <p:nvPr/>
        </p:nvSpPr>
        <p:spPr>
          <a:xfrm>
            <a:off x="868680" y="2651760"/>
            <a:ext cx="1874520" cy="868680"/>
          </a:xfrm>
          <a:prstGeom prst="roundRect">
            <a:avLst>
              <a:gd name="adj" fmla="val 6670"/>
            </a:avLst>
          </a:prstGeom>
          <a:solidFill>
            <a:srgbClr val="121A29"/>
          </a:solidFill>
          <a:ln w="12700">
            <a:solidFill>
              <a:srgbClr val="2B3850"/>
            </a:solidFill>
            <a:prstDash val="solid"/>
          </a:ln>
        </p:spPr>
      </p:sp>
      <p:sp>
        <p:nvSpPr>
          <p:cNvPr id="10" name="Text 8"/>
          <p:cNvSpPr txBox="1"/>
          <p:nvPr/>
        </p:nvSpPr>
        <p:spPr>
          <a:xfrm>
            <a:off x="868680" y="2651760"/>
            <a:ext cx="1874520" cy="868680"/>
          </a:xfrm>
          <a:prstGeom prst="rect">
            <a:avLst/>
          </a:prstGeom>
          <a:noFill/>
          <a:ln/>
        </p:spPr>
        <p:txBody>
          <a:bodyPr wrap="square" lIns="0" tIns="0" rIns="0" bIns="0" rtlCol="0" anchor="ctr"/>
          <a:lstStyle/>
          <a:p>
            <a:pPr algn="ctr" indent="0" marL="0">
              <a:buNone/>
            </a:pPr>
            <a:r>
              <a:rPr lang="en-US" sz="1600" b="1" dirty="0">
                <a:solidFill>
                  <a:srgbClr val="EDA63F"/>
                </a:solidFill>
                <a:latin typeface="Courier New" pitchFamily="34" charset="0"/>
                <a:ea typeface="Courier New" pitchFamily="34" charset="-122"/>
                <a:cs typeface="Courier New" pitchFamily="34" charset="-120"/>
              </a:rPr>
              <a:t>mov</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3EB9CE"/>
                </a:solidFill>
                <a:latin typeface="Courier New" pitchFamily="34" charset="0"/>
                <a:ea typeface="Courier New" pitchFamily="34" charset="-122"/>
                <a:cs typeface="Courier New" pitchFamily="34" charset="-120"/>
              </a:rPr>
              <a:t>dl</a:t>
            </a:r>
            <a:pPr algn="ctr" indent="0" marL="0">
              <a:buNone/>
            </a:pPr>
            <a:r>
              <a:rPr lang="en-US" sz="1600" dirty="0">
                <a:solidFill>
                  <a:srgbClr val="F0F3F8"/>
                </a:solidFill>
                <a:latin typeface="Courier New" pitchFamily="34" charset="0"/>
                <a:ea typeface="Courier New" pitchFamily="34" charset="-122"/>
                <a:cs typeface="Courier New" pitchFamily="34" charset="-120"/>
              </a:rPr>
              <a:t>,</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9584E8"/>
                </a:solidFill>
                <a:latin typeface="Courier New" pitchFamily="34" charset="0"/>
                <a:ea typeface="Courier New" pitchFamily="34" charset="-122"/>
                <a:cs typeface="Courier New" pitchFamily="34" charset="-120"/>
              </a:rPr>
              <a:t>'A'</a:t>
            </a:r>
            <a:endParaRPr lang="en-US" sz="1600" dirty="0"/>
          </a:p>
        </p:txBody>
      </p:sp>
      <p:sp>
        <p:nvSpPr>
          <p:cNvPr id="11" name="Text 9"/>
          <p:cNvSpPr txBox="1"/>
          <p:nvPr/>
        </p:nvSpPr>
        <p:spPr>
          <a:xfrm>
            <a:off x="868680" y="3886200"/>
            <a:ext cx="1874520" cy="50292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DL holds the character.</a:t>
            </a:r>
            <a:endParaRPr lang="en-US" sz="1400" dirty="0"/>
          </a:p>
        </p:txBody>
      </p:sp>
      <p:sp>
        <p:nvSpPr>
          <p:cNvPr id="12" name="Shape 10"/>
          <p:cNvSpPr/>
          <p:nvPr/>
        </p:nvSpPr>
        <p:spPr>
          <a:xfrm>
            <a:off x="3063240" y="3223260"/>
            <a:ext cx="344424" cy="0"/>
          </a:xfrm>
          <a:prstGeom prst="line">
            <a:avLst/>
          </a:prstGeom>
          <a:noFill/>
          <a:ln w="19050">
            <a:solidFill>
              <a:srgbClr val="93A0B2"/>
            </a:solidFill>
            <a:prstDash val="solid"/>
            <a:tailEnd type="triangle"/>
          </a:ln>
        </p:spPr>
      </p:sp>
      <p:sp>
        <p:nvSpPr>
          <p:cNvPr id="13" name="Shape 11"/>
          <p:cNvSpPr/>
          <p:nvPr/>
        </p:nvSpPr>
        <p:spPr>
          <a:xfrm>
            <a:off x="3499104" y="1874520"/>
            <a:ext cx="2331720" cy="2697480"/>
          </a:xfrm>
          <a:prstGeom prst="roundRect">
            <a:avLst>
              <a:gd name="adj" fmla="val 6670"/>
            </a:avLst>
          </a:prstGeom>
          <a:solidFill>
            <a:srgbClr val="F3F5F9"/>
          </a:solidFill>
          <a:ln w="12700">
            <a:solidFill>
              <a:srgbClr val="E2E7EF"/>
            </a:solidFill>
            <a:prstDash val="solid"/>
          </a:ln>
        </p:spPr>
      </p:sp>
      <p:sp>
        <p:nvSpPr>
          <p:cNvPr id="14" name="Text 12"/>
          <p:cNvSpPr txBox="1"/>
          <p:nvPr/>
        </p:nvSpPr>
        <p:spPr>
          <a:xfrm>
            <a:off x="3727704" y="2103120"/>
            <a:ext cx="196596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SERVICE  →  AH</a:t>
            </a:r>
            <a:endParaRPr lang="en-US" sz="950" dirty="0"/>
          </a:p>
        </p:txBody>
      </p:sp>
      <p:sp>
        <p:nvSpPr>
          <p:cNvPr id="15" name="Shape 13"/>
          <p:cNvSpPr/>
          <p:nvPr/>
        </p:nvSpPr>
        <p:spPr>
          <a:xfrm>
            <a:off x="3727704" y="2651760"/>
            <a:ext cx="1874520" cy="868680"/>
          </a:xfrm>
          <a:prstGeom prst="roundRect">
            <a:avLst>
              <a:gd name="adj" fmla="val 6670"/>
            </a:avLst>
          </a:prstGeom>
          <a:solidFill>
            <a:srgbClr val="121A29"/>
          </a:solidFill>
          <a:ln w="12700">
            <a:solidFill>
              <a:srgbClr val="2B3850"/>
            </a:solidFill>
            <a:prstDash val="solid"/>
          </a:ln>
        </p:spPr>
      </p:sp>
      <p:sp>
        <p:nvSpPr>
          <p:cNvPr id="16" name="Text 14"/>
          <p:cNvSpPr txBox="1"/>
          <p:nvPr/>
        </p:nvSpPr>
        <p:spPr>
          <a:xfrm>
            <a:off x="3727704" y="2651760"/>
            <a:ext cx="1874520" cy="868680"/>
          </a:xfrm>
          <a:prstGeom prst="rect">
            <a:avLst/>
          </a:prstGeom>
          <a:noFill/>
          <a:ln/>
        </p:spPr>
        <p:txBody>
          <a:bodyPr wrap="square" lIns="0" tIns="0" rIns="0" bIns="0" rtlCol="0" anchor="ctr"/>
          <a:lstStyle/>
          <a:p>
            <a:pPr algn="ctr" indent="0" marL="0">
              <a:buNone/>
            </a:pPr>
            <a:r>
              <a:rPr lang="en-US" sz="1600" b="1" dirty="0">
                <a:solidFill>
                  <a:srgbClr val="EDA63F"/>
                </a:solidFill>
                <a:latin typeface="Courier New" pitchFamily="34" charset="0"/>
                <a:ea typeface="Courier New" pitchFamily="34" charset="-122"/>
                <a:cs typeface="Courier New" pitchFamily="34" charset="-120"/>
              </a:rPr>
              <a:t>mov</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3EB9CE"/>
                </a:solidFill>
                <a:latin typeface="Courier New" pitchFamily="34" charset="0"/>
                <a:ea typeface="Courier New" pitchFamily="34" charset="-122"/>
                <a:cs typeface="Courier New" pitchFamily="34" charset="-120"/>
              </a:rPr>
              <a:t>ah</a:t>
            </a:r>
            <a:pPr algn="ctr" indent="0" marL="0">
              <a:buNone/>
            </a:pPr>
            <a:r>
              <a:rPr lang="en-US" sz="1600" dirty="0">
                <a:solidFill>
                  <a:srgbClr val="F0F3F8"/>
                </a:solidFill>
                <a:latin typeface="Courier New" pitchFamily="34" charset="0"/>
                <a:ea typeface="Courier New" pitchFamily="34" charset="-122"/>
                <a:cs typeface="Courier New" pitchFamily="34" charset="-120"/>
              </a:rPr>
              <a:t>,</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9584E8"/>
                </a:solidFill>
                <a:latin typeface="Courier New" pitchFamily="34" charset="0"/>
                <a:ea typeface="Courier New" pitchFamily="34" charset="-122"/>
                <a:cs typeface="Courier New" pitchFamily="34" charset="-120"/>
              </a:rPr>
              <a:t>02h</a:t>
            </a:r>
            <a:endParaRPr lang="en-US" sz="1600" dirty="0"/>
          </a:p>
        </p:txBody>
      </p:sp>
      <p:sp>
        <p:nvSpPr>
          <p:cNvPr id="17" name="Text 15"/>
          <p:cNvSpPr txBox="1"/>
          <p:nvPr/>
        </p:nvSpPr>
        <p:spPr>
          <a:xfrm>
            <a:off x="3727704" y="3886200"/>
            <a:ext cx="1874520" cy="50292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AH picks the job for DOS.</a:t>
            </a:r>
            <a:endParaRPr lang="en-US" sz="1400" dirty="0"/>
          </a:p>
        </p:txBody>
      </p:sp>
      <p:sp>
        <p:nvSpPr>
          <p:cNvPr id="18" name="Shape 16"/>
          <p:cNvSpPr/>
          <p:nvPr/>
        </p:nvSpPr>
        <p:spPr>
          <a:xfrm>
            <a:off x="5922264" y="3223260"/>
            <a:ext cx="344424" cy="0"/>
          </a:xfrm>
          <a:prstGeom prst="line">
            <a:avLst/>
          </a:prstGeom>
          <a:noFill/>
          <a:ln w="19050">
            <a:solidFill>
              <a:srgbClr val="93A0B2"/>
            </a:solidFill>
            <a:prstDash val="solid"/>
            <a:tailEnd type="triangle"/>
          </a:ln>
        </p:spPr>
      </p:sp>
      <p:sp>
        <p:nvSpPr>
          <p:cNvPr id="19" name="Shape 17"/>
          <p:cNvSpPr/>
          <p:nvPr/>
        </p:nvSpPr>
        <p:spPr>
          <a:xfrm>
            <a:off x="6358128" y="1874520"/>
            <a:ext cx="2331720" cy="2697480"/>
          </a:xfrm>
          <a:prstGeom prst="roundRect">
            <a:avLst>
              <a:gd name="adj" fmla="val 6670"/>
            </a:avLst>
          </a:prstGeom>
          <a:solidFill>
            <a:srgbClr val="F3F5F9"/>
          </a:solidFill>
          <a:ln w="12700">
            <a:solidFill>
              <a:srgbClr val="E2E7EF"/>
            </a:solidFill>
            <a:prstDash val="solid"/>
          </a:ln>
        </p:spPr>
      </p:sp>
      <p:sp>
        <p:nvSpPr>
          <p:cNvPr id="20" name="Text 18"/>
          <p:cNvSpPr txBox="1"/>
          <p:nvPr/>
        </p:nvSpPr>
        <p:spPr>
          <a:xfrm>
            <a:off x="6586728" y="2103120"/>
            <a:ext cx="1965960" cy="219456"/>
          </a:xfrm>
          <a:prstGeom prst="rect">
            <a:avLst/>
          </a:prstGeom>
          <a:noFill/>
          <a:ln/>
        </p:spPr>
        <p:txBody>
          <a:bodyPr wrap="square" lIns="0" tIns="0" rIns="0" bIns="0" rtlCol="0" anchor="t"/>
          <a:lstStyle/>
          <a:p>
            <a:pPr algn="l" indent="0" marL="0">
              <a:buNone/>
            </a:pPr>
            <a:r>
              <a:rPr lang="en-US" sz="950" b="1" spc="130" kern="0" dirty="0">
                <a:solidFill>
                  <a:srgbClr val="6B58CC"/>
                </a:solidFill>
                <a:latin typeface="Courier New" pitchFamily="34" charset="0"/>
                <a:ea typeface="Courier New" pitchFamily="34" charset="-122"/>
                <a:cs typeface="Courier New" pitchFamily="34" charset="-120"/>
              </a:rPr>
              <a:t>EXECUTE  →  INT 21H</a:t>
            </a:r>
            <a:endParaRPr lang="en-US" sz="950" dirty="0"/>
          </a:p>
        </p:txBody>
      </p:sp>
      <p:sp>
        <p:nvSpPr>
          <p:cNvPr id="21" name="Shape 19"/>
          <p:cNvSpPr/>
          <p:nvPr/>
        </p:nvSpPr>
        <p:spPr>
          <a:xfrm>
            <a:off x="6586728" y="2651760"/>
            <a:ext cx="1874520" cy="868680"/>
          </a:xfrm>
          <a:prstGeom prst="roundRect">
            <a:avLst>
              <a:gd name="adj" fmla="val 6670"/>
            </a:avLst>
          </a:prstGeom>
          <a:solidFill>
            <a:srgbClr val="121A29"/>
          </a:solidFill>
          <a:ln w="12700">
            <a:solidFill>
              <a:srgbClr val="2B3850"/>
            </a:solidFill>
            <a:prstDash val="solid"/>
          </a:ln>
        </p:spPr>
      </p:sp>
      <p:sp>
        <p:nvSpPr>
          <p:cNvPr id="22" name="Text 20"/>
          <p:cNvSpPr txBox="1"/>
          <p:nvPr/>
        </p:nvSpPr>
        <p:spPr>
          <a:xfrm>
            <a:off x="6586728" y="2651760"/>
            <a:ext cx="1874520" cy="868680"/>
          </a:xfrm>
          <a:prstGeom prst="rect">
            <a:avLst/>
          </a:prstGeom>
          <a:noFill/>
          <a:ln/>
        </p:spPr>
        <p:txBody>
          <a:bodyPr wrap="square" lIns="0" tIns="0" rIns="0" bIns="0" rtlCol="0" anchor="ctr"/>
          <a:lstStyle/>
          <a:p>
            <a:pPr algn="ctr" indent="0" marL="0">
              <a:buNone/>
            </a:pPr>
            <a:r>
              <a:rPr lang="en-US" sz="1600" b="1" dirty="0">
                <a:solidFill>
                  <a:srgbClr val="EDA63F"/>
                </a:solidFill>
                <a:latin typeface="Courier New" pitchFamily="34" charset="0"/>
                <a:ea typeface="Courier New" pitchFamily="34" charset="-122"/>
                <a:cs typeface="Courier New" pitchFamily="34" charset="-120"/>
              </a:rPr>
              <a:t>int</a:t>
            </a:r>
            <a:pPr algn="ctr" indent="0" marL="0">
              <a:buNone/>
            </a:pPr>
            <a:r>
              <a:rPr lang="en-US" sz="1600" dirty="0">
                <a:solidFill>
                  <a:srgbClr val="F0F3F8"/>
                </a:solidFill>
                <a:latin typeface="Courier New" pitchFamily="34" charset="0"/>
                <a:ea typeface="Courier New" pitchFamily="34" charset="-122"/>
                <a:cs typeface="Courier New" pitchFamily="34" charset="-120"/>
              </a:rPr>
              <a:t> </a:t>
            </a:r>
            <a:pPr algn="ctr" indent="0" marL="0">
              <a:buNone/>
            </a:pPr>
            <a:r>
              <a:rPr lang="en-US" sz="1600" b="1" dirty="0">
                <a:solidFill>
                  <a:srgbClr val="9584E8"/>
                </a:solidFill>
                <a:latin typeface="Courier New" pitchFamily="34" charset="0"/>
                <a:ea typeface="Courier New" pitchFamily="34" charset="-122"/>
                <a:cs typeface="Courier New" pitchFamily="34" charset="-120"/>
              </a:rPr>
              <a:t>21h</a:t>
            </a:r>
            <a:endParaRPr lang="en-US" sz="1600" dirty="0"/>
          </a:p>
        </p:txBody>
      </p:sp>
      <p:sp>
        <p:nvSpPr>
          <p:cNvPr id="23" name="Text 21"/>
          <p:cNvSpPr txBox="1"/>
          <p:nvPr/>
        </p:nvSpPr>
        <p:spPr>
          <a:xfrm>
            <a:off x="6586728" y="3886200"/>
            <a:ext cx="1874520" cy="50292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DOS does the job.</a:t>
            </a:r>
            <a:endParaRPr lang="en-US" sz="1400" dirty="0"/>
          </a:p>
        </p:txBody>
      </p:sp>
      <p:sp>
        <p:nvSpPr>
          <p:cNvPr id="24" name="Shape 22"/>
          <p:cNvSpPr/>
          <p:nvPr/>
        </p:nvSpPr>
        <p:spPr>
          <a:xfrm>
            <a:off x="8781288" y="3223260"/>
            <a:ext cx="344424" cy="0"/>
          </a:xfrm>
          <a:prstGeom prst="line">
            <a:avLst/>
          </a:prstGeom>
          <a:noFill/>
          <a:ln w="19050">
            <a:solidFill>
              <a:srgbClr val="93A0B2"/>
            </a:solidFill>
            <a:prstDash val="solid"/>
            <a:tailEnd type="triangle"/>
          </a:ln>
        </p:spPr>
      </p:sp>
      <p:sp>
        <p:nvSpPr>
          <p:cNvPr id="25" name="Shape 23"/>
          <p:cNvSpPr/>
          <p:nvPr/>
        </p:nvSpPr>
        <p:spPr>
          <a:xfrm>
            <a:off x="9217152" y="1874520"/>
            <a:ext cx="2331720" cy="2697480"/>
          </a:xfrm>
          <a:prstGeom prst="roundRect">
            <a:avLst>
              <a:gd name="adj" fmla="val 6670"/>
            </a:avLst>
          </a:prstGeom>
          <a:solidFill>
            <a:srgbClr val="F3F5F9"/>
          </a:solidFill>
          <a:ln w="12700">
            <a:solidFill>
              <a:srgbClr val="E2E7EF"/>
            </a:solidFill>
            <a:prstDash val="solid"/>
          </a:ln>
        </p:spPr>
      </p:sp>
      <p:sp>
        <p:nvSpPr>
          <p:cNvPr id="26" name="Text 24"/>
          <p:cNvSpPr txBox="1"/>
          <p:nvPr/>
        </p:nvSpPr>
        <p:spPr>
          <a:xfrm>
            <a:off x="9445752" y="2103120"/>
            <a:ext cx="1965960" cy="219456"/>
          </a:xfrm>
          <a:prstGeom prst="rect">
            <a:avLst/>
          </a:prstGeom>
          <a:noFill/>
          <a:ln/>
        </p:spPr>
        <p:txBody>
          <a:bodyPr wrap="square" lIns="0" tIns="0" rIns="0" bIns="0" rtlCol="0" anchor="t"/>
          <a:lstStyle/>
          <a:p>
            <a:pPr algn="l" indent="0" marL="0">
              <a:buNone/>
            </a:pPr>
            <a:r>
              <a:rPr lang="en-US" sz="950" b="1" spc="130" kern="0" dirty="0">
                <a:solidFill>
                  <a:srgbClr val="37865F"/>
                </a:solidFill>
                <a:latin typeface="Courier New" pitchFamily="34" charset="0"/>
                <a:ea typeface="Courier New" pitchFamily="34" charset="-122"/>
                <a:cs typeface="Courier New" pitchFamily="34" charset="-120"/>
              </a:rPr>
              <a:t>SCREEN</a:t>
            </a:r>
            <a:endParaRPr lang="en-US" sz="950" dirty="0"/>
          </a:p>
        </p:txBody>
      </p:sp>
      <p:sp>
        <p:nvSpPr>
          <p:cNvPr id="27" name="Shape 25"/>
          <p:cNvSpPr/>
          <p:nvPr/>
        </p:nvSpPr>
        <p:spPr>
          <a:xfrm>
            <a:off x="9445752" y="2514600"/>
            <a:ext cx="1874520" cy="1143000"/>
          </a:xfrm>
          <a:prstGeom prst="roundRect">
            <a:avLst>
              <a:gd name="adj" fmla="val 6670"/>
            </a:avLst>
          </a:prstGeom>
          <a:solidFill>
            <a:srgbClr val="070B12"/>
          </a:solidFill>
          <a:ln w="12700">
            <a:solidFill>
              <a:srgbClr val="2B3850"/>
            </a:solidFill>
            <a:prstDash val="solid"/>
          </a:ln>
        </p:spPr>
      </p:sp>
      <p:sp>
        <p:nvSpPr>
          <p:cNvPr id="28" name="Text 26"/>
          <p:cNvSpPr txBox="1"/>
          <p:nvPr/>
        </p:nvSpPr>
        <p:spPr>
          <a:xfrm>
            <a:off x="9445752" y="2514600"/>
            <a:ext cx="1874520" cy="1143000"/>
          </a:xfrm>
          <a:prstGeom prst="rect">
            <a:avLst/>
          </a:prstGeom>
          <a:noFill/>
          <a:ln/>
        </p:spPr>
        <p:txBody>
          <a:bodyPr wrap="square" lIns="0" tIns="0" rIns="0" bIns="0" rtlCol="0" anchor="ctr"/>
          <a:lstStyle/>
          <a:p>
            <a:pPr algn="ctr" indent="0" marL="0">
              <a:buNone/>
            </a:pPr>
            <a:r>
              <a:rPr lang="en-US" sz="4000" b="1" dirty="0">
                <a:solidFill>
                  <a:srgbClr val="F0F3F8"/>
                </a:solidFill>
                <a:latin typeface="Courier New" pitchFamily="34" charset="0"/>
                <a:ea typeface="Courier New" pitchFamily="34" charset="-122"/>
                <a:cs typeface="Courier New" pitchFamily="34" charset="-120"/>
              </a:rPr>
              <a:t>A</a:t>
            </a:r>
            <a:endParaRPr lang="en-US" sz="4000" dirty="0"/>
          </a:p>
        </p:txBody>
      </p:sp>
      <p:sp>
        <p:nvSpPr>
          <p:cNvPr id="29" name="Text 27"/>
          <p:cNvSpPr txBox="1"/>
          <p:nvPr/>
        </p:nvSpPr>
        <p:spPr>
          <a:xfrm>
            <a:off x="9445752" y="3886200"/>
            <a:ext cx="1874520" cy="502920"/>
          </a:xfrm>
          <a:prstGeom prst="rect">
            <a:avLst/>
          </a:prstGeom>
          <a:noFill/>
          <a:ln/>
        </p:spPr>
        <p:txBody>
          <a:bodyPr wrap="square" lIns="0" tIns="0" rIns="0" bIns="0" rtlCol="0" anchor="t"/>
          <a:lstStyle/>
          <a:p>
            <a:pPr algn="l" indent="0" marL="0">
              <a:buNone/>
            </a:pPr>
            <a:r>
              <a:rPr lang="en-US" sz="1400" dirty="0">
                <a:solidFill>
                  <a:srgbClr val="0F1622"/>
                </a:solidFill>
                <a:latin typeface="Calibri" pitchFamily="34" charset="0"/>
                <a:ea typeface="Calibri" pitchFamily="34" charset="-122"/>
                <a:cs typeface="Calibri" pitchFamily="34" charset="-120"/>
              </a:rPr>
              <a:t>You see the result.</a:t>
            </a:r>
            <a:endParaRPr lang="en-US" sz="1400" dirty="0"/>
          </a:p>
        </p:txBody>
      </p:sp>
      <p:sp>
        <p:nvSpPr>
          <p:cNvPr id="30" name="Shape 28"/>
          <p:cNvSpPr/>
          <p:nvPr/>
        </p:nvSpPr>
        <p:spPr>
          <a:xfrm>
            <a:off x="640080" y="4956048"/>
            <a:ext cx="10908792" cy="566928"/>
          </a:xfrm>
          <a:prstGeom prst="roundRect">
            <a:avLst>
              <a:gd name="adj" fmla="val 6670"/>
            </a:avLst>
          </a:prstGeom>
          <a:solidFill>
            <a:srgbClr val="0F1622"/>
          </a:solidFill>
          <a:ln/>
        </p:spPr>
      </p:sp>
      <p:sp>
        <p:nvSpPr>
          <p:cNvPr id="31" name="Text 29"/>
          <p:cNvSpPr txBox="1"/>
          <p:nvPr/>
        </p:nvSpPr>
        <p:spPr>
          <a:xfrm>
            <a:off x="640080" y="4956048"/>
            <a:ext cx="10908792" cy="566928"/>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Today the direction flips: the keyboard sends a character in.</a:t>
            </a:r>
            <a:endParaRPr lang="en-US" sz="1500" dirty="0"/>
          </a:p>
        </p:txBody>
      </p:sp>
      <p:sp>
        <p:nvSpPr>
          <p:cNvPr id="32" name="Text 30"/>
          <p:cNvSpPr txBox="1"/>
          <p:nvPr/>
        </p:nvSpPr>
        <p:spPr>
          <a:xfrm>
            <a:off x="640080" y="5742432"/>
            <a:ext cx="10908792"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02h is the same 2 you used last lab. From today we write every service number with an h.</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1 · CHARACTER INPUT</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F0F3F8"/>
                </a:solidFill>
                <a:latin typeface="Arial" pitchFamily="34" charset="0"/>
                <a:ea typeface="Arial" pitchFamily="34" charset="-122"/>
                <a:cs typeface="Arial" pitchFamily="34" charset="-120"/>
              </a:rPr>
              <a:t>Taking one character as input</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Two lines. DOS waits for a key, then hands it to your program in AL.</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03</a:t>
            </a:r>
            <a:endParaRPr lang="en-US" sz="900" dirty="0"/>
          </a:p>
        </p:txBody>
      </p:sp>
      <p:sp>
        <p:nvSpPr>
          <p:cNvPr id="7" name="Shape 5"/>
          <p:cNvSpPr/>
          <p:nvPr/>
        </p:nvSpPr>
        <p:spPr>
          <a:xfrm>
            <a:off x="640080" y="1810512"/>
            <a:ext cx="4572000" cy="1783080"/>
          </a:xfrm>
          <a:prstGeom prst="roundRect">
            <a:avLst>
              <a:gd name="adj" fmla="val 6670"/>
            </a:avLst>
          </a:prstGeom>
          <a:solidFill>
            <a:srgbClr val="121A29"/>
          </a:solidFill>
          <a:ln w="12700">
            <a:solidFill>
              <a:srgbClr val="2B3850"/>
            </a:solidFill>
            <a:prstDash val="solid"/>
          </a:ln>
        </p:spPr>
      </p:sp>
      <p:sp>
        <p:nvSpPr>
          <p:cNvPr id="8" name="Shape 6"/>
          <p:cNvSpPr/>
          <p:nvPr/>
        </p:nvSpPr>
        <p:spPr>
          <a:xfrm>
            <a:off x="868680" y="2130552"/>
            <a:ext cx="310896" cy="310896"/>
          </a:xfrm>
          <a:prstGeom prst="ellipse">
            <a:avLst/>
          </a:prstGeom>
          <a:solidFill>
            <a:srgbClr val="233049"/>
          </a:solidFill>
          <a:ln/>
        </p:spPr>
      </p:sp>
      <p:sp>
        <p:nvSpPr>
          <p:cNvPr id="9" name="Text 7"/>
          <p:cNvSpPr txBox="1"/>
          <p:nvPr/>
        </p:nvSpPr>
        <p:spPr>
          <a:xfrm>
            <a:off x="868680" y="2130552"/>
            <a:ext cx="310896" cy="310896"/>
          </a:xfrm>
          <a:prstGeom prst="rect">
            <a:avLst/>
          </a:prstGeom>
          <a:noFill/>
          <a:ln/>
        </p:spPr>
        <p:txBody>
          <a:bodyPr wrap="square" lIns="0" tIns="0" rIns="0" bIns="0" rtlCol="0" anchor="ctr"/>
          <a:lstStyle/>
          <a:p>
            <a:pPr algn="ctr" indent="0" marL="0">
              <a:buNone/>
            </a:pPr>
            <a:r>
              <a:rPr lang="en-US" sz="1100" b="1" dirty="0">
                <a:solidFill>
                  <a:srgbClr val="3EB9CE"/>
                </a:solidFill>
                <a:latin typeface="Courier New" pitchFamily="34" charset="0"/>
                <a:ea typeface="Courier New" pitchFamily="34" charset="-122"/>
                <a:cs typeface="Courier New" pitchFamily="34" charset="-120"/>
              </a:rPr>
              <a:t>1</a:t>
            </a:r>
            <a:endParaRPr lang="en-US" sz="1100" dirty="0"/>
          </a:p>
        </p:txBody>
      </p:sp>
      <p:sp>
        <p:nvSpPr>
          <p:cNvPr id="10" name="Text 8"/>
          <p:cNvSpPr txBox="1"/>
          <p:nvPr/>
        </p:nvSpPr>
        <p:spPr>
          <a:xfrm>
            <a:off x="1371600" y="2029968"/>
            <a:ext cx="3657600" cy="512064"/>
          </a:xfrm>
          <a:prstGeom prst="rect">
            <a:avLst/>
          </a:prstGeom>
          <a:noFill/>
          <a:ln/>
        </p:spPr>
        <p:txBody>
          <a:bodyPr wrap="square" lIns="0" tIns="0" rIns="0" bIns="0" rtlCol="0" anchor="ctr"/>
          <a:lstStyle/>
          <a:p>
            <a:pPr algn="l" indent="0" marL="0">
              <a:buNone/>
            </a:pPr>
            <a:r>
              <a:rPr lang="en-US" sz="2600" b="1" dirty="0">
                <a:solidFill>
                  <a:srgbClr val="EDA63F"/>
                </a:solidFill>
                <a:latin typeface="Courier New" pitchFamily="34" charset="0"/>
                <a:ea typeface="Courier New" pitchFamily="34" charset="-122"/>
                <a:cs typeface="Courier New" pitchFamily="34" charset="-120"/>
              </a:rPr>
              <a:t>mov</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3EB9CE"/>
                </a:solidFill>
                <a:latin typeface="Courier New" pitchFamily="34" charset="0"/>
                <a:ea typeface="Courier New" pitchFamily="34" charset="-122"/>
                <a:cs typeface="Courier New" pitchFamily="34" charset="-120"/>
              </a:rPr>
              <a:t>ah</a:t>
            </a:r>
            <a:pPr algn="l" indent="0" marL="0">
              <a:buNone/>
            </a:pPr>
            <a:r>
              <a:rPr lang="en-US" sz="2600" dirty="0">
                <a:solidFill>
                  <a:srgbClr val="F0F3F8"/>
                </a:solidFill>
                <a:latin typeface="Courier New" pitchFamily="34" charset="0"/>
                <a:ea typeface="Courier New" pitchFamily="34" charset="-122"/>
                <a:cs typeface="Courier New" pitchFamily="34" charset="-120"/>
              </a:rPr>
              <a:t>,</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9584E8"/>
                </a:solidFill>
                <a:latin typeface="Courier New" pitchFamily="34" charset="0"/>
                <a:ea typeface="Courier New" pitchFamily="34" charset="-122"/>
                <a:cs typeface="Courier New" pitchFamily="34" charset="-120"/>
              </a:rPr>
              <a:t>01h</a:t>
            </a:r>
            <a:endParaRPr lang="en-US" sz="2600" dirty="0"/>
          </a:p>
        </p:txBody>
      </p:sp>
      <p:sp>
        <p:nvSpPr>
          <p:cNvPr id="11" name="Shape 9"/>
          <p:cNvSpPr/>
          <p:nvPr/>
        </p:nvSpPr>
        <p:spPr>
          <a:xfrm>
            <a:off x="868680" y="2971800"/>
            <a:ext cx="310896" cy="310896"/>
          </a:xfrm>
          <a:prstGeom prst="ellipse">
            <a:avLst/>
          </a:prstGeom>
          <a:solidFill>
            <a:srgbClr val="233049"/>
          </a:solidFill>
          <a:ln/>
        </p:spPr>
      </p:sp>
      <p:sp>
        <p:nvSpPr>
          <p:cNvPr id="12" name="Text 10"/>
          <p:cNvSpPr txBox="1"/>
          <p:nvPr/>
        </p:nvSpPr>
        <p:spPr>
          <a:xfrm>
            <a:off x="868680" y="2971800"/>
            <a:ext cx="310896" cy="310896"/>
          </a:xfrm>
          <a:prstGeom prst="rect">
            <a:avLst/>
          </a:prstGeom>
          <a:noFill/>
          <a:ln/>
        </p:spPr>
        <p:txBody>
          <a:bodyPr wrap="square" lIns="0" tIns="0" rIns="0" bIns="0" rtlCol="0" anchor="ctr"/>
          <a:lstStyle/>
          <a:p>
            <a:pPr algn="ctr" indent="0" marL="0">
              <a:buNone/>
            </a:pPr>
            <a:r>
              <a:rPr lang="en-US" sz="1100" b="1" dirty="0">
                <a:solidFill>
                  <a:srgbClr val="3EB9CE"/>
                </a:solidFill>
                <a:latin typeface="Courier New" pitchFamily="34" charset="0"/>
                <a:ea typeface="Courier New" pitchFamily="34" charset="-122"/>
                <a:cs typeface="Courier New" pitchFamily="34" charset="-120"/>
              </a:rPr>
              <a:t>2</a:t>
            </a:r>
            <a:endParaRPr lang="en-US" sz="1100" dirty="0"/>
          </a:p>
        </p:txBody>
      </p:sp>
      <p:sp>
        <p:nvSpPr>
          <p:cNvPr id="13" name="Text 11"/>
          <p:cNvSpPr txBox="1"/>
          <p:nvPr/>
        </p:nvSpPr>
        <p:spPr>
          <a:xfrm>
            <a:off x="1371600" y="2871216"/>
            <a:ext cx="3657600" cy="512064"/>
          </a:xfrm>
          <a:prstGeom prst="rect">
            <a:avLst/>
          </a:prstGeom>
          <a:noFill/>
          <a:ln/>
        </p:spPr>
        <p:txBody>
          <a:bodyPr wrap="square" lIns="0" tIns="0" rIns="0" bIns="0" rtlCol="0" anchor="ctr"/>
          <a:lstStyle/>
          <a:p>
            <a:pPr algn="l" indent="0" marL="0">
              <a:buNone/>
            </a:pPr>
            <a:r>
              <a:rPr lang="en-US" sz="2600" b="1" dirty="0">
                <a:solidFill>
                  <a:srgbClr val="EDA63F"/>
                </a:solidFill>
                <a:latin typeface="Courier New" pitchFamily="34" charset="0"/>
                <a:ea typeface="Courier New" pitchFamily="34" charset="-122"/>
                <a:cs typeface="Courier New" pitchFamily="34" charset="-120"/>
              </a:rPr>
              <a:t>int</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9584E8"/>
                </a:solidFill>
                <a:latin typeface="Courier New" pitchFamily="34" charset="0"/>
                <a:ea typeface="Courier New" pitchFamily="34" charset="-122"/>
                <a:cs typeface="Courier New" pitchFamily="34" charset="-120"/>
              </a:rPr>
              <a:t>21h</a:t>
            </a:r>
            <a:endParaRPr lang="en-US" sz="2600" dirty="0"/>
          </a:p>
        </p:txBody>
      </p:sp>
      <p:sp>
        <p:nvSpPr>
          <p:cNvPr id="14" name="Text 12"/>
          <p:cNvSpPr txBox="1"/>
          <p:nvPr/>
        </p:nvSpPr>
        <p:spPr>
          <a:xfrm>
            <a:off x="5486400" y="1984248"/>
            <a:ext cx="2926080" cy="603504"/>
          </a:xfrm>
          <a:prstGeom prst="rect">
            <a:avLst/>
          </a:prstGeom>
          <a:noFill/>
          <a:ln/>
        </p:spPr>
        <p:txBody>
          <a:bodyPr wrap="square" lIns="0" tIns="0" rIns="0" bIns="0" rtlCol="0" anchor="ctr"/>
          <a:lstStyle/>
          <a:p>
            <a:pPr algn="l" indent="0" marL="0">
              <a:buNone/>
            </a:pPr>
            <a:r>
              <a:rPr lang="en-US" sz="1400" b="1" dirty="0">
                <a:solidFill>
                  <a:srgbClr val="F0F3F8"/>
                </a:solidFill>
                <a:latin typeface="Calibri" pitchFamily="34" charset="0"/>
                <a:ea typeface="Calibri" pitchFamily="34" charset="-122"/>
                <a:cs typeface="Calibri" pitchFamily="34" charset="-120"/>
              </a:rPr>
              <a:t>Choose service 01h:</a:t>
            </a:r>
            <a:endParaRPr lang="en-US" sz="1400" dirty="0"/>
          </a:p>
          <a:p>
            <a:pPr algn="l" indent="0" marL="0">
              <a:buNone/>
            </a:pPr>
            <a:r>
              <a:rPr lang="en-US" sz="1400" dirty="0">
                <a:solidFill>
                  <a:srgbClr val="94A3B8"/>
                </a:solidFill>
                <a:latin typeface="Calibri" pitchFamily="34" charset="0"/>
                <a:ea typeface="Calibri" pitchFamily="34" charset="-122"/>
                <a:cs typeface="Calibri" pitchFamily="34" charset="-120"/>
              </a:rPr>
              <a:t>read one key.</a:t>
            </a:r>
            <a:endParaRPr lang="en-US" sz="1400" dirty="0"/>
          </a:p>
        </p:txBody>
      </p:sp>
      <p:sp>
        <p:nvSpPr>
          <p:cNvPr id="15" name="Text 13"/>
          <p:cNvSpPr txBox="1"/>
          <p:nvPr/>
        </p:nvSpPr>
        <p:spPr>
          <a:xfrm>
            <a:off x="5486400" y="2825496"/>
            <a:ext cx="2926080" cy="603504"/>
          </a:xfrm>
          <a:prstGeom prst="rect">
            <a:avLst/>
          </a:prstGeom>
          <a:noFill/>
          <a:ln/>
        </p:spPr>
        <p:txBody>
          <a:bodyPr wrap="square" lIns="0" tIns="0" rIns="0" bIns="0" rtlCol="0" anchor="ctr"/>
          <a:lstStyle/>
          <a:p>
            <a:pPr algn="l" indent="0" marL="0">
              <a:buNone/>
            </a:pPr>
            <a:r>
              <a:rPr lang="en-US" sz="1400" b="1" dirty="0">
                <a:solidFill>
                  <a:srgbClr val="F0F3F8"/>
                </a:solidFill>
                <a:latin typeface="Calibri" pitchFamily="34" charset="0"/>
                <a:ea typeface="Calibri" pitchFamily="34" charset="-122"/>
                <a:cs typeface="Calibri" pitchFamily="34" charset="-120"/>
              </a:rPr>
              <a:t>DOS waits for a key.</a:t>
            </a:r>
            <a:endParaRPr lang="en-US" sz="1400" dirty="0"/>
          </a:p>
          <a:p>
            <a:pPr algn="l" indent="0" marL="0">
              <a:buNone/>
            </a:pPr>
            <a:r>
              <a:rPr lang="en-US" sz="1400" dirty="0">
                <a:solidFill>
                  <a:srgbClr val="94A3B8"/>
                </a:solidFill>
                <a:latin typeface="Calibri" pitchFamily="34" charset="0"/>
                <a:ea typeface="Calibri" pitchFamily="34" charset="-122"/>
                <a:cs typeface="Calibri" pitchFamily="34" charset="-120"/>
              </a:rPr>
              <a:t>Your program pauses here.</a:t>
            </a:r>
            <a:endParaRPr lang="en-US" sz="1400" dirty="0"/>
          </a:p>
        </p:txBody>
      </p:sp>
      <p:sp>
        <p:nvSpPr>
          <p:cNvPr id="16" name="Text 14"/>
          <p:cNvSpPr txBox="1"/>
          <p:nvPr/>
        </p:nvSpPr>
        <p:spPr>
          <a:xfrm>
            <a:off x="640080" y="3822192"/>
            <a:ext cx="5486400" cy="219456"/>
          </a:xfrm>
          <a:prstGeom prst="rect">
            <a:avLst/>
          </a:prstGeom>
          <a:noFill/>
          <a:ln/>
        </p:spPr>
        <p:txBody>
          <a:bodyPr wrap="square" lIns="0" tIns="0" rIns="0" bIns="0" rtlCol="0" anchor="t"/>
          <a:lstStyle/>
          <a:p>
            <a:pPr algn="l" indent="0" marL="0">
              <a:buNone/>
            </a:pPr>
            <a:r>
              <a:rPr lang="en-US" sz="950" b="1" spc="130" kern="0" dirty="0">
                <a:solidFill>
                  <a:srgbClr val="5C6B83"/>
                </a:solidFill>
                <a:latin typeface="Courier New" pitchFamily="34" charset="0"/>
                <a:ea typeface="Courier New" pitchFamily="34" charset="-122"/>
                <a:cs typeface="Courier New" pitchFamily="34" charset="-120"/>
              </a:rPr>
              <a:t>WHAT HAPPENS WHEN YOU PRESS K</a:t>
            </a:r>
            <a:endParaRPr lang="en-US" sz="950" dirty="0"/>
          </a:p>
        </p:txBody>
      </p:sp>
      <p:sp>
        <p:nvSpPr>
          <p:cNvPr id="17" name="Shape 15"/>
          <p:cNvSpPr/>
          <p:nvPr/>
        </p:nvSpPr>
        <p:spPr>
          <a:xfrm>
            <a:off x="640080" y="4270248"/>
            <a:ext cx="960120" cy="960120"/>
          </a:xfrm>
          <a:prstGeom prst="roundRect">
            <a:avLst>
              <a:gd name="adj" fmla="val 6670"/>
            </a:avLst>
          </a:prstGeom>
          <a:solidFill>
            <a:srgbClr val="0A0F18"/>
          </a:solidFill>
          <a:ln/>
        </p:spPr>
      </p:sp>
      <p:sp>
        <p:nvSpPr>
          <p:cNvPr id="18" name="Shape 16"/>
          <p:cNvSpPr/>
          <p:nvPr/>
        </p:nvSpPr>
        <p:spPr>
          <a:xfrm>
            <a:off x="640080" y="4206240"/>
            <a:ext cx="960120" cy="960120"/>
          </a:xfrm>
          <a:prstGeom prst="roundRect">
            <a:avLst>
              <a:gd name="adj" fmla="val 6670"/>
            </a:avLst>
          </a:prstGeom>
          <a:solidFill>
            <a:srgbClr val="182132"/>
          </a:solidFill>
          <a:ln w="12700">
            <a:solidFill>
              <a:srgbClr val="2A3548"/>
            </a:solidFill>
            <a:prstDash val="solid"/>
          </a:ln>
        </p:spPr>
      </p:sp>
      <p:sp>
        <p:nvSpPr>
          <p:cNvPr id="19" name="Text 17"/>
          <p:cNvSpPr txBox="1"/>
          <p:nvPr/>
        </p:nvSpPr>
        <p:spPr>
          <a:xfrm>
            <a:off x="640080" y="4206240"/>
            <a:ext cx="960120" cy="883310"/>
          </a:xfrm>
          <a:prstGeom prst="rect">
            <a:avLst/>
          </a:prstGeom>
          <a:noFill/>
          <a:ln/>
        </p:spPr>
        <p:txBody>
          <a:bodyPr wrap="square" lIns="0" tIns="0" rIns="0" bIns="0" rtlCol="0" anchor="ctr"/>
          <a:lstStyle/>
          <a:p>
            <a:pPr algn="ctr" indent="0" marL="0">
              <a:buNone/>
            </a:pPr>
            <a:r>
              <a:rPr lang="en-US" sz="3600" b="1" dirty="0">
                <a:solidFill>
                  <a:srgbClr val="F0F3F8"/>
                </a:solidFill>
                <a:latin typeface="Courier New" pitchFamily="34" charset="0"/>
                <a:ea typeface="Courier New" pitchFamily="34" charset="-122"/>
                <a:cs typeface="Courier New" pitchFamily="34" charset="-120"/>
              </a:rPr>
              <a:t>k</a:t>
            </a:r>
            <a:endParaRPr lang="en-US" sz="3600" dirty="0"/>
          </a:p>
        </p:txBody>
      </p:sp>
      <p:sp>
        <p:nvSpPr>
          <p:cNvPr id="20" name="Text 18"/>
          <p:cNvSpPr txBox="1"/>
          <p:nvPr/>
        </p:nvSpPr>
        <p:spPr>
          <a:xfrm>
            <a:off x="457200" y="5303520"/>
            <a:ext cx="1325880" cy="256032"/>
          </a:xfrm>
          <a:prstGeom prst="rect">
            <a:avLst/>
          </a:prstGeom>
          <a:noFill/>
          <a:ln/>
        </p:spPr>
        <p:txBody>
          <a:bodyPr wrap="square" lIns="0" tIns="0" rIns="0" bIns="0" rtlCol="0" anchor="t"/>
          <a:lstStyle/>
          <a:p>
            <a:pPr algn="ctr" indent="0" marL="0">
              <a:buNone/>
            </a:pPr>
            <a:r>
              <a:rPr lang="en-US" sz="1200" i="1" dirty="0">
                <a:solidFill>
                  <a:srgbClr val="94A3B8"/>
                </a:solidFill>
                <a:latin typeface="Calibri" pitchFamily="34" charset="0"/>
                <a:ea typeface="Calibri" pitchFamily="34" charset="-122"/>
                <a:cs typeface="Calibri" pitchFamily="34" charset="-120"/>
              </a:rPr>
              <a:t>you press k</a:t>
            </a:r>
            <a:endParaRPr lang="en-US" sz="1200" dirty="0"/>
          </a:p>
        </p:txBody>
      </p:sp>
      <p:sp>
        <p:nvSpPr>
          <p:cNvPr id="21" name="Shape 19"/>
          <p:cNvSpPr/>
          <p:nvPr/>
        </p:nvSpPr>
        <p:spPr>
          <a:xfrm>
            <a:off x="1737360" y="4686300"/>
            <a:ext cx="960120" cy="0"/>
          </a:xfrm>
          <a:prstGeom prst="line">
            <a:avLst/>
          </a:prstGeom>
          <a:noFill/>
          <a:ln w="19050">
            <a:solidFill>
              <a:srgbClr val="5C6B83"/>
            </a:solidFill>
            <a:prstDash val="solid"/>
            <a:tailEnd type="triangle"/>
          </a:ln>
        </p:spPr>
      </p:sp>
      <p:sp>
        <p:nvSpPr>
          <p:cNvPr id="22" name="Shape 20"/>
          <p:cNvSpPr/>
          <p:nvPr/>
        </p:nvSpPr>
        <p:spPr>
          <a:xfrm>
            <a:off x="2788920" y="4206240"/>
            <a:ext cx="2514600" cy="960120"/>
          </a:xfrm>
          <a:prstGeom prst="roundRect">
            <a:avLst>
              <a:gd name="adj" fmla="val 6670"/>
            </a:avLst>
          </a:prstGeom>
          <a:solidFill>
            <a:srgbClr val="1E1A33"/>
          </a:solidFill>
          <a:ln w="12700">
            <a:solidFill>
              <a:srgbClr val="9584E8"/>
            </a:solidFill>
            <a:prstDash val="solid"/>
          </a:ln>
        </p:spPr>
      </p:sp>
      <p:sp>
        <p:nvSpPr>
          <p:cNvPr id="23" name="Text 21"/>
          <p:cNvSpPr txBox="1"/>
          <p:nvPr/>
        </p:nvSpPr>
        <p:spPr>
          <a:xfrm>
            <a:off x="2788920" y="4297680"/>
            <a:ext cx="2514600" cy="457200"/>
          </a:xfrm>
          <a:prstGeom prst="rect">
            <a:avLst/>
          </a:prstGeom>
          <a:noFill/>
          <a:ln/>
        </p:spPr>
        <p:txBody>
          <a:bodyPr wrap="square" lIns="0" tIns="0" rIns="0" bIns="0" rtlCol="0" anchor="ctr"/>
          <a:lstStyle/>
          <a:p>
            <a:pPr algn="ctr" indent="0" marL="0">
              <a:buNone/>
            </a:pPr>
            <a:r>
              <a:rPr lang="en-US" sz="2000" b="1" dirty="0">
                <a:solidFill>
                  <a:srgbClr val="9584E8"/>
                </a:solidFill>
                <a:latin typeface="Courier New" pitchFamily="34" charset="0"/>
                <a:ea typeface="Courier New" pitchFamily="34" charset="-122"/>
                <a:cs typeface="Courier New" pitchFamily="34" charset="-120"/>
              </a:rPr>
              <a:t>INT 21h</a:t>
            </a:r>
            <a:endParaRPr lang="en-US" sz="2000" dirty="0"/>
          </a:p>
        </p:txBody>
      </p:sp>
      <p:sp>
        <p:nvSpPr>
          <p:cNvPr id="24" name="Text 22"/>
          <p:cNvSpPr txBox="1"/>
          <p:nvPr/>
        </p:nvSpPr>
        <p:spPr>
          <a:xfrm>
            <a:off x="2788920" y="4709160"/>
            <a:ext cx="2514600" cy="329184"/>
          </a:xfrm>
          <a:prstGeom prst="rect">
            <a:avLst/>
          </a:prstGeom>
          <a:noFill/>
          <a:ln/>
        </p:spPr>
        <p:txBody>
          <a:bodyPr wrap="square" lIns="0" tIns="0" rIns="0" bIns="0" rtlCol="0" anchor="ctr"/>
          <a:lstStyle/>
          <a:p>
            <a:pPr algn="ctr" indent="0" marL="0">
              <a:buNone/>
            </a:pPr>
            <a:r>
              <a:rPr lang="en-US" sz="1200" b="1" dirty="0">
                <a:solidFill>
                  <a:srgbClr val="94A3B8"/>
                </a:solidFill>
                <a:latin typeface="Courier New" pitchFamily="34" charset="0"/>
                <a:ea typeface="Courier New" pitchFamily="34" charset="-122"/>
                <a:cs typeface="Courier New" pitchFamily="34" charset="-120"/>
              </a:rPr>
              <a:t>AH = 01h</a:t>
            </a:r>
            <a:endParaRPr lang="en-US" sz="1200" dirty="0"/>
          </a:p>
        </p:txBody>
      </p:sp>
      <p:sp>
        <p:nvSpPr>
          <p:cNvPr id="25" name="Shape 23"/>
          <p:cNvSpPr/>
          <p:nvPr/>
        </p:nvSpPr>
        <p:spPr>
          <a:xfrm>
            <a:off x="5440680" y="4686300"/>
            <a:ext cx="640080" cy="0"/>
          </a:xfrm>
          <a:prstGeom prst="line">
            <a:avLst/>
          </a:prstGeom>
          <a:noFill/>
          <a:ln w="19050">
            <a:solidFill>
              <a:srgbClr val="5C6B83"/>
            </a:solidFill>
            <a:prstDash val="solid"/>
            <a:tailEnd type="triangle"/>
          </a:ln>
        </p:spPr>
      </p:sp>
      <p:sp>
        <p:nvSpPr>
          <p:cNvPr id="26" name="Shape 24"/>
          <p:cNvSpPr/>
          <p:nvPr/>
        </p:nvSpPr>
        <p:spPr>
          <a:xfrm>
            <a:off x="6217920" y="4206240"/>
            <a:ext cx="2377440" cy="960120"/>
          </a:xfrm>
          <a:prstGeom prst="roundRect">
            <a:avLst>
              <a:gd name="adj" fmla="val 6670"/>
            </a:avLst>
          </a:prstGeom>
          <a:solidFill>
            <a:srgbClr val="122A31"/>
          </a:solidFill>
          <a:ln w="12700">
            <a:solidFill>
              <a:srgbClr val="3EB9CE"/>
            </a:solidFill>
            <a:prstDash val="solid"/>
          </a:ln>
        </p:spPr>
      </p:sp>
      <p:sp>
        <p:nvSpPr>
          <p:cNvPr id="27" name="Text 25"/>
          <p:cNvSpPr txBox="1"/>
          <p:nvPr/>
        </p:nvSpPr>
        <p:spPr>
          <a:xfrm>
            <a:off x="6382512" y="4206240"/>
            <a:ext cx="950976" cy="960120"/>
          </a:xfrm>
          <a:prstGeom prst="rect">
            <a:avLst/>
          </a:prstGeom>
          <a:noFill/>
          <a:ln/>
        </p:spPr>
        <p:txBody>
          <a:bodyPr wrap="square" lIns="0" tIns="0" rIns="0" bIns="0" rtlCol="0" anchor="ctr"/>
          <a:lstStyle/>
          <a:p>
            <a:pPr algn="l" indent="0" marL="0">
              <a:buNone/>
            </a:pPr>
            <a:r>
              <a:rPr lang="en-US" sz="2200" b="1" dirty="0">
                <a:solidFill>
                  <a:srgbClr val="3EB9CE"/>
                </a:solidFill>
                <a:latin typeface="Courier New" pitchFamily="34" charset="0"/>
                <a:ea typeface="Courier New" pitchFamily="34" charset="-122"/>
                <a:cs typeface="Courier New" pitchFamily="34" charset="-120"/>
              </a:rPr>
              <a:t>AL</a:t>
            </a:r>
            <a:endParaRPr lang="en-US" sz="2200" dirty="0"/>
          </a:p>
        </p:txBody>
      </p:sp>
      <p:sp>
        <p:nvSpPr>
          <p:cNvPr id="28" name="Shape 26"/>
          <p:cNvSpPr/>
          <p:nvPr/>
        </p:nvSpPr>
        <p:spPr>
          <a:xfrm>
            <a:off x="7373722" y="4325112"/>
            <a:ext cx="1093622" cy="722376"/>
          </a:xfrm>
          <a:prstGeom prst="roundRect">
            <a:avLst>
              <a:gd name="adj" fmla="val 6670"/>
            </a:avLst>
          </a:prstGeom>
          <a:solidFill>
            <a:srgbClr val="0E1420"/>
          </a:solidFill>
          <a:ln w="12700">
            <a:solidFill>
              <a:srgbClr val="27505B"/>
            </a:solidFill>
            <a:prstDash val="solid"/>
          </a:ln>
        </p:spPr>
      </p:sp>
      <p:sp>
        <p:nvSpPr>
          <p:cNvPr id="29" name="Text 27"/>
          <p:cNvSpPr txBox="1"/>
          <p:nvPr/>
        </p:nvSpPr>
        <p:spPr>
          <a:xfrm>
            <a:off x="7373722" y="4325112"/>
            <a:ext cx="1093622" cy="722376"/>
          </a:xfrm>
          <a:prstGeom prst="rect">
            <a:avLst/>
          </a:prstGeom>
          <a:noFill/>
          <a:ln/>
        </p:spPr>
        <p:txBody>
          <a:bodyPr wrap="square" lIns="0" tIns="0" rIns="0" bIns="0" rtlCol="0" anchor="ctr"/>
          <a:lstStyle/>
          <a:p>
            <a:pPr algn="ctr" indent="0" marL="0">
              <a:buNone/>
            </a:pPr>
            <a:r>
              <a:rPr lang="en-US" sz="2200" b="1" dirty="0">
                <a:solidFill>
                  <a:srgbClr val="F0F3F8"/>
                </a:solidFill>
                <a:latin typeface="Courier New" pitchFamily="34" charset="0"/>
                <a:ea typeface="Courier New" pitchFamily="34" charset="-122"/>
                <a:cs typeface="Courier New" pitchFamily="34" charset="-120"/>
              </a:rPr>
              <a:t>'k'</a:t>
            </a:r>
            <a:endParaRPr lang="en-US" sz="2200" dirty="0"/>
          </a:p>
        </p:txBody>
      </p:sp>
      <p:sp>
        <p:nvSpPr>
          <p:cNvPr id="30" name="Text 28"/>
          <p:cNvSpPr txBox="1"/>
          <p:nvPr/>
        </p:nvSpPr>
        <p:spPr>
          <a:xfrm>
            <a:off x="6217920" y="5303520"/>
            <a:ext cx="2377440" cy="256032"/>
          </a:xfrm>
          <a:prstGeom prst="rect">
            <a:avLst/>
          </a:prstGeom>
          <a:noFill/>
          <a:ln/>
        </p:spPr>
        <p:txBody>
          <a:bodyPr wrap="square" lIns="0" tIns="0" rIns="0" bIns="0" rtlCol="0" anchor="t"/>
          <a:lstStyle/>
          <a:p>
            <a:pPr algn="ctr" indent="0" marL="0">
              <a:buNone/>
            </a:pPr>
            <a:r>
              <a:rPr lang="en-US" sz="1200" i="1" dirty="0">
                <a:solidFill>
                  <a:srgbClr val="94A3B8"/>
                </a:solidFill>
                <a:latin typeface="Calibri" pitchFamily="34" charset="0"/>
                <a:ea typeface="Calibri" pitchFamily="34" charset="-122"/>
                <a:cs typeface="Calibri" pitchFamily="34" charset="-120"/>
              </a:rPr>
              <a:t>the key is now in AL</a:t>
            </a:r>
            <a:endParaRPr lang="en-US" sz="1200" dirty="0"/>
          </a:p>
        </p:txBody>
      </p:sp>
      <p:sp>
        <p:nvSpPr>
          <p:cNvPr id="31" name="Shape 29"/>
          <p:cNvSpPr/>
          <p:nvPr/>
        </p:nvSpPr>
        <p:spPr>
          <a:xfrm>
            <a:off x="8915400" y="1810512"/>
            <a:ext cx="2633472" cy="3493008"/>
          </a:xfrm>
          <a:prstGeom prst="roundRect">
            <a:avLst>
              <a:gd name="adj" fmla="val 6670"/>
            </a:avLst>
          </a:prstGeom>
          <a:solidFill>
            <a:srgbClr val="2A2113"/>
          </a:solidFill>
          <a:ln w="12700">
            <a:solidFill>
              <a:srgbClr val="4A3620"/>
            </a:solidFill>
            <a:prstDash val="solid"/>
          </a:ln>
        </p:spPr>
      </p:sp>
      <p:sp>
        <p:nvSpPr>
          <p:cNvPr id="32" name="Text 30"/>
          <p:cNvSpPr txBox="1"/>
          <p:nvPr/>
        </p:nvSpPr>
        <p:spPr>
          <a:xfrm>
            <a:off x="9162288" y="2011680"/>
            <a:ext cx="2194560" cy="219456"/>
          </a:xfrm>
          <a:prstGeom prst="rect">
            <a:avLst/>
          </a:prstGeom>
          <a:noFill/>
          <a:ln/>
        </p:spPr>
        <p:txBody>
          <a:bodyPr wrap="square" lIns="0" tIns="0" rIns="0" bIns="0" rtlCol="0" anchor="t"/>
          <a:lstStyle/>
          <a:p>
            <a:pPr algn="l" indent="0" marL="0">
              <a:buNone/>
            </a:pPr>
            <a:r>
              <a:rPr lang="en-US" sz="950" b="1" spc="130" kern="0" dirty="0">
                <a:solidFill>
                  <a:srgbClr val="EDA63F"/>
                </a:solidFill>
                <a:latin typeface="Courier New" pitchFamily="34" charset="0"/>
                <a:ea typeface="Courier New" pitchFamily="34" charset="-122"/>
                <a:cs typeface="Courier New" pitchFamily="34" charset="-120"/>
              </a:rPr>
              <a:t>KEEP A COPY</a:t>
            </a:r>
            <a:endParaRPr lang="en-US" sz="950" dirty="0"/>
          </a:p>
        </p:txBody>
      </p:sp>
      <p:sp>
        <p:nvSpPr>
          <p:cNvPr id="33" name="Text 31"/>
          <p:cNvSpPr txBox="1"/>
          <p:nvPr/>
        </p:nvSpPr>
        <p:spPr>
          <a:xfrm>
            <a:off x="9162288" y="2331720"/>
            <a:ext cx="2194560" cy="1051560"/>
          </a:xfrm>
          <a:prstGeom prst="rect">
            <a:avLst/>
          </a:prstGeom>
          <a:noFill/>
          <a:ln/>
        </p:spPr>
        <p:txBody>
          <a:bodyPr wrap="square" lIns="0" tIns="0" rIns="0" bIns="0" rtlCol="0" anchor="t"/>
          <a:lstStyle/>
          <a:p>
            <a:pPr algn="l" indent="0" marL="0">
              <a:buNone/>
            </a:pPr>
            <a:r>
              <a:rPr lang="en-US" sz="1400" dirty="0">
                <a:solidFill>
                  <a:srgbClr val="F0F3F8"/>
                </a:solidFill>
                <a:latin typeface="Calibri" pitchFamily="34" charset="0"/>
                <a:ea typeface="Calibri" pitchFamily="34" charset="-122"/>
                <a:cs typeface="Calibri" pitchFamily="34" charset="-120"/>
              </a:rPr>
              <a:t>AL only holds the latest key, and printing changes AL too.</a:t>
            </a:r>
            <a:endParaRPr lang="en-US" sz="1400" dirty="0"/>
          </a:p>
        </p:txBody>
      </p:sp>
      <p:sp>
        <p:nvSpPr>
          <p:cNvPr id="34" name="Text 32"/>
          <p:cNvSpPr txBox="1"/>
          <p:nvPr/>
        </p:nvSpPr>
        <p:spPr>
          <a:xfrm>
            <a:off x="9162288" y="3401568"/>
            <a:ext cx="2194560" cy="640080"/>
          </a:xfrm>
          <a:prstGeom prst="rect">
            <a:avLst/>
          </a:prstGeom>
          <a:noFill/>
          <a:ln/>
        </p:spPr>
        <p:txBody>
          <a:bodyPr wrap="square" lIns="0" tIns="0" rIns="0" bIns="0" rtlCol="0" anchor="t"/>
          <a:lstStyle/>
          <a:p>
            <a:pPr algn="l" indent="0" marL="0">
              <a:buNone/>
            </a:pPr>
            <a:r>
              <a:rPr lang="en-US" sz="1300" dirty="0">
                <a:solidFill>
                  <a:srgbClr val="94A3B8"/>
                </a:solidFill>
                <a:latin typeface="Calibri" pitchFamily="34" charset="0"/>
                <a:ea typeface="Calibri" pitchFamily="34" charset="-122"/>
                <a:cs typeface="Calibri" pitchFamily="34" charset="-120"/>
              </a:rPr>
              <a:t>Need the key later? Copy it to another register:</a:t>
            </a:r>
            <a:endParaRPr lang="en-US" sz="1300" dirty="0"/>
          </a:p>
        </p:txBody>
      </p:sp>
      <p:sp>
        <p:nvSpPr>
          <p:cNvPr id="35" name="Shape 33"/>
          <p:cNvSpPr/>
          <p:nvPr/>
        </p:nvSpPr>
        <p:spPr>
          <a:xfrm>
            <a:off x="9162288" y="4114800"/>
            <a:ext cx="2139696" cy="502920"/>
          </a:xfrm>
          <a:prstGeom prst="roundRect">
            <a:avLst>
              <a:gd name="adj" fmla="val 6670"/>
            </a:avLst>
          </a:prstGeom>
          <a:solidFill>
            <a:srgbClr val="121A29"/>
          </a:solidFill>
          <a:ln w="12700">
            <a:solidFill>
              <a:srgbClr val="2B3850"/>
            </a:solidFill>
            <a:prstDash val="solid"/>
          </a:ln>
        </p:spPr>
      </p:sp>
      <p:sp>
        <p:nvSpPr>
          <p:cNvPr id="36" name="Text 34"/>
          <p:cNvSpPr txBox="1"/>
          <p:nvPr/>
        </p:nvSpPr>
        <p:spPr>
          <a:xfrm>
            <a:off x="9162288" y="4114800"/>
            <a:ext cx="2139696" cy="502920"/>
          </a:xfrm>
          <a:prstGeom prst="rect">
            <a:avLst/>
          </a:prstGeom>
          <a:noFill/>
          <a:ln/>
        </p:spPr>
        <p:txBody>
          <a:bodyPr wrap="square" lIns="0" tIns="0" rIns="0" bIns="0" rtlCol="0" anchor="ctr"/>
          <a:lstStyle/>
          <a:p>
            <a:pPr algn="ctr" indent="0" marL="0">
              <a:buNone/>
            </a:pPr>
            <a:r>
              <a:rPr lang="en-US" sz="1500" b="1" dirty="0">
                <a:solidFill>
                  <a:srgbClr val="EDA63F"/>
                </a:solidFill>
                <a:latin typeface="Courier New" pitchFamily="34" charset="0"/>
                <a:ea typeface="Courier New" pitchFamily="34" charset="-122"/>
                <a:cs typeface="Courier New" pitchFamily="34" charset="-120"/>
              </a:rPr>
              <a:t>mov</a:t>
            </a:r>
            <a:pPr algn="ctr" indent="0" marL="0">
              <a:buNone/>
            </a:pPr>
            <a:r>
              <a:rPr lang="en-US" sz="1500" dirty="0">
                <a:solidFill>
                  <a:srgbClr val="F0F3F8"/>
                </a:solidFill>
                <a:latin typeface="Courier New" pitchFamily="34" charset="0"/>
                <a:ea typeface="Courier New" pitchFamily="34" charset="-122"/>
                <a:cs typeface="Courier New" pitchFamily="34" charset="-120"/>
              </a:rPr>
              <a:t> </a:t>
            </a:r>
            <a:pPr algn="ctr" indent="0" marL="0">
              <a:buNone/>
            </a:pPr>
            <a:r>
              <a:rPr lang="en-US" sz="1500" b="1" dirty="0">
                <a:solidFill>
                  <a:srgbClr val="3EB9CE"/>
                </a:solidFill>
                <a:latin typeface="Courier New" pitchFamily="34" charset="0"/>
                <a:ea typeface="Courier New" pitchFamily="34" charset="-122"/>
                <a:cs typeface="Courier New" pitchFamily="34" charset="-120"/>
              </a:rPr>
              <a:t>bl</a:t>
            </a:r>
            <a:pPr algn="ctr" indent="0" marL="0">
              <a:buNone/>
            </a:pPr>
            <a:r>
              <a:rPr lang="en-US" sz="1500" dirty="0">
                <a:solidFill>
                  <a:srgbClr val="F0F3F8"/>
                </a:solidFill>
                <a:latin typeface="Courier New" pitchFamily="34" charset="0"/>
                <a:ea typeface="Courier New" pitchFamily="34" charset="-122"/>
                <a:cs typeface="Courier New" pitchFamily="34" charset="-120"/>
              </a:rPr>
              <a:t>,</a:t>
            </a:r>
            <a:pPr algn="ctr" indent="0" marL="0">
              <a:buNone/>
            </a:pPr>
            <a:r>
              <a:rPr lang="en-US" sz="1500" dirty="0">
                <a:solidFill>
                  <a:srgbClr val="F0F3F8"/>
                </a:solidFill>
                <a:latin typeface="Courier New" pitchFamily="34" charset="0"/>
                <a:ea typeface="Courier New" pitchFamily="34" charset="-122"/>
                <a:cs typeface="Courier New" pitchFamily="34" charset="-120"/>
              </a:rPr>
              <a:t> </a:t>
            </a:r>
            <a:pPr algn="ctr" indent="0" marL="0">
              <a:buNone/>
            </a:pPr>
            <a:r>
              <a:rPr lang="en-US" sz="1500" b="1" dirty="0">
                <a:solidFill>
                  <a:srgbClr val="3EB9CE"/>
                </a:solidFill>
                <a:latin typeface="Courier New" pitchFamily="34" charset="0"/>
                <a:ea typeface="Courier New" pitchFamily="34" charset="-122"/>
                <a:cs typeface="Courier New" pitchFamily="34" charset="-120"/>
              </a:rPr>
              <a:t>al</a:t>
            </a:r>
            <a:endParaRPr lang="en-US" sz="1500" dirty="0"/>
          </a:p>
        </p:txBody>
      </p:sp>
      <p:sp>
        <p:nvSpPr>
          <p:cNvPr id="37" name="Text 35"/>
          <p:cNvSpPr txBox="1"/>
          <p:nvPr/>
        </p:nvSpPr>
        <p:spPr>
          <a:xfrm>
            <a:off x="9162288" y="4709160"/>
            <a:ext cx="2194560" cy="457200"/>
          </a:xfrm>
          <a:prstGeom prst="rect">
            <a:avLst/>
          </a:prstGeom>
          <a:noFill/>
          <a:ln/>
        </p:spPr>
        <p:txBody>
          <a:bodyPr wrap="square" lIns="0" tIns="0" rIns="0" bIns="0" rtlCol="0" anchor="t"/>
          <a:lstStyle/>
          <a:p>
            <a:pPr algn="l" indent="0" marL="0">
              <a:buNone/>
            </a:pPr>
            <a:r>
              <a:rPr lang="en-US" sz="1200" i="1" dirty="0">
                <a:solidFill>
                  <a:srgbClr val="94A3B8"/>
                </a:solidFill>
                <a:latin typeface="Calibri" pitchFamily="34" charset="0"/>
                <a:ea typeface="Calibri" pitchFamily="34" charset="-122"/>
                <a:cs typeface="Calibri" pitchFamily="34" charset="-120"/>
              </a:rPr>
              <a:t>BL is another storage box, like DL.</a:t>
            </a:r>
            <a:endParaRPr lang="en-US" sz="1200" dirty="0"/>
          </a:p>
        </p:txBody>
      </p:sp>
      <p:sp>
        <p:nvSpPr>
          <p:cNvPr id="38" name="Text 36"/>
          <p:cNvSpPr txBox="1"/>
          <p:nvPr/>
        </p:nvSpPr>
        <p:spPr>
          <a:xfrm>
            <a:off x="640080" y="5815584"/>
            <a:ext cx="10908792" cy="256032"/>
          </a:xfrm>
          <a:prstGeom prst="rect">
            <a:avLst/>
          </a:prstGeom>
          <a:noFill/>
          <a:ln/>
        </p:spPr>
        <p:txBody>
          <a:bodyPr wrap="square" lIns="0" tIns="0" rIns="0" bIns="0" rtlCol="0" anchor="t"/>
          <a:lstStyle/>
          <a:p>
            <a:pPr algn="ctr" indent="0" marL="0">
              <a:buNone/>
            </a:pPr>
            <a:r>
              <a:rPr lang="en-US" sz="1150" i="1" dirty="0">
                <a:solidFill>
                  <a:srgbClr val="5C6B83"/>
                </a:solidFill>
                <a:latin typeface="Calibri" pitchFamily="34" charset="0"/>
                <a:ea typeface="Calibri" pitchFamily="34" charset="-122"/>
                <a:cs typeface="Calibri" pitchFamily="34" charset="-120"/>
              </a:rPr>
              <a:t>AL is the low half of AX, just like DL is the low half of DX.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2 · ECHO OR NO ECHO</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Input with echo, and without</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Both wait for a key and put it in AL. The only difference is what the screen shows.</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04</a:t>
            </a:r>
            <a:endParaRPr lang="en-US" sz="900" dirty="0"/>
          </a:p>
        </p:txBody>
      </p:sp>
      <p:sp>
        <p:nvSpPr>
          <p:cNvPr id="7" name="Shape 5"/>
          <p:cNvSpPr/>
          <p:nvPr/>
        </p:nvSpPr>
        <p:spPr>
          <a:xfrm>
            <a:off x="640080" y="1810512"/>
            <a:ext cx="5303520" cy="3310128"/>
          </a:xfrm>
          <a:prstGeom prst="roundRect">
            <a:avLst>
              <a:gd name="adj" fmla="val 6670"/>
            </a:avLst>
          </a:prstGeom>
          <a:solidFill>
            <a:srgbClr val="D7EEF2"/>
          </a:solidFill>
          <a:ln w="12700">
            <a:solidFill>
              <a:srgbClr val="18879B"/>
            </a:solidFill>
            <a:prstDash val="solid"/>
          </a:ln>
        </p:spPr>
      </p:sp>
      <p:sp>
        <p:nvSpPr>
          <p:cNvPr id="8" name="Text 6"/>
          <p:cNvSpPr txBox="1"/>
          <p:nvPr/>
        </p:nvSpPr>
        <p:spPr>
          <a:xfrm>
            <a:off x="914400" y="1993392"/>
            <a:ext cx="475488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AH = 01H  ·  WITH ECHO</a:t>
            </a:r>
            <a:endParaRPr lang="en-US" sz="950" dirty="0"/>
          </a:p>
        </p:txBody>
      </p:sp>
      <p:sp>
        <p:nvSpPr>
          <p:cNvPr id="9" name="Shape 7"/>
          <p:cNvSpPr/>
          <p:nvPr/>
        </p:nvSpPr>
        <p:spPr>
          <a:xfrm>
            <a:off x="914400" y="2331720"/>
            <a:ext cx="4754880" cy="914400"/>
          </a:xfrm>
          <a:prstGeom prst="roundRect">
            <a:avLst>
              <a:gd name="adj" fmla="val 6670"/>
            </a:avLst>
          </a:prstGeom>
          <a:solidFill>
            <a:srgbClr val="121A29"/>
          </a:solidFill>
          <a:ln w="12700">
            <a:solidFill>
              <a:srgbClr val="2B3850"/>
            </a:solidFill>
            <a:prstDash val="solid"/>
          </a:ln>
        </p:spPr>
      </p:sp>
      <p:sp>
        <p:nvSpPr>
          <p:cNvPr id="10" name="Text 8"/>
          <p:cNvSpPr txBox="1"/>
          <p:nvPr/>
        </p:nvSpPr>
        <p:spPr>
          <a:xfrm>
            <a:off x="1188720" y="2359152"/>
            <a:ext cx="4206240" cy="420624"/>
          </a:xfrm>
          <a:prstGeom prst="rect">
            <a:avLst/>
          </a:prstGeom>
          <a:noFill/>
          <a:ln/>
        </p:spPr>
        <p:txBody>
          <a:bodyPr wrap="square" lIns="0" tIns="0" rIns="0" bIns="0" rtlCol="0" anchor="ctr"/>
          <a:lstStyle/>
          <a:p>
            <a:pPr algn="l" indent="0" marL="0">
              <a:buNone/>
            </a:pPr>
            <a:r>
              <a:rPr lang="en-US" sz="2000" b="1" dirty="0">
                <a:solidFill>
                  <a:srgbClr val="EDA63F"/>
                </a:solidFill>
                <a:latin typeface="Courier New" pitchFamily="34" charset="0"/>
                <a:ea typeface="Courier New" pitchFamily="34" charset="-122"/>
                <a:cs typeface="Courier New" pitchFamily="34" charset="-120"/>
              </a:rPr>
              <a:t>mov</a:t>
            </a:r>
            <a:pPr algn="l" indent="0" marL="0">
              <a:buNone/>
            </a:pPr>
            <a:r>
              <a:rPr lang="en-US" sz="2000" dirty="0">
                <a:solidFill>
                  <a:srgbClr val="F0F3F8"/>
                </a:solidFill>
                <a:latin typeface="Courier New" pitchFamily="34" charset="0"/>
                <a:ea typeface="Courier New" pitchFamily="34" charset="-122"/>
                <a:cs typeface="Courier New" pitchFamily="34" charset="-120"/>
              </a:rPr>
              <a:t> </a:t>
            </a:r>
            <a:pPr algn="l" indent="0" marL="0">
              <a:buNone/>
            </a:pPr>
            <a:r>
              <a:rPr lang="en-US" sz="2000" b="1" dirty="0">
                <a:solidFill>
                  <a:srgbClr val="3EB9CE"/>
                </a:solidFill>
                <a:latin typeface="Courier New" pitchFamily="34" charset="0"/>
                <a:ea typeface="Courier New" pitchFamily="34" charset="-122"/>
                <a:cs typeface="Courier New" pitchFamily="34" charset="-120"/>
              </a:rPr>
              <a:t>ah</a:t>
            </a:r>
            <a:pPr algn="l" indent="0" marL="0">
              <a:buNone/>
            </a:pPr>
            <a:r>
              <a:rPr lang="en-US" sz="2000" dirty="0">
                <a:solidFill>
                  <a:srgbClr val="F0F3F8"/>
                </a:solidFill>
                <a:latin typeface="Courier New" pitchFamily="34" charset="0"/>
                <a:ea typeface="Courier New" pitchFamily="34" charset="-122"/>
                <a:cs typeface="Courier New" pitchFamily="34" charset="-120"/>
              </a:rPr>
              <a:t>,</a:t>
            </a:r>
            <a:pPr algn="l" indent="0" marL="0">
              <a:buNone/>
            </a:pPr>
            <a:r>
              <a:rPr lang="en-US" sz="2000" dirty="0">
                <a:solidFill>
                  <a:srgbClr val="F0F3F8"/>
                </a:solidFill>
                <a:latin typeface="Courier New" pitchFamily="34" charset="0"/>
                <a:ea typeface="Courier New" pitchFamily="34" charset="-122"/>
                <a:cs typeface="Courier New" pitchFamily="34" charset="-120"/>
              </a:rPr>
              <a:t> </a:t>
            </a:r>
            <a:pPr algn="l" indent="0" marL="0">
              <a:buNone/>
            </a:pPr>
            <a:r>
              <a:rPr lang="en-US" sz="2000" b="1" dirty="0">
                <a:solidFill>
                  <a:srgbClr val="9584E8"/>
                </a:solidFill>
                <a:latin typeface="Courier New" pitchFamily="34" charset="0"/>
                <a:ea typeface="Courier New" pitchFamily="34" charset="-122"/>
                <a:cs typeface="Courier New" pitchFamily="34" charset="-120"/>
              </a:rPr>
              <a:t>01h</a:t>
            </a:r>
            <a:endParaRPr lang="en-US" sz="2000" dirty="0"/>
          </a:p>
        </p:txBody>
      </p:sp>
      <p:sp>
        <p:nvSpPr>
          <p:cNvPr id="11" name="Text 9"/>
          <p:cNvSpPr txBox="1"/>
          <p:nvPr/>
        </p:nvSpPr>
        <p:spPr>
          <a:xfrm>
            <a:off x="1188720" y="2761488"/>
            <a:ext cx="4206240" cy="420624"/>
          </a:xfrm>
          <a:prstGeom prst="rect">
            <a:avLst/>
          </a:prstGeom>
          <a:noFill/>
          <a:ln/>
        </p:spPr>
        <p:txBody>
          <a:bodyPr wrap="square" lIns="0" tIns="0" rIns="0" bIns="0" rtlCol="0" anchor="ctr"/>
          <a:lstStyle/>
          <a:p>
            <a:pPr algn="l" indent="0" marL="0">
              <a:buNone/>
            </a:pPr>
            <a:r>
              <a:rPr lang="en-US" sz="2000" b="1" dirty="0">
                <a:solidFill>
                  <a:srgbClr val="EDA63F"/>
                </a:solidFill>
                <a:latin typeface="Courier New" pitchFamily="34" charset="0"/>
                <a:ea typeface="Courier New" pitchFamily="34" charset="-122"/>
                <a:cs typeface="Courier New" pitchFamily="34" charset="-120"/>
              </a:rPr>
              <a:t>int</a:t>
            </a:r>
            <a:pPr algn="l" indent="0" marL="0">
              <a:buNone/>
            </a:pPr>
            <a:r>
              <a:rPr lang="en-US" sz="2000" dirty="0">
                <a:solidFill>
                  <a:srgbClr val="F0F3F8"/>
                </a:solidFill>
                <a:latin typeface="Courier New" pitchFamily="34" charset="0"/>
                <a:ea typeface="Courier New" pitchFamily="34" charset="-122"/>
                <a:cs typeface="Courier New" pitchFamily="34" charset="-120"/>
              </a:rPr>
              <a:t> </a:t>
            </a:r>
            <a:pPr algn="l" indent="0" marL="0">
              <a:buNone/>
            </a:pPr>
            <a:r>
              <a:rPr lang="en-US" sz="2000" b="1" dirty="0">
                <a:solidFill>
                  <a:srgbClr val="9584E8"/>
                </a:solidFill>
                <a:latin typeface="Courier New" pitchFamily="34" charset="0"/>
                <a:ea typeface="Courier New" pitchFamily="34" charset="-122"/>
                <a:cs typeface="Courier New" pitchFamily="34" charset="-120"/>
              </a:rPr>
              <a:t>21h</a:t>
            </a:r>
            <a:endParaRPr lang="en-US" sz="2000" dirty="0"/>
          </a:p>
        </p:txBody>
      </p:sp>
      <p:sp>
        <p:nvSpPr>
          <p:cNvPr id="12" name="Shape 10"/>
          <p:cNvSpPr/>
          <p:nvPr/>
        </p:nvSpPr>
        <p:spPr>
          <a:xfrm>
            <a:off x="914400" y="3584448"/>
            <a:ext cx="731520" cy="731520"/>
          </a:xfrm>
          <a:prstGeom prst="roundRect">
            <a:avLst>
              <a:gd name="adj" fmla="val 6670"/>
            </a:avLst>
          </a:prstGeom>
          <a:solidFill>
            <a:srgbClr val="C9D1DD"/>
          </a:solidFill>
          <a:ln/>
        </p:spPr>
      </p:sp>
      <p:sp>
        <p:nvSpPr>
          <p:cNvPr id="13" name="Shape 11"/>
          <p:cNvSpPr/>
          <p:nvPr/>
        </p:nvSpPr>
        <p:spPr>
          <a:xfrm>
            <a:off x="914400" y="3520440"/>
            <a:ext cx="731520" cy="731520"/>
          </a:xfrm>
          <a:prstGeom prst="roundRect">
            <a:avLst>
              <a:gd name="adj" fmla="val 6670"/>
            </a:avLst>
          </a:prstGeom>
          <a:solidFill>
            <a:srgbClr val="FFFFFF"/>
          </a:solidFill>
          <a:ln w="12700">
            <a:solidFill>
              <a:srgbClr val="E2E7EF"/>
            </a:solidFill>
            <a:prstDash val="solid"/>
          </a:ln>
        </p:spPr>
      </p:sp>
      <p:sp>
        <p:nvSpPr>
          <p:cNvPr id="14" name="Text 12"/>
          <p:cNvSpPr txBox="1"/>
          <p:nvPr/>
        </p:nvSpPr>
        <p:spPr>
          <a:xfrm>
            <a:off x="914400" y="3520440"/>
            <a:ext cx="731520" cy="672998"/>
          </a:xfrm>
          <a:prstGeom prst="rect">
            <a:avLst/>
          </a:prstGeom>
          <a:noFill/>
          <a:ln/>
        </p:spPr>
        <p:txBody>
          <a:bodyPr wrap="square" lIns="0" tIns="0" rIns="0" bIns="0" rtlCol="0" anchor="ctr"/>
          <a:lstStyle/>
          <a:p>
            <a:pPr algn="ctr" indent="0" marL="0">
              <a:buNone/>
            </a:pPr>
            <a:r>
              <a:rPr lang="en-US" sz="2700" b="1" dirty="0">
                <a:solidFill>
                  <a:srgbClr val="0F1622"/>
                </a:solidFill>
                <a:latin typeface="Courier New" pitchFamily="34" charset="0"/>
                <a:ea typeface="Courier New" pitchFamily="34" charset="-122"/>
                <a:cs typeface="Courier New" pitchFamily="34" charset="-120"/>
              </a:rPr>
              <a:t>k</a:t>
            </a:r>
            <a:endParaRPr lang="en-US" sz="2700" dirty="0"/>
          </a:p>
        </p:txBody>
      </p:sp>
      <p:sp>
        <p:nvSpPr>
          <p:cNvPr id="15" name="Shape 13"/>
          <p:cNvSpPr/>
          <p:nvPr/>
        </p:nvSpPr>
        <p:spPr>
          <a:xfrm>
            <a:off x="1755648" y="3886200"/>
            <a:ext cx="484632" cy="0"/>
          </a:xfrm>
          <a:prstGeom prst="line">
            <a:avLst/>
          </a:prstGeom>
          <a:noFill/>
          <a:ln w="19050">
            <a:solidFill>
              <a:srgbClr val="93A0B2"/>
            </a:solidFill>
            <a:prstDash val="solid"/>
            <a:tailEnd type="triangle"/>
          </a:ln>
        </p:spPr>
      </p:sp>
      <p:sp>
        <p:nvSpPr>
          <p:cNvPr id="16" name="Shape 14"/>
          <p:cNvSpPr/>
          <p:nvPr/>
        </p:nvSpPr>
        <p:spPr>
          <a:xfrm>
            <a:off x="2331720" y="3520440"/>
            <a:ext cx="1417320" cy="731520"/>
          </a:xfrm>
          <a:prstGeom prst="roundRect">
            <a:avLst>
              <a:gd name="adj" fmla="val 6670"/>
            </a:avLst>
          </a:prstGeom>
          <a:solidFill>
            <a:srgbClr val="070B12"/>
          </a:solidFill>
          <a:ln w="12700">
            <a:solidFill>
              <a:srgbClr val="2B3850"/>
            </a:solidFill>
            <a:prstDash val="solid"/>
          </a:ln>
        </p:spPr>
      </p:sp>
      <p:sp>
        <p:nvSpPr>
          <p:cNvPr id="17" name="Text 15"/>
          <p:cNvSpPr txBox="1"/>
          <p:nvPr/>
        </p:nvSpPr>
        <p:spPr>
          <a:xfrm>
            <a:off x="2514600" y="3520440"/>
            <a:ext cx="365760" cy="731520"/>
          </a:xfrm>
          <a:prstGeom prst="rect">
            <a:avLst/>
          </a:prstGeom>
          <a:noFill/>
          <a:ln/>
        </p:spPr>
        <p:txBody>
          <a:bodyPr wrap="square" lIns="0" tIns="0" rIns="0" bIns="0" rtlCol="0" anchor="ctr"/>
          <a:lstStyle/>
          <a:p>
            <a:pPr algn="l" indent="0" marL="0">
              <a:buNone/>
            </a:pPr>
            <a:r>
              <a:rPr lang="en-US" sz="2600" b="1" dirty="0">
                <a:solidFill>
                  <a:srgbClr val="F0F3F8"/>
                </a:solidFill>
                <a:latin typeface="Courier New" pitchFamily="34" charset="0"/>
                <a:ea typeface="Courier New" pitchFamily="34" charset="-122"/>
                <a:cs typeface="Courier New" pitchFamily="34" charset="-120"/>
              </a:rPr>
              <a:t>k</a:t>
            </a:r>
            <a:endParaRPr lang="en-US" sz="2600" dirty="0"/>
          </a:p>
        </p:txBody>
      </p:sp>
      <p:sp>
        <p:nvSpPr>
          <p:cNvPr id="18" name="Shape 16"/>
          <p:cNvSpPr/>
          <p:nvPr/>
        </p:nvSpPr>
        <p:spPr>
          <a:xfrm>
            <a:off x="2749296" y="3749040"/>
            <a:ext cx="115214" cy="274320"/>
          </a:xfrm>
          <a:prstGeom prst="rect">
            <a:avLst/>
          </a:prstGeom>
          <a:solidFill>
            <a:srgbClr val="EDA63F"/>
          </a:solidFill>
          <a:ln/>
        </p:spPr>
      </p:sp>
      <p:sp>
        <p:nvSpPr>
          <p:cNvPr id="19" name="Text 17"/>
          <p:cNvSpPr txBox="1"/>
          <p:nvPr/>
        </p:nvSpPr>
        <p:spPr>
          <a:xfrm>
            <a:off x="2331720" y="4297680"/>
            <a:ext cx="1417320" cy="237744"/>
          </a:xfrm>
          <a:prstGeom prst="rect">
            <a:avLst/>
          </a:prstGeom>
          <a:noFill/>
          <a:ln/>
        </p:spPr>
        <p:txBody>
          <a:bodyPr wrap="square" lIns="0" tIns="0" rIns="0" bIns="0" rtlCol="0" anchor="t"/>
          <a:lstStyle/>
          <a:p>
            <a:pPr algn="ctr" indent="0" marL="0">
              <a:buNone/>
            </a:pPr>
            <a:r>
              <a:rPr lang="en-US" sz="1100" i="1" dirty="0">
                <a:solidFill>
                  <a:srgbClr val="5B6779"/>
                </a:solidFill>
                <a:latin typeface="Calibri" pitchFamily="34" charset="0"/>
                <a:ea typeface="Calibri" pitchFamily="34" charset="-122"/>
                <a:cs typeface="Calibri" pitchFamily="34" charset="-120"/>
              </a:rPr>
              <a:t>screen</a:t>
            </a:r>
            <a:endParaRPr lang="en-US" sz="1100" dirty="0"/>
          </a:p>
        </p:txBody>
      </p:sp>
      <p:sp>
        <p:nvSpPr>
          <p:cNvPr id="20" name="Shape 18"/>
          <p:cNvSpPr/>
          <p:nvPr/>
        </p:nvSpPr>
        <p:spPr>
          <a:xfrm>
            <a:off x="3931920" y="3520440"/>
            <a:ext cx="1737360" cy="731520"/>
          </a:xfrm>
          <a:prstGeom prst="roundRect">
            <a:avLst>
              <a:gd name="adj" fmla="val 6670"/>
            </a:avLst>
          </a:prstGeom>
          <a:solidFill>
            <a:srgbClr val="FFFFFF"/>
          </a:solidFill>
          <a:ln w="12700">
            <a:solidFill>
              <a:srgbClr val="18879B"/>
            </a:solidFill>
            <a:prstDash val="solid"/>
          </a:ln>
        </p:spPr>
      </p:sp>
      <p:sp>
        <p:nvSpPr>
          <p:cNvPr id="21" name="Text 19"/>
          <p:cNvSpPr txBox="1"/>
          <p:nvPr/>
        </p:nvSpPr>
        <p:spPr>
          <a:xfrm>
            <a:off x="4096512" y="3520440"/>
            <a:ext cx="694944" cy="731520"/>
          </a:xfrm>
          <a:prstGeom prst="rect">
            <a:avLst/>
          </a:prstGeom>
          <a:noFill/>
          <a:ln/>
        </p:spPr>
        <p:txBody>
          <a:bodyPr wrap="square" lIns="0" tIns="0" rIns="0" bIns="0" rtlCol="0" anchor="ctr"/>
          <a:lstStyle/>
          <a:p>
            <a:pPr algn="l" indent="0" marL="0">
              <a:buNone/>
            </a:pPr>
            <a:r>
              <a:rPr lang="en-US" sz="1800" b="1" dirty="0">
                <a:solidFill>
                  <a:srgbClr val="18879B"/>
                </a:solidFill>
                <a:latin typeface="Courier New" pitchFamily="34" charset="0"/>
                <a:ea typeface="Courier New" pitchFamily="34" charset="-122"/>
                <a:cs typeface="Courier New" pitchFamily="34" charset="-120"/>
              </a:rPr>
              <a:t>AL</a:t>
            </a:r>
            <a:endParaRPr lang="en-US" sz="1800" dirty="0"/>
          </a:p>
        </p:txBody>
      </p:sp>
      <p:sp>
        <p:nvSpPr>
          <p:cNvPr id="22" name="Shape 20"/>
          <p:cNvSpPr/>
          <p:nvPr/>
        </p:nvSpPr>
        <p:spPr>
          <a:xfrm>
            <a:off x="4742078" y="3639312"/>
            <a:ext cx="799186" cy="493776"/>
          </a:xfrm>
          <a:prstGeom prst="roundRect">
            <a:avLst>
              <a:gd name="adj" fmla="val 6670"/>
            </a:avLst>
          </a:prstGeom>
          <a:solidFill>
            <a:srgbClr val="F3F5F9"/>
          </a:solidFill>
          <a:ln w="12700">
            <a:solidFill>
              <a:srgbClr val="E2E7EF"/>
            </a:solidFill>
            <a:prstDash val="solid"/>
          </a:ln>
        </p:spPr>
      </p:sp>
      <p:sp>
        <p:nvSpPr>
          <p:cNvPr id="23" name="Text 21"/>
          <p:cNvSpPr txBox="1"/>
          <p:nvPr/>
        </p:nvSpPr>
        <p:spPr>
          <a:xfrm>
            <a:off x="4742078" y="3639312"/>
            <a:ext cx="799186" cy="493776"/>
          </a:xfrm>
          <a:prstGeom prst="rect">
            <a:avLst/>
          </a:prstGeom>
          <a:noFill/>
          <a:ln/>
        </p:spPr>
        <p:txBody>
          <a:bodyPr wrap="square" lIns="0" tIns="0" rIns="0" bIns="0" rtlCol="0" anchor="ctr"/>
          <a:lstStyle/>
          <a:p>
            <a:pPr algn="ctr" indent="0" marL="0">
              <a:buNone/>
            </a:pPr>
            <a:r>
              <a:rPr lang="en-US" sz="1800" b="1" dirty="0">
                <a:solidFill>
                  <a:srgbClr val="0F1622"/>
                </a:solidFill>
                <a:latin typeface="Courier New" pitchFamily="34" charset="0"/>
                <a:ea typeface="Courier New" pitchFamily="34" charset="-122"/>
                <a:cs typeface="Courier New" pitchFamily="34" charset="-120"/>
              </a:rPr>
              <a:t>'k'</a:t>
            </a:r>
            <a:endParaRPr lang="en-US" sz="1800" dirty="0"/>
          </a:p>
        </p:txBody>
      </p:sp>
      <p:sp>
        <p:nvSpPr>
          <p:cNvPr id="24" name="Text 22"/>
          <p:cNvSpPr txBox="1"/>
          <p:nvPr/>
        </p:nvSpPr>
        <p:spPr>
          <a:xfrm>
            <a:off x="3931920" y="4297680"/>
            <a:ext cx="1737360" cy="237744"/>
          </a:xfrm>
          <a:prstGeom prst="rect">
            <a:avLst/>
          </a:prstGeom>
          <a:noFill/>
          <a:ln/>
        </p:spPr>
        <p:txBody>
          <a:bodyPr wrap="square" lIns="0" tIns="0" rIns="0" bIns="0" rtlCol="0" anchor="t"/>
          <a:lstStyle/>
          <a:p>
            <a:pPr algn="ctr" indent="0" marL="0">
              <a:buNone/>
            </a:pPr>
            <a:r>
              <a:rPr lang="en-US" sz="1100" i="1" dirty="0">
                <a:solidFill>
                  <a:srgbClr val="5B6779"/>
                </a:solidFill>
                <a:latin typeface="Calibri" pitchFamily="34" charset="0"/>
                <a:ea typeface="Calibri" pitchFamily="34" charset="-122"/>
                <a:cs typeface="Calibri" pitchFamily="34" charset="-120"/>
              </a:rPr>
              <a:t>your program</a:t>
            </a:r>
            <a:endParaRPr lang="en-US" sz="1100" dirty="0"/>
          </a:p>
        </p:txBody>
      </p:sp>
      <p:sp>
        <p:nvSpPr>
          <p:cNvPr id="25" name="Text 23"/>
          <p:cNvSpPr txBox="1"/>
          <p:nvPr/>
        </p:nvSpPr>
        <p:spPr>
          <a:xfrm>
            <a:off x="914400" y="4617720"/>
            <a:ext cx="4754880" cy="365760"/>
          </a:xfrm>
          <a:prstGeom prst="rect">
            <a:avLst/>
          </a:prstGeom>
          <a:noFill/>
          <a:ln/>
        </p:spPr>
        <p:txBody>
          <a:bodyPr wrap="square" lIns="0" tIns="0" rIns="0" bIns="0" rtlCol="0" anchor="t"/>
          <a:lstStyle/>
          <a:p>
            <a:pPr algn="l" indent="0" marL="0">
              <a:buNone/>
            </a:pPr>
            <a:r>
              <a:rPr lang="en-US" sz="1400" b="1" dirty="0">
                <a:solidFill>
                  <a:srgbClr val="0F1622"/>
                </a:solidFill>
                <a:latin typeface="Calibri" pitchFamily="34" charset="0"/>
                <a:ea typeface="Calibri" pitchFamily="34" charset="-122"/>
                <a:cs typeface="Calibri" pitchFamily="34" charset="-120"/>
              </a:rPr>
              <a:t>The key appears as you type it.</a:t>
            </a:r>
            <a:endParaRPr lang="en-US" sz="1400" dirty="0"/>
          </a:p>
        </p:txBody>
      </p:sp>
      <p:sp>
        <p:nvSpPr>
          <p:cNvPr id="26" name="Shape 24"/>
          <p:cNvSpPr/>
          <p:nvPr/>
        </p:nvSpPr>
        <p:spPr>
          <a:xfrm>
            <a:off x="6245352" y="1810512"/>
            <a:ext cx="5303520" cy="3310128"/>
          </a:xfrm>
          <a:prstGeom prst="roundRect">
            <a:avLst>
              <a:gd name="adj" fmla="val 6670"/>
            </a:avLst>
          </a:prstGeom>
          <a:solidFill>
            <a:srgbClr val="E6E2FA"/>
          </a:solidFill>
          <a:ln w="12700">
            <a:solidFill>
              <a:srgbClr val="6B58CC"/>
            </a:solidFill>
            <a:prstDash val="solid"/>
          </a:ln>
        </p:spPr>
      </p:sp>
      <p:sp>
        <p:nvSpPr>
          <p:cNvPr id="27" name="Text 25"/>
          <p:cNvSpPr txBox="1"/>
          <p:nvPr/>
        </p:nvSpPr>
        <p:spPr>
          <a:xfrm>
            <a:off x="6519672" y="1993392"/>
            <a:ext cx="4754880" cy="219456"/>
          </a:xfrm>
          <a:prstGeom prst="rect">
            <a:avLst/>
          </a:prstGeom>
          <a:noFill/>
          <a:ln/>
        </p:spPr>
        <p:txBody>
          <a:bodyPr wrap="square" lIns="0" tIns="0" rIns="0" bIns="0" rtlCol="0" anchor="t"/>
          <a:lstStyle/>
          <a:p>
            <a:pPr algn="l" indent="0" marL="0">
              <a:buNone/>
            </a:pPr>
            <a:r>
              <a:rPr lang="en-US" sz="950" b="1" spc="130" kern="0" dirty="0">
                <a:solidFill>
                  <a:srgbClr val="6B58CC"/>
                </a:solidFill>
                <a:latin typeface="Courier New" pitchFamily="34" charset="0"/>
                <a:ea typeface="Courier New" pitchFamily="34" charset="-122"/>
                <a:cs typeface="Courier New" pitchFamily="34" charset="-120"/>
              </a:rPr>
              <a:t>AH = 07H  ·  NO ECHO</a:t>
            </a:r>
            <a:endParaRPr lang="en-US" sz="950" dirty="0"/>
          </a:p>
        </p:txBody>
      </p:sp>
      <p:sp>
        <p:nvSpPr>
          <p:cNvPr id="28" name="Shape 26"/>
          <p:cNvSpPr/>
          <p:nvPr/>
        </p:nvSpPr>
        <p:spPr>
          <a:xfrm>
            <a:off x="6519672" y="2331720"/>
            <a:ext cx="4754880" cy="914400"/>
          </a:xfrm>
          <a:prstGeom prst="roundRect">
            <a:avLst>
              <a:gd name="adj" fmla="val 6670"/>
            </a:avLst>
          </a:prstGeom>
          <a:solidFill>
            <a:srgbClr val="121A29"/>
          </a:solidFill>
          <a:ln w="12700">
            <a:solidFill>
              <a:srgbClr val="2B3850"/>
            </a:solidFill>
            <a:prstDash val="solid"/>
          </a:ln>
        </p:spPr>
      </p:sp>
      <p:sp>
        <p:nvSpPr>
          <p:cNvPr id="29" name="Text 27"/>
          <p:cNvSpPr txBox="1"/>
          <p:nvPr/>
        </p:nvSpPr>
        <p:spPr>
          <a:xfrm>
            <a:off x="6793992" y="2359152"/>
            <a:ext cx="4206240" cy="420624"/>
          </a:xfrm>
          <a:prstGeom prst="rect">
            <a:avLst/>
          </a:prstGeom>
          <a:noFill/>
          <a:ln/>
        </p:spPr>
        <p:txBody>
          <a:bodyPr wrap="square" lIns="0" tIns="0" rIns="0" bIns="0" rtlCol="0" anchor="ctr"/>
          <a:lstStyle/>
          <a:p>
            <a:pPr algn="l" indent="0" marL="0">
              <a:buNone/>
            </a:pPr>
            <a:r>
              <a:rPr lang="en-US" sz="2000" b="1" dirty="0">
                <a:solidFill>
                  <a:srgbClr val="EDA63F"/>
                </a:solidFill>
                <a:latin typeface="Courier New" pitchFamily="34" charset="0"/>
                <a:ea typeface="Courier New" pitchFamily="34" charset="-122"/>
                <a:cs typeface="Courier New" pitchFamily="34" charset="-120"/>
              </a:rPr>
              <a:t>mov</a:t>
            </a:r>
            <a:pPr algn="l" indent="0" marL="0">
              <a:buNone/>
            </a:pPr>
            <a:r>
              <a:rPr lang="en-US" sz="2000" dirty="0">
                <a:solidFill>
                  <a:srgbClr val="F0F3F8"/>
                </a:solidFill>
                <a:latin typeface="Courier New" pitchFamily="34" charset="0"/>
                <a:ea typeface="Courier New" pitchFamily="34" charset="-122"/>
                <a:cs typeface="Courier New" pitchFamily="34" charset="-120"/>
              </a:rPr>
              <a:t> </a:t>
            </a:r>
            <a:pPr algn="l" indent="0" marL="0">
              <a:buNone/>
            </a:pPr>
            <a:r>
              <a:rPr lang="en-US" sz="2000" b="1" dirty="0">
                <a:solidFill>
                  <a:srgbClr val="3EB9CE"/>
                </a:solidFill>
                <a:latin typeface="Courier New" pitchFamily="34" charset="0"/>
                <a:ea typeface="Courier New" pitchFamily="34" charset="-122"/>
                <a:cs typeface="Courier New" pitchFamily="34" charset="-120"/>
              </a:rPr>
              <a:t>ah</a:t>
            </a:r>
            <a:pPr algn="l" indent="0" marL="0">
              <a:buNone/>
            </a:pPr>
            <a:r>
              <a:rPr lang="en-US" sz="2000" dirty="0">
                <a:solidFill>
                  <a:srgbClr val="F0F3F8"/>
                </a:solidFill>
                <a:latin typeface="Courier New" pitchFamily="34" charset="0"/>
                <a:ea typeface="Courier New" pitchFamily="34" charset="-122"/>
                <a:cs typeface="Courier New" pitchFamily="34" charset="-120"/>
              </a:rPr>
              <a:t>,</a:t>
            </a:r>
            <a:pPr algn="l" indent="0" marL="0">
              <a:buNone/>
            </a:pPr>
            <a:r>
              <a:rPr lang="en-US" sz="2000" dirty="0">
                <a:solidFill>
                  <a:srgbClr val="F0F3F8"/>
                </a:solidFill>
                <a:latin typeface="Courier New" pitchFamily="34" charset="0"/>
                <a:ea typeface="Courier New" pitchFamily="34" charset="-122"/>
                <a:cs typeface="Courier New" pitchFamily="34" charset="-120"/>
              </a:rPr>
              <a:t> </a:t>
            </a:r>
            <a:pPr algn="l" indent="0" marL="0">
              <a:buNone/>
            </a:pPr>
            <a:r>
              <a:rPr lang="en-US" sz="2000" b="1" dirty="0">
                <a:solidFill>
                  <a:srgbClr val="9584E8"/>
                </a:solidFill>
                <a:latin typeface="Courier New" pitchFamily="34" charset="0"/>
                <a:ea typeface="Courier New" pitchFamily="34" charset="-122"/>
                <a:cs typeface="Courier New" pitchFamily="34" charset="-120"/>
              </a:rPr>
              <a:t>07h</a:t>
            </a:r>
            <a:endParaRPr lang="en-US" sz="2000" dirty="0"/>
          </a:p>
        </p:txBody>
      </p:sp>
      <p:sp>
        <p:nvSpPr>
          <p:cNvPr id="30" name="Text 28"/>
          <p:cNvSpPr txBox="1"/>
          <p:nvPr/>
        </p:nvSpPr>
        <p:spPr>
          <a:xfrm>
            <a:off x="6793992" y="2761488"/>
            <a:ext cx="4206240" cy="420624"/>
          </a:xfrm>
          <a:prstGeom prst="rect">
            <a:avLst/>
          </a:prstGeom>
          <a:noFill/>
          <a:ln/>
        </p:spPr>
        <p:txBody>
          <a:bodyPr wrap="square" lIns="0" tIns="0" rIns="0" bIns="0" rtlCol="0" anchor="ctr"/>
          <a:lstStyle/>
          <a:p>
            <a:pPr algn="l" indent="0" marL="0">
              <a:buNone/>
            </a:pPr>
            <a:r>
              <a:rPr lang="en-US" sz="2000" b="1" dirty="0">
                <a:solidFill>
                  <a:srgbClr val="EDA63F"/>
                </a:solidFill>
                <a:latin typeface="Courier New" pitchFamily="34" charset="0"/>
                <a:ea typeface="Courier New" pitchFamily="34" charset="-122"/>
                <a:cs typeface="Courier New" pitchFamily="34" charset="-120"/>
              </a:rPr>
              <a:t>int</a:t>
            </a:r>
            <a:pPr algn="l" indent="0" marL="0">
              <a:buNone/>
            </a:pPr>
            <a:r>
              <a:rPr lang="en-US" sz="2000" dirty="0">
                <a:solidFill>
                  <a:srgbClr val="F0F3F8"/>
                </a:solidFill>
                <a:latin typeface="Courier New" pitchFamily="34" charset="0"/>
                <a:ea typeface="Courier New" pitchFamily="34" charset="-122"/>
                <a:cs typeface="Courier New" pitchFamily="34" charset="-120"/>
              </a:rPr>
              <a:t> </a:t>
            </a:r>
            <a:pPr algn="l" indent="0" marL="0">
              <a:buNone/>
            </a:pPr>
            <a:r>
              <a:rPr lang="en-US" sz="2000" b="1" dirty="0">
                <a:solidFill>
                  <a:srgbClr val="9584E8"/>
                </a:solidFill>
                <a:latin typeface="Courier New" pitchFamily="34" charset="0"/>
                <a:ea typeface="Courier New" pitchFamily="34" charset="-122"/>
                <a:cs typeface="Courier New" pitchFamily="34" charset="-120"/>
              </a:rPr>
              <a:t>21h</a:t>
            </a:r>
            <a:endParaRPr lang="en-US" sz="2000" dirty="0"/>
          </a:p>
        </p:txBody>
      </p:sp>
      <p:sp>
        <p:nvSpPr>
          <p:cNvPr id="31" name="Shape 29"/>
          <p:cNvSpPr/>
          <p:nvPr/>
        </p:nvSpPr>
        <p:spPr>
          <a:xfrm>
            <a:off x="6519672" y="3584448"/>
            <a:ext cx="731520" cy="731520"/>
          </a:xfrm>
          <a:prstGeom prst="roundRect">
            <a:avLst>
              <a:gd name="adj" fmla="val 6670"/>
            </a:avLst>
          </a:prstGeom>
          <a:solidFill>
            <a:srgbClr val="C9D1DD"/>
          </a:solidFill>
          <a:ln/>
        </p:spPr>
      </p:sp>
      <p:sp>
        <p:nvSpPr>
          <p:cNvPr id="32" name="Shape 30"/>
          <p:cNvSpPr/>
          <p:nvPr/>
        </p:nvSpPr>
        <p:spPr>
          <a:xfrm>
            <a:off x="6519672" y="3520440"/>
            <a:ext cx="731520" cy="731520"/>
          </a:xfrm>
          <a:prstGeom prst="roundRect">
            <a:avLst>
              <a:gd name="adj" fmla="val 6670"/>
            </a:avLst>
          </a:prstGeom>
          <a:solidFill>
            <a:srgbClr val="FFFFFF"/>
          </a:solidFill>
          <a:ln w="12700">
            <a:solidFill>
              <a:srgbClr val="E2E7EF"/>
            </a:solidFill>
            <a:prstDash val="solid"/>
          </a:ln>
        </p:spPr>
      </p:sp>
      <p:sp>
        <p:nvSpPr>
          <p:cNvPr id="33" name="Text 31"/>
          <p:cNvSpPr txBox="1"/>
          <p:nvPr/>
        </p:nvSpPr>
        <p:spPr>
          <a:xfrm>
            <a:off x="6519672" y="3520440"/>
            <a:ext cx="731520" cy="672998"/>
          </a:xfrm>
          <a:prstGeom prst="rect">
            <a:avLst/>
          </a:prstGeom>
          <a:noFill/>
          <a:ln/>
        </p:spPr>
        <p:txBody>
          <a:bodyPr wrap="square" lIns="0" tIns="0" rIns="0" bIns="0" rtlCol="0" anchor="ctr"/>
          <a:lstStyle/>
          <a:p>
            <a:pPr algn="ctr" indent="0" marL="0">
              <a:buNone/>
            </a:pPr>
            <a:r>
              <a:rPr lang="en-US" sz="2700" b="1" dirty="0">
                <a:solidFill>
                  <a:srgbClr val="0F1622"/>
                </a:solidFill>
                <a:latin typeface="Courier New" pitchFamily="34" charset="0"/>
                <a:ea typeface="Courier New" pitchFamily="34" charset="-122"/>
                <a:cs typeface="Courier New" pitchFamily="34" charset="-120"/>
              </a:rPr>
              <a:t>k</a:t>
            </a:r>
            <a:endParaRPr lang="en-US" sz="2700" dirty="0"/>
          </a:p>
        </p:txBody>
      </p:sp>
      <p:sp>
        <p:nvSpPr>
          <p:cNvPr id="34" name="Shape 32"/>
          <p:cNvSpPr/>
          <p:nvPr/>
        </p:nvSpPr>
        <p:spPr>
          <a:xfrm>
            <a:off x="7360920" y="3886200"/>
            <a:ext cx="484632" cy="0"/>
          </a:xfrm>
          <a:prstGeom prst="line">
            <a:avLst/>
          </a:prstGeom>
          <a:noFill/>
          <a:ln w="19050">
            <a:solidFill>
              <a:srgbClr val="93A0B2"/>
            </a:solidFill>
            <a:prstDash val="solid"/>
            <a:tailEnd type="triangle"/>
          </a:ln>
        </p:spPr>
      </p:sp>
      <p:sp>
        <p:nvSpPr>
          <p:cNvPr id="35" name="Shape 33"/>
          <p:cNvSpPr/>
          <p:nvPr/>
        </p:nvSpPr>
        <p:spPr>
          <a:xfrm>
            <a:off x="7936992" y="3520440"/>
            <a:ext cx="1417320" cy="731520"/>
          </a:xfrm>
          <a:prstGeom prst="roundRect">
            <a:avLst>
              <a:gd name="adj" fmla="val 6670"/>
            </a:avLst>
          </a:prstGeom>
          <a:solidFill>
            <a:srgbClr val="070B12"/>
          </a:solidFill>
          <a:ln w="12700">
            <a:solidFill>
              <a:srgbClr val="2B3850"/>
            </a:solidFill>
            <a:prstDash val="solid"/>
          </a:ln>
        </p:spPr>
      </p:sp>
      <p:sp>
        <p:nvSpPr>
          <p:cNvPr id="36" name="Shape 34"/>
          <p:cNvSpPr/>
          <p:nvPr/>
        </p:nvSpPr>
        <p:spPr>
          <a:xfrm>
            <a:off x="8119872" y="3749040"/>
            <a:ext cx="115214" cy="274320"/>
          </a:xfrm>
          <a:prstGeom prst="rect">
            <a:avLst/>
          </a:prstGeom>
          <a:solidFill>
            <a:srgbClr val="EDA63F"/>
          </a:solidFill>
          <a:ln/>
        </p:spPr>
      </p:sp>
      <p:sp>
        <p:nvSpPr>
          <p:cNvPr id="37" name="Text 35"/>
          <p:cNvSpPr txBox="1"/>
          <p:nvPr/>
        </p:nvSpPr>
        <p:spPr>
          <a:xfrm>
            <a:off x="7936992" y="4297680"/>
            <a:ext cx="1417320" cy="237744"/>
          </a:xfrm>
          <a:prstGeom prst="rect">
            <a:avLst/>
          </a:prstGeom>
          <a:noFill/>
          <a:ln/>
        </p:spPr>
        <p:txBody>
          <a:bodyPr wrap="square" lIns="0" tIns="0" rIns="0" bIns="0" rtlCol="0" anchor="t"/>
          <a:lstStyle/>
          <a:p>
            <a:pPr algn="ctr" indent="0" marL="0">
              <a:buNone/>
            </a:pPr>
            <a:r>
              <a:rPr lang="en-US" sz="1100" i="1" dirty="0">
                <a:solidFill>
                  <a:srgbClr val="5B6779"/>
                </a:solidFill>
                <a:latin typeface="Calibri" pitchFamily="34" charset="0"/>
                <a:ea typeface="Calibri" pitchFamily="34" charset="-122"/>
                <a:cs typeface="Calibri" pitchFamily="34" charset="-120"/>
              </a:rPr>
              <a:t>screen</a:t>
            </a:r>
            <a:endParaRPr lang="en-US" sz="1100" dirty="0"/>
          </a:p>
        </p:txBody>
      </p:sp>
      <p:sp>
        <p:nvSpPr>
          <p:cNvPr id="38" name="Shape 36"/>
          <p:cNvSpPr/>
          <p:nvPr/>
        </p:nvSpPr>
        <p:spPr>
          <a:xfrm>
            <a:off x="9537192" y="3520440"/>
            <a:ext cx="1737360" cy="731520"/>
          </a:xfrm>
          <a:prstGeom prst="roundRect">
            <a:avLst>
              <a:gd name="adj" fmla="val 6670"/>
            </a:avLst>
          </a:prstGeom>
          <a:solidFill>
            <a:srgbClr val="FFFFFF"/>
          </a:solidFill>
          <a:ln w="12700">
            <a:solidFill>
              <a:srgbClr val="6B58CC"/>
            </a:solidFill>
            <a:prstDash val="solid"/>
          </a:ln>
        </p:spPr>
      </p:sp>
      <p:sp>
        <p:nvSpPr>
          <p:cNvPr id="39" name="Text 37"/>
          <p:cNvSpPr txBox="1"/>
          <p:nvPr/>
        </p:nvSpPr>
        <p:spPr>
          <a:xfrm>
            <a:off x="9701784" y="3520440"/>
            <a:ext cx="694944" cy="731520"/>
          </a:xfrm>
          <a:prstGeom prst="rect">
            <a:avLst/>
          </a:prstGeom>
          <a:noFill/>
          <a:ln/>
        </p:spPr>
        <p:txBody>
          <a:bodyPr wrap="square" lIns="0" tIns="0" rIns="0" bIns="0" rtlCol="0" anchor="ctr"/>
          <a:lstStyle/>
          <a:p>
            <a:pPr algn="l" indent="0" marL="0">
              <a:buNone/>
            </a:pPr>
            <a:r>
              <a:rPr lang="en-US" sz="1800" b="1" dirty="0">
                <a:solidFill>
                  <a:srgbClr val="6B58CC"/>
                </a:solidFill>
                <a:latin typeface="Courier New" pitchFamily="34" charset="0"/>
                <a:ea typeface="Courier New" pitchFamily="34" charset="-122"/>
                <a:cs typeface="Courier New" pitchFamily="34" charset="-120"/>
              </a:rPr>
              <a:t>AL</a:t>
            </a:r>
            <a:endParaRPr lang="en-US" sz="1800" dirty="0"/>
          </a:p>
        </p:txBody>
      </p:sp>
      <p:sp>
        <p:nvSpPr>
          <p:cNvPr id="40" name="Shape 38"/>
          <p:cNvSpPr/>
          <p:nvPr/>
        </p:nvSpPr>
        <p:spPr>
          <a:xfrm>
            <a:off x="10347350" y="3639312"/>
            <a:ext cx="799186" cy="493776"/>
          </a:xfrm>
          <a:prstGeom prst="roundRect">
            <a:avLst>
              <a:gd name="adj" fmla="val 6670"/>
            </a:avLst>
          </a:prstGeom>
          <a:solidFill>
            <a:srgbClr val="F3F5F9"/>
          </a:solidFill>
          <a:ln w="12700">
            <a:solidFill>
              <a:srgbClr val="E2E7EF"/>
            </a:solidFill>
            <a:prstDash val="solid"/>
          </a:ln>
        </p:spPr>
      </p:sp>
      <p:sp>
        <p:nvSpPr>
          <p:cNvPr id="41" name="Text 39"/>
          <p:cNvSpPr txBox="1"/>
          <p:nvPr/>
        </p:nvSpPr>
        <p:spPr>
          <a:xfrm>
            <a:off x="10347350" y="3639312"/>
            <a:ext cx="799186" cy="493776"/>
          </a:xfrm>
          <a:prstGeom prst="rect">
            <a:avLst/>
          </a:prstGeom>
          <a:noFill/>
          <a:ln/>
        </p:spPr>
        <p:txBody>
          <a:bodyPr wrap="square" lIns="0" tIns="0" rIns="0" bIns="0" rtlCol="0" anchor="ctr"/>
          <a:lstStyle/>
          <a:p>
            <a:pPr algn="ctr" indent="0" marL="0">
              <a:buNone/>
            </a:pPr>
            <a:r>
              <a:rPr lang="en-US" sz="1800" b="1" dirty="0">
                <a:solidFill>
                  <a:srgbClr val="0F1622"/>
                </a:solidFill>
                <a:latin typeface="Courier New" pitchFamily="34" charset="0"/>
                <a:ea typeface="Courier New" pitchFamily="34" charset="-122"/>
                <a:cs typeface="Courier New" pitchFamily="34" charset="-120"/>
              </a:rPr>
              <a:t>'k'</a:t>
            </a:r>
            <a:endParaRPr lang="en-US" sz="1800" dirty="0"/>
          </a:p>
        </p:txBody>
      </p:sp>
      <p:sp>
        <p:nvSpPr>
          <p:cNvPr id="42" name="Text 40"/>
          <p:cNvSpPr txBox="1"/>
          <p:nvPr/>
        </p:nvSpPr>
        <p:spPr>
          <a:xfrm>
            <a:off x="9537192" y="4297680"/>
            <a:ext cx="1737360" cy="237744"/>
          </a:xfrm>
          <a:prstGeom prst="rect">
            <a:avLst/>
          </a:prstGeom>
          <a:noFill/>
          <a:ln/>
        </p:spPr>
        <p:txBody>
          <a:bodyPr wrap="square" lIns="0" tIns="0" rIns="0" bIns="0" rtlCol="0" anchor="t"/>
          <a:lstStyle/>
          <a:p>
            <a:pPr algn="ctr" indent="0" marL="0">
              <a:buNone/>
            </a:pPr>
            <a:r>
              <a:rPr lang="en-US" sz="1100" i="1" dirty="0">
                <a:solidFill>
                  <a:srgbClr val="5B6779"/>
                </a:solidFill>
                <a:latin typeface="Calibri" pitchFamily="34" charset="0"/>
                <a:ea typeface="Calibri" pitchFamily="34" charset="-122"/>
                <a:cs typeface="Calibri" pitchFamily="34" charset="-120"/>
              </a:rPr>
              <a:t>your program</a:t>
            </a:r>
            <a:endParaRPr lang="en-US" sz="1100" dirty="0"/>
          </a:p>
        </p:txBody>
      </p:sp>
      <p:sp>
        <p:nvSpPr>
          <p:cNvPr id="43" name="Text 41"/>
          <p:cNvSpPr txBox="1"/>
          <p:nvPr/>
        </p:nvSpPr>
        <p:spPr>
          <a:xfrm>
            <a:off x="6519672" y="4617720"/>
            <a:ext cx="4754880" cy="365760"/>
          </a:xfrm>
          <a:prstGeom prst="rect">
            <a:avLst/>
          </a:prstGeom>
          <a:noFill/>
          <a:ln/>
        </p:spPr>
        <p:txBody>
          <a:bodyPr wrap="square" lIns="0" tIns="0" rIns="0" bIns="0" rtlCol="0" anchor="t"/>
          <a:lstStyle/>
          <a:p>
            <a:pPr algn="l" indent="0" marL="0">
              <a:buNone/>
            </a:pPr>
            <a:r>
              <a:rPr lang="en-US" sz="1400" b="1" dirty="0">
                <a:solidFill>
                  <a:srgbClr val="0F1622"/>
                </a:solidFill>
                <a:latin typeface="Calibri" pitchFamily="34" charset="0"/>
                <a:ea typeface="Calibri" pitchFamily="34" charset="-122"/>
                <a:cs typeface="Calibri" pitchFamily="34" charset="-120"/>
              </a:rPr>
              <a:t>Nothing appears. Good for a PIN or a secret key.</a:t>
            </a:r>
            <a:endParaRPr lang="en-US" sz="1400" dirty="0"/>
          </a:p>
        </p:txBody>
      </p:sp>
      <p:sp>
        <p:nvSpPr>
          <p:cNvPr id="44" name="Shape 42"/>
          <p:cNvSpPr/>
          <p:nvPr/>
        </p:nvSpPr>
        <p:spPr>
          <a:xfrm>
            <a:off x="640080" y="5349240"/>
            <a:ext cx="10908792" cy="566928"/>
          </a:xfrm>
          <a:prstGeom prst="roundRect">
            <a:avLst>
              <a:gd name="adj" fmla="val 6670"/>
            </a:avLst>
          </a:prstGeom>
          <a:solidFill>
            <a:srgbClr val="0F1622"/>
          </a:solidFill>
          <a:ln/>
        </p:spPr>
      </p:sp>
      <p:sp>
        <p:nvSpPr>
          <p:cNvPr id="45" name="Text 43"/>
          <p:cNvSpPr txBox="1"/>
          <p:nvPr/>
        </p:nvSpPr>
        <p:spPr>
          <a:xfrm>
            <a:off x="640080" y="5349240"/>
            <a:ext cx="10908792" cy="566928"/>
          </a:xfrm>
          <a:prstGeom prst="rect">
            <a:avLst/>
          </a:prstGeom>
          <a:noFill/>
          <a:ln/>
        </p:spPr>
        <p:txBody>
          <a:bodyPr wrap="square" lIns="0" tIns="0" rIns="0" bIns="0" rtlCol="0" anchor="ctr"/>
          <a:lstStyle/>
          <a:p>
            <a:pPr algn="ctr" indent="0" marL="0">
              <a:buNone/>
            </a:pPr>
            <a:r>
              <a:rPr lang="en-US" sz="1500" b="1" dirty="0">
                <a:solidFill>
                  <a:srgbClr val="EDA63F"/>
                </a:solidFill>
                <a:latin typeface="Courier New" pitchFamily="34" charset="0"/>
                <a:ea typeface="Courier New" pitchFamily="34" charset="-122"/>
                <a:cs typeface="Courier New" pitchFamily="34" charset="-120"/>
              </a:rPr>
              <a:t>01h</a:t>
            </a:r>
            <a:pPr algn="ctr" indent="0" marL="0">
              <a:buNone/>
            </a:pPr>
            <a:r>
              <a:rPr lang="en-US" sz="1500" dirty="0">
                <a:solidFill>
                  <a:srgbClr val="FFFFFF"/>
                </a:solidFill>
                <a:latin typeface="Calibri" pitchFamily="34" charset="0"/>
                <a:ea typeface="Calibri" pitchFamily="34" charset="-122"/>
                <a:cs typeface="Calibri" pitchFamily="34" charset="-120"/>
              </a:rPr>
              <a:t>  shows the key.      </a:t>
            </a:r>
            <a:pPr algn="ctr" indent="0" marL="0">
              <a:buNone/>
            </a:pPr>
            <a:r>
              <a:rPr lang="en-US" sz="1500" b="1" dirty="0">
                <a:solidFill>
                  <a:srgbClr val="EDA63F"/>
                </a:solidFill>
                <a:latin typeface="Courier New" pitchFamily="34" charset="0"/>
                <a:ea typeface="Courier New" pitchFamily="34" charset="-122"/>
                <a:cs typeface="Courier New" pitchFamily="34" charset="-120"/>
              </a:rPr>
              <a:t>07h</a:t>
            </a:r>
            <a:pPr algn="ctr" indent="0" marL="0">
              <a:buNone/>
            </a:pPr>
            <a:r>
              <a:rPr lang="en-US" sz="1500" dirty="0">
                <a:solidFill>
                  <a:srgbClr val="FFFFFF"/>
                </a:solidFill>
                <a:latin typeface="Calibri" pitchFamily="34" charset="0"/>
                <a:ea typeface="Calibri" pitchFamily="34" charset="-122"/>
                <a:cs typeface="Calibri" pitchFamily="34" charset="-120"/>
              </a:rPr>
              <a:t>  hides it.      Either way, the key lands in 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3 · ASCII</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Every character is stored as a number</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The ASCII table gives each character a code. Today we use the decimal codes.</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05</a:t>
            </a:r>
            <a:endParaRPr lang="en-US" sz="900" dirty="0"/>
          </a:p>
        </p:txBody>
      </p:sp>
      <p:sp>
        <p:nvSpPr>
          <p:cNvPr id="7" name="Shape 5"/>
          <p:cNvSpPr/>
          <p:nvPr/>
        </p:nvSpPr>
        <p:spPr>
          <a:xfrm>
            <a:off x="640080" y="1810512"/>
            <a:ext cx="7818120" cy="960120"/>
          </a:xfrm>
          <a:prstGeom prst="roundRect">
            <a:avLst>
              <a:gd name="adj" fmla="val 6670"/>
            </a:avLst>
          </a:prstGeom>
          <a:solidFill>
            <a:srgbClr val="F3F5F9"/>
          </a:solidFill>
          <a:ln w="12700">
            <a:solidFill>
              <a:srgbClr val="E2E7EF"/>
            </a:solidFill>
            <a:prstDash val="solid"/>
          </a:ln>
        </p:spPr>
      </p:sp>
      <p:sp>
        <p:nvSpPr>
          <p:cNvPr id="8" name="Shape 6"/>
          <p:cNvSpPr/>
          <p:nvPr/>
        </p:nvSpPr>
        <p:spPr>
          <a:xfrm>
            <a:off x="640080" y="1810512"/>
            <a:ext cx="91440" cy="960120"/>
          </a:xfrm>
          <a:prstGeom prst="rect">
            <a:avLst/>
          </a:prstGeom>
          <a:solidFill>
            <a:srgbClr val="18879B"/>
          </a:solidFill>
          <a:ln/>
        </p:spPr>
      </p:sp>
      <p:sp>
        <p:nvSpPr>
          <p:cNvPr id="9" name="Text 7"/>
          <p:cNvSpPr txBox="1"/>
          <p:nvPr/>
        </p:nvSpPr>
        <p:spPr>
          <a:xfrm>
            <a:off x="960120" y="1965960"/>
            <a:ext cx="274320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DIGITS</a:t>
            </a:r>
            <a:endParaRPr lang="en-US" sz="950" dirty="0"/>
          </a:p>
        </p:txBody>
      </p:sp>
      <p:sp>
        <p:nvSpPr>
          <p:cNvPr id="10" name="Text 8"/>
          <p:cNvSpPr txBox="1"/>
          <p:nvPr/>
        </p:nvSpPr>
        <p:spPr>
          <a:xfrm>
            <a:off x="960120" y="2240280"/>
            <a:ext cx="1645920" cy="365760"/>
          </a:xfrm>
          <a:prstGeom prst="rect">
            <a:avLst/>
          </a:prstGeom>
          <a:noFill/>
          <a:ln/>
        </p:spPr>
        <p:txBody>
          <a:bodyPr wrap="square" lIns="0" tIns="0" rIns="0" bIns="0" rtlCol="0" anchor="ctr"/>
          <a:lstStyle/>
          <a:p>
            <a:pPr algn="l" indent="0" marL="0">
              <a:buNone/>
            </a:pPr>
            <a:r>
              <a:rPr lang="en-US" sz="1500" b="1" dirty="0">
                <a:solidFill>
                  <a:srgbClr val="0F1622"/>
                </a:solidFill>
                <a:latin typeface="Courier New" pitchFamily="34" charset="0"/>
                <a:ea typeface="Courier New" pitchFamily="34" charset="-122"/>
                <a:cs typeface="Courier New" pitchFamily="34" charset="-120"/>
              </a:rPr>
              <a:t>'0' to '9'</a:t>
            </a:r>
            <a:endParaRPr lang="en-US" sz="1500" dirty="0"/>
          </a:p>
        </p:txBody>
      </p:sp>
      <p:sp>
        <p:nvSpPr>
          <p:cNvPr id="11" name="Text 9"/>
          <p:cNvSpPr txBox="1"/>
          <p:nvPr/>
        </p:nvSpPr>
        <p:spPr>
          <a:xfrm>
            <a:off x="2514600" y="2240280"/>
            <a:ext cx="365760" cy="365760"/>
          </a:xfrm>
          <a:prstGeom prst="rect">
            <a:avLst/>
          </a:prstGeom>
          <a:noFill/>
          <a:ln/>
        </p:spPr>
        <p:txBody>
          <a:bodyPr wrap="square" lIns="0" tIns="0" rIns="0" bIns="0" rtlCol="0" anchor="ctr"/>
          <a:lstStyle/>
          <a:p>
            <a:pPr algn="ctr" indent="0" marL="0">
              <a:buNone/>
            </a:pPr>
            <a:r>
              <a:rPr lang="en-US" sz="1600" dirty="0">
                <a:solidFill>
                  <a:srgbClr val="93A0B2"/>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2880360" y="2176272"/>
            <a:ext cx="1828800" cy="475488"/>
          </a:xfrm>
          <a:prstGeom prst="rect">
            <a:avLst/>
          </a:prstGeom>
          <a:noFill/>
          <a:ln/>
        </p:spPr>
        <p:txBody>
          <a:bodyPr wrap="square" lIns="0" tIns="0" rIns="0" bIns="0" rtlCol="0" anchor="ctr"/>
          <a:lstStyle/>
          <a:p>
            <a:pPr algn="l" indent="0" marL="0">
              <a:buNone/>
            </a:pPr>
            <a:r>
              <a:rPr lang="en-US" sz="2200" b="1" dirty="0">
                <a:solidFill>
                  <a:srgbClr val="18879B"/>
                </a:solidFill>
                <a:latin typeface="Courier New" pitchFamily="34" charset="0"/>
                <a:ea typeface="Courier New" pitchFamily="34" charset="-122"/>
                <a:cs typeface="Courier New" pitchFamily="34" charset="-120"/>
              </a:rPr>
              <a:t>48 to 57</a:t>
            </a:r>
            <a:endParaRPr lang="en-US" sz="2200" dirty="0"/>
          </a:p>
        </p:txBody>
      </p:sp>
      <p:sp>
        <p:nvSpPr>
          <p:cNvPr id="13" name="Shape 11"/>
          <p:cNvSpPr/>
          <p:nvPr/>
        </p:nvSpPr>
        <p:spPr>
          <a:xfrm>
            <a:off x="5084064" y="1938528"/>
            <a:ext cx="566928" cy="704088"/>
          </a:xfrm>
          <a:prstGeom prst="roundRect">
            <a:avLst>
              <a:gd name="adj" fmla="val 6670"/>
            </a:avLst>
          </a:prstGeom>
          <a:solidFill>
            <a:srgbClr val="FFFFFF"/>
          </a:solidFill>
          <a:ln w="12700">
            <a:solidFill>
              <a:srgbClr val="E2E7EF"/>
            </a:solidFill>
            <a:prstDash val="solid"/>
          </a:ln>
        </p:spPr>
      </p:sp>
      <p:sp>
        <p:nvSpPr>
          <p:cNvPr id="14" name="Text 12"/>
          <p:cNvSpPr txBox="1"/>
          <p:nvPr/>
        </p:nvSpPr>
        <p:spPr>
          <a:xfrm>
            <a:off x="5084064" y="1965960"/>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0</a:t>
            </a:r>
            <a:endParaRPr lang="en-US" sz="1700" dirty="0"/>
          </a:p>
        </p:txBody>
      </p:sp>
      <p:sp>
        <p:nvSpPr>
          <p:cNvPr id="15" name="Text 13"/>
          <p:cNvSpPr txBox="1"/>
          <p:nvPr/>
        </p:nvSpPr>
        <p:spPr>
          <a:xfrm>
            <a:off x="5084064" y="2313432"/>
            <a:ext cx="566928" cy="274320"/>
          </a:xfrm>
          <a:prstGeom prst="rect">
            <a:avLst/>
          </a:prstGeom>
          <a:noFill/>
          <a:ln/>
        </p:spPr>
        <p:txBody>
          <a:bodyPr wrap="square" lIns="0" tIns="0" rIns="0" bIns="0" rtlCol="0" anchor="ctr"/>
          <a:lstStyle/>
          <a:p>
            <a:pPr algn="ctr" indent="0" marL="0">
              <a:buNone/>
            </a:pPr>
            <a:r>
              <a:rPr lang="en-US" sz="1100" b="1" dirty="0">
                <a:solidFill>
                  <a:srgbClr val="18879B"/>
                </a:solidFill>
                <a:latin typeface="Courier New" pitchFamily="34" charset="0"/>
                <a:ea typeface="Courier New" pitchFamily="34" charset="-122"/>
                <a:cs typeface="Courier New" pitchFamily="34" charset="-120"/>
              </a:rPr>
              <a:t>48</a:t>
            </a:r>
            <a:endParaRPr lang="en-US" sz="1100" dirty="0"/>
          </a:p>
        </p:txBody>
      </p:sp>
      <p:sp>
        <p:nvSpPr>
          <p:cNvPr id="16" name="Shape 14"/>
          <p:cNvSpPr/>
          <p:nvPr/>
        </p:nvSpPr>
        <p:spPr>
          <a:xfrm>
            <a:off x="5760720" y="1938528"/>
            <a:ext cx="566928" cy="704088"/>
          </a:xfrm>
          <a:prstGeom prst="roundRect">
            <a:avLst>
              <a:gd name="adj" fmla="val 6670"/>
            </a:avLst>
          </a:prstGeom>
          <a:solidFill>
            <a:srgbClr val="FFFFFF"/>
          </a:solidFill>
          <a:ln w="12700">
            <a:solidFill>
              <a:srgbClr val="E2E7EF"/>
            </a:solidFill>
            <a:prstDash val="solid"/>
          </a:ln>
        </p:spPr>
      </p:sp>
      <p:sp>
        <p:nvSpPr>
          <p:cNvPr id="17" name="Text 15"/>
          <p:cNvSpPr txBox="1"/>
          <p:nvPr/>
        </p:nvSpPr>
        <p:spPr>
          <a:xfrm>
            <a:off x="5760720" y="1965960"/>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1</a:t>
            </a:r>
            <a:endParaRPr lang="en-US" sz="1700" dirty="0"/>
          </a:p>
        </p:txBody>
      </p:sp>
      <p:sp>
        <p:nvSpPr>
          <p:cNvPr id="18" name="Text 16"/>
          <p:cNvSpPr txBox="1"/>
          <p:nvPr/>
        </p:nvSpPr>
        <p:spPr>
          <a:xfrm>
            <a:off x="5760720" y="2313432"/>
            <a:ext cx="566928" cy="274320"/>
          </a:xfrm>
          <a:prstGeom prst="rect">
            <a:avLst/>
          </a:prstGeom>
          <a:noFill/>
          <a:ln/>
        </p:spPr>
        <p:txBody>
          <a:bodyPr wrap="square" lIns="0" tIns="0" rIns="0" bIns="0" rtlCol="0" anchor="ctr"/>
          <a:lstStyle/>
          <a:p>
            <a:pPr algn="ctr" indent="0" marL="0">
              <a:buNone/>
            </a:pPr>
            <a:r>
              <a:rPr lang="en-US" sz="1100" b="1" dirty="0">
                <a:solidFill>
                  <a:srgbClr val="18879B"/>
                </a:solidFill>
                <a:latin typeface="Courier New" pitchFamily="34" charset="0"/>
                <a:ea typeface="Courier New" pitchFamily="34" charset="-122"/>
                <a:cs typeface="Courier New" pitchFamily="34" charset="-120"/>
              </a:rPr>
              <a:t>49</a:t>
            </a:r>
            <a:endParaRPr lang="en-US" sz="1100" dirty="0"/>
          </a:p>
        </p:txBody>
      </p:sp>
      <p:sp>
        <p:nvSpPr>
          <p:cNvPr id="19" name="Shape 17"/>
          <p:cNvSpPr/>
          <p:nvPr/>
        </p:nvSpPr>
        <p:spPr>
          <a:xfrm>
            <a:off x="6437376" y="1938528"/>
            <a:ext cx="566928" cy="704088"/>
          </a:xfrm>
          <a:prstGeom prst="roundRect">
            <a:avLst>
              <a:gd name="adj" fmla="val 6670"/>
            </a:avLst>
          </a:prstGeom>
          <a:solidFill>
            <a:srgbClr val="FFFFFF"/>
          </a:solidFill>
          <a:ln w="12700">
            <a:solidFill>
              <a:srgbClr val="E2E7EF"/>
            </a:solidFill>
            <a:prstDash val="solid"/>
          </a:ln>
        </p:spPr>
      </p:sp>
      <p:sp>
        <p:nvSpPr>
          <p:cNvPr id="20" name="Text 18"/>
          <p:cNvSpPr txBox="1"/>
          <p:nvPr/>
        </p:nvSpPr>
        <p:spPr>
          <a:xfrm>
            <a:off x="6437376" y="1965960"/>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2</a:t>
            </a:r>
            <a:endParaRPr lang="en-US" sz="1700" dirty="0"/>
          </a:p>
        </p:txBody>
      </p:sp>
      <p:sp>
        <p:nvSpPr>
          <p:cNvPr id="21" name="Text 19"/>
          <p:cNvSpPr txBox="1"/>
          <p:nvPr/>
        </p:nvSpPr>
        <p:spPr>
          <a:xfrm>
            <a:off x="6437376" y="2313432"/>
            <a:ext cx="566928" cy="274320"/>
          </a:xfrm>
          <a:prstGeom prst="rect">
            <a:avLst/>
          </a:prstGeom>
          <a:noFill/>
          <a:ln/>
        </p:spPr>
        <p:txBody>
          <a:bodyPr wrap="square" lIns="0" tIns="0" rIns="0" bIns="0" rtlCol="0" anchor="ctr"/>
          <a:lstStyle/>
          <a:p>
            <a:pPr algn="ctr" indent="0" marL="0">
              <a:buNone/>
            </a:pPr>
            <a:r>
              <a:rPr lang="en-US" sz="1100" b="1" dirty="0">
                <a:solidFill>
                  <a:srgbClr val="18879B"/>
                </a:solidFill>
                <a:latin typeface="Courier New" pitchFamily="34" charset="0"/>
                <a:ea typeface="Courier New" pitchFamily="34" charset="-122"/>
                <a:cs typeface="Courier New" pitchFamily="34" charset="-120"/>
              </a:rPr>
              <a:t>50</a:t>
            </a:r>
            <a:endParaRPr lang="en-US" sz="1100" dirty="0"/>
          </a:p>
        </p:txBody>
      </p:sp>
      <p:sp>
        <p:nvSpPr>
          <p:cNvPr id="22" name="Shape 20"/>
          <p:cNvSpPr/>
          <p:nvPr/>
        </p:nvSpPr>
        <p:spPr>
          <a:xfrm>
            <a:off x="7616952" y="1938528"/>
            <a:ext cx="566928" cy="704088"/>
          </a:xfrm>
          <a:prstGeom prst="roundRect">
            <a:avLst>
              <a:gd name="adj" fmla="val 6670"/>
            </a:avLst>
          </a:prstGeom>
          <a:solidFill>
            <a:srgbClr val="FFFFFF"/>
          </a:solidFill>
          <a:ln w="12700">
            <a:solidFill>
              <a:srgbClr val="E2E7EF"/>
            </a:solidFill>
            <a:prstDash val="solid"/>
          </a:ln>
        </p:spPr>
      </p:sp>
      <p:sp>
        <p:nvSpPr>
          <p:cNvPr id="23" name="Text 21"/>
          <p:cNvSpPr txBox="1"/>
          <p:nvPr/>
        </p:nvSpPr>
        <p:spPr>
          <a:xfrm>
            <a:off x="7616952" y="1965960"/>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9</a:t>
            </a:r>
            <a:endParaRPr lang="en-US" sz="1700" dirty="0"/>
          </a:p>
        </p:txBody>
      </p:sp>
      <p:sp>
        <p:nvSpPr>
          <p:cNvPr id="24" name="Text 22"/>
          <p:cNvSpPr txBox="1"/>
          <p:nvPr/>
        </p:nvSpPr>
        <p:spPr>
          <a:xfrm>
            <a:off x="7616952" y="2313432"/>
            <a:ext cx="566928" cy="274320"/>
          </a:xfrm>
          <a:prstGeom prst="rect">
            <a:avLst/>
          </a:prstGeom>
          <a:noFill/>
          <a:ln/>
        </p:spPr>
        <p:txBody>
          <a:bodyPr wrap="square" lIns="0" tIns="0" rIns="0" bIns="0" rtlCol="0" anchor="ctr"/>
          <a:lstStyle/>
          <a:p>
            <a:pPr algn="ctr" indent="0" marL="0">
              <a:buNone/>
            </a:pPr>
            <a:r>
              <a:rPr lang="en-US" sz="1100" b="1" dirty="0">
                <a:solidFill>
                  <a:srgbClr val="18879B"/>
                </a:solidFill>
                <a:latin typeface="Courier New" pitchFamily="34" charset="0"/>
                <a:ea typeface="Courier New" pitchFamily="34" charset="-122"/>
                <a:cs typeface="Courier New" pitchFamily="34" charset="-120"/>
              </a:rPr>
              <a:t>57</a:t>
            </a:r>
            <a:endParaRPr lang="en-US" sz="1100" dirty="0"/>
          </a:p>
        </p:txBody>
      </p:sp>
      <p:sp>
        <p:nvSpPr>
          <p:cNvPr id="25" name="Text 23"/>
          <p:cNvSpPr txBox="1"/>
          <p:nvPr/>
        </p:nvSpPr>
        <p:spPr>
          <a:xfrm>
            <a:off x="7095744" y="2084832"/>
            <a:ext cx="502920" cy="411480"/>
          </a:xfrm>
          <a:prstGeom prst="rect">
            <a:avLst/>
          </a:prstGeom>
          <a:noFill/>
          <a:ln/>
        </p:spPr>
        <p:txBody>
          <a:bodyPr wrap="square" lIns="0" tIns="0" rIns="0" bIns="0" rtlCol="0" anchor="ctr"/>
          <a:lstStyle/>
          <a:p>
            <a:pPr algn="ctr" indent="0" marL="0">
              <a:buNone/>
            </a:pPr>
            <a:r>
              <a:rPr lang="en-US" sz="1800" dirty="0">
                <a:solidFill>
                  <a:srgbClr val="93A0B2"/>
                </a:solidFill>
                <a:latin typeface="Calibri" pitchFamily="34" charset="0"/>
                <a:ea typeface="Calibri" pitchFamily="34" charset="-122"/>
                <a:cs typeface="Calibri" pitchFamily="34" charset="-120"/>
              </a:rPr>
              <a:t>…</a:t>
            </a:r>
            <a:endParaRPr lang="en-US" sz="1800" dirty="0"/>
          </a:p>
        </p:txBody>
      </p:sp>
      <p:sp>
        <p:nvSpPr>
          <p:cNvPr id="26" name="Shape 24"/>
          <p:cNvSpPr/>
          <p:nvPr/>
        </p:nvSpPr>
        <p:spPr>
          <a:xfrm>
            <a:off x="640080" y="2926080"/>
            <a:ext cx="7818120" cy="960120"/>
          </a:xfrm>
          <a:prstGeom prst="roundRect">
            <a:avLst>
              <a:gd name="adj" fmla="val 6670"/>
            </a:avLst>
          </a:prstGeom>
          <a:solidFill>
            <a:srgbClr val="F3F5F9"/>
          </a:solidFill>
          <a:ln w="12700">
            <a:solidFill>
              <a:srgbClr val="E2E7EF"/>
            </a:solidFill>
            <a:prstDash val="solid"/>
          </a:ln>
        </p:spPr>
      </p:sp>
      <p:sp>
        <p:nvSpPr>
          <p:cNvPr id="27" name="Shape 25"/>
          <p:cNvSpPr/>
          <p:nvPr/>
        </p:nvSpPr>
        <p:spPr>
          <a:xfrm>
            <a:off x="640080" y="2926080"/>
            <a:ext cx="91440" cy="960120"/>
          </a:xfrm>
          <a:prstGeom prst="rect">
            <a:avLst/>
          </a:prstGeom>
          <a:solidFill>
            <a:srgbClr val="D98A1F"/>
          </a:solidFill>
          <a:ln/>
        </p:spPr>
      </p:sp>
      <p:sp>
        <p:nvSpPr>
          <p:cNvPr id="28" name="Text 26"/>
          <p:cNvSpPr txBox="1"/>
          <p:nvPr/>
        </p:nvSpPr>
        <p:spPr>
          <a:xfrm>
            <a:off x="960120" y="3081528"/>
            <a:ext cx="2743200" cy="219456"/>
          </a:xfrm>
          <a:prstGeom prst="rect">
            <a:avLst/>
          </a:prstGeom>
          <a:noFill/>
          <a:ln/>
        </p:spPr>
        <p:txBody>
          <a:bodyPr wrap="square" lIns="0" tIns="0" rIns="0" bIns="0" rtlCol="0" anchor="t"/>
          <a:lstStyle/>
          <a:p>
            <a:pPr algn="l" indent="0" marL="0">
              <a:buNone/>
            </a:pPr>
            <a:r>
              <a:rPr lang="en-US" sz="950" b="1" spc="130" kern="0" dirty="0">
                <a:solidFill>
                  <a:srgbClr val="D98A1F"/>
                </a:solidFill>
                <a:latin typeface="Courier New" pitchFamily="34" charset="0"/>
                <a:ea typeface="Courier New" pitchFamily="34" charset="-122"/>
                <a:cs typeface="Courier New" pitchFamily="34" charset="-120"/>
              </a:rPr>
              <a:t>CAPITAL LETTERS</a:t>
            </a:r>
            <a:endParaRPr lang="en-US" sz="950" dirty="0"/>
          </a:p>
        </p:txBody>
      </p:sp>
      <p:sp>
        <p:nvSpPr>
          <p:cNvPr id="29" name="Text 27"/>
          <p:cNvSpPr txBox="1"/>
          <p:nvPr/>
        </p:nvSpPr>
        <p:spPr>
          <a:xfrm>
            <a:off x="960120" y="3355848"/>
            <a:ext cx="1645920" cy="365760"/>
          </a:xfrm>
          <a:prstGeom prst="rect">
            <a:avLst/>
          </a:prstGeom>
          <a:noFill/>
          <a:ln/>
        </p:spPr>
        <p:txBody>
          <a:bodyPr wrap="square" lIns="0" tIns="0" rIns="0" bIns="0" rtlCol="0" anchor="ctr"/>
          <a:lstStyle/>
          <a:p>
            <a:pPr algn="l" indent="0" marL="0">
              <a:buNone/>
            </a:pPr>
            <a:r>
              <a:rPr lang="en-US" sz="1500" b="1" dirty="0">
                <a:solidFill>
                  <a:srgbClr val="0F1622"/>
                </a:solidFill>
                <a:latin typeface="Courier New" pitchFamily="34" charset="0"/>
                <a:ea typeface="Courier New" pitchFamily="34" charset="-122"/>
                <a:cs typeface="Courier New" pitchFamily="34" charset="-120"/>
              </a:rPr>
              <a:t>'A' to 'Z'</a:t>
            </a:r>
            <a:endParaRPr lang="en-US" sz="1500" dirty="0"/>
          </a:p>
        </p:txBody>
      </p:sp>
      <p:sp>
        <p:nvSpPr>
          <p:cNvPr id="30" name="Text 28"/>
          <p:cNvSpPr txBox="1"/>
          <p:nvPr/>
        </p:nvSpPr>
        <p:spPr>
          <a:xfrm>
            <a:off x="2514600" y="3355848"/>
            <a:ext cx="365760" cy="365760"/>
          </a:xfrm>
          <a:prstGeom prst="rect">
            <a:avLst/>
          </a:prstGeom>
          <a:noFill/>
          <a:ln/>
        </p:spPr>
        <p:txBody>
          <a:bodyPr wrap="square" lIns="0" tIns="0" rIns="0" bIns="0" rtlCol="0" anchor="ctr"/>
          <a:lstStyle/>
          <a:p>
            <a:pPr algn="ctr" indent="0" marL="0">
              <a:buNone/>
            </a:pPr>
            <a:r>
              <a:rPr lang="en-US" sz="1600" dirty="0">
                <a:solidFill>
                  <a:srgbClr val="93A0B2"/>
                </a:solidFill>
                <a:latin typeface="Calibri" pitchFamily="34" charset="0"/>
                <a:ea typeface="Calibri" pitchFamily="34" charset="-122"/>
                <a:cs typeface="Calibri" pitchFamily="34" charset="-120"/>
              </a:rPr>
              <a:t>→</a:t>
            </a:r>
            <a:endParaRPr lang="en-US" sz="1600" dirty="0"/>
          </a:p>
        </p:txBody>
      </p:sp>
      <p:sp>
        <p:nvSpPr>
          <p:cNvPr id="31" name="Text 29"/>
          <p:cNvSpPr txBox="1"/>
          <p:nvPr/>
        </p:nvSpPr>
        <p:spPr>
          <a:xfrm>
            <a:off x="2880360" y="3291840"/>
            <a:ext cx="1828800" cy="475488"/>
          </a:xfrm>
          <a:prstGeom prst="rect">
            <a:avLst/>
          </a:prstGeom>
          <a:noFill/>
          <a:ln/>
        </p:spPr>
        <p:txBody>
          <a:bodyPr wrap="square" lIns="0" tIns="0" rIns="0" bIns="0" rtlCol="0" anchor="ctr"/>
          <a:lstStyle/>
          <a:p>
            <a:pPr algn="l" indent="0" marL="0">
              <a:buNone/>
            </a:pPr>
            <a:r>
              <a:rPr lang="en-US" sz="2200" b="1" dirty="0">
                <a:solidFill>
                  <a:srgbClr val="D98A1F"/>
                </a:solidFill>
                <a:latin typeface="Courier New" pitchFamily="34" charset="0"/>
                <a:ea typeface="Courier New" pitchFamily="34" charset="-122"/>
                <a:cs typeface="Courier New" pitchFamily="34" charset="-120"/>
              </a:rPr>
              <a:t>65 to 90</a:t>
            </a:r>
            <a:endParaRPr lang="en-US" sz="2200" dirty="0"/>
          </a:p>
        </p:txBody>
      </p:sp>
      <p:sp>
        <p:nvSpPr>
          <p:cNvPr id="32" name="Shape 30"/>
          <p:cNvSpPr/>
          <p:nvPr/>
        </p:nvSpPr>
        <p:spPr>
          <a:xfrm>
            <a:off x="5084064" y="3054096"/>
            <a:ext cx="566928" cy="704088"/>
          </a:xfrm>
          <a:prstGeom prst="roundRect">
            <a:avLst>
              <a:gd name="adj" fmla="val 6670"/>
            </a:avLst>
          </a:prstGeom>
          <a:solidFill>
            <a:srgbClr val="FFFFFF"/>
          </a:solidFill>
          <a:ln w="12700">
            <a:solidFill>
              <a:srgbClr val="E2E7EF"/>
            </a:solidFill>
            <a:prstDash val="solid"/>
          </a:ln>
        </p:spPr>
      </p:sp>
      <p:sp>
        <p:nvSpPr>
          <p:cNvPr id="33" name="Text 31"/>
          <p:cNvSpPr txBox="1"/>
          <p:nvPr/>
        </p:nvSpPr>
        <p:spPr>
          <a:xfrm>
            <a:off x="5084064" y="3081528"/>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A</a:t>
            </a:r>
            <a:endParaRPr lang="en-US" sz="1700" dirty="0"/>
          </a:p>
        </p:txBody>
      </p:sp>
      <p:sp>
        <p:nvSpPr>
          <p:cNvPr id="34" name="Text 32"/>
          <p:cNvSpPr txBox="1"/>
          <p:nvPr/>
        </p:nvSpPr>
        <p:spPr>
          <a:xfrm>
            <a:off x="5084064" y="3429000"/>
            <a:ext cx="566928" cy="274320"/>
          </a:xfrm>
          <a:prstGeom prst="rect">
            <a:avLst/>
          </a:prstGeom>
          <a:noFill/>
          <a:ln/>
        </p:spPr>
        <p:txBody>
          <a:bodyPr wrap="square" lIns="0" tIns="0" rIns="0" bIns="0" rtlCol="0" anchor="ctr"/>
          <a:lstStyle/>
          <a:p>
            <a:pPr algn="ctr" indent="0" marL="0">
              <a:buNone/>
            </a:pPr>
            <a:r>
              <a:rPr lang="en-US" sz="1100" b="1" dirty="0">
                <a:solidFill>
                  <a:srgbClr val="D98A1F"/>
                </a:solidFill>
                <a:latin typeface="Courier New" pitchFamily="34" charset="0"/>
                <a:ea typeface="Courier New" pitchFamily="34" charset="-122"/>
                <a:cs typeface="Courier New" pitchFamily="34" charset="-120"/>
              </a:rPr>
              <a:t>65</a:t>
            </a:r>
            <a:endParaRPr lang="en-US" sz="1100" dirty="0"/>
          </a:p>
        </p:txBody>
      </p:sp>
      <p:sp>
        <p:nvSpPr>
          <p:cNvPr id="35" name="Shape 33"/>
          <p:cNvSpPr/>
          <p:nvPr/>
        </p:nvSpPr>
        <p:spPr>
          <a:xfrm>
            <a:off x="5760720" y="3054096"/>
            <a:ext cx="566928" cy="704088"/>
          </a:xfrm>
          <a:prstGeom prst="roundRect">
            <a:avLst>
              <a:gd name="adj" fmla="val 6670"/>
            </a:avLst>
          </a:prstGeom>
          <a:solidFill>
            <a:srgbClr val="FFFFFF"/>
          </a:solidFill>
          <a:ln w="12700">
            <a:solidFill>
              <a:srgbClr val="E2E7EF"/>
            </a:solidFill>
            <a:prstDash val="solid"/>
          </a:ln>
        </p:spPr>
      </p:sp>
      <p:sp>
        <p:nvSpPr>
          <p:cNvPr id="36" name="Text 34"/>
          <p:cNvSpPr txBox="1"/>
          <p:nvPr/>
        </p:nvSpPr>
        <p:spPr>
          <a:xfrm>
            <a:off x="5760720" y="3081528"/>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B</a:t>
            </a:r>
            <a:endParaRPr lang="en-US" sz="1700" dirty="0"/>
          </a:p>
        </p:txBody>
      </p:sp>
      <p:sp>
        <p:nvSpPr>
          <p:cNvPr id="37" name="Text 35"/>
          <p:cNvSpPr txBox="1"/>
          <p:nvPr/>
        </p:nvSpPr>
        <p:spPr>
          <a:xfrm>
            <a:off x="5760720" y="3429000"/>
            <a:ext cx="566928" cy="274320"/>
          </a:xfrm>
          <a:prstGeom prst="rect">
            <a:avLst/>
          </a:prstGeom>
          <a:noFill/>
          <a:ln/>
        </p:spPr>
        <p:txBody>
          <a:bodyPr wrap="square" lIns="0" tIns="0" rIns="0" bIns="0" rtlCol="0" anchor="ctr"/>
          <a:lstStyle/>
          <a:p>
            <a:pPr algn="ctr" indent="0" marL="0">
              <a:buNone/>
            </a:pPr>
            <a:r>
              <a:rPr lang="en-US" sz="1100" b="1" dirty="0">
                <a:solidFill>
                  <a:srgbClr val="D98A1F"/>
                </a:solidFill>
                <a:latin typeface="Courier New" pitchFamily="34" charset="0"/>
                <a:ea typeface="Courier New" pitchFamily="34" charset="-122"/>
                <a:cs typeface="Courier New" pitchFamily="34" charset="-120"/>
              </a:rPr>
              <a:t>66</a:t>
            </a:r>
            <a:endParaRPr lang="en-US" sz="1100" dirty="0"/>
          </a:p>
        </p:txBody>
      </p:sp>
      <p:sp>
        <p:nvSpPr>
          <p:cNvPr id="38" name="Shape 36"/>
          <p:cNvSpPr/>
          <p:nvPr/>
        </p:nvSpPr>
        <p:spPr>
          <a:xfrm>
            <a:off x="6437376" y="3054096"/>
            <a:ext cx="566928" cy="704088"/>
          </a:xfrm>
          <a:prstGeom prst="roundRect">
            <a:avLst>
              <a:gd name="adj" fmla="val 6670"/>
            </a:avLst>
          </a:prstGeom>
          <a:solidFill>
            <a:srgbClr val="FFFFFF"/>
          </a:solidFill>
          <a:ln w="12700">
            <a:solidFill>
              <a:srgbClr val="E2E7EF"/>
            </a:solidFill>
            <a:prstDash val="solid"/>
          </a:ln>
        </p:spPr>
      </p:sp>
      <p:sp>
        <p:nvSpPr>
          <p:cNvPr id="39" name="Text 37"/>
          <p:cNvSpPr txBox="1"/>
          <p:nvPr/>
        </p:nvSpPr>
        <p:spPr>
          <a:xfrm>
            <a:off x="6437376" y="3081528"/>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C</a:t>
            </a:r>
            <a:endParaRPr lang="en-US" sz="1700" dirty="0"/>
          </a:p>
        </p:txBody>
      </p:sp>
      <p:sp>
        <p:nvSpPr>
          <p:cNvPr id="40" name="Text 38"/>
          <p:cNvSpPr txBox="1"/>
          <p:nvPr/>
        </p:nvSpPr>
        <p:spPr>
          <a:xfrm>
            <a:off x="6437376" y="3429000"/>
            <a:ext cx="566928" cy="274320"/>
          </a:xfrm>
          <a:prstGeom prst="rect">
            <a:avLst/>
          </a:prstGeom>
          <a:noFill/>
          <a:ln/>
        </p:spPr>
        <p:txBody>
          <a:bodyPr wrap="square" lIns="0" tIns="0" rIns="0" bIns="0" rtlCol="0" anchor="ctr"/>
          <a:lstStyle/>
          <a:p>
            <a:pPr algn="ctr" indent="0" marL="0">
              <a:buNone/>
            </a:pPr>
            <a:r>
              <a:rPr lang="en-US" sz="1100" b="1" dirty="0">
                <a:solidFill>
                  <a:srgbClr val="D98A1F"/>
                </a:solidFill>
                <a:latin typeface="Courier New" pitchFamily="34" charset="0"/>
                <a:ea typeface="Courier New" pitchFamily="34" charset="-122"/>
                <a:cs typeface="Courier New" pitchFamily="34" charset="-120"/>
              </a:rPr>
              <a:t>67</a:t>
            </a:r>
            <a:endParaRPr lang="en-US" sz="1100" dirty="0"/>
          </a:p>
        </p:txBody>
      </p:sp>
      <p:sp>
        <p:nvSpPr>
          <p:cNvPr id="41" name="Shape 39"/>
          <p:cNvSpPr/>
          <p:nvPr/>
        </p:nvSpPr>
        <p:spPr>
          <a:xfrm>
            <a:off x="7616952" y="3054096"/>
            <a:ext cx="566928" cy="704088"/>
          </a:xfrm>
          <a:prstGeom prst="roundRect">
            <a:avLst>
              <a:gd name="adj" fmla="val 6670"/>
            </a:avLst>
          </a:prstGeom>
          <a:solidFill>
            <a:srgbClr val="FFFFFF"/>
          </a:solidFill>
          <a:ln w="12700">
            <a:solidFill>
              <a:srgbClr val="E2E7EF"/>
            </a:solidFill>
            <a:prstDash val="solid"/>
          </a:ln>
        </p:spPr>
      </p:sp>
      <p:sp>
        <p:nvSpPr>
          <p:cNvPr id="42" name="Text 40"/>
          <p:cNvSpPr txBox="1"/>
          <p:nvPr/>
        </p:nvSpPr>
        <p:spPr>
          <a:xfrm>
            <a:off x="7616952" y="3081528"/>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Z</a:t>
            </a:r>
            <a:endParaRPr lang="en-US" sz="1700" dirty="0"/>
          </a:p>
        </p:txBody>
      </p:sp>
      <p:sp>
        <p:nvSpPr>
          <p:cNvPr id="43" name="Text 41"/>
          <p:cNvSpPr txBox="1"/>
          <p:nvPr/>
        </p:nvSpPr>
        <p:spPr>
          <a:xfrm>
            <a:off x="7616952" y="3429000"/>
            <a:ext cx="566928" cy="274320"/>
          </a:xfrm>
          <a:prstGeom prst="rect">
            <a:avLst/>
          </a:prstGeom>
          <a:noFill/>
          <a:ln/>
        </p:spPr>
        <p:txBody>
          <a:bodyPr wrap="square" lIns="0" tIns="0" rIns="0" bIns="0" rtlCol="0" anchor="ctr"/>
          <a:lstStyle/>
          <a:p>
            <a:pPr algn="ctr" indent="0" marL="0">
              <a:buNone/>
            </a:pPr>
            <a:r>
              <a:rPr lang="en-US" sz="1100" b="1" dirty="0">
                <a:solidFill>
                  <a:srgbClr val="D98A1F"/>
                </a:solidFill>
                <a:latin typeface="Courier New" pitchFamily="34" charset="0"/>
                <a:ea typeface="Courier New" pitchFamily="34" charset="-122"/>
                <a:cs typeface="Courier New" pitchFamily="34" charset="-120"/>
              </a:rPr>
              <a:t>90</a:t>
            </a:r>
            <a:endParaRPr lang="en-US" sz="1100" dirty="0"/>
          </a:p>
        </p:txBody>
      </p:sp>
      <p:sp>
        <p:nvSpPr>
          <p:cNvPr id="44" name="Text 42"/>
          <p:cNvSpPr txBox="1"/>
          <p:nvPr/>
        </p:nvSpPr>
        <p:spPr>
          <a:xfrm>
            <a:off x="7095744" y="3200400"/>
            <a:ext cx="502920" cy="411480"/>
          </a:xfrm>
          <a:prstGeom prst="rect">
            <a:avLst/>
          </a:prstGeom>
          <a:noFill/>
          <a:ln/>
        </p:spPr>
        <p:txBody>
          <a:bodyPr wrap="square" lIns="0" tIns="0" rIns="0" bIns="0" rtlCol="0" anchor="ctr"/>
          <a:lstStyle/>
          <a:p>
            <a:pPr algn="ctr" indent="0" marL="0">
              <a:buNone/>
            </a:pPr>
            <a:r>
              <a:rPr lang="en-US" sz="1800" dirty="0">
                <a:solidFill>
                  <a:srgbClr val="93A0B2"/>
                </a:solidFill>
                <a:latin typeface="Calibri" pitchFamily="34" charset="0"/>
                <a:ea typeface="Calibri" pitchFamily="34" charset="-122"/>
                <a:cs typeface="Calibri" pitchFamily="34" charset="-120"/>
              </a:rPr>
              <a:t>…</a:t>
            </a:r>
            <a:endParaRPr lang="en-US" sz="1800" dirty="0"/>
          </a:p>
        </p:txBody>
      </p:sp>
      <p:sp>
        <p:nvSpPr>
          <p:cNvPr id="45" name="Shape 43"/>
          <p:cNvSpPr/>
          <p:nvPr/>
        </p:nvSpPr>
        <p:spPr>
          <a:xfrm>
            <a:off x="640080" y="4041648"/>
            <a:ext cx="7818120" cy="960120"/>
          </a:xfrm>
          <a:prstGeom prst="roundRect">
            <a:avLst>
              <a:gd name="adj" fmla="val 6670"/>
            </a:avLst>
          </a:prstGeom>
          <a:solidFill>
            <a:srgbClr val="F3F5F9"/>
          </a:solidFill>
          <a:ln w="12700">
            <a:solidFill>
              <a:srgbClr val="E2E7EF"/>
            </a:solidFill>
            <a:prstDash val="solid"/>
          </a:ln>
        </p:spPr>
      </p:sp>
      <p:sp>
        <p:nvSpPr>
          <p:cNvPr id="46" name="Shape 44"/>
          <p:cNvSpPr/>
          <p:nvPr/>
        </p:nvSpPr>
        <p:spPr>
          <a:xfrm>
            <a:off x="640080" y="4041648"/>
            <a:ext cx="91440" cy="960120"/>
          </a:xfrm>
          <a:prstGeom prst="rect">
            <a:avLst/>
          </a:prstGeom>
          <a:solidFill>
            <a:srgbClr val="6B58CC"/>
          </a:solidFill>
          <a:ln/>
        </p:spPr>
      </p:sp>
      <p:sp>
        <p:nvSpPr>
          <p:cNvPr id="47" name="Text 45"/>
          <p:cNvSpPr txBox="1"/>
          <p:nvPr/>
        </p:nvSpPr>
        <p:spPr>
          <a:xfrm>
            <a:off x="960120" y="4197096"/>
            <a:ext cx="2743200" cy="219456"/>
          </a:xfrm>
          <a:prstGeom prst="rect">
            <a:avLst/>
          </a:prstGeom>
          <a:noFill/>
          <a:ln/>
        </p:spPr>
        <p:txBody>
          <a:bodyPr wrap="square" lIns="0" tIns="0" rIns="0" bIns="0" rtlCol="0" anchor="t"/>
          <a:lstStyle/>
          <a:p>
            <a:pPr algn="l" indent="0" marL="0">
              <a:buNone/>
            </a:pPr>
            <a:r>
              <a:rPr lang="en-US" sz="950" b="1" spc="130" kern="0" dirty="0">
                <a:solidFill>
                  <a:srgbClr val="6B58CC"/>
                </a:solidFill>
                <a:latin typeface="Courier New" pitchFamily="34" charset="0"/>
                <a:ea typeface="Courier New" pitchFamily="34" charset="-122"/>
                <a:cs typeface="Courier New" pitchFamily="34" charset="-120"/>
              </a:rPr>
              <a:t>SMALL LETTERS</a:t>
            </a:r>
            <a:endParaRPr lang="en-US" sz="950" dirty="0"/>
          </a:p>
        </p:txBody>
      </p:sp>
      <p:sp>
        <p:nvSpPr>
          <p:cNvPr id="48" name="Text 46"/>
          <p:cNvSpPr txBox="1"/>
          <p:nvPr/>
        </p:nvSpPr>
        <p:spPr>
          <a:xfrm>
            <a:off x="960120" y="4471416"/>
            <a:ext cx="1645920" cy="365760"/>
          </a:xfrm>
          <a:prstGeom prst="rect">
            <a:avLst/>
          </a:prstGeom>
          <a:noFill/>
          <a:ln/>
        </p:spPr>
        <p:txBody>
          <a:bodyPr wrap="square" lIns="0" tIns="0" rIns="0" bIns="0" rtlCol="0" anchor="ctr"/>
          <a:lstStyle/>
          <a:p>
            <a:pPr algn="l" indent="0" marL="0">
              <a:buNone/>
            </a:pPr>
            <a:r>
              <a:rPr lang="en-US" sz="1500" b="1" dirty="0">
                <a:solidFill>
                  <a:srgbClr val="0F1622"/>
                </a:solidFill>
                <a:latin typeface="Courier New" pitchFamily="34" charset="0"/>
                <a:ea typeface="Courier New" pitchFamily="34" charset="-122"/>
                <a:cs typeface="Courier New" pitchFamily="34" charset="-120"/>
              </a:rPr>
              <a:t>'a' to 'z'</a:t>
            </a:r>
            <a:endParaRPr lang="en-US" sz="1500" dirty="0"/>
          </a:p>
        </p:txBody>
      </p:sp>
      <p:sp>
        <p:nvSpPr>
          <p:cNvPr id="49" name="Text 47"/>
          <p:cNvSpPr txBox="1"/>
          <p:nvPr/>
        </p:nvSpPr>
        <p:spPr>
          <a:xfrm>
            <a:off x="2514600" y="4471416"/>
            <a:ext cx="365760" cy="365760"/>
          </a:xfrm>
          <a:prstGeom prst="rect">
            <a:avLst/>
          </a:prstGeom>
          <a:noFill/>
          <a:ln/>
        </p:spPr>
        <p:txBody>
          <a:bodyPr wrap="square" lIns="0" tIns="0" rIns="0" bIns="0" rtlCol="0" anchor="ctr"/>
          <a:lstStyle/>
          <a:p>
            <a:pPr algn="ctr" indent="0" marL="0">
              <a:buNone/>
            </a:pPr>
            <a:r>
              <a:rPr lang="en-US" sz="1600" dirty="0">
                <a:solidFill>
                  <a:srgbClr val="93A0B2"/>
                </a:solidFill>
                <a:latin typeface="Calibri" pitchFamily="34" charset="0"/>
                <a:ea typeface="Calibri" pitchFamily="34" charset="-122"/>
                <a:cs typeface="Calibri" pitchFamily="34" charset="-120"/>
              </a:rPr>
              <a:t>→</a:t>
            </a:r>
            <a:endParaRPr lang="en-US" sz="1600" dirty="0"/>
          </a:p>
        </p:txBody>
      </p:sp>
      <p:sp>
        <p:nvSpPr>
          <p:cNvPr id="50" name="Text 48"/>
          <p:cNvSpPr txBox="1"/>
          <p:nvPr/>
        </p:nvSpPr>
        <p:spPr>
          <a:xfrm>
            <a:off x="2880360" y="4407408"/>
            <a:ext cx="1828800" cy="475488"/>
          </a:xfrm>
          <a:prstGeom prst="rect">
            <a:avLst/>
          </a:prstGeom>
          <a:noFill/>
          <a:ln/>
        </p:spPr>
        <p:txBody>
          <a:bodyPr wrap="square" lIns="0" tIns="0" rIns="0" bIns="0" rtlCol="0" anchor="ctr"/>
          <a:lstStyle/>
          <a:p>
            <a:pPr algn="l" indent="0" marL="0">
              <a:buNone/>
            </a:pPr>
            <a:r>
              <a:rPr lang="en-US" sz="2200" b="1" dirty="0">
                <a:solidFill>
                  <a:srgbClr val="6B58CC"/>
                </a:solidFill>
                <a:latin typeface="Courier New" pitchFamily="34" charset="0"/>
                <a:ea typeface="Courier New" pitchFamily="34" charset="-122"/>
                <a:cs typeface="Courier New" pitchFamily="34" charset="-120"/>
              </a:rPr>
              <a:t>97 to 122</a:t>
            </a:r>
            <a:endParaRPr lang="en-US" sz="2200" dirty="0"/>
          </a:p>
        </p:txBody>
      </p:sp>
      <p:sp>
        <p:nvSpPr>
          <p:cNvPr id="51" name="Shape 49"/>
          <p:cNvSpPr/>
          <p:nvPr/>
        </p:nvSpPr>
        <p:spPr>
          <a:xfrm>
            <a:off x="5084064" y="4169664"/>
            <a:ext cx="566928" cy="704088"/>
          </a:xfrm>
          <a:prstGeom prst="roundRect">
            <a:avLst>
              <a:gd name="adj" fmla="val 6670"/>
            </a:avLst>
          </a:prstGeom>
          <a:solidFill>
            <a:srgbClr val="FFFFFF"/>
          </a:solidFill>
          <a:ln w="12700">
            <a:solidFill>
              <a:srgbClr val="E2E7EF"/>
            </a:solidFill>
            <a:prstDash val="solid"/>
          </a:ln>
        </p:spPr>
      </p:sp>
      <p:sp>
        <p:nvSpPr>
          <p:cNvPr id="52" name="Text 50"/>
          <p:cNvSpPr txBox="1"/>
          <p:nvPr/>
        </p:nvSpPr>
        <p:spPr>
          <a:xfrm>
            <a:off x="5084064" y="4197096"/>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a</a:t>
            </a:r>
            <a:endParaRPr lang="en-US" sz="1700" dirty="0"/>
          </a:p>
        </p:txBody>
      </p:sp>
      <p:sp>
        <p:nvSpPr>
          <p:cNvPr id="53" name="Text 51"/>
          <p:cNvSpPr txBox="1"/>
          <p:nvPr/>
        </p:nvSpPr>
        <p:spPr>
          <a:xfrm>
            <a:off x="5084064" y="4544568"/>
            <a:ext cx="566928" cy="274320"/>
          </a:xfrm>
          <a:prstGeom prst="rect">
            <a:avLst/>
          </a:prstGeom>
          <a:noFill/>
          <a:ln/>
        </p:spPr>
        <p:txBody>
          <a:bodyPr wrap="square" lIns="0" tIns="0" rIns="0" bIns="0" rtlCol="0" anchor="ctr"/>
          <a:lstStyle/>
          <a:p>
            <a:pPr algn="ctr" indent="0" marL="0">
              <a:buNone/>
            </a:pPr>
            <a:r>
              <a:rPr lang="en-US" sz="1100" b="1" dirty="0">
                <a:solidFill>
                  <a:srgbClr val="6B58CC"/>
                </a:solidFill>
                <a:latin typeface="Courier New" pitchFamily="34" charset="0"/>
                <a:ea typeface="Courier New" pitchFamily="34" charset="-122"/>
                <a:cs typeface="Courier New" pitchFamily="34" charset="-120"/>
              </a:rPr>
              <a:t>97</a:t>
            </a:r>
            <a:endParaRPr lang="en-US" sz="1100" dirty="0"/>
          </a:p>
        </p:txBody>
      </p:sp>
      <p:sp>
        <p:nvSpPr>
          <p:cNvPr id="54" name="Shape 52"/>
          <p:cNvSpPr/>
          <p:nvPr/>
        </p:nvSpPr>
        <p:spPr>
          <a:xfrm>
            <a:off x="5760720" y="4169664"/>
            <a:ext cx="566928" cy="704088"/>
          </a:xfrm>
          <a:prstGeom prst="roundRect">
            <a:avLst>
              <a:gd name="adj" fmla="val 6670"/>
            </a:avLst>
          </a:prstGeom>
          <a:solidFill>
            <a:srgbClr val="FFFFFF"/>
          </a:solidFill>
          <a:ln w="12700">
            <a:solidFill>
              <a:srgbClr val="E2E7EF"/>
            </a:solidFill>
            <a:prstDash val="solid"/>
          </a:ln>
        </p:spPr>
      </p:sp>
      <p:sp>
        <p:nvSpPr>
          <p:cNvPr id="55" name="Text 53"/>
          <p:cNvSpPr txBox="1"/>
          <p:nvPr/>
        </p:nvSpPr>
        <p:spPr>
          <a:xfrm>
            <a:off x="5760720" y="4197096"/>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b</a:t>
            </a:r>
            <a:endParaRPr lang="en-US" sz="1700" dirty="0"/>
          </a:p>
        </p:txBody>
      </p:sp>
      <p:sp>
        <p:nvSpPr>
          <p:cNvPr id="56" name="Text 54"/>
          <p:cNvSpPr txBox="1"/>
          <p:nvPr/>
        </p:nvSpPr>
        <p:spPr>
          <a:xfrm>
            <a:off x="5760720" y="4544568"/>
            <a:ext cx="566928" cy="274320"/>
          </a:xfrm>
          <a:prstGeom prst="rect">
            <a:avLst/>
          </a:prstGeom>
          <a:noFill/>
          <a:ln/>
        </p:spPr>
        <p:txBody>
          <a:bodyPr wrap="square" lIns="0" tIns="0" rIns="0" bIns="0" rtlCol="0" anchor="ctr"/>
          <a:lstStyle/>
          <a:p>
            <a:pPr algn="ctr" indent="0" marL="0">
              <a:buNone/>
            </a:pPr>
            <a:r>
              <a:rPr lang="en-US" sz="1100" b="1" dirty="0">
                <a:solidFill>
                  <a:srgbClr val="6B58CC"/>
                </a:solidFill>
                <a:latin typeface="Courier New" pitchFamily="34" charset="0"/>
                <a:ea typeface="Courier New" pitchFamily="34" charset="-122"/>
                <a:cs typeface="Courier New" pitchFamily="34" charset="-120"/>
              </a:rPr>
              <a:t>98</a:t>
            </a:r>
            <a:endParaRPr lang="en-US" sz="1100" dirty="0"/>
          </a:p>
        </p:txBody>
      </p:sp>
      <p:sp>
        <p:nvSpPr>
          <p:cNvPr id="57" name="Shape 55"/>
          <p:cNvSpPr/>
          <p:nvPr/>
        </p:nvSpPr>
        <p:spPr>
          <a:xfrm>
            <a:off x="6437376" y="4169664"/>
            <a:ext cx="566928" cy="704088"/>
          </a:xfrm>
          <a:prstGeom prst="roundRect">
            <a:avLst>
              <a:gd name="adj" fmla="val 6670"/>
            </a:avLst>
          </a:prstGeom>
          <a:solidFill>
            <a:srgbClr val="FFFFFF"/>
          </a:solidFill>
          <a:ln w="12700">
            <a:solidFill>
              <a:srgbClr val="E2E7EF"/>
            </a:solidFill>
            <a:prstDash val="solid"/>
          </a:ln>
        </p:spPr>
      </p:sp>
      <p:sp>
        <p:nvSpPr>
          <p:cNvPr id="58" name="Text 56"/>
          <p:cNvSpPr txBox="1"/>
          <p:nvPr/>
        </p:nvSpPr>
        <p:spPr>
          <a:xfrm>
            <a:off x="6437376" y="4197096"/>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c</a:t>
            </a:r>
            <a:endParaRPr lang="en-US" sz="1700" dirty="0"/>
          </a:p>
        </p:txBody>
      </p:sp>
      <p:sp>
        <p:nvSpPr>
          <p:cNvPr id="59" name="Text 57"/>
          <p:cNvSpPr txBox="1"/>
          <p:nvPr/>
        </p:nvSpPr>
        <p:spPr>
          <a:xfrm>
            <a:off x="6437376" y="4544568"/>
            <a:ext cx="566928" cy="274320"/>
          </a:xfrm>
          <a:prstGeom prst="rect">
            <a:avLst/>
          </a:prstGeom>
          <a:noFill/>
          <a:ln/>
        </p:spPr>
        <p:txBody>
          <a:bodyPr wrap="square" lIns="0" tIns="0" rIns="0" bIns="0" rtlCol="0" anchor="ctr"/>
          <a:lstStyle/>
          <a:p>
            <a:pPr algn="ctr" indent="0" marL="0">
              <a:buNone/>
            </a:pPr>
            <a:r>
              <a:rPr lang="en-US" sz="1100" b="1" dirty="0">
                <a:solidFill>
                  <a:srgbClr val="6B58CC"/>
                </a:solidFill>
                <a:latin typeface="Courier New" pitchFamily="34" charset="0"/>
                <a:ea typeface="Courier New" pitchFamily="34" charset="-122"/>
                <a:cs typeface="Courier New" pitchFamily="34" charset="-120"/>
              </a:rPr>
              <a:t>99</a:t>
            </a:r>
            <a:endParaRPr lang="en-US" sz="1100" dirty="0"/>
          </a:p>
        </p:txBody>
      </p:sp>
      <p:sp>
        <p:nvSpPr>
          <p:cNvPr id="60" name="Shape 58"/>
          <p:cNvSpPr/>
          <p:nvPr/>
        </p:nvSpPr>
        <p:spPr>
          <a:xfrm>
            <a:off x="7616952" y="4169664"/>
            <a:ext cx="566928" cy="704088"/>
          </a:xfrm>
          <a:prstGeom prst="roundRect">
            <a:avLst>
              <a:gd name="adj" fmla="val 6670"/>
            </a:avLst>
          </a:prstGeom>
          <a:solidFill>
            <a:srgbClr val="FFFFFF"/>
          </a:solidFill>
          <a:ln w="12700">
            <a:solidFill>
              <a:srgbClr val="E2E7EF"/>
            </a:solidFill>
            <a:prstDash val="solid"/>
          </a:ln>
        </p:spPr>
      </p:sp>
      <p:sp>
        <p:nvSpPr>
          <p:cNvPr id="61" name="Text 59"/>
          <p:cNvSpPr txBox="1"/>
          <p:nvPr/>
        </p:nvSpPr>
        <p:spPr>
          <a:xfrm>
            <a:off x="7616952" y="4197096"/>
            <a:ext cx="566928" cy="384048"/>
          </a:xfrm>
          <a:prstGeom prst="rect">
            <a:avLst/>
          </a:prstGeom>
          <a:noFill/>
          <a:ln/>
        </p:spPr>
        <p:txBody>
          <a:bodyPr wrap="square" lIns="0" tIns="0" rIns="0" bIns="0" rtlCol="0" anchor="ctr"/>
          <a:lstStyle/>
          <a:p>
            <a:pPr algn="ctr" indent="0" marL="0">
              <a:buNone/>
            </a:pPr>
            <a:r>
              <a:rPr lang="en-US" sz="1700" b="1" dirty="0">
                <a:solidFill>
                  <a:srgbClr val="0F1622"/>
                </a:solidFill>
                <a:latin typeface="Courier New" pitchFamily="34" charset="0"/>
                <a:ea typeface="Courier New" pitchFamily="34" charset="-122"/>
                <a:cs typeface="Courier New" pitchFamily="34" charset="-120"/>
              </a:rPr>
              <a:t>z</a:t>
            </a:r>
            <a:endParaRPr lang="en-US" sz="1700" dirty="0"/>
          </a:p>
        </p:txBody>
      </p:sp>
      <p:sp>
        <p:nvSpPr>
          <p:cNvPr id="62" name="Text 60"/>
          <p:cNvSpPr txBox="1"/>
          <p:nvPr/>
        </p:nvSpPr>
        <p:spPr>
          <a:xfrm>
            <a:off x="7616952" y="4544568"/>
            <a:ext cx="566928" cy="274320"/>
          </a:xfrm>
          <a:prstGeom prst="rect">
            <a:avLst/>
          </a:prstGeom>
          <a:noFill/>
          <a:ln/>
        </p:spPr>
        <p:txBody>
          <a:bodyPr wrap="square" lIns="0" tIns="0" rIns="0" bIns="0" rtlCol="0" anchor="ctr"/>
          <a:lstStyle/>
          <a:p>
            <a:pPr algn="ctr" indent="0" marL="0">
              <a:buNone/>
            </a:pPr>
            <a:r>
              <a:rPr lang="en-US" sz="1100" b="1" dirty="0">
                <a:solidFill>
                  <a:srgbClr val="6B58CC"/>
                </a:solidFill>
                <a:latin typeface="Courier New" pitchFamily="34" charset="0"/>
                <a:ea typeface="Courier New" pitchFamily="34" charset="-122"/>
                <a:cs typeface="Courier New" pitchFamily="34" charset="-120"/>
              </a:rPr>
              <a:t>122</a:t>
            </a:r>
            <a:endParaRPr lang="en-US" sz="1100" dirty="0"/>
          </a:p>
        </p:txBody>
      </p:sp>
      <p:sp>
        <p:nvSpPr>
          <p:cNvPr id="63" name="Text 61"/>
          <p:cNvSpPr txBox="1"/>
          <p:nvPr/>
        </p:nvSpPr>
        <p:spPr>
          <a:xfrm>
            <a:off x="7095744" y="4315968"/>
            <a:ext cx="502920" cy="411480"/>
          </a:xfrm>
          <a:prstGeom prst="rect">
            <a:avLst/>
          </a:prstGeom>
          <a:noFill/>
          <a:ln/>
        </p:spPr>
        <p:txBody>
          <a:bodyPr wrap="square" lIns="0" tIns="0" rIns="0" bIns="0" rtlCol="0" anchor="ctr"/>
          <a:lstStyle/>
          <a:p>
            <a:pPr algn="ctr" indent="0" marL="0">
              <a:buNone/>
            </a:pPr>
            <a:r>
              <a:rPr lang="en-US" sz="1800" dirty="0">
                <a:solidFill>
                  <a:srgbClr val="93A0B2"/>
                </a:solidFill>
                <a:latin typeface="Calibri" pitchFamily="34" charset="0"/>
                <a:ea typeface="Calibri" pitchFamily="34" charset="-122"/>
                <a:cs typeface="Calibri" pitchFamily="34" charset="-120"/>
              </a:rPr>
              <a:t>…</a:t>
            </a:r>
            <a:endParaRPr lang="en-US" sz="1800" dirty="0"/>
          </a:p>
        </p:txBody>
      </p:sp>
      <p:sp>
        <p:nvSpPr>
          <p:cNvPr id="64" name="Shape 62"/>
          <p:cNvSpPr/>
          <p:nvPr/>
        </p:nvSpPr>
        <p:spPr>
          <a:xfrm>
            <a:off x="8732520" y="1810512"/>
            <a:ext cx="2816352" cy="3191256"/>
          </a:xfrm>
          <a:prstGeom prst="roundRect">
            <a:avLst>
              <a:gd name="adj" fmla="val 6670"/>
            </a:avLst>
          </a:prstGeom>
          <a:solidFill>
            <a:srgbClr val="121A29"/>
          </a:solidFill>
          <a:ln w="12700">
            <a:solidFill>
              <a:srgbClr val="2B3850"/>
            </a:solidFill>
            <a:prstDash val="solid"/>
          </a:ln>
        </p:spPr>
      </p:sp>
      <p:sp>
        <p:nvSpPr>
          <p:cNvPr id="65" name="Text 63"/>
          <p:cNvSpPr txBox="1"/>
          <p:nvPr/>
        </p:nvSpPr>
        <p:spPr>
          <a:xfrm>
            <a:off x="9006840" y="2011680"/>
            <a:ext cx="2359152" cy="219456"/>
          </a:xfrm>
          <a:prstGeom prst="rect">
            <a:avLst/>
          </a:prstGeom>
          <a:noFill/>
          <a:ln/>
        </p:spPr>
        <p:txBody>
          <a:bodyPr wrap="square" lIns="0" tIns="0" rIns="0" bIns="0" rtlCol="0" anchor="t"/>
          <a:lstStyle/>
          <a:p>
            <a:pPr algn="l" indent="0" marL="0">
              <a:buNone/>
            </a:pPr>
            <a:r>
              <a:rPr lang="en-US" sz="950" b="1" spc="130" kern="0" dirty="0">
                <a:solidFill>
                  <a:srgbClr val="5C6B83"/>
                </a:solidFill>
                <a:latin typeface="Courier New" pitchFamily="34" charset="0"/>
                <a:ea typeface="Courier New" pitchFamily="34" charset="-122"/>
                <a:cs typeface="Courier New" pitchFamily="34" charset="-120"/>
              </a:rPr>
              <a:t>ALSO USEFUL</a:t>
            </a:r>
            <a:endParaRPr lang="en-US" sz="950" dirty="0"/>
          </a:p>
        </p:txBody>
      </p:sp>
      <p:sp>
        <p:nvSpPr>
          <p:cNvPr id="66" name="Text 64"/>
          <p:cNvSpPr txBox="1"/>
          <p:nvPr/>
        </p:nvSpPr>
        <p:spPr>
          <a:xfrm>
            <a:off x="9006840" y="2423160"/>
            <a:ext cx="731520" cy="457200"/>
          </a:xfrm>
          <a:prstGeom prst="rect">
            <a:avLst/>
          </a:prstGeom>
          <a:noFill/>
          <a:ln/>
        </p:spPr>
        <p:txBody>
          <a:bodyPr wrap="square" lIns="0" tIns="0" rIns="0" bIns="0" rtlCol="0" anchor="ctr"/>
          <a:lstStyle/>
          <a:p>
            <a:pPr algn="l" indent="0" marL="0">
              <a:buNone/>
            </a:pPr>
            <a:r>
              <a:rPr lang="en-US" sz="2200" b="1" dirty="0">
                <a:solidFill>
                  <a:srgbClr val="9584E8"/>
                </a:solidFill>
                <a:latin typeface="Courier New" pitchFamily="34" charset="0"/>
                <a:ea typeface="Courier New" pitchFamily="34" charset="-122"/>
                <a:cs typeface="Courier New" pitchFamily="34" charset="-120"/>
              </a:rPr>
              <a:t>32</a:t>
            </a:r>
            <a:endParaRPr lang="en-US" sz="2200" dirty="0"/>
          </a:p>
        </p:txBody>
      </p:sp>
      <p:sp>
        <p:nvSpPr>
          <p:cNvPr id="67" name="Text 65"/>
          <p:cNvSpPr txBox="1"/>
          <p:nvPr/>
        </p:nvSpPr>
        <p:spPr>
          <a:xfrm>
            <a:off x="9784080" y="2423160"/>
            <a:ext cx="1581912" cy="457200"/>
          </a:xfrm>
          <a:prstGeom prst="rect">
            <a:avLst/>
          </a:prstGeom>
          <a:noFill/>
          <a:ln/>
        </p:spPr>
        <p:txBody>
          <a:bodyPr wrap="square" lIns="0" tIns="0" rIns="0" bIns="0" rtlCol="0" anchor="ctr"/>
          <a:lstStyle/>
          <a:p>
            <a:pPr algn="l" indent="0" marL="0">
              <a:buNone/>
            </a:pPr>
            <a:r>
              <a:rPr lang="en-US" sz="1400" dirty="0">
                <a:solidFill>
                  <a:srgbClr val="F0F3F8"/>
                </a:solidFill>
                <a:latin typeface="Calibri" pitchFamily="34" charset="0"/>
                <a:ea typeface="Calibri" pitchFamily="34" charset="-122"/>
                <a:cs typeface="Calibri" pitchFamily="34" charset="-120"/>
              </a:rPr>
              <a:t>space</a:t>
            </a:r>
            <a:endParaRPr lang="en-US" sz="1400" dirty="0"/>
          </a:p>
        </p:txBody>
      </p:sp>
      <p:sp>
        <p:nvSpPr>
          <p:cNvPr id="68" name="Text 66"/>
          <p:cNvSpPr txBox="1"/>
          <p:nvPr/>
        </p:nvSpPr>
        <p:spPr>
          <a:xfrm>
            <a:off x="9006840" y="3200400"/>
            <a:ext cx="731520" cy="457200"/>
          </a:xfrm>
          <a:prstGeom prst="rect">
            <a:avLst/>
          </a:prstGeom>
          <a:noFill/>
          <a:ln/>
        </p:spPr>
        <p:txBody>
          <a:bodyPr wrap="square" lIns="0" tIns="0" rIns="0" bIns="0" rtlCol="0" anchor="ctr"/>
          <a:lstStyle/>
          <a:p>
            <a:pPr algn="l" indent="0" marL="0">
              <a:buNone/>
            </a:pPr>
            <a:r>
              <a:rPr lang="en-US" sz="2200" b="1" dirty="0">
                <a:solidFill>
                  <a:srgbClr val="9584E8"/>
                </a:solidFill>
                <a:latin typeface="Courier New" pitchFamily="34" charset="0"/>
                <a:ea typeface="Courier New" pitchFamily="34" charset="-122"/>
                <a:cs typeface="Courier New" pitchFamily="34" charset="-120"/>
              </a:rPr>
              <a:t>13</a:t>
            </a:r>
            <a:endParaRPr lang="en-US" sz="2200" dirty="0"/>
          </a:p>
        </p:txBody>
      </p:sp>
      <p:sp>
        <p:nvSpPr>
          <p:cNvPr id="69" name="Text 67"/>
          <p:cNvSpPr txBox="1"/>
          <p:nvPr/>
        </p:nvSpPr>
        <p:spPr>
          <a:xfrm>
            <a:off x="9784080" y="3200400"/>
            <a:ext cx="1581912" cy="457200"/>
          </a:xfrm>
          <a:prstGeom prst="rect">
            <a:avLst/>
          </a:prstGeom>
          <a:noFill/>
          <a:ln/>
        </p:spPr>
        <p:txBody>
          <a:bodyPr wrap="square" lIns="0" tIns="0" rIns="0" bIns="0" rtlCol="0" anchor="ctr"/>
          <a:lstStyle/>
          <a:p>
            <a:pPr algn="l" indent="0" marL="0">
              <a:buNone/>
            </a:pPr>
            <a:r>
              <a:rPr lang="en-US" sz="1400" dirty="0">
                <a:solidFill>
                  <a:srgbClr val="F0F3F8"/>
                </a:solidFill>
                <a:latin typeface="Calibri" pitchFamily="34" charset="0"/>
                <a:ea typeface="Calibri" pitchFamily="34" charset="-122"/>
                <a:cs typeface="Calibri" pitchFamily="34" charset="-120"/>
              </a:rPr>
              <a:t>carriage return</a:t>
            </a:r>
            <a:endParaRPr lang="en-US" sz="1400" dirty="0"/>
          </a:p>
        </p:txBody>
      </p:sp>
      <p:sp>
        <p:nvSpPr>
          <p:cNvPr id="70" name="Text 68"/>
          <p:cNvSpPr txBox="1"/>
          <p:nvPr/>
        </p:nvSpPr>
        <p:spPr>
          <a:xfrm>
            <a:off x="9006840" y="3977640"/>
            <a:ext cx="731520" cy="457200"/>
          </a:xfrm>
          <a:prstGeom prst="rect">
            <a:avLst/>
          </a:prstGeom>
          <a:noFill/>
          <a:ln/>
        </p:spPr>
        <p:txBody>
          <a:bodyPr wrap="square" lIns="0" tIns="0" rIns="0" bIns="0" rtlCol="0" anchor="ctr"/>
          <a:lstStyle/>
          <a:p>
            <a:pPr algn="l" indent="0" marL="0">
              <a:buNone/>
            </a:pPr>
            <a:r>
              <a:rPr lang="en-US" sz="2200" b="1" dirty="0">
                <a:solidFill>
                  <a:srgbClr val="9584E8"/>
                </a:solidFill>
                <a:latin typeface="Courier New" pitchFamily="34" charset="0"/>
                <a:ea typeface="Courier New" pitchFamily="34" charset="-122"/>
                <a:cs typeface="Courier New" pitchFamily="34" charset="-120"/>
              </a:rPr>
              <a:t>10</a:t>
            </a:r>
            <a:endParaRPr lang="en-US" sz="2200" dirty="0"/>
          </a:p>
        </p:txBody>
      </p:sp>
      <p:sp>
        <p:nvSpPr>
          <p:cNvPr id="71" name="Text 69"/>
          <p:cNvSpPr txBox="1"/>
          <p:nvPr/>
        </p:nvSpPr>
        <p:spPr>
          <a:xfrm>
            <a:off x="9784080" y="3977640"/>
            <a:ext cx="1581912" cy="457200"/>
          </a:xfrm>
          <a:prstGeom prst="rect">
            <a:avLst/>
          </a:prstGeom>
          <a:noFill/>
          <a:ln/>
        </p:spPr>
        <p:txBody>
          <a:bodyPr wrap="square" lIns="0" tIns="0" rIns="0" bIns="0" rtlCol="0" anchor="ctr"/>
          <a:lstStyle/>
          <a:p>
            <a:pPr algn="l" indent="0" marL="0">
              <a:buNone/>
            </a:pPr>
            <a:r>
              <a:rPr lang="en-US" sz="1400" dirty="0">
                <a:solidFill>
                  <a:srgbClr val="F0F3F8"/>
                </a:solidFill>
                <a:latin typeface="Calibri" pitchFamily="34" charset="0"/>
                <a:ea typeface="Calibri" pitchFamily="34" charset="-122"/>
                <a:cs typeface="Calibri" pitchFamily="34" charset="-120"/>
              </a:rPr>
              <a:t>line feed</a:t>
            </a:r>
            <a:endParaRPr lang="en-US" sz="1400" dirty="0"/>
          </a:p>
        </p:txBody>
      </p:sp>
      <p:sp>
        <p:nvSpPr>
          <p:cNvPr id="72" name="Shape 70"/>
          <p:cNvSpPr/>
          <p:nvPr/>
        </p:nvSpPr>
        <p:spPr>
          <a:xfrm>
            <a:off x="640080" y="5257800"/>
            <a:ext cx="10908792" cy="566928"/>
          </a:xfrm>
          <a:prstGeom prst="roundRect">
            <a:avLst>
              <a:gd name="adj" fmla="val 6670"/>
            </a:avLst>
          </a:prstGeom>
          <a:solidFill>
            <a:srgbClr val="0F1622"/>
          </a:solidFill>
          <a:ln/>
        </p:spPr>
      </p:sp>
      <p:sp>
        <p:nvSpPr>
          <p:cNvPr id="73" name="Text 71"/>
          <p:cNvSpPr txBox="1"/>
          <p:nvPr/>
        </p:nvSpPr>
        <p:spPr>
          <a:xfrm>
            <a:off x="640080" y="5257800"/>
            <a:ext cx="10908792" cy="566928"/>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Each range is in order: </a:t>
            </a:r>
            <a:pPr algn="ctr" indent="0" marL="0">
              <a:buNone/>
            </a:pPr>
            <a:r>
              <a:rPr lang="en-US" sz="1500" b="1" dirty="0">
                <a:solidFill>
                  <a:srgbClr val="EDA63F"/>
                </a:solidFill>
                <a:latin typeface="Courier New" pitchFamily="34" charset="0"/>
                <a:ea typeface="Courier New" pitchFamily="34" charset="-122"/>
                <a:cs typeface="Courier New" pitchFamily="34" charset="-120"/>
              </a:rPr>
              <a:t>'B'</a:t>
            </a:r>
            <a:pPr algn="ctr" indent="0" marL="0">
              <a:buNone/>
            </a:pPr>
            <a:r>
              <a:rPr lang="en-US" sz="1500" dirty="0">
                <a:solidFill>
                  <a:srgbClr val="FFFFFF"/>
                </a:solidFill>
                <a:latin typeface="Calibri" pitchFamily="34" charset="0"/>
                <a:ea typeface="Calibri" pitchFamily="34" charset="-122"/>
                <a:cs typeface="Calibri" pitchFamily="34" charset="-120"/>
              </a:rPr>
              <a:t> is one more than </a:t>
            </a:r>
            <a:pPr algn="ctr" indent="0" marL="0">
              <a:buNone/>
            </a:pPr>
            <a:r>
              <a:rPr lang="en-US" sz="1500" b="1" dirty="0">
                <a:solidFill>
                  <a:srgbClr val="EDA63F"/>
                </a:solidFill>
                <a:latin typeface="Courier New" pitchFamily="34" charset="0"/>
                <a:ea typeface="Courier New" pitchFamily="34" charset="-122"/>
                <a:cs typeface="Courier New" pitchFamily="34" charset="-120"/>
              </a:rPr>
              <a:t>'A'</a:t>
            </a:r>
            <a:pPr algn="ctr" indent="0" marL="0">
              <a:buNone/>
            </a:pPr>
            <a:r>
              <a:rPr lang="en-US" sz="1500" dirty="0">
                <a:solidFill>
                  <a:srgbClr val="FFFFFF"/>
                </a:solidFill>
                <a:latin typeface="Calibri" pitchFamily="34" charset="0"/>
                <a:ea typeface="Calibri" pitchFamily="34" charset="-122"/>
                <a:cs typeface="Calibri" pitchFamily="34" charset="-120"/>
              </a:rPr>
              <a:t>. Remember this for ADD.</a:t>
            </a:r>
            <a:endParaRPr lang="en-US" sz="1500" dirty="0"/>
          </a:p>
        </p:txBody>
      </p:sp>
      <p:sp>
        <p:nvSpPr>
          <p:cNvPr id="74" name="Text 72"/>
          <p:cNvSpPr txBox="1"/>
          <p:nvPr/>
        </p:nvSpPr>
        <p:spPr>
          <a:xfrm>
            <a:off x="640080" y="5961888"/>
            <a:ext cx="10908792" cy="256032"/>
          </a:xfrm>
          <a:prstGeom prst="rect">
            <a:avLst/>
          </a:prstGeom>
          <a:noFill/>
          <a:ln/>
        </p:spPr>
        <p:txBody>
          <a:bodyPr wrap="square" lIns="0" tIns="0" rIns="0" bIns="0" rtlCol="0" anchor="t"/>
          <a:lstStyle/>
          <a:p>
            <a:pPr algn="ctr" indent="0" marL="0">
              <a:buNone/>
            </a:pPr>
            <a:r>
              <a:rPr lang="en-US" sz="1150" i="1" dirty="0">
                <a:solidFill>
                  <a:srgbClr val="5B6779"/>
                </a:solidFill>
                <a:latin typeface="Calibri" pitchFamily="34" charset="0"/>
                <a:ea typeface="Calibri" pitchFamily="34" charset="-122"/>
                <a:cs typeface="Calibri" pitchFamily="34" charset="-120"/>
              </a:rPr>
              <a:t>EMU8086's registers panel shows these codes in hex, so 'A' shows there as 41. Today we stay in decimal.</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4 · ADD</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ADD: add a number to a register</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Put a number in AL, then add to it. The answer stays in AL.</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06</a:t>
            </a:r>
            <a:endParaRPr lang="en-US" sz="900" dirty="0"/>
          </a:p>
        </p:txBody>
      </p:sp>
      <p:sp>
        <p:nvSpPr>
          <p:cNvPr id="7" name="Shape 5"/>
          <p:cNvSpPr/>
          <p:nvPr/>
        </p:nvSpPr>
        <p:spPr>
          <a:xfrm>
            <a:off x="640080" y="1810512"/>
            <a:ext cx="5120640" cy="1828800"/>
          </a:xfrm>
          <a:prstGeom prst="roundRect">
            <a:avLst>
              <a:gd name="adj" fmla="val 6670"/>
            </a:avLst>
          </a:prstGeom>
          <a:solidFill>
            <a:srgbClr val="121A29"/>
          </a:solidFill>
          <a:ln w="12700">
            <a:solidFill>
              <a:srgbClr val="2B3850"/>
            </a:solidFill>
            <a:prstDash val="solid"/>
          </a:ln>
        </p:spPr>
      </p:sp>
      <p:sp>
        <p:nvSpPr>
          <p:cNvPr id="8" name="Text 6"/>
          <p:cNvSpPr txBox="1"/>
          <p:nvPr/>
        </p:nvSpPr>
        <p:spPr>
          <a:xfrm>
            <a:off x="1005840" y="1993392"/>
            <a:ext cx="4480560" cy="640080"/>
          </a:xfrm>
          <a:prstGeom prst="rect">
            <a:avLst/>
          </a:prstGeom>
          <a:noFill/>
          <a:ln/>
        </p:spPr>
        <p:txBody>
          <a:bodyPr wrap="square" lIns="0" tIns="0" rIns="0" bIns="0" rtlCol="0" anchor="ctr"/>
          <a:lstStyle/>
          <a:p>
            <a:pPr algn="l" indent="0" marL="0">
              <a:buNone/>
            </a:pPr>
            <a:r>
              <a:rPr lang="en-US" sz="3000" b="1" dirty="0">
                <a:solidFill>
                  <a:srgbClr val="EDA63F"/>
                </a:solidFill>
                <a:latin typeface="Courier New" pitchFamily="34" charset="0"/>
                <a:ea typeface="Courier New" pitchFamily="34" charset="-122"/>
                <a:cs typeface="Courier New" pitchFamily="34" charset="-120"/>
              </a:rPr>
              <a:t>mov</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3EB9CE"/>
                </a:solidFill>
                <a:latin typeface="Courier New" pitchFamily="34" charset="0"/>
                <a:ea typeface="Courier New" pitchFamily="34" charset="-122"/>
                <a:cs typeface="Courier New" pitchFamily="34" charset="-120"/>
              </a:rPr>
              <a:t>al</a:t>
            </a:r>
            <a:pPr algn="l" indent="0" marL="0">
              <a:buNone/>
            </a:pPr>
            <a:r>
              <a:rPr lang="en-US" sz="3000" dirty="0">
                <a:solidFill>
                  <a:srgbClr val="F0F3F8"/>
                </a:solidFill>
                <a:latin typeface="Courier New" pitchFamily="34" charset="0"/>
                <a:ea typeface="Courier New" pitchFamily="34" charset="-122"/>
                <a:cs typeface="Courier New" pitchFamily="34" charset="-120"/>
              </a:rPr>
              <a:t>,</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9584E8"/>
                </a:solidFill>
                <a:latin typeface="Courier New" pitchFamily="34" charset="0"/>
                <a:ea typeface="Courier New" pitchFamily="34" charset="-122"/>
                <a:cs typeface="Courier New" pitchFamily="34" charset="-120"/>
              </a:rPr>
              <a:t>5</a:t>
            </a:r>
            <a:endParaRPr lang="en-US" sz="3000" dirty="0"/>
          </a:p>
        </p:txBody>
      </p:sp>
      <p:sp>
        <p:nvSpPr>
          <p:cNvPr id="9" name="Text 7"/>
          <p:cNvSpPr txBox="1"/>
          <p:nvPr/>
        </p:nvSpPr>
        <p:spPr>
          <a:xfrm>
            <a:off x="1005840" y="2724912"/>
            <a:ext cx="4480560" cy="640080"/>
          </a:xfrm>
          <a:prstGeom prst="rect">
            <a:avLst/>
          </a:prstGeom>
          <a:noFill/>
          <a:ln/>
        </p:spPr>
        <p:txBody>
          <a:bodyPr wrap="square" lIns="0" tIns="0" rIns="0" bIns="0" rtlCol="0" anchor="ctr"/>
          <a:lstStyle/>
          <a:p>
            <a:pPr algn="l" indent="0" marL="0">
              <a:buNone/>
            </a:pPr>
            <a:r>
              <a:rPr lang="en-US" sz="3000" b="1" dirty="0">
                <a:solidFill>
                  <a:srgbClr val="EDA63F"/>
                </a:solidFill>
                <a:latin typeface="Courier New" pitchFamily="34" charset="0"/>
                <a:ea typeface="Courier New" pitchFamily="34" charset="-122"/>
                <a:cs typeface="Courier New" pitchFamily="34" charset="-120"/>
              </a:rPr>
              <a:t>add</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3EB9CE"/>
                </a:solidFill>
                <a:latin typeface="Courier New" pitchFamily="34" charset="0"/>
                <a:ea typeface="Courier New" pitchFamily="34" charset="-122"/>
                <a:cs typeface="Courier New" pitchFamily="34" charset="-120"/>
              </a:rPr>
              <a:t>al</a:t>
            </a:r>
            <a:pPr algn="l" indent="0" marL="0">
              <a:buNone/>
            </a:pPr>
            <a:r>
              <a:rPr lang="en-US" sz="3000" dirty="0">
                <a:solidFill>
                  <a:srgbClr val="F0F3F8"/>
                </a:solidFill>
                <a:latin typeface="Courier New" pitchFamily="34" charset="0"/>
                <a:ea typeface="Courier New" pitchFamily="34" charset="-122"/>
                <a:cs typeface="Courier New" pitchFamily="34" charset="-120"/>
              </a:rPr>
              <a:t>,</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9584E8"/>
                </a:solidFill>
                <a:latin typeface="Courier New" pitchFamily="34" charset="0"/>
                <a:ea typeface="Courier New" pitchFamily="34" charset="-122"/>
                <a:cs typeface="Courier New" pitchFamily="34" charset="-120"/>
              </a:rPr>
              <a:t>3</a:t>
            </a:r>
            <a:endParaRPr lang="en-US" sz="3000" dirty="0"/>
          </a:p>
        </p:txBody>
      </p:sp>
      <p:sp>
        <p:nvSpPr>
          <p:cNvPr id="10" name="Shape 8"/>
          <p:cNvSpPr/>
          <p:nvPr/>
        </p:nvSpPr>
        <p:spPr>
          <a:xfrm>
            <a:off x="640080" y="3840480"/>
            <a:ext cx="5120640" cy="960120"/>
          </a:xfrm>
          <a:prstGeom prst="roundRect">
            <a:avLst>
              <a:gd name="adj" fmla="val 6670"/>
            </a:avLst>
          </a:prstGeom>
          <a:solidFill>
            <a:srgbClr val="F3F5F9"/>
          </a:solidFill>
          <a:ln w="12700">
            <a:solidFill>
              <a:srgbClr val="E2E7EF"/>
            </a:solidFill>
            <a:prstDash val="solid"/>
          </a:ln>
        </p:spPr>
      </p:sp>
      <p:sp>
        <p:nvSpPr>
          <p:cNvPr id="11" name="Text 9"/>
          <p:cNvSpPr txBox="1"/>
          <p:nvPr/>
        </p:nvSpPr>
        <p:spPr>
          <a:xfrm>
            <a:off x="914400" y="3986784"/>
            <a:ext cx="3657600" cy="219456"/>
          </a:xfrm>
          <a:prstGeom prst="rect">
            <a:avLst/>
          </a:prstGeom>
          <a:noFill/>
          <a:ln/>
        </p:spPr>
        <p:txBody>
          <a:bodyPr wrap="square" lIns="0" tIns="0" rIns="0" bIns="0" rtlCol="0" anchor="t"/>
          <a:lstStyle/>
          <a:p>
            <a:pPr algn="l" indent="0" marL="0">
              <a:buNone/>
            </a:pPr>
            <a:r>
              <a:rPr lang="en-US" sz="950" b="1" spc="130" kern="0" dirty="0">
                <a:solidFill>
                  <a:srgbClr val="93A0B2"/>
                </a:solidFill>
                <a:latin typeface="Courier New" pitchFamily="34" charset="0"/>
                <a:ea typeface="Courier New" pitchFamily="34" charset="-122"/>
                <a:cs typeface="Courier New" pitchFamily="34" charset="-120"/>
              </a:rPr>
              <a:t>READ THE SECOND LINE AS</a:t>
            </a:r>
            <a:endParaRPr lang="en-US" sz="950" dirty="0"/>
          </a:p>
        </p:txBody>
      </p:sp>
      <p:sp>
        <p:nvSpPr>
          <p:cNvPr id="12" name="Text 10"/>
          <p:cNvSpPr txBox="1"/>
          <p:nvPr/>
        </p:nvSpPr>
        <p:spPr>
          <a:xfrm>
            <a:off x="914400" y="4224528"/>
            <a:ext cx="4572000" cy="457200"/>
          </a:xfrm>
          <a:prstGeom prst="rect">
            <a:avLst/>
          </a:prstGeom>
          <a:noFill/>
          <a:ln/>
        </p:spPr>
        <p:txBody>
          <a:bodyPr wrap="square" lIns="0" tIns="0" rIns="0" bIns="0" rtlCol="0" anchor="ctr"/>
          <a:lstStyle/>
          <a:p>
            <a:pPr algn="l" indent="0" marL="0">
              <a:buNone/>
            </a:pPr>
            <a:r>
              <a:rPr lang="en-US" sz="2200" b="1" dirty="0">
                <a:solidFill>
                  <a:srgbClr val="D98A1F"/>
                </a:solidFill>
                <a:latin typeface="Courier New" pitchFamily="34" charset="0"/>
                <a:ea typeface="Courier New" pitchFamily="34" charset="-122"/>
                <a:cs typeface="Courier New" pitchFamily="34" charset="-120"/>
              </a:rPr>
              <a:t>AL = AL + 3</a:t>
            </a:r>
            <a:endParaRPr lang="en-US" sz="2200" dirty="0"/>
          </a:p>
        </p:txBody>
      </p:sp>
      <p:sp>
        <p:nvSpPr>
          <p:cNvPr id="13" name="Shape 11"/>
          <p:cNvSpPr/>
          <p:nvPr/>
        </p:nvSpPr>
        <p:spPr>
          <a:xfrm>
            <a:off x="6675120" y="1810512"/>
            <a:ext cx="2926080" cy="868680"/>
          </a:xfrm>
          <a:prstGeom prst="roundRect">
            <a:avLst>
              <a:gd name="adj" fmla="val 6670"/>
            </a:avLst>
          </a:prstGeom>
          <a:solidFill>
            <a:srgbClr val="FBEBD2"/>
          </a:solidFill>
          <a:ln w="12700">
            <a:solidFill>
              <a:srgbClr val="D98A1F"/>
            </a:solidFill>
            <a:prstDash val="solid"/>
          </a:ln>
        </p:spPr>
      </p:sp>
      <p:sp>
        <p:nvSpPr>
          <p:cNvPr id="14" name="Text 12"/>
          <p:cNvSpPr txBox="1"/>
          <p:nvPr/>
        </p:nvSpPr>
        <p:spPr>
          <a:xfrm>
            <a:off x="6839712" y="1810512"/>
            <a:ext cx="1170432" cy="868680"/>
          </a:xfrm>
          <a:prstGeom prst="rect">
            <a:avLst/>
          </a:prstGeom>
          <a:noFill/>
          <a:ln/>
        </p:spPr>
        <p:txBody>
          <a:bodyPr wrap="square" lIns="0" tIns="0" rIns="0" bIns="0" rtlCol="0" anchor="ctr"/>
          <a:lstStyle/>
          <a:p>
            <a:pPr algn="l" indent="0" marL="0">
              <a:buNone/>
            </a:pPr>
            <a:r>
              <a:rPr lang="en-US" sz="2600" b="1" dirty="0">
                <a:solidFill>
                  <a:srgbClr val="D98A1F"/>
                </a:solidFill>
                <a:latin typeface="Courier New" pitchFamily="34" charset="0"/>
                <a:ea typeface="Courier New" pitchFamily="34" charset="-122"/>
                <a:cs typeface="Courier New" pitchFamily="34" charset="-120"/>
              </a:rPr>
              <a:t>AL</a:t>
            </a:r>
            <a:endParaRPr lang="en-US" sz="2600" dirty="0"/>
          </a:p>
        </p:txBody>
      </p:sp>
      <p:sp>
        <p:nvSpPr>
          <p:cNvPr id="15" name="Shape 13"/>
          <p:cNvSpPr/>
          <p:nvPr/>
        </p:nvSpPr>
        <p:spPr>
          <a:xfrm>
            <a:off x="8127187" y="1929384"/>
            <a:ext cx="1345997" cy="630936"/>
          </a:xfrm>
          <a:prstGeom prst="roundRect">
            <a:avLst>
              <a:gd name="adj" fmla="val 6670"/>
            </a:avLst>
          </a:prstGeom>
          <a:solidFill>
            <a:srgbClr val="FFFFFF"/>
          </a:solidFill>
          <a:ln w="12700">
            <a:solidFill>
              <a:srgbClr val="D98A1F"/>
            </a:solidFill>
            <a:prstDash val="solid"/>
          </a:ln>
        </p:spPr>
      </p:sp>
      <p:sp>
        <p:nvSpPr>
          <p:cNvPr id="16" name="Text 14"/>
          <p:cNvSpPr txBox="1"/>
          <p:nvPr/>
        </p:nvSpPr>
        <p:spPr>
          <a:xfrm>
            <a:off x="8127187" y="1929384"/>
            <a:ext cx="1345997" cy="630936"/>
          </a:xfrm>
          <a:prstGeom prst="rect">
            <a:avLst/>
          </a:prstGeom>
          <a:noFill/>
          <a:ln/>
        </p:spPr>
        <p:txBody>
          <a:bodyPr wrap="square" lIns="0" tIns="0" rIns="0" bIns="0" rtlCol="0" anchor="ctr"/>
          <a:lstStyle/>
          <a:p>
            <a:pPr algn="ctr" indent="0" marL="0">
              <a:buNone/>
            </a:pPr>
            <a:r>
              <a:rPr lang="en-US" sz="2600" b="1" dirty="0">
                <a:solidFill>
                  <a:srgbClr val="0F1622"/>
                </a:solidFill>
                <a:latin typeface="Courier New" pitchFamily="34" charset="0"/>
                <a:ea typeface="Courier New" pitchFamily="34" charset="-122"/>
                <a:cs typeface="Courier New" pitchFamily="34" charset="-120"/>
              </a:rPr>
              <a:t>5</a:t>
            </a:r>
            <a:endParaRPr lang="en-US" sz="2600" dirty="0"/>
          </a:p>
        </p:txBody>
      </p:sp>
      <p:sp>
        <p:nvSpPr>
          <p:cNvPr id="17" name="Shape 15"/>
          <p:cNvSpPr/>
          <p:nvPr/>
        </p:nvSpPr>
        <p:spPr>
          <a:xfrm>
            <a:off x="8138160" y="2770632"/>
            <a:ext cx="0" cy="822960"/>
          </a:xfrm>
          <a:prstGeom prst="line">
            <a:avLst/>
          </a:prstGeom>
          <a:noFill/>
          <a:ln w="25400">
            <a:solidFill>
              <a:srgbClr val="93A0B2"/>
            </a:solidFill>
            <a:prstDash val="solid"/>
            <a:tailEnd type="triangle"/>
          </a:ln>
        </p:spPr>
      </p:sp>
      <p:sp>
        <p:nvSpPr>
          <p:cNvPr id="18" name="Shape 16"/>
          <p:cNvSpPr/>
          <p:nvPr/>
        </p:nvSpPr>
        <p:spPr>
          <a:xfrm>
            <a:off x="8366760" y="2944368"/>
            <a:ext cx="1371600" cy="457200"/>
          </a:xfrm>
          <a:prstGeom prst="roundRect">
            <a:avLst>
              <a:gd name="adj" fmla="val 50000"/>
            </a:avLst>
          </a:prstGeom>
          <a:solidFill>
            <a:srgbClr val="FBEBD2"/>
          </a:solidFill>
          <a:ln/>
        </p:spPr>
      </p:sp>
      <p:sp>
        <p:nvSpPr>
          <p:cNvPr id="19" name="Text 17"/>
          <p:cNvSpPr txBox="1"/>
          <p:nvPr/>
        </p:nvSpPr>
        <p:spPr>
          <a:xfrm>
            <a:off x="8366760" y="2944368"/>
            <a:ext cx="1371600" cy="457200"/>
          </a:xfrm>
          <a:prstGeom prst="rect">
            <a:avLst/>
          </a:prstGeom>
          <a:noFill/>
          <a:ln/>
        </p:spPr>
        <p:txBody>
          <a:bodyPr wrap="square" lIns="0" tIns="0" rIns="0" bIns="0" rtlCol="0" anchor="ctr"/>
          <a:lstStyle/>
          <a:p>
            <a:pPr algn="ctr" indent="0" marL="0">
              <a:buNone/>
            </a:pPr>
            <a:r>
              <a:rPr lang="en-US" sz="1500" b="1" dirty="0">
                <a:solidFill>
                  <a:srgbClr val="D98A1F"/>
                </a:solidFill>
                <a:latin typeface="Courier New" pitchFamily="34" charset="0"/>
                <a:ea typeface="Courier New" pitchFamily="34" charset="-122"/>
                <a:cs typeface="Courier New" pitchFamily="34" charset="-120"/>
              </a:rPr>
              <a:t>ADD 3</a:t>
            </a:r>
            <a:endParaRPr lang="en-US" sz="1500" dirty="0"/>
          </a:p>
        </p:txBody>
      </p:sp>
      <p:sp>
        <p:nvSpPr>
          <p:cNvPr id="20" name="Shape 18"/>
          <p:cNvSpPr/>
          <p:nvPr/>
        </p:nvSpPr>
        <p:spPr>
          <a:xfrm>
            <a:off x="6675120" y="3675888"/>
            <a:ext cx="2926080" cy="868680"/>
          </a:xfrm>
          <a:prstGeom prst="roundRect">
            <a:avLst>
              <a:gd name="adj" fmla="val 6670"/>
            </a:avLst>
          </a:prstGeom>
          <a:solidFill>
            <a:srgbClr val="FBEBD2"/>
          </a:solidFill>
          <a:ln w="12700">
            <a:solidFill>
              <a:srgbClr val="D98A1F"/>
            </a:solidFill>
            <a:prstDash val="solid"/>
          </a:ln>
        </p:spPr>
      </p:sp>
      <p:sp>
        <p:nvSpPr>
          <p:cNvPr id="21" name="Text 19"/>
          <p:cNvSpPr txBox="1"/>
          <p:nvPr/>
        </p:nvSpPr>
        <p:spPr>
          <a:xfrm>
            <a:off x="6839712" y="3675888"/>
            <a:ext cx="1170432" cy="868680"/>
          </a:xfrm>
          <a:prstGeom prst="rect">
            <a:avLst/>
          </a:prstGeom>
          <a:noFill/>
          <a:ln/>
        </p:spPr>
        <p:txBody>
          <a:bodyPr wrap="square" lIns="0" tIns="0" rIns="0" bIns="0" rtlCol="0" anchor="ctr"/>
          <a:lstStyle/>
          <a:p>
            <a:pPr algn="l" indent="0" marL="0">
              <a:buNone/>
            </a:pPr>
            <a:r>
              <a:rPr lang="en-US" sz="2600" b="1" dirty="0">
                <a:solidFill>
                  <a:srgbClr val="D98A1F"/>
                </a:solidFill>
                <a:latin typeface="Courier New" pitchFamily="34" charset="0"/>
                <a:ea typeface="Courier New" pitchFamily="34" charset="-122"/>
                <a:cs typeface="Courier New" pitchFamily="34" charset="-120"/>
              </a:rPr>
              <a:t>AL</a:t>
            </a:r>
            <a:endParaRPr lang="en-US" sz="2600" dirty="0"/>
          </a:p>
        </p:txBody>
      </p:sp>
      <p:sp>
        <p:nvSpPr>
          <p:cNvPr id="22" name="Shape 20"/>
          <p:cNvSpPr/>
          <p:nvPr/>
        </p:nvSpPr>
        <p:spPr>
          <a:xfrm>
            <a:off x="8127187" y="3794760"/>
            <a:ext cx="1345997" cy="630936"/>
          </a:xfrm>
          <a:prstGeom prst="roundRect">
            <a:avLst>
              <a:gd name="adj" fmla="val 6670"/>
            </a:avLst>
          </a:prstGeom>
          <a:solidFill>
            <a:srgbClr val="FFFFFF"/>
          </a:solidFill>
          <a:ln w="12700">
            <a:solidFill>
              <a:srgbClr val="D98A1F"/>
            </a:solidFill>
            <a:prstDash val="solid"/>
          </a:ln>
        </p:spPr>
      </p:sp>
      <p:sp>
        <p:nvSpPr>
          <p:cNvPr id="23" name="Text 21"/>
          <p:cNvSpPr txBox="1"/>
          <p:nvPr/>
        </p:nvSpPr>
        <p:spPr>
          <a:xfrm>
            <a:off x="8127187" y="3794760"/>
            <a:ext cx="1345997" cy="630936"/>
          </a:xfrm>
          <a:prstGeom prst="rect">
            <a:avLst/>
          </a:prstGeom>
          <a:noFill/>
          <a:ln/>
        </p:spPr>
        <p:txBody>
          <a:bodyPr wrap="square" lIns="0" tIns="0" rIns="0" bIns="0" rtlCol="0" anchor="ctr"/>
          <a:lstStyle/>
          <a:p>
            <a:pPr algn="ctr" indent="0" marL="0">
              <a:buNone/>
            </a:pPr>
            <a:r>
              <a:rPr lang="en-US" sz="2600" b="1" dirty="0">
                <a:solidFill>
                  <a:srgbClr val="0F1622"/>
                </a:solidFill>
                <a:latin typeface="Courier New" pitchFamily="34" charset="0"/>
                <a:ea typeface="Courier New" pitchFamily="34" charset="-122"/>
                <a:cs typeface="Courier New" pitchFamily="34" charset="-120"/>
              </a:rPr>
              <a:t>8</a:t>
            </a:r>
            <a:endParaRPr lang="en-US" sz="2600" dirty="0"/>
          </a:p>
        </p:txBody>
      </p:sp>
      <p:sp>
        <p:nvSpPr>
          <p:cNvPr id="24" name="Text 22"/>
          <p:cNvSpPr txBox="1"/>
          <p:nvPr/>
        </p:nvSpPr>
        <p:spPr>
          <a:xfrm>
            <a:off x="9784080" y="1810512"/>
            <a:ext cx="1371600" cy="868680"/>
          </a:xfrm>
          <a:prstGeom prst="rect">
            <a:avLst/>
          </a:prstGeom>
          <a:noFill/>
          <a:ln/>
        </p:spPr>
        <p:txBody>
          <a:bodyPr wrap="square" lIns="0" tIns="0" rIns="0" bIns="0" rtlCol="0" anchor="ctr"/>
          <a:lstStyle/>
          <a:p>
            <a:pPr algn="l" indent="0" marL="0">
              <a:buNone/>
            </a:pPr>
            <a:r>
              <a:rPr lang="en-US" sz="1300" i="1" dirty="0">
                <a:solidFill>
                  <a:srgbClr val="5B6779"/>
                </a:solidFill>
                <a:latin typeface="Calibri" pitchFamily="34" charset="0"/>
                <a:ea typeface="Calibri" pitchFamily="34" charset="-122"/>
                <a:cs typeface="Calibri" pitchFamily="34" charset="-120"/>
              </a:rPr>
              <a:t>before</a:t>
            </a:r>
            <a:endParaRPr lang="en-US" sz="1300" dirty="0"/>
          </a:p>
        </p:txBody>
      </p:sp>
      <p:sp>
        <p:nvSpPr>
          <p:cNvPr id="25" name="Text 23"/>
          <p:cNvSpPr txBox="1"/>
          <p:nvPr/>
        </p:nvSpPr>
        <p:spPr>
          <a:xfrm>
            <a:off x="9784080" y="3675888"/>
            <a:ext cx="1371600" cy="868680"/>
          </a:xfrm>
          <a:prstGeom prst="rect">
            <a:avLst/>
          </a:prstGeom>
          <a:noFill/>
          <a:ln/>
        </p:spPr>
        <p:txBody>
          <a:bodyPr wrap="square" lIns="0" tIns="0" rIns="0" bIns="0" rtlCol="0" anchor="ctr"/>
          <a:lstStyle/>
          <a:p>
            <a:pPr algn="l" indent="0" marL="0">
              <a:buNone/>
            </a:pPr>
            <a:r>
              <a:rPr lang="en-US" sz="1300" i="1" dirty="0">
                <a:solidFill>
                  <a:srgbClr val="5B6779"/>
                </a:solidFill>
                <a:latin typeface="Calibri" pitchFamily="34" charset="0"/>
                <a:ea typeface="Calibri" pitchFamily="34" charset="-122"/>
                <a:cs typeface="Calibri" pitchFamily="34" charset="-120"/>
              </a:rPr>
              <a:t>after</a:t>
            </a:r>
            <a:endParaRPr lang="en-US" sz="1300" dirty="0"/>
          </a:p>
        </p:txBody>
      </p:sp>
      <p:sp>
        <p:nvSpPr>
          <p:cNvPr id="26" name="Text 24"/>
          <p:cNvSpPr txBox="1"/>
          <p:nvPr/>
        </p:nvSpPr>
        <p:spPr>
          <a:xfrm>
            <a:off x="6400800" y="4617720"/>
            <a:ext cx="3474720"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The answer replaces the old value in AL.</a:t>
            </a:r>
            <a:endParaRPr lang="en-US" sz="1200" dirty="0"/>
          </a:p>
        </p:txBody>
      </p:sp>
      <p:sp>
        <p:nvSpPr>
          <p:cNvPr id="27" name="Shape 25"/>
          <p:cNvSpPr/>
          <p:nvPr/>
        </p:nvSpPr>
        <p:spPr>
          <a:xfrm>
            <a:off x="640080" y="5120640"/>
            <a:ext cx="10908792" cy="566928"/>
          </a:xfrm>
          <a:prstGeom prst="roundRect">
            <a:avLst>
              <a:gd name="adj" fmla="val 6670"/>
            </a:avLst>
          </a:prstGeom>
          <a:solidFill>
            <a:srgbClr val="0F1622"/>
          </a:solidFill>
          <a:ln/>
        </p:spPr>
      </p:sp>
      <p:sp>
        <p:nvSpPr>
          <p:cNvPr id="28" name="Text 26"/>
          <p:cNvSpPr txBox="1"/>
          <p:nvPr/>
        </p:nvSpPr>
        <p:spPr>
          <a:xfrm>
            <a:off x="640080" y="5120640"/>
            <a:ext cx="10908792" cy="566928"/>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Nothing is printed. To see AL: click </a:t>
            </a:r>
            <a:pPr algn="ctr" indent="0" marL="0">
              <a:buNone/>
            </a:pPr>
            <a:r>
              <a:rPr lang="en-US" sz="1500" b="1" dirty="0">
                <a:solidFill>
                  <a:srgbClr val="EDA63F"/>
                </a:solidFill>
                <a:latin typeface="Courier New" pitchFamily="34" charset="0"/>
                <a:ea typeface="Courier New" pitchFamily="34" charset="-122"/>
                <a:cs typeface="Courier New" pitchFamily="34" charset="-120"/>
              </a:rPr>
              <a:t>emulate</a:t>
            </a:r>
            <a:pPr algn="ctr" indent="0" marL="0">
              <a:buNone/>
            </a:pPr>
            <a:r>
              <a:rPr lang="en-US" sz="1500" dirty="0">
                <a:solidFill>
                  <a:srgbClr val="FFFFFF"/>
                </a:solidFill>
                <a:latin typeface="Calibri" pitchFamily="34" charset="0"/>
                <a:ea typeface="Calibri" pitchFamily="34" charset="-122"/>
                <a:cs typeface="Calibri" pitchFamily="34" charset="-120"/>
              </a:rPr>
              <a:t>, then </a:t>
            </a:r>
            <a:pPr algn="ctr" indent="0" marL="0">
              <a:buNone/>
            </a:pPr>
            <a:r>
              <a:rPr lang="en-US" sz="1500" b="1" dirty="0">
                <a:solidFill>
                  <a:srgbClr val="EDA63F"/>
                </a:solidFill>
                <a:latin typeface="Courier New" pitchFamily="34" charset="0"/>
                <a:ea typeface="Courier New" pitchFamily="34" charset="-122"/>
                <a:cs typeface="Courier New" pitchFamily="34" charset="-120"/>
              </a:rPr>
              <a:t>single step</a:t>
            </a:r>
            <a:pPr algn="ctr" indent="0" marL="0">
              <a:buNone/>
            </a:pPr>
            <a:r>
              <a:rPr lang="en-US" sz="1500" dirty="0">
                <a:solidFill>
                  <a:srgbClr val="FFFFFF"/>
                </a:solidFill>
                <a:latin typeface="Calibri" pitchFamily="34" charset="0"/>
                <a:ea typeface="Calibri" pitchFamily="34" charset="-122"/>
                <a:cs typeface="Calibri" pitchFamily="34" charset="-120"/>
              </a:rPr>
              <a:t>, and watch the registers panel.</a:t>
            </a:r>
            <a:endParaRPr lang="en-US" sz="1500" dirty="0"/>
          </a:p>
        </p:txBody>
      </p:sp>
      <p:sp>
        <p:nvSpPr>
          <p:cNvPr id="29" name="Text 27"/>
          <p:cNvSpPr txBox="1"/>
          <p:nvPr/>
        </p:nvSpPr>
        <p:spPr>
          <a:xfrm>
            <a:off x="640080" y="5833872"/>
            <a:ext cx="10908792"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Keep every value between 0 and 9 today. Bigger sums come in a later lab.</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5 · SUB</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SUB: take a number away</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The same idea in the other direction.</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07</a:t>
            </a:r>
            <a:endParaRPr lang="en-US" sz="900" dirty="0"/>
          </a:p>
        </p:txBody>
      </p:sp>
      <p:sp>
        <p:nvSpPr>
          <p:cNvPr id="7" name="Shape 5"/>
          <p:cNvSpPr/>
          <p:nvPr/>
        </p:nvSpPr>
        <p:spPr>
          <a:xfrm>
            <a:off x="640080" y="1810512"/>
            <a:ext cx="5120640" cy="1828800"/>
          </a:xfrm>
          <a:prstGeom prst="roundRect">
            <a:avLst>
              <a:gd name="adj" fmla="val 6670"/>
            </a:avLst>
          </a:prstGeom>
          <a:solidFill>
            <a:srgbClr val="121A29"/>
          </a:solidFill>
          <a:ln w="12700">
            <a:solidFill>
              <a:srgbClr val="2B3850"/>
            </a:solidFill>
            <a:prstDash val="solid"/>
          </a:ln>
        </p:spPr>
      </p:sp>
      <p:sp>
        <p:nvSpPr>
          <p:cNvPr id="8" name="Text 6"/>
          <p:cNvSpPr txBox="1"/>
          <p:nvPr/>
        </p:nvSpPr>
        <p:spPr>
          <a:xfrm>
            <a:off x="1005840" y="1993392"/>
            <a:ext cx="4480560" cy="640080"/>
          </a:xfrm>
          <a:prstGeom prst="rect">
            <a:avLst/>
          </a:prstGeom>
          <a:noFill/>
          <a:ln/>
        </p:spPr>
        <p:txBody>
          <a:bodyPr wrap="square" lIns="0" tIns="0" rIns="0" bIns="0" rtlCol="0" anchor="ctr"/>
          <a:lstStyle/>
          <a:p>
            <a:pPr algn="l" indent="0" marL="0">
              <a:buNone/>
            </a:pPr>
            <a:r>
              <a:rPr lang="en-US" sz="3000" b="1" dirty="0">
                <a:solidFill>
                  <a:srgbClr val="EDA63F"/>
                </a:solidFill>
                <a:latin typeface="Courier New" pitchFamily="34" charset="0"/>
                <a:ea typeface="Courier New" pitchFamily="34" charset="-122"/>
                <a:cs typeface="Courier New" pitchFamily="34" charset="-120"/>
              </a:rPr>
              <a:t>mov</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3EB9CE"/>
                </a:solidFill>
                <a:latin typeface="Courier New" pitchFamily="34" charset="0"/>
                <a:ea typeface="Courier New" pitchFamily="34" charset="-122"/>
                <a:cs typeface="Courier New" pitchFamily="34" charset="-120"/>
              </a:rPr>
              <a:t>al</a:t>
            </a:r>
            <a:pPr algn="l" indent="0" marL="0">
              <a:buNone/>
            </a:pPr>
            <a:r>
              <a:rPr lang="en-US" sz="3000" dirty="0">
                <a:solidFill>
                  <a:srgbClr val="F0F3F8"/>
                </a:solidFill>
                <a:latin typeface="Courier New" pitchFamily="34" charset="0"/>
                <a:ea typeface="Courier New" pitchFamily="34" charset="-122"/>
                <a:cs typeface="Courier New" pitchFamily="34" charset="-120"/>
              </a:rPr>
              <a:t>,</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9584E8"/>
                </a:solidFill>
                <a:latin typeface="Courier New" pitchFamily="34" charset="0"/>
                <a:ea typeface="Courier New" pitchFamily="34" charset="-122"/>
                <a:cs typeface="Courier New" pitchFamily="34" charset="-120"/>
              </a:rPr>
              <a:t>8</a:t>
            </a:r>
            <a:endParaRPr lang="en-US" sz="3000" dirty="0"/>
          </a:p>
        </p:txBody>
      </p:sp>
      <p:sp>
        <p:nvSpPr>
          <p:cNvPr id="9" name="Text 7"/>
          <p:cNvSpPr txBox="1"/>
          <p:nvPr/>
        </p:nvSpPr>
        <p:spPr>
          <a:xfrm>
            <a:off x="1005840" y="2724912"/>
            <a:ext cx="4480560" cy="640080"/>
          </a:xfrm>
          <a:prstGeom prst="rect">
            <a:avLst/>
          </a:prstGeom>
          <a:noFill/>
          <a:ln/>
        </p:spPr>
        <p:txBody>
          <a:bodyPr wrap="square" lIns="0" tIns="0" rIns="0" bIns="0" rtlCol="0" anchor="ctr"/>
          <a:lstStyle/>
          <a:p>
            <a:pPr algn="l" indent="0" marL="0">
              <a:buNone/>
            </a:pPr>
            <a:r>
              <a:rPr lang="en-US" sz="3000" b="1" dirty="0">
                <a:solidFill>
                  <a:srgbClr val="EDA63F"/>
                </a:solidFill>
                <a:latin typeface="Courier New" pitchFamily="34" charset="0"/>
                <a:ea typeface="Courier New" pitchFamily="34" charset="-122"/>
                <a:cs typeface="Courier New" pitchFamily="34" charset="-120"/>
              </a:rPr>
              <a:t>sub</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3EB9CE"/>
                </a:solidFill>
                <a:latin typeface="Courier New" pitchFamily="34" charset="0"/>
                <a:ea typeface="Courier New" pitchFamily="34" charset="-122"/>
                <a:cs typeface="Courier New" pitchFamily="34" charset="-120"/>
              </a:rPr>
              <a:t>al</a:t>
            </a:r>
            <a:pPr algn="l" indent="0" marL="0">
              <a:buNone/>
            </a:pPr>
            <a:r>
              <a:rPr lang="en-US" sz="3000" dirty="0">
                <a:solidFill>
                  <a:srgbClr val="F0F3F8"/>
                </a:solidFill>
                <a:latin typeface="Courier New" pitchFamily="34" charset="0"/>
                <a:ea typeface="Courier New" pitchFamily="34" charset="-122"/>
                <a:cs typeface="Courier New" pitchFamily="34" charset="-120"/>
              </a:rPr>
              <a:t>,</a:t>
            </a:r>
            <a:pPr algn="l" indent="0" marL="0">
              <a:buNone/>
            </a:pPr>
            <a:r>
              <a:rPr lang="en-US" sz="3000" dirty="0">
                <a:solidFill>
                  <a:srgbClr val="F0F3F8"/>
                </a:solidFill>
                <a:latin typeface="Courier New" pitchFamily="34" charset="0"/>
                <a:ea typeface="Courier New" pitchFamily="34" charset="-122"/>
                <a:cs typeface="Courier New" pitchFamily="34" charset="-120"/>
              </a:rPr>
              <a:t> </a:t>
            </a:r>
            <a:pPr algn="l" indent="0" marL="0">
              <a:buNone/>
            </a:pPr>
            <a:r>
              <a:rPr lang="en-US" sz="3000" b="1" dirty="0">
                <a:solidFill>
                  <a:srgbClr val="9584E8"/>
                </a:solidFill>
                <a:latin typeface="Courier New" pitchFamily="34" charset="0"/>
                <a:ea typeface="Courier New" pitchFamily="34" charset="-122"/>
                <a:cs typeface="Courier New" pitchFamily="34" charset="-120"/>
              </a:rPr>
              <a:t>3</a:t>
            </a:r>
            <a:endParaRPr lang="en-US" sz="3000" dirty="0"/>
          </a:p>
        </p:txBody>
      </p:sp>
      <p:sp>
        <p:nvSpPr>
          <p:cNvPr id="10" name="Shape 8"/>
          <p:cNvSpPr/>
          <p:nvPr/>
        </p:nvSpPr>
        <p:spPr>
          <a:xfrm>
            <a:off x="640080" y="3840480"/>
            <a:ext cx="5120640" cy="960120"/>
          </a:xfrm>
          <a:prstGeom prst="roundRect">
            <a:avLst>
              <a:gd name="adj" fmla="val 6670"/>
            </a:avLst>
          </a:prstGeom>
          <a:solidFill>
            <a:srgbClr val="F3F5F9"/>
          </a:solidFill>
          <a:ln w="12700">
            <a:solidFill>
              <a:srgbClr val="E2E7EF"/>
            </a:solidFill>
            <a:prstDash val="solid"/>
          </a:ln>
        </p:spPr>
      </p:sp>
      <p:sp>
        <p:nvSpPr>
          <p:cNvPr id="11" name="Text 9"/>
          <p:cNvSpPr txBox="1"/>
          <p:nvPr/>
        </p:nvSpPr>
        <p:spPr>
          <a:xfrm>
            <a:off x="914400" y="3986784"/>
            <a:ext cx="3657600" cy="219456"/>
          </a:xfrm>
          <a:prstGeom prst="rect">
            <a:avLst/>
          </a:prstGeom>
          <a:noFill/>
          <a:ln/>
        </p:spPr>
        <p:txBody>
          <a:bodyPr wrap="square" lIns="0" tIns="0" rIns="0" bIns="0" rtlCol="0" anchor="t"/>
          <a:lstStyle/>
          <a:p>
            <a:pPr algn="l" indent="0" marL="0">
              <a:buNone/>
            </a:pPr>
            <a:r>
              <a:rPr lang="en-US" sz="950" b="1" spc="130" kern="0" dirty="0">
                <a:solidFill>
                  <a:srgbClr val="93A0B2"/>
                </a:solidFill>
                <a:latin typeface="Courier New" pitchFamily="34" charset="0"/>
                <a:ea typeface="Courier New" pitchFamily="34" charset="-122"/>
                <a:cs typeface="Courier New" pitchFamily="34" charset="-120"/>
              </a:rPr>
              <a:t>READ THE SECOND LINE AS</a:t>
            </a:r>
            <a:endParaRPr lang="en-US" sz="950" dirty="0"/>
          </a:p>
        </p:txBody>
      </p:sp>
      <p:sp>
        <p:nvSpPr>
          <p:cNvPr id="12" name="Text 10"/>
          <p:cNvSpPr txBox="1"/>
          <p:nvPr/>
        </p:nvSpPr>
        <p:spPr>
          <a:xfrm>
            <a:off x="914400" y="4224528"/>
            <a:ext cx="4572000" cy="457200"/>
          </a:xfrm>
          <a:prstGeom prst="rect">
            <a:avLst/>
          </a:prstGeom>
          <a:noFill/>
          <a:ln/>
        </p:spPr>
        <p:txBody>
          <a:bodyPr wrap="square" lIns="0" tIns="0" rIns="0" bIns="0" rtlCol="0" anchor="ctr"/>
          <a:lstStyle/>
          <a:p>
            <a:pPr algn="l" indent="0" marL="0">
              <a:buNone/>
            </a:pPr>
            <a:r>
              <a:rPr lang="en-US" sz="2200" b="1" dirty="0">
                <a:solidFill>
                  <a:srgbClr val="C4543F"/>
                </a:solidFill>
                <a:latin typeface="Courier New" pitchFamily="34" charset="0"/>
                <a:ea typeface="Courier New" pitchFamily="34" charset="-122"/>
                <a:cs typeface="Courier New" pitchFamily="34" charset="-120"/>
              </a:rPr>
              <a:t>AL = AL - 3</a:t>
            </a:r>
            <a:endParaRPr lang="en-US" sz="2200" dirty="0"/>
          </a:p>
        </p:txBody>
      </p:sp>
      <p:sp>
        <p:nvSpPr>
          <p:cNvPr id="13" name="Shape 11"/>
          <p:cNvSpPr/>
          <p:nvPr/>
        </p:nvSpPr>
        <p:spPr>
          <a:xfrm>
            <a:off x="6675120" y="1810512"/>
            <a:ext cx="2926080" cy="868680"/>
          </a:xfrm>
          <a:prstGeom prst="roundRect">
            <a:avLst>
              <a:gd name="adj" fmla="val 6670"/>
            </a:avLst>
          </a:prstGeom>
          <a:solidFill>
            <a:srgbClr val="F8E1DB"/>
          </a:solidFill>
          <a:ln w="12700">
            <a:solidFill>
              <a:srgbClr val="C4543F"/>
            </a:solidFill>
            <a:prstDash val="solid"/>
          </a:ln>
        </p:spPr>
      </p:sp>
      <p:sp>
        <p:nvSpPr>
          <p:cNvPr id="14" name="Text 12"/>
          <p:cNvSpPr txBox="1"/>
          <p:nvPr/>
        </p:nvSpPr>
        <p:spPr>
          <a:xfrm>
            <a:off x="6839712" y="1810512"/>
            <a:ext cx="1170432" cy="868680"/>
          </a:xfrm>
          <a:prstGeom prst="rect">
            <a:avLst/>
          </a:prstGeom>
          <a:noFill/>
          <a:ln/>
        </p:spPr>
        <p:txBody>
          <a:bodyPr wrap="square" lIns="0" tIns="0" rIns="0" bIns="0" rtlCol="0" anchor="ctr"/>
          <a:lstStyle/>
          <a:p>
            <a:pPr algn="l" indent="0" marL="0">
              <a:buNone/>
            </a:pPr>
            <a:r>
              <a:rPr lang="en-US" sz="2600" b="1" dirty="0">
                <a:solidFill>
                  <a:srgbClr val="C4543F"/>
                </a:solidFill>
                <a:latin typeface="Courier New" pitchFamily="34" charset="0"/>
                <a:ea typeface="Courier New" pitchFamily="34" charset="-122"/>
                <a:cs typeface="Courier New" pitchFamily="34" charset="-120"/>
              </a:rPr>
              <a:t>AL</a:t>
            </a:r>
            <a:endParaRPr lang="en-US" sz="2600" dirty="0"/>
          </a:p>
        </p:txBody>
      </p:sp>
      <p:sp>
        <p:nvSpPr>
          <p:cNvPr id="15" name="Shape 13"/>
          <p:cNvSpPr/>
          <p:nvPr/>
        </p:nvSpPr>
        <p:spPr>
          <a:xfrm>
            <a:off x="8127187" y="1929384"/>
            <a:ext cx="1345997" cy="630936"/>
          </a:xfrm>
          <a:prstGeom prst="roundRect">
            <a:avLst>
              <a:gd name="adj" fmla="val 6670"/>
            </a:avLst>
          </a:prstGeom>
          <a:solidFill>
            <a:srgbClr val="FFFFFF"/>
          </a:solidFill>
          <a:ln w="12700">
            <a:solidFill>
              <a:srgbClr val="C4543F"/>
            </a:solidFill>
            <a:prstDash val="solid"/>
          </a:ln>
        </p:spPr>
      </p:sp>
      <p:sp>
        <p:nvSpPr>
          <p:cNvPr id="16" name="Text 14"/>
          <p:cNvSpPr txBox="1"/>
          <p:nvPr/>
        </p:nvSpPr>
        <p:spPr>
          <a:xfrm>
            <a:off x="8127187" y="1929384"/>
            <a:ext cx="1345997" cy="630936"/>
          </a:xfrm>
          <a:prstGeom prst="rect">
            <a:avLst/>
          </a:prstGeom>
          <a:noFill/>
          <a:ln/>
        </p:spPr>
        <p:txBody>
          <a:bodyPr wrap="square" lIns="0" tIns="0" rIns="0" bIns="0" rtlCol="0" anchor="ctr"/>
          <a:lstStyle/>
          <a:p>
            <a:pPr algn="ctr" indent="0" marL="0">
              <a:buNone/>
            </a:pPr>
            <a:r>
              <a:rPr lang="en-US" sz="2600" b="1" dirty="0">
                <a:solidFill>
                  <a:srgbClr val="0F1622"/>
                </a:solidFill>
                <a:latin typeface="Courier New" pitchFamily="34" charset="0"/>
                <a:ea typeface="Courier New" pitchFamily="34" charset="-122"/>
                <a:cs typeface="Courier New" pitchFamily="34" charset="-120"/>
              </a:rPr>
              <a:t>8</a:t>
            </a:r>
            <a:endParaRPr lang="en-US" sz="2600" dirty="0"/>
          </a:p>
        </p:txBody>
      </p:sp>
      <p:sp>
        <p:nvSpPr>
          <p:cNvPr id="17" name="Shape 15"/>
          <p:cNvSpPr/>
          <p:nvPr/>
        </p:nvSpPr>
        <p:spPr>
          <a:xfrm>
            <a:off x="8138160" y="2770632"/>
            <a:ext cx="0" cy="822960"/>
          </a:xfrm>
          <a:prstGeom prst="line">
            <a:avLst/>
          </a:prstGeom>
          <a:noFill/>
          <a:ln w="25400">
            <a:solidFill>
              <a:srgbClr val="93A0B2"/>
            </a:solidFill>
            <a:prstDash val="solid"/>
            <a:tailEnd type="triangle"/>
          </a:ln>
        </p:spPr>
      </p:sp>
      <p:sp>
        <p:nvSpPr>
          <p:cNvPr id="18" name="Shape 16"/>
          <p:cNvSpPr/>
          <p:nvPr/>
        </p:nvSpPr>
        <p:spPr>
          <a:xfrm>
            <a:off x="8366760" y="2944368"/>
            <a:ext cx="1371600" cy="457200"/>
          </a:xfrm>
          <a:prstGeom prst="roundRect">
            <a:avLst>
              <a:gd name="adj" fmla="val 50000"/>
            </a:avLst>
          </a:prstGeom>
          <a:solidFill>
            <a:srgbClr val="F8E1DB"/>
          </a:solidFill>
          <a:ln/>
        </p:spPr>
      </p:sp>
      <p:sp>
        <p:nvSpPr>
          <p:cNvPr id="19" name="Text 17"/>
          <p:cNvSpPr txBox="1"/>
          <p:nvPr/>
        </p:nvSpPr>
        <p:spPr>
          <a:xfrm>
            <a:off x="8366760" y="2944368"/>
            <a:ext cx="1371600" cy="457200"/>
          </a:xfrm>
          <a:prstGeom prst="rect">
            <a:avLst/>
          </a:prstGeom>
          <a:noFill/>
          <a:ln/>
        </p:spPr>
        <p:txBody>
          <a:bodyPr wrap="square" lIns="0" tIns="0" rIns="0" bIns="0" rtlCol="0" anchor="ctr"/>
          <a:lstStyle/>
          <a:p>
            <a:pPr algn="ctr" indent="0" marL="0">
              <a:buNone/>
            </a:pPr>
            <a:r>
              <a:rPr lang="en-US" sz="1500" b="1" dirty="0">
                <a:solidFill>
                  <a:srgbClr val="C4543F"/>
                </a:solidFill>
                <a:latin typeface="Courier New" pitchFamily="34" charset="0"/>
                <a:ea typeface="Courier New" pitchFamily="34" charset="-122"/>
                <a:cs typeface="Courier New" pitchFamily="34" charset="-120"/>
              </a:rPr>
              <a:t>SUB 3</a:t>
            </a:r>
            <a:endParaRPr lang="en-US" sz="1500" dirty="0"/>
          </a:p>
        </p:txBody>
      </p:sp>
      <p:sp>
        <p:nvSpPr>
          <p:cNvPr id="20" name="Shape 18"/>
          <p:cNvSpPr/>
          <p:nvPr/>
        </p:nvSpPr>
        <p:spPr>
          <a:xfrm>
            <a:off x="6675120" y="3675888"/>
            <a:ext cx="2926080" cy="868680"/>
          </a:xfrm>
          <a:prstGeom prst="roundRect">
            <a:avLst>
              <a:gd name="adj" fmla="val 6670"/>
            </a:avLst>
          </a:prstGeom>
          <a:solidFill>
            <a:srgbClr val="F8E1DB"/>
          </a:solidFill>
          <a:ln w="12700">
            <a:solidFill>
              <a:srgbClr val="C4543F"/>
            </a:solidFill>
            <a:prstDash val="solid"/>
          </a:ln>
        </p:spPr>
      </p:sp>
      <p:sp>
        <p:nvSpPr>
          <p:cNvPr id="21" name="Text 19"/>
          <p:cNvSpPr txBox="1"/>
          <p:nvPr/>
        </p:nvSpPr>
        <p:spPr>
          <a:xfrm>
            <a:off x="6839712" y="3675888"/>
            <a:ext cx="1170432" cy="868680"/>
          </a:xfrm>
          <a:prstGeom prst="rect">
            <a:avLst/>
          </a:prstGeom>
          <a:noFill/>
          <a:ln/>
        </p:spPr>
        <p:txBody>
          <a:bodyPr wrap="square" lIns="0" tIns="0" rIns="0" bIns="0" rtlCol="0" anchor="ctr"/>
          <a:lstStyle/>
          <a:p>
            <a:pPr algn="l" indent="0" marL="0">
              <a:buNone/>
            </a:pPr>
            <a:r>
              <a:rPr lang="en-US" sz="2600" b="1" dirty="0">
                <a:solidFill>
                  <a:srgbClr val="C4543F"/>
                </a:solidFill>
                <a:latin typeface="Courier New" pitchFamily="34" charset="0"/>
                <a:ea typeface="Courier New" pitchFamily="34" charset="-122"/>
                <a:cs typeface="Courier New" pitchFamily="34" charset="-120"/>
              </a:rPr>
              <a:t>AL</a:t>
            </a:r>
            <a:endParaRPr lang="en-US" sz="2600" dirty="0"/>
          </a:p>
        </p:txBody>
      </p:sp>
      <p:sp>
        <p:nvSpPr>
          <p:cNvPr id="22" name="Shape 20"/>
          <p:cNvSpPr/>
          <p:nvPr/>
        </p:nvSpPr>
        <p:spPr>
          <a:xfrm>
            <a:off x="8127187" y="3794760"/>
            <a:ext cx="1345997" cy="630936"/>
          </a:xfrm>
          <a:prstGeom prst="roundRect">
            <a:avLst>
              <a:gd name="adj" fmla="val 6670"/>
            </a:avLst>
          </a:prstGeom>
          <a:solidFill>
            <a:srgbClr val="FFFFFF"/>
          </a:solidFill>
          <a:ln w="12700">
            <a:solidFill>
              <a:srgbClr val="C4543F"/>
            </a:solidFill>
            <a:prstDash val="solid"/>
          </a:ln>
        </p:spPr>
      </p:sp>
      <p:sp>
        <p:nvSpPr>
          <p:cNvPr id="23" name="Text 21"/>
          <p:cNvSpPr txBox="1"/>
          <p:nvPr/>
        </p:nvSpPr>
        <p:spPr>
          <a:xfrm>
            <a:off x="8127187" y="3794760"/>
            <a:ext cx="1345997" cy="630936"/>
          </a:xfrm>
          <a:prstGeom prst="rect">
            <a:avLst/>
          </a:prstGeom>
          <a:noFill/>
          <a:ln/>
        </p:spPr>
        <p:txBody>
          <a:bodyPr wrap="square" lIns="0" tIns="0" rIns="0" bIns="0" rtlCol="0" anchor="ctr"/>
          <a:lstStyle/>
          <a:p>
            <a:pPr algn="ctr" indent="0" marL="0">
              <a:buNone/>
            </a:pPr>
            <a:r>
              <a:rPr lang="en-US" sz="2600" b="1" dirty="0">
                <a:solidFill>
                  <a:srgbClr val="0F1622"/>
                </a:solidFill>
                <a:latin typeface="Courier New" pitchFamily="34" charset="0"/>
                <a:ea typeface="Courier New" pitchFamily="34" charset="-122"/>
                <a:cs typeface="Courier New" pitchFamily="34" charset="-120"/>
              </a:rPr>
              <a:t>5</a:t>
            </a:r>
            <a:endParaRPr lang="en-US" sz="2600" dirty="0"/>
          </a:p>
        </p:txBody>
      </p:sp>
      <p:sp>
        <p:nvSpPr>
          <p:cNvPr id="24" name="Text 22"/>
          <p:cNvSpPr txBox="1"/>
          <p:nvPr/>
        </p:nvSpPr>
        <p:spPr>
          <a:xfrm>
            <a:off x="9784080" y="1810512"/>
            <a:ext cx="1371600" cy="868680"/>
          </a:xfrm>
          <a:prstGeom prst="rect">
            <a:avLst/>
          </a:prstGeom>
          <a:noFill/>
          <a:ln/>
        </p:spPr>
        <p:txBody>
          <a:bodyPr wrap="square" lIns="0" tIns="0" rIns="0" bIns="0" rtlCol="0" anchor="ctr"/>
          <a:lstStyle/>
          <a:p>
            <a:pPr algn="l" indent="0" marL="0">
              <a:buNone/>
            </a:pPr>
            <a:r>
              <a:rPr lang="en-US" sz="1300" i="1" dirty="0">
                <a:solidFill>
                  <a:srgbClr val="5B6779"/>
                </a:solidFill>
                <a:latin typeface="Calibri" pitchFamily="34" charset="0"/>
                <a:ea typeface="Calibri" pitchFamily="34" charset="-122"/>
                <a:cs typeface="Calibri" pitchFamily="34" charset="-120"/>
              </a:rPr>
              <a:t>before</a:t>
            </a:r>
            <a:endParaRPr lang="en-US" sz="1300" dirty="0"/>
          </a:p>
        </p:txBody>
      </p:sp>
      <p:sp>
        <p:nvSpPr>
          <p:cNvPr id="25" name="Text 23"/>
          <p:cNvSpPr txBox="1"/>
          <p:nvPr/>
        </p:nvSpPr>
        <p:spPr>
          <a:xfrm>
            <a:off x="9784080" y="3675888"/>
            <a:ext cx="1371600" cy="868680"/>
          </a:xfrm>
          <a:prstGeom prst="rect">
            <a:avLst/>
          </a:prstGeom>
          <a:noFill/>
          <a:ln/>
        </p:spPr>
        <p:txBody>
          <a:bodyPr wrap="square" lIns="0" tIns="0" rIns="0" bIns="0" rtlCol="0" anchor="ctr"/>
          <a:lstStyle/>
          <a:p>
            <a:pPr algn="l" indent="0" marL="0">
              <a:buNone/>
            </a:pPr>
            <a:r>
              <a:rPr lang="en-US" sz="1300" i="1" dirty="0">
                <a:solidFill>
                  <a:srgbClr val="5B6779"/>
                </a:solidFill>
                <a:latin typeface="Calibri" pitchFamily="34" charset="0"/>
                <a:ea typeface="Calibri" pitchFamily="34" charset="-122"/>
                <a:cs typeface="Calibri" pitchFamily="34" charset="-120"/>
              </a:rPr>
              <a:t>after</a:t>
            </a:r>
            <a:endParaRPr lang="en-US" sz="1300" dirty="0"/>
          </a:p>
        </p:txBody>
      </p:sp>
      <p:sp>
        <p:nvSpPr>
          <p:cNvPr id="26" name="Text 24"/>
          <p:cNvSpPr txBox="1"/>
          <p:nvPr/>
        </p:nvSpPr>
        <p:spPr>
          <a:xfrm>
            <a:off x="6400800" y="4617720"/>
            <a:ext cx="3474720"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The answer replaces the old value in AL.</a:t>
            </a:r>
            <a:endParaRPr lang="en-US" sz="1200" dirty="0"/>
          </a:p>
        </p:txBody>
      </p:sp>
      <p:sp>
        <p:nvSpPr>
          <p:cNvPr id="27" name="Shape 25"/>
          <p:cNvSpPr/>
          <p:nvPr/>
        </p:nvSpPr>
        <p:spPr>
          <a:xfrm>
            <a:off x="640080" y="5120640"/>
            <a:ext cx="10908792" cy="566928"/>
          </a:xfrm>
          <a:prstGeom prst="roundRect">
            <a:avLst>
              <a:gd name="adj" fmla="val 6670"/>
            </a:avLst>
          </a:prstGeom>
          <a:solidFill>
            <a:srgbClr val="0F1622"/>
          </a:solidFill>
          <a:ln/>
        </p:spPr>
      </p:sp>
      <p:sp>
        <p:nvSpPr>
          <p:cNvPr id="28" name="Text 26"/>
          <p:cNvSpPr txBox="1"/>
          <p:nvPr/>
        </p:nvSpPr>
        <p:spPr>
          <a:xfrm>
            <a:off x="640080" y="5120640"/>
            <a:ext cx="10908792" cy="566928"/>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Nothing is printed. To see AL: click </a:t>
            </a:r>
            <a:pPr algn="ctr" indent="0" marL="0">
              <a:buNone/>
            </a:pPr>
            <a:r>
              <a:rPr lang="en-US" sz="1500" b="1" dirty="0">
                <a:solidFill>
                  <a:srgbClr val="EDA63F"/>
                </a:solidFill>
                <a:latin typeface="Courier New" pitchFamily="34" charset="0"/>
                <a:ea typeface="Courier New" pitchFamily="34" charset="-122"/>
                <a:cs typeface="Courier New" pitchFamily="34" charset="-120"/>
              </a:rPr>
              <a:t>emulate</a:t>
            </a:r>
            <a:pPr algn="ctr" indent="0" marL="0">
              <a:buNone/>
            </a:pPr>
            <a:r>
              <a:rPr lang="en-US" sz="1500" dirty="0">
                <a:solidFill>
                  <a:srgbClr val="FFFFFF"/>
                </a:solidFill>
                <a:latin typeface="Calibri" pitchFamily="34" charset="0"/>
                <a:ea typeface="Calibri" pitchFamily="34" charset="-122"/>
                <a:cs typeface="Calibri" pitchFamily="34" charset="-120"/>
              </a:rPr>
              <a:t>, then </a:t>
            </a:r>
            <a:pPr algn="ctr" indent="0" marL="0">
              <a:buNone/>
            </a:pPr>
            <a:r>
              <a:rPr lang="en-US" sz="1500" b="1" dirty="0">
                <a:solidFill>
                  <a:srgbClr val="EDA63F"/>
                </a:solidFill>
                <a:latin typeface="Courier New" pitchFamily="34" charset="0"/>
                <a:ea typeface="Courier New" pitchFamily="34" charset="-122"/>
                <a:cs typeface="Courier New" pitchFamily="34" charset="-120"/>
              </a:rPr>
              <a:t>single step</a:t>
            </a:r>
            <a:pPr algn="ctr" indent="0" marL="0">
              <a:buNone/>
            </a:pPr>
            <a:r>
              <a:rPr lang="en-US" sz="1500" dirty="0">
                <a:solidFill>
                  <a:srgbClr val="FFFFFF"/>
                </a:solidFill>
                <a:latin typeface="Calibri" pitchFamily="34" charset="0"/>
                <a:ea typeface="Calibri" pitchFamily="34" charset="-122"/>
                <a:cs typeface="Calibri" pitchFamily="34" charset="-120"/>
              </a:rPr>
              <a:t>, and watch the registers panel.</a:t>
            </a:r>
            <a:endParaRPr lang="en-US" sz="1500" dirty="0"/>
          </a:p>
        </p:txBody>
      </p:sp>
      <p:sp>
        <p:nvSpPr>
          <p:cNvPr id="29" name="Text 27"/>
          <p:cNvSpPr txBox="1"/>
          <p:nvPr/>
        </p:nvSpPr>
        <p:spPr>
          <a:xfrm>
            <a:off x="640080" y="5833872"/>
            <a:ext cx="10908792" cy="274320"/>
          </a:xfrm>
          <a:prstGeom prst="rect">
            <a:avLst/>
          </a:prstGeom>
          <a:noFill/>
          <a:ln/>
        </p:spPr>
        <p:txBody>
          <a:bodyPr wrap="square" lIns="0" tIns="0" rIns="0" bIns="0" rtlCol="0" anchor="t"/>
          <a:lstStyle/>
          <a:p>
            <a:pPr algn="ctr" indent="0" marL="0">
              <a:buNone/>
            </a:pPr>
            <a:r>
              <a:rPr lang="en-US" sz="1200" i="1" dirty="0">
                <a:solidFill>
                  <a:srgbClr val="5B6779"/>
                </a:solidFill>
                <a:latin typeface="Calibri" pitchFamily="34" charset="0"/>
                <a:ea typeface="Calibri" pitchFamily="34" charset="-122"/>
                <a:cs typeface="Calibri" pitchFamily="34" charset="-120"/>
              </a:rPr>
              <a:t>Keep every value between 0 and 9 today. Bigger sums come in a later lab.</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6 · CHARACTER OR NUMBER?</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'5' and 5 are not the same</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Quotes mean a character. No quotes means a plain number.</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08</a:t>
            </a:r>
            <a:endParaRPr lang="en-US" sz="900" dirty="0"/>
          </a:p>
        </p:txBody>
      </p:sp>
      <p:sp>
        <p:nvSpPr>
          <p:cNvPr id="7" name="Shape 5"/>
          <p:cNvSpPr/>
          <p:nvPr/>
        </p:nvSpPr>
        <p:spPr>
          <a:xfrm>
            <a:off x="640080" y="1810512"/>
            <a:ext cx="5303520" cy="2514600"/>
          </a:xfrm>
          <a:prstGeom prst="roundRect">
            <a:avLst>
              <a:gd name="adj" fmla="val 6670"/>
            </a:avLst>
          </a:prstGeom>
          <a:solidFill>
            <a:srgbClr val="D7EEF2"/>
          </a:solidFill>
          <a:ln w="12700">
            <a:solidFill>
              <a:srgbClr val="18879B"/>
            </a:solidFill>
            <a:prstDash val="solid"/>
          </a:ln>
        </p:spPr>
      </p:sp>
      <p:sp>
        <p:nvSpPr>
          <p:cNvPr id="8" name="Text 6"/>
          <p:cNvSpPr txBox="1"/>
          <p:nvPr/>
        </p:nvSpPr>
        <p:spPr>
          <a:xfrm>
            <a:off x="914400" y="1993392"/>
            <a:ext cx="4754880" cy="219456"/>
          </a:xfrm>
          <a:prstGeom prst="rect">
            <a:avLst/>
          </a:prstGeom>
          <a:noFill/>
          <a:ln/>
        </p:spPr>
        <p:txBody>
          <a:bodyPr wrap="square" lIns="0" tIns="0" rIns="0" bIns="0" rtlCol="0" anchor="t"/>
          <a:lstStyle/>
          <a:p>
            <a:pPr algn="l" indent="0" marL="0">
              <a:buNone/>
            </a:pPr>
            <a:r>
              <a:rPr lang="en-US" sz="950" b="1" spc="130" kern="0" dirty="0">
                <a:solidFill>
                  <a:srgbClr val="18879B"/>
                </a:solidFill>
                <a:latin typeface="Courier New" pitchFamily="34" charset="0"/>
                <a:ea typeface="Courier New" pitchFamily="34" charset="-122"/>
                <a:cs typeface="Courier New" pitchFamily="34" charset="-120"/>
              </a:rPr>
              <a:t>WITH QUOTES  ·  A CHARACTER</a:t>
            </a:r>
            <a:endParaRPr lang="en-US" sz="950" dirty="0"/>
          </a:p>
        </p:txBody>
      </p:sp>
      <p:sp>
        <p:nvSpPr>
          <p:cNvPr id="9" name="Shape 7"/>
          <p:cNvSpPr/>
          <p:nvPr/>
        </p:nvSpPr>
        <p:spPr>
          <a:xfrm>
            <a:off x="914400" y="2331720"/>
            <a:ext cx="4754880" cy="731520"/>
          </a:xfrm>
          <a:prstGeom prst="roundRect">
            <a:avLst>
              <a:gd name="adj" fmla="val 6670"/>
            </a:avLst>
          </a:prstGeom>
          <a:solidFill>
            <a:srgbClr val="121A29"/>
          </a:solidFill>
          <a:ln w="12700">
            <a:solidFill>
              <a:srgbClr val="2B3850"/>
            </a:solidFill>
            <a:prstDash val="solid"/>
          </a:ln>
        </p:spPr>
      </p:sp>
      <p:sp>
        <p:nvSpPr>
          <p:cNvPr id="10" name="Text 8"/>
          <p:cNvSpPr txBox="1"/>
          <p:nvPr/>
        </p:nvSpPr>
        <p:spPr>
          <a:xfrm>
            <a:off x="1188720" y="2331720"/>
            <a:ext cx="4206240" cy="731520"/>
          </a:xfrm>
          <a:prstGeom prst="rect">
            <a:avLst/>
          </a:prstGeom>
          <a:noFill/>
          <a:ln/>
        </p:spPr>
        <p:txBody>
          <a:bodyPr wrap="square" lIns="0" tIns="0" rIns="0" bIns="0" rtlCol="0" anchor="ctr"/>
          <a:lstStyle/>
          <a:p>
            <a:pPr algn="l" indent="0" marL="0">
              <a:buNone/>
            </a:pPr>
            <a:r>
              <a:rPr lang="en-US" sz="2600" b="1" dirty="0">
                <a:solidFill>
                  <a:srgbClr val="EDA63F"/>
                </a:solidFill>
                <a:latin typeface="Courier New" pitchFamily="34" charset="0"/>
                <a:ea typeface="Courier New" pitchFamily="34" charset="-122"/>
                <a:cs typeface="Courier New" pitchFamily="34" charset="-120"/>
              </a:rPr>
              <a:t>mov</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3EB9CE"/>
                </a:solidFill>
                <a:latin typeface="Courier New" pitchFamily="34" charset="0"/>
                <a:ea typeface="Courier New" pitchFamily="34" charset="-122"/>
                <a:cs typeface="Courier New" pitchFamily="34" charset="-120"/>
              </a:rPr>
              <a:t>dl</a:t>
            </a:r>
            <a:pPr algn="l" indent="0" marL="0">
              <a:buNone/>
            </a:pPr>
            <a:r>
              <a:rPr lang="en-US" sz="2600" dirty="0">
                <a:solidFill>
                  <a:srgbClr val="F0F3F8"/>
                </a:solidFill>
                <a:latin typeface="Courier New" pitchFamily="34" charset="0"/>
                <a:ea typeface="Courier New" pitchFamily="34" charset="-122"/>
                <a:cs typeface="Courier New" pitchFamily="34" charset="-120"/>
              </a:rPr>
              <a:t>,</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9584E8"/>
                </a:solidFill>
                <a:latin typeface="Courier New" pitchFamily="34" charset="0"/>
                <a:ea typeface="Courier New" pitchFamily="34" charset="-122"/>
                <a:cs typeface="Courier New" pitchFamily="34" charset="-120"/>
              </a:rPr>
              <a:t>'5'</a:t>
            </a:r>
            <a:endParaRPr lang="en-US" sz="2600" dirty="0"/>
          </a:p>
        </p:txBody>
      </p:sp>
      <p:sp>
        <p:nvSpPr>
          <p:cNvPr id="11" name="Shape 9"/>
          <p:cNvSpPr/>
          <p:nvPr/>
        </p:nvSpPr>
        <p:spPr>
          <a:xfrm>
            <a:off x="914400" y="3310128"/>
            <a:ext cx="2194560" cy="731520"/>
          </a:xfrm>
          <a:prstGeom prst="roundRect">
            <a:avLst>
              <a:gd name="adj" fmla="val 6670"/>
            </a:avLst>
          </a:prstGeom>
          <a:solidFill>
            <a:srgbClr val="FFFFFF"/>
          </a:solidFill>
          <a:ln w="12700">
            <a:solidFill>
              <a:srgbClr val="18879B"/>
            </a:solidFill>
            <a:prstDash val="solid"/>
          </a:ln>
        </p:spPr>
      </p:sp>
      <p:sp>
        <p:nvSpPr>
          <p:cNvPr id="12" name="Text 10"/>
          <p:cNvSpPr txBox="1"/>
          <p:nvPr/>
        </p:nvSpPr>
        <p:spPr>
          <a:xfrm>
            <a:off x="1078992" y="3310128"/>
            <a:ext cx="877824" cy="731520"/>
          </a:xfrm>
          <a:prstGeom prst="rect">
            <a:avLst/>
          </a:prstGeom>
          <a:noFill/>
          <a:ln/>
        </p:spPr>
        <p:txBody>
          <a:bodyPr wrap="square" lIns="0" tIns="0" rIns="0" bIns="0" rtlCol="0" anchor="ctr"/>
          <a:lstStyle/>
          <a:p>
            <a:pPr algn="l" indent="0" marL="0">
              <a:buNone/>
            </a:pPr>
            <a:r>
              <a:rPr lang="en-US" sz="1800" b="1" dirty="0">
                <a:solidFill>
                  <a:srgbClr val="18879B"/>
                </a:solidFill>
                <a:latin typeface="Courier New" pitchFamily="34" charset="0"/>
                <a:ea typeface="Courier New" pitchFamily="34" charset="-122"/>
                <a:cs typeface="Courier New" pitchFamily="34" charset="-120"/>
              </a:rPr>
              <a:t>DL</a:t>
            </a:r>
            <a:endParaRPr lang="en-US" sz="1800" dirty="0"/>
          </a:p>
        </p:txBody>
      </p:sp>
      <p:sp>
        <p:nvSpPr>
          <p:cNvPr id="13" name="Shape 11"/>
          <p:cNvSpPr/>
          <p:nvPr/>
        </p:nvSpPr>
        <p:spPr>
          <a:xfrm>
            <a:off x="1971446" y="3429000"/>
            <a:ext cx="1009498" cy="493776"/>
          </a:xfrm>
          <a:prstGeom prst="roundRect">
            <a:avLst>
              <a:gd name="adj" fmla="val 6670"/>
            </a:avLst>
          </a:prstGeom>
          <a:solidFill>
            <a:srgbClr val="F3F5F9"/>
          </a:solidFill>
          <a:ln w="12700">
            <a:solidFill>
              <a:srgbClr val="E2E7EF"/>
            </a:solidFill>
            <a:prstDash val="solid"/>
          </a:ln>
        </p:spPr>
      </p:sp>
      <p:sp>
        <p:nvSpPr>
          <p:cNvPr id="14" name="Text 12"/>
          <p:cNvSpPr txBox="1"/>
          <p:nvPr/>
        </p:nvSpPr>
        <p:spPr>
          <a:xfrm>
            <a:off x="1971446" y="3429000"/>
            <a:ext cx="1009498" cy="493776"/>
          </a:xfrm>
          <a:prstGeom prst="rect">
            <a:avLst/>
          </a:prstGeom>
          <a:noFill/>
          <a:ln/>
        </p:spPr>
        <p:txBody>
          <a:bodyPr wrap="square" lIns="0" tIns="0" rIns="0" bIns="0" rtlCol="0" anchor="ctr"/>
          <a:lstStyle/>
          <a:p>
            <a:pPr algn="ctr" indent="0" marL="0">
              <a:buNone/>
            </a:pPr>
            <a:r>
              <a:rPr lang="en-US" sz="2000" b="1" dirty="0">
                <a:solidFill>
                  <a:srgbClr val="0F1622"/>
                </a:solidFill>
                <a:latin typeface="Courier New" pitchFamily="34" charset="0"/>
                <a:ea typeface="Courier New" pitchFamily="34" charset="-122"/>
                <a:cs typeface="Courier New" pitchFamily="34" charset="-120"/>
              </a:rPr>
              <a:t>53</a:t>
            </a:r>
            <a:endParaRPr lang="en-US" sz="2000" dirty="0"/>
          </a:p>
        </p:txBody>
      </p:sp>
      <p:sp>
        <p:nvSpPr>
          <p:cNvPr id="15" name="Text 13"/>
          <p:cNvSpPr txBox="1"/>
          <p:nvPr/>
        </p:nvSpPr>
        <p:spPr>
          <a:xfrm>
            <a:off x="3291840" y="3310128"/>
            <a:ext cx="2377440" cy="347472"/>
          </a:xfrm>
          <a:prstGeom prst="rect">
            <a:avLst/>
          </a:prstGeom>
          <a:noFill/>
          <a:ln/>
        </p:spPr>
        <p:txBody>
          <a:bodyPr wrap="square" lIns="0" tIns="0" rIns="0" bIns="0" rtlCol="0" anchor="ctr"/>
          <a:lstStyle/>
          <a:p>
            <a:pPr algn="l" indent="0" marL="0">
              <a:buNone/>
            </a:pPr>
            <a:r>
              <a:rPr lang="en-US" sz="1400" b="1" dirty="0">
                <a:solidFill>
                  <a:srgbClr val="0F1622"/>
                </a:solidFill>
                <a:latin typeface="Calibri" pitchFamily="34" charset="0"/>
                <a:ea typeface="Calibri" pitchFamily="34" charset="-122"/>
                <a:cs typeface="Calibri" pitchFamily="34" charset="-120"/>
              </a:rPr>
              <a:t>the code for '5'</a:t>
            </a:r>
            <a:endParaRPr lang="en-US" sz="1400" dirty="0"/>
          </a:p>
        </p:txBody>
      </p:sp>
      <p:sp>
        <p:nvSpPr>
          <p:cNvPr id="16" name="Text 14"/>
          <p:cNvSpPr txBox="1"/>
          <p:nvPr/>
        </p:nvSpPr>
        <p:spPr>
          <a:xfrm>
            <a:off x="3291840" y="3639312"/>
            <a:ext cx="2377440" cy="347472"/>
          </a:xfrm>
          <a:prstGeom prst="rect">
            <a:avLst/>
          </a:prstGeom>
          <a:noFill/>
          <a:ln/>
        </p:spPr>
        <p:txBody>
          <a:bodyPr wrap="square" lIns="0" tIns="0" rIns="0" bIns="0" rtlCol="0" anchor="ctr"/>
          <a:lstStyle/>
          <a:p>
            <a:pPr algn="l" indent="0" marL="0">
              <a:buNone/>
            </a:pPr>
            <a:r>
              <a:rPr lang="en-US" sz="1300" dirty="0">
                <a:solidFill>
                  <a:srgbClr val="5B6779"/>
                </a:solidFill>
                <a:latin typeface="Calibri" pitchFamily="34" charset="0"/>
                <a:ea typeface="Calibri" pitchFamily="34" charset="-122"/>
                <a:cs typeface="Calibri" pitchFamily="34" charset="-120"/>
              </a:rPr>
              <a:t>use it to print a 5</a:t>
            </a:r>
            <a:endParaRPr lang="en-US" sz="1300" dirty="0"/>
          </a:p>
        </p:txBody>
      </p:sp>
      <p:sp>
        <p:nvSpPr>
          <p:cNvPr id="17" name="Shape 15"/>
          <p:cNvSpPr/>
          <p:nvPr/>
        </p:nvSpPr>
        <p:spPr>
          <a:xfrm>
            <a:off x="6245352" y="1810512"/>
            <a:ext cx="5303520" cy="2514600"/>
          </a:xfrm>
          <a:prstGeom prst="roundRect">
            <a:avLst>
              <a:gd name="adj" fmla="val 6670"/>
            </a:avLst>
          </a:prstGeom>
          <a:solidFill>
            <a:srgbClr val="FBEBD2"/>
          </a:solidFill>
          <a:ln w="12700">
            <a:solidFill>
              <a:srgbClr val="D98A1F"/>
            </a:solidFill>
            <a:prstDash val="solid"/>
          </a:ln>
        </p:spPr>
      </p:sp>
      <p:sp>
        <p:nvSpPr>
          <p:cNvPr id="18" name="Text 16"/>
          <p:cNvSpPr txBox="1"/>
          <p:nvPr/>
        </p:nvSpPr>
        <p:spPr>
          <a:xfrm>
            <a:off x="6519672" y="1993392"/>
            <a:ext cx="4754880" cy="219456"/>
          </a:xfrm>
          <a:prstGeom prst="rect">
            <a:avLst/>
          </a:prstGeom>
          <a:noFill/>
          <a:ln/>
        </p:spPr>
        <p:txBody>
          <a:bodyPr wrap="square" lIns="0" tIns="0" rIns="0" bIns="0" rtlCol="0" anchor="t"/>
          <a:lstStyle/>
          <a:p>
            <a:pPr algn="l" indent="0" marL="0">
              <a:buNone/>
            </a:pPr>
            <a:r>
              <a:rPr lang="en-US" sz="950" b="1" spc="130" kern="0" dirty="0">
                <a:solidFill>
                  <a:srgbClr val="D98A1F"/>
                </a:solidFill>
                <a:latin typeface="Courier New" pitchFamily="34" charset="0"/>
                <a:ea typeface="Courier New" pitchFamily="34" charset="-122"/>
                <a:cs typeface="Courier New" pitchFamily="34" charset="-120"/>
              </a:rPr>
              <a:t>NO QUOTES  ·  A NUMBER</a:t>
            </a:r>
            <a:endParaRPr lang="en-US" sz="950" dirty="0"/>
          </a:p>
        </p:txBody>
      </p:sp>
      <p:sp>
        <p:nvSpPr>
          <p:cNvPr id="19" name="Shape 17"/>
          <p:cNvSpPr/>
          <p:nvPr/>
        </p:nvSpPr>
        <p:spPr>
          <a:xfrm>
            <a:off x="6519672" y="2331720"/>
            <a:ext cx="4754880" cy="731520"/>
          </a:xfrm>
          <a:prstGeom prst="roundRect">
            <a:avLst>
              <a:gd name="adj" fmla="val 6670"/>
            </a:avLst>
          </a:prstGeom>
          <a:solidFill>
            <a:srgbClr val="121A29"/>
          </a:solidFill>
          <a:ln w="12700">
            <a:solidFill>
              <a:srgbClr val="2B3850"/>
            </a:solidFill>
            <a:prstDash val="solid"/>
          </a:ln>
        </p:spPr>
      </p:sp>
      <p:sp>
        <p:nvSpPr>
          <p:cNvPr id="20" name="Text 18"/>
          <p:cNvSpPr txBox="1"/>
          <p:nvPr/>
        </p:nvSpPr>
        <p:spPr>
          <a:xfrm>
            <a:off x="6793992" y="2331720"/>
            <a:ext cx="4206240" cy="731520"/>
          </a:xfrm>
          <a:prstGeom prst="rect">
            <a:avLst/>
          </a:prstGeom>
          <a:noFill/>
          <a:ln/>
        </p:spPr>
        <p:txBody>
          <a:bodyPr wrap="square" lIns="0" tIns="0" rIns="0" bIns="0" rtlCol="0" anchor="ctr"/>
          <a:lstStyle/>
          <a:p>
            <a:pPr algn="l" indent="0" marL="0">
              <a:buNone/>
            </a:pPr>
            <a:r>
              <a:rPr lang="en-US" sz="2600" b="1" dirty="0">
                <a:solidFill>
                  <a:srgbClr val="EDA63F"/>
                </a:solidFill>
                <a:latin typeface="Courier New" pitchFamily="34" charset="0"/>
                <a:ea typeface="Courier New" pitchFamily="34" charset="-122"/>
                <a:cs typeface="Courier New" pitchFamily="34" charset="-120"/>
              </a:rPr>
              <a:t>mov</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3EB9CE"/>
                </a:solidFill>
                <a:latin typeface="Courier New" pitchFamily="34" charset="0"/>
                <a:ea typeface="Courier New" pitchFamily="34" charset="-122"/>
                <a:cs typeface="Courier New" pitchFamily="34" charset="-120"/>
              </a:rPr>
              <a:t>al</a:t>
            </a:r>
            <a:pPr algn="l" indent="0" marL="0">
              <a:buNone/>
            </a:pPr>
            <a:r>
              <a:rPr lang="en-US" sz="2600" dirty="0">
                <a:solidFill>
                  <a:srgbClr val="F0F3F8"/>
                </a:solidFill>
                <a:latin typeface="Courier New" pitchFamily="34" charset="0"/>
                <a:ea typeface="Courier New" pitchFamily="34" charset="-122"/>
                <a:cs typeface="Courier New" pitchFamily="34" charset="-120"/>
              </a:rPr>
              <a:t>,</a:t>
            </a:r>
            <a:pPr algn="l" indent="0" marL="0">
              <a:buNone/>
            </a:pPr>
            <a:r>
              <a:rPr lang="en-US" sz="2600" dirty="0">
                <a:solidFill>
                  <a:srgbClr val="F0F3F8"/>
                </a:solidFill>
                <a:latin typeface="Courier New" pitchFamily="34" charset="0"/>
                <a:ea typeface="Courier New" pitchFamily="34" charset="-122"/>
                <a:cs typeface="Courier New" pitchFamily="34" charset="-120"/>
              </a:rPr>
              <a:t> </a:t>
            </a:r>
            <a:pPr algn="l" indent="0" marL="0">
              <a:buNone/>
            </a:pPr>
            <a:r>
              <a:rPr lang="en-US" sz="2600" b="1" dirty="0">
                <a:solidFill>
                  <a:srgbClr val="9584E8"/>
                </a:solidFill>
                <a:latin typeface="Courier New" pitchFamily="34" charset="0"/>
                <a:ea typeface="Courier New" pitchFamily="34" charset="-122"/>
                <a:cs typeface="Courier New" pitchFamily="34" charset="-120"/>
              </a:rPr>
              <a:t>5</a:t>
            </a:r>
            <a:endParaRPr lang="en-US" sz="2600" dirty="0"/>
          </a:p>
        </p:txBody>
      </p:sp>
      <p:sp>
        <p:nvSpPr>
          <p:cNvPr id="21" name="Shape 19"/>
          <p:cNvSpPr/>
          <p:nvPr/>
        </p:nvSpPr>
        <p:spPr>
          <a:xfrm>
            <a:off x="6519672" y="3310128"/>
            <a:ext cx="2194560" cy="731520"/>
          </a:xfrm>
          <a:prstGeom prst="roundRect">
            <a:avLst>
              <a:gd name="adj" fmla="val 6670"/>
            </a:avLst>
          </a:prstGeom>
          <a:solidFill>
            <a:srgbClr val="FFFFFF"/>
          </a:solidFill>
          <a:ln w="12700">
            <a:solidFill>
              <a:srgbClr val="D98A1F"/>
            </a:solidFill>
            <a:prstDash val="solid"/>
          </a:ln>
        </p:spPr>
      </p:sp>
      <p:sp>
        <p:nvSpPr>
          <p:cNvPr id="22" name="Text 20"/>
          <p:cNvSpPr txBox="1"/>
          <p:nvPr/>
        </p:nvSpPr>
        <p:spPr>
          <a:xfrm>
            <a:off x="6684264" y="3310128"/>
            <a:ext cx="877824" cy="731520"/>
          </a:xfrm>
          <a:prstGeom prst="rect">
            <a:avLst/>
          </a:prstGeom>
          <a:noFill/>
          <a:ln/>
        </p:spPr>
        <p:txBody>
          <a:bodyPr wrap="square" lIns="0" tIns="0" rIns="0" bIns="0" rtlCol="0" anchor="ctr"/>
          <a:lstStyle/>
          <a:p>
            <a:pPr algn="l" indent="0" marL="0">
              <a:buNone/>
            </a:pPr>
            <a:r>
              <a:rPr lang="en-US" sz="1800" b="1" dirty="0">
                <a:solidFill>
                  <a:srgbClr val="D98A1F"/>
                </a:solidFill>
                <a:latin typeface="Courier New" pitchFamily="34" charset="0"/>
                <a:ea typeface="Courier New" pitchFamily="34" charset="-122"/>
                <a:cs typeface="Courier New" pitchFamily="34" charset="-120"/>
              </a:rPr>
              <a:t>AL</a:t>
            </a:r>
            <a:endParaRPr lang="en-US" sz="1800" dirty="0"/>
          </a:p>
        </p:txBody>
      </p:sp>
      <p:sp>
        <p:nvSpPr>
          <p:cNvPr id="23" name="Shape 21"/>
          <p:cNvSpPr/>
          <p:nvPr/>
        </p:nvSpPr>
        <p:spPr>
          <a:xfrm>
            <a:off x="7576718" y="3429000"/>
            <a:ext cx="1009498" cy="493776"/>
          </a:xfrm>
          <a:prstGeom prst="roundRect">
            <a:avLst>
              <a:gd name="adj" fmla="val 6670"/>
            </a:avLst>
          </a:prstGeom>
          <a:solidFill>
            <a:srgbClr val="F3F5F9"/>
          </a:solidFill>
          <a:ln w="12700">
            <a:solidFill>
              <a:srgbClr val="E2E7EF"/>
            </a:solidFill>
            <a:prstDash val="solid"/>
          </a:ln>
        </p:spPr>
      </p:sp>
      <p:sp>
        <p:nvSpPr>
          <p:cNvPr id="24" name="Text 22"/>
          <p:cNvSpPr txBox="1"/>
          <p:nvPr/>
        </p:nvSpPr>
        <p:spPr>
          <a:xfrm>
            <a:off x="7576718" y="3429000"/>
            <a:ext cx="1009498" cy="493776"/>
          </a:xfrm>
          <a:prstGeom prst="rect">
            <a:avLst/>
          </a:prstGeom>
          <a:noFill/>
          <a:ln/>
        </p:spPr>
        <p:txBody>
          <a:bodyPr wrap="square" lIns="0" tIns="0" rIns="0" bIns="0" rtlCol="0" anchor="ctr"/>
          <a:lstStyle/>
          <a:p>
            <a:pPr algn="ctr" indent="0" marL="0">
              <a:buNone/>
            </a:pPr>
            <a:r>
              <a:rPr lang="en-US" sz="2000" b="1" dirty="0">
                <a:solidFill>
                  <a:srgbClr val="0F1622"/>
                </a:solidFill>
                <a:latin typeface="Courier New" pitchFamily="34" charset="0"/>
                <a:ea typeface="Courier New" pitchFamily="34" charset="-122"/>
                <a:cs typeface="Courier New" pitchFamily="34" charset="-120"/>
              </a:rPr>
              <a:t>5</a:t>
            </a:r>
            <a:endParaRPr lang="en-US" sz="2000" dirty="0"/>
          </a:p>
        </p:txBody>
      </p:sp>
      <p:sp>
        <p:nvSpPr>
          <p:cNvPr id="25" name="Text 23"/>
          <p:cNvSpPr txBox="1"/>
          <p:nvPr/>
        </p:nvSpPr>
        <p:spPr>
          <a:xfrm>
            <a:off x="8897112" y="3310128"/>
            <a:ext cx="2377440" cy="347472"/>
          </a:xfrm>
          <a:prstGeom prst="rect">
            <a:avLst/>
          </a:prstGeom>
          <a:noFill/>
          <a:ln/>
        </p:spPr>
        <p:txBody>
          <a:bodyPr wrap="square" lIns="0" tIns="0" rIns="0" bIns="0" rtlCol="0" anchor="ctr"/>
          <a:lstStyle/>
          <a:p>
            <a:pPr algn="l" indent="0" marL="0">
              <a:buNone/>
            </a:pPr>
            <a:r>
              <a:rPr lang="en-US" sz="1400" b="1" dirty="0">
                <a:solidFill>
                  <a:srgbClr val="0F1622"/>
                </a:solidFill>
                <a:latin typeface="Calibri" pitchFamily="34" charset="0"/>
                <a:ea typeface="Calibri" pitchFamily="34" charset="-122"/>
                <a:cs typeface="Calibri" pitchFamily="34" charset="-120"/>
              </a:rPr>
              <a:t>just the number 5</a:t>
            </a:r>
            <a:endParaRPr lang="en-US" sz="1400" dirty="0"/>
          </a:p>
        </p:txBody>
      </p:sp>
      <p:sp>
        <p:nvSpPr>
          <p:cNvPr id="26" name="Text 24"/>
          <p:cNvSpPr txBox="1"/>
          <p:nvPr/>
        </p:nvSpPr>
        <p:spPr>
          <a:xfrm>
            <a:off x="8897112" y="3639312"/>
            <a:ext cx="2377440" cy="347472"/>
          </a:xfrm>
          <a:prstGeom prst="rect">
            <a:avLst/>
          </a:prstGeom>
          <a:noFill/>
          <a:ln/>
        </p:spPr>
        <p:txBody>
          <a:bodyPr wrap="square" lIns="0" tIns="0" rIns="0" bIns="0" rtlCol="0" anchor="ctr"/>
          <a:lstStyle/>
          <a:p>
            <a:pPr algn="l" indent="0" marL="0">
              <a:buNone/>
            </a:pPr>
            <a:r>
              <a:rPr lang="en-US" sz="1300" dirty="0">
                <a:solidFill>
                  <a:srgbClr val="5B6779"/>
                </a:solidFill>
                <a:latin typeface="Calibri" pitchFamily="34" charset="0"/>
                <a:ea typeface="Calibri" pitchFamily="34" charset="-122"/>
                <a:cs typeface="Calibri" pitchFamily="34" charset="-120"/>
              </a:rPr>
              <a:t>use it with add and sub</a:t>
            </a:r>
            <a:endParaRPr lang="en-US" sz="1300" dirty="0"/>
          </a:p>
        </p:txBody>
      </p:sp>
      <p:sp>
        <p:nvSpPr>
          <p:cNvPr id="27" name="Shape 25"/>
          <p:cNvSpPr/>
          <p:nvPr/>
        </p:nvSpPr>
        <p:spPr>
          <a:xfrm>
            <a:off x="640080" y="4553712"/>
            <a:ext cx="10908792" cy="1188720"/>
          </a:xfrm>
          <a:prstGeom prst="roundRect">
            <a:avLst>
              <a:gd name="adj" fmla="val 6670"/>
            </a:avLst>
          </a:prstGeom>
          <a:solidFill>
            <a:srgbClr val="0F1622"/>
          </a:solidFill>
          <a:ln/>
        </p:spPr>
      </p:sp>
      <p:sp>
        <p:nvSpPr>
          <p:cNvPr id="28" name="Text 26"/>
          <p:cNvSpPr txBox="1"/>
          <p:nvPr/>
        </p:nvSpPr>
        <p:spPr>
          <a:xfrm>
            <a:off x="914400" y="4700016"/>
            <a:ext cx="5486400" cy="219456"/>
          </a:xfrm>
          <a:prstGeom prst="rect">
            <a:avLst/>
          </a:prstGeom>
          <a:noFill/>
          <a:ln/>
        </p:spPr>
        <p:txBody>
          <a:bodyPr wrap="square" lIns="0" tIns="0" rIns="0" bIns="0" rtlCol="0" anchor="t"/>
          <a:lstStyle/>
          <a:p>
            <a:pPr algn="l" indent="0" marL="0">
              <a:buNone/>
            </a:pPr>
            <a:r>
              <a:rPr lang="en-US" sz="950" b="1" spc="130" kern="0" dirty="0">
                <a:solidFill>
                  <a:srgbClr val="5C6B83"/>
                </a:solidFill>
                <a:latin typeface="Courier New" pitchFamily="34" charset="0"/>
                <a:ea typeface="Courier New" pitchFamily="34" charset="-122"/>
                <a:cs typeface="Courier New" pitchFamily="34" charset="-120"/>
              </a:rPr>
              <a:t>THIS IS WHY IT MATTERS TODAY</a:t>
            </a:r>
            <a:endParaRPr lang="en-US" sz="950" dirty="0"/>
          </a:p>
        </p:txBody>
      </p:sp>
      <p:sp>
        <p:nvSpPr>
          <p:cNvPr id="29" name="Shape 27"/>
          <p:cNvSpPr/>
          <p:nvPr/>
        </p:nvSpPr>
        <p:spPr>
          <a:xfrm>
            <a:off x="914400" y="5047488"/>
            <a:ext cx="566928" cy="566928"/>
          </a:xfrm>
          <a:prstGeom prst="roundRect">
            <a:avLst>
              <a:gd name="adj" fmla="val 6670"/>
            </a:avLst>
          </a:prstGeom>
          <a:solidFill>
            <a:srgbClr val="0A0F18"/>
          </a:solidFill>
          <a:ln/>
        </p:spPr>
      </p:sp>
      <p:sp>
        <p:nvSpPr>
          <p:cNvPr id="30" name="Shape 28"/>
          <p:cNvSpPr/>
          <p:nvPr/>
        </p:nvSpPr>
        <p:spPr>
          <a:xfrm>
            <a:off x="914400" y="4983480"/>
            <a:ext cx="566928" cy="566928"/>
          </a:xfrm>
          <a:prstGeom prst="roundRect">
            <a:avLst>
              <a:gd name="adj" fmla="val 6670"/>
            </a:avLst>
          </a:prstGeom>
          <a:solidFill>
            <a:srgbClr val="182132"/>
          </a:solidFill>
          <a:ln w="12700">
            <a:solidFill>
              <a:srgbClr val="2A3548"/>
            </a:solidFill>
            <a:prstDash val="solid"/>
          </a:ln>
        </p:spPr>
      </p:sp>
      <p:sp>
        <p:nvSpPr>
          <p:cNvPr id="31" name="Text 29"/>
          <p:cNvSpPr txBox="1"/>
          <p:nvPr/>
        </p:nvSpPr>
        <p:spPr>
          <a:xfrm>
            <a:off x="914400" y="4983480"/>
            <a:ext cx="566928" cy="521574"/>
          </a:xfrm>
          <a:prstGeom prst="rect">
            <a:avLst/>
          </a:prstGeom>
          <a:noFill/>
          <a:ln/>
        </p:spPr>
        <p:txBody>
          <a:bodyPr wrap="square" lIns="0" tIns="0" rIns="0" bIns="0" rtlCol="0" anchor="ctr"/>
          <a:lstStyle/>
          <a:p>
            <a:pPr algn="ctr" indent="0" marL="0">
              <a:buNone/>
            </a:pPr>
            <a:r>
              <a:rPr lang="en-US" sz="2100" b="1" dirty="0">
                <a:solidFill>
                  <a:srgbClr val="F0F3F8"/>
                </a:solidFill>
                <a:latin typeface="Courier New" pitchFamily="34" charset="0"/>
                <a:ea typeface="Courier New" pitchFamily="34" charset="-122"/>
                <a:cs typeface="Courier New" pitchFamily="34" charset="-120"/>
              </a:rPr>
              <a:t>5</a:t>
            </a:r>
            <a:endParaRPr lang="en-US" sz="2100" dirty="0"/>
          </a:p>
        </p:txBody>
      </p:sp>
      <p:sp>
        <p:nvSpPr>
          <p:cNvPr id="32" name="Text 30"/>
          <p:cNvSpPr txBox="1"/>
          <p:nvPr/>
        </p:nvSpPr>
        <p:spPr>
          <a:xfrm>
            <a:off x="1572768" y="4983480"/>
            <a:ext cx="1280160" cy="566928"/>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you press 5</a:t>
            </a:r>
            <a:endParaRPr lang="en-US" sz="1300" dirty="0"/>
          </a:p>
        </p:txBody>
      </p:sp>
      <p:sp>
        <p:nvSpPr>
          <p:cNvPr id="33" name="Shape 31"/>
          <p:cNvSpPr/>
          <p:nvPr/>
        </p:nvSpPr>
        <p:spPr>
          <a:xfrm>
            <a:off x="2834640" y="5266944"/>
            <a:ext cx="502920" cy="0"/>
          </a:xfrm>
          <a:prstGeom prst="line">
            <a:avLst/>
          </a:prstGeom>
          <a:noFill/>
          <a:ln w="19050">
            <a:solidFill>
              <a:srgbClr val="5C6B83"/>
            </a:solidFill>
            <a:prstDash val="solid"/>
            <a:tailEnd type="triangle"/>
          </a:ln>
        </p:spPr>
      </p:sp>
      <p:sp>
        <p:nvSpPr>
          <p:cNvPr id="34" name="Shape 32"/>
          <p:cNvSpPr/>
          <p:nvPr/>
        </p:nvSpPr>
        <p:spPr>
          <a:xfrm>
            <a:off x="3429000" y="4983480"/>
            <a:ext cx="1508760" cy="566928"/>
          </a:xfrm>
          <a:prstGeom prst="roundRect">
            <a:avLst>
              <a:gd name="adj" fmla="val 6670"/>
            </a:avLst>
          </a:prstGeom>
          <a:solidFill>
            <a:srgbClr val="122A31"/>
          </a:solidFill>
          <a:ln w="12700">
            <a:solidFill>
              <a:srgbClr val="3EB9CE"/>
            </a:solidFill>
            <a:prstDash val="solid"/>
          </a:ln>
        </p:spPr>
      </p:sp>
      <p:sp>
        <p:nvSpPr>
          <p:cNvPr id="35" name="Text 33"/>
          <p:cNvSpPr txBox="1"/>
          <p:nvPr/>
        </p:nvSpPr>
        <p:spPr>
          <a:xfrm>
            <a:off x="3429000" y="4983480"/>
            <a:ext cx="1508760" cy="566928"/>
          </a:xfrm>
          <a:prstGeom prst="rect">
            <a:avLst/>
          </a:prstGeom>
          <a:noFill/>
          <a:ln/>
        </p:spPr>
        <p:txBody>
          <a:bodyPr wrap="square" lIns="0" tIns="0" rIns="0" bIns="0" rtlCol="0" anchor="ctr"/>
          <a:lstStyle/>
          <a:p>
            <a:pPr algn="ctr" indent="0" marL="0">
              <a:buNone/>
            </a:pPr>
            <a:r>
              <a:rPr lang="en-US" sz="1600" b="1" dirty="0">
                <a:solidFill>
                  <a:srgbClr val="3EB9CE"/>
                </a:solidFill>
                <a:latin typeface="Courier New" pitchFamily="34" charset="0"/>
                <a:ea typeface="Courier New" pitchFamily="34" charset="-122"/>
                <a:cs typeface="Courier New" pitchFamily="34" charset="-120"/>
              </a:rPr>
              <a:t>AL = </a:t>
            </a:r>
            <a:pPr algn="ctr" indent="0" marL="0">
              <a:buNone/>
            </a:pPr>
            <a:r>
              <a:rPr lang="en-US" sz="1600" b="1" dirty="0">
                <a:solidFill>
                  <a:srgbClr val="F0F3F8"/>
                </a:solidFill>
                <a:latin typeface="Courier New" pitchFamily="34" charset="0"/>
                <a:ea typeface="Courier New" pitchFamily="34" charset="-122"/>
                <a:cs typeface="Courier New" pitchFamily="34" charset="-120"/>
              </a:rPr>
              <a:t>53</a:t>
            </a:r>
            <a:endParaRPr lang="en-US" sz="1600" dirty="0"/>
          </a:p>
        </p:txBody>
      </p:sp>
      <p:sp>
        <p:nvSpPr>
          <p:cNvPr id="36" name="Text 34"/>
          <p:cNvSpPr txBox="1"/>
          <p:nvPr/>
        </p:nvSpPr>
        <p:spPr>
          <a:xfrm>
            <a:off x="5212080" y="4901184"/>
            <a:ext cx="6217920" cy="74980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The keyboard always gives you a character: '5', which is 53, not the number 5.</a:t>
            </a:r>
            <a:endParaRPr lang="en-US" sz="1500" dirty="0"/>
          </a:p>
          <a:p>
            <a:pPr algn="l" indent="0" marL="0">
              <a:buNone/>
            </a:pPr>
            <a:r>
              <a:rPr lang="en-US" sz="1300" i="1" dirty="0">
                <a:solidFill>
                  <a:srgbClr val="94A3B8"/>
                </a:solidFill>
                <a:latin typeface="Calibri" pitchFamily="34" charset="0"/>
                <a:ea typeface="Calibri" pitchFamily="34" charset="-122"/>
                <a:cs typeface="Calibri" pitchFamily="34" charset="-120"/>
              </a:rPr>
              <a:t>Turning a typed digit into a number for sums comes in a later lab.</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7 · PUTTING IT TOGETHER</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F0F3F8"/>
                </a:solidFill>
                <a:latin typeface="Arial" pitchFamily="34" charset="0"/>
                <a:ea typeface="Arial" pitchFamily="34" charset="-122"/>
                <a:cs typeface="Arial" pitchFamily="34" charset="-120"/>
              </a:rPr>
              <a:t>Read a key, print the next one</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94A3B8"/>
                </a:solidFill>
                <a:latin typeface="Calibri" pitchFamily="34" charset="0"/>
                <a:ea typeface="Calibri" pitchFamily="34" charset="-122"/>
                <a:cs typeface="Calibri" pitchFamily="34" charset="-120"/>
              </a:rPr>
              <a:t>Input, ASCII and ADD in six lines.</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09</a:t>
            </a:r>
            <a:endParaRPr lang="en-US" sz="900" dirty="0"/>
          </a:p>
        </p:txBody>
      </p:sp>
      <p:sp>
        <p:nvSpPr>
          <p:cNvPr id="7" name="Shape 5"/>
          <p:cNvSpPr/>
          <p:nvPr/>
        </p:nvSpPr>
        <p:spPr>
          <a:xfrm>
            <a:off x="640080" y="1810512"/>
            <a:ext cx="5760720" cy="3063240"/>
          </a:xfrm>
          <a:prstGeom prst="roundRect">
            <a:avLst>
              <a:gd name="adj" fmla="val 6670"/>
            </a:avLst>
          </a:prstGeom>
          <a:solidFill>
            <a:srgbClr val="121A29"/>
          </a:solidFill>
          <a:ln w="12700">
            <a:solidFill>
              <a:srgbClr val="2B3850"/>
            </a:solidFill>
            <a:prstDash val="solid"/>
          </a:ln>
        </p:spPr>
      </p:sp>
      <p:sp>
        <p:nvSpPr>
          <p:cNvPr id="8" name="Shape 6"/>
          <p:cNvSpPr/>
          <p:nvPr/>
        </p:nvSpPr>
        <p:spPr>
          <a:xfrm>
            <a:off x="777240" y="3273552"/>
            <a:ext cx="5486400" cy="457200"/>
          </a:xfrm>
          <a:prstGeom prst="roundRect">
            <a:avLst>
              <a:gd name="adj" fmla="val 6670"/>
            </a:avLst>
          </a:prstGeom>
          <a:solidFill>
            <a:srgbClr val="2A2113"/>
          </a:solidFill>
          <a:ln w="12700">
            <a:solidFill>
              <a:srgbClr val="4A3620"/>
            </a:solidFill>
            <a:prstDash val="solid"/>
          </a:ln>
        </p:spPr>
      </p:sp>
      <p:sp>
        <p:nvSpPr>
          <p:cNvPr id="9" name="Text 7"/>
          <p:cNvSpPr txBox="1"/>
          <p:nvPr/>
        </p:nvSpPr>
        <p:spPr>
          <a:xfrm>
            <a:off x="960120" y="1993392"/>
            <a:ext cx="5303520" cy="384048"/>
          </a:xfrm>
          <a:prstGeom prst="rect">
            <a:avLst/>
          </a:prstGeom>
          <a:noFill/>
          <a:ln/>
        </p:spPr>
        <p:txBody>
          <a:bodyPr wrap="square" lIns="0" tIns="0" rIns="0" bIns="0" rtlCol="0" anchor="ctr"/>
          <a:lstStyle/>
          <a:p>
            <a:pPr algn="l" indent="0" marL="0">
              <a:buNone/>
            </a:pPr>
            <a:r>
              <a:rPr lang="en-US" sz="1550" b="1" dirty="0">
                <a:solidFill>
                  <a:srgbClr val="EDA63F"/>
                </a:solidFill>
                <a:latin typeface="Courier New" pitchFamily="34" charset="0"/>
                <a:ea typeface="Courier New" pitchFamily="34" charset="-122"/>
                <a:cs typeface="Courier New" pitchFamily="34" charset="-120"/>
              </a:rPr>
              <a:t>mov</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3EB9CE"/>
                </a:solidFill>
                <a:latin typeface="Courier New" pitchFamily="34" charset="0"/>
                <a:ea typeface="Courier New" pitchFamily="34" charset="-122"/>
                <a:cs typeface="Courier New" pitchFamily="34" charset="-120"/>
              </a:rPr>
              <a:t>ah</a:t>
            </a:r>
            <a:pPr algn="l" indent="0" marL="0">
              <a:buNone/>
            </a:pPr>
            <a:r>
              <a:rPr lang="en-US" sz="1550" dirty="0">
                <a:solidFill>
                  <a:srgbClr val="F0F3F8"/>
                </a:solidFill>
                <a:latin typeface="Courier New" pitchFamily="34" charset="0"/>
                <a:ea typeface="Courier New" pitchFamily="34" charset="-122"/>
                <a:cs typeface="Courier New" pitchFamily="34" charset="-120"/>
              </a:rPr>
              <a:t>,</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9584E8"/>
                </a:solidFill>
                <a:latin typeface="Courier New" pitchFamily="34" charset="0"/>
                <a:ea typeface="Courier New" pitchFamily="34" charset="-122"/>
                <a:cs typeface="Courier New" pitchFamily="34" charset="-120"/>
              </a:rPr>
              <a:t>01h</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dirty="0">
                <a:solidFill>
                  <a:srgbClr val="6B7A93"/>
                </a:solidFill>
                <a:latin typeface="Courier New" pitchFamily="34" charset="0"/>
                <a:ea typeface="Courier New" pitchFamily="34" charset="-122"/>
                <a:cs typeface="Courier New" pitchFamily="34" charset="-120"/>
              </a:rPr>
              <a:t>; read a key, with echo</a:t>
            </a:r>
            <a:endParaRPr lang="en-US" sz="1550" dirty="0"/>
          </a:p>
        </p:txBody>
      </p:sp>
      <p:sp>
        <p:nvSpPr>
          <p:cNvPr id="10" name="Text 8"/>
          <p:cNvSpPr txBox="1"/>
          <p:nvPr/>
        </p:nvSpPr>
        <p:spPr>
          <a:xfrm>
            <a:off x="960120" y="2432304"/>
            <a:ext cx="5303520" cy="384048"/>
          </a:xfrm>
          <a:prstGeom prst="rect">
            <a:avLst/>
          </a:prstGeom>
          <a:noFill/>
          <a:ln/>
        </p:spPr>
        <p:txBody>
          <a:bodyPr wrap="square" lIns="0" tIns="0" rIns="0" bIns="0" rtlCol="0" anchor="ctr"/>
          <a:lstStyle/>
          <a:p>
            <a:pPr algn="l" indent="0" marL="0">
              <a:buNone/>
            </a:pPr>
            <a:r>
              <a:rPr lang="en-US" sz="1550" b="1" dirty="0">
                <a:solidFill>
                  <a:srgbClr val="EDA63F"/>
                </a:solidFill>
                <a:latin typeface="Courier New" pitchFamily="34" charset="0"/>
                <a:ea typeface="Courier New" pitchFamily="34" charset="-122"/>
                <a:cs typeface="Courier New" pitchFamily="34" charset="-120"/>
              </a:rPr>
              <a:t>int</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9584E8"/>
                </a:solidFill>
                <a:latin typeface="Courier New" pitchFamily="34" charset="0"/>
                <a:ea typeface="Courier New" pitchFamily="34" charset="-122"/>
                <a:cs typeface="Courier New" pitchFamily="34" charset="-120"/>
              </a:rPr>
              <a:t>21h</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dirty="0">
                <a:solidFill>
                  <a:srgbClr val="6B7A93"/>
                </a:solidFill>
                <a:latin typeface="Courier New" pitchFamily="34" charset="0"/>
                <a:ea typeface="Courier New" pitchFamily="34" charset="-122"/>
                <a:cs typeface="Courier New" pitchFamily="34" charset="-120"/>
              </a:rPr>
              <a:t>; AL = the key</a:t>
            </a:r>
            <a:endParaRPr lang="en-US" sz="1550" dirty="0"/>
          </a:p>
        </p:txBody>
      </p:sp>
      <p:sp>
        <p:nvSpPr>
          <p:cNvPr id="11" name="Text 9"/>
          <p:cNvSpPr txBox="1"/>
          <p:nvPr/>
        </p:nvSpPr>
        <p:spPr>
          <a:xfrm>
            <a:off x="960120" y="2871216"/>
            <a:ext cx="5303520" cy="384048"/>
          </a:xfrm>
          <a:prstGeom prst="rect">
            <a:avLst/>
          </a:prstGeom>
          <a:noFill/>
          <a:ln/>
        </p:spPr>
        <p:txBody>
          <a:bodyPr wrap="square" lIns="0" tIns="0" rIns="0" bIns="0" rtlCol="0" anchor="ctr"/>
          <a:lstStyle/>
          <a:p>
            <a:pPr algn="l" indent="0" marL="0">
              <a:buNone/>
            </a:pPr>
            <a:r>
              <a:rPr lang="en-US" sz="1550" b="1" dirty="0">
                <a:solidFill>
                  <a:srgbClr val="EDA63F"/>
                </a:solidFill>
                <a:latin typeface="Courier New" pitchFamily="34" charset="0"/>
                <a:ea typeface="Courier New" pitchFamily="34" charset="-122"/>
                <a:cs typeface="Courier New" pitchFamily="34" charset="-120"/>
              </a:rPr>
              <a:t>mov</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3EB9CE"/>
                </a:solidFill>
                <a:latin typeface="Courier New" pitchFamily="34" charset="0"/>
                <a:ea typeface="Courier New" pitchFamily="34" charset="-122"/>
                <a:cs typeface="Courier New" pitchFamily="34" charset="-120"/>
              </a:rPr>
              <a:t>dl</a:t>
            </a:r>
            <a:pPr algn="l" indent="0" marL="0">
              <a:buNone/>
            </a:pPr>
            <a:r>
              <a:rPr lang="en-US" sz="1550" dirty="0">
                <a:solidFill>
                  <a:srgbClr val="F0F3F8"/>
                </a:solidFill>
                <a:latin typeface="Courier New" pitchFamily="34" charset="0"/>
                <a:ea typeface="Courier New" pitchFamily="34" charset="-122"/>
                <a:cs typeface="Courier New" pitchFamily="34" charset="-120"/>
              </a:rPr>
              <a:t>,</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3EB9CE"/>
                </a:solidFill>
                <a:latin typeface="Courier New" pitchFamily="34" charset="0"/>
                <a:ea typeface="Courier New" pitchFamily="34" charset="-122"/>
                <a:cs typeface="Courier New" pitchFamily="34" charset="-120"/>
              </a:rPr>
              <a:t>al</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dirty="0">
                <a:solidFill>
                  <a:srgbClr val="6B7A93"/>
                </a:solidFill>
                <a:latin typeface="Courier New" pitchFamily="34" charset="0"/>
                <a:ea typeface="Courier New" pitchFamily="34" charset="-122"/>
                <a:cs typeface="Courier New" pitchFamily="34" charset="-120"/>
              </a:rPr>
              <a:t>; copy it into DL</a:t>
            </a:r>
            <a:endParaRPr lang="en-US" sz="1550" dirty="0"/>
          </a:p>
        </p:txBody>
      </p:sp>
      <p:sp>
        <p:nvSpPr>
          <p:cNvPr id="12" name="Text 10"/>
          <p:cNvSpPr txBox="1"/>
          <p:nvPr/>
        </p:nvSpPr>
        <p:spPr>
          <a:xfrm>
            <a:off x="960120" y="3310128"/>
            <a:ext cx="5303520" cy="384048"/>
          </a:xfrm>
          <a:prstGeom prst="rect">
            <a:avLst/>
          </a:prstGeom>
          <a:noFill/>
          <a:ln/>
        </p:spPr>
        <p:txBody>
          <a:bodyPr wrap="square" lIns="0" tIns="0" rIns="0" bIns="0" rtlCol="0" anchor="ctr"/>
          <a:lstStyle/>
          <a:p>
            <a:pPr algn="l" indent="0" marL="0">
              <a:buNone/>
            </a:pPr>
            <a:r>
              <a:rPr lang="en-US" sz="1550" b="1" dirty="0">
                <a:solidFill>
                  <a:srgbClr val="EDA63F"/>
                </a:solidFill>
                <a:latin typeface="Courier New" pitchFamily="34" charset="0"/>
                <a:ea typeface="Courier New" pitchFamily="34" charset="-122"/>
                <a:cs typeface="Courier New" pitchFamily="34" charset="-120"/>
              </a:rPr>
              <a:t>add</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3EB9CE"/>
                </a:solidFill>
                <a:latin typeface="Courier New" pitchFamily="34" charset="0"/>
                <a:ea typeface="Courier New" pitchFamily="34" charset="-122"/>
                <a:cs typeface="Courier New" pitchFamily="34" charset="-120"/>
              </a:rPr>
              <a:t>dl</a:t>
            </a:r>
            <a:pPr algn="l" indent="0" marL="0">
              <a:buNone/>
            </a:pPr>
            <a:r>
              <a:rPr lang="en-US" sz="1550" dirty="0">
                <a:solidFill>
                  <a:srgbClr val="F0F3F8"/>
                </a:solidFill>
                <a:latin typeface="Courier New" pitchFamily="34" charset="0"/>
                <a:ea typeface="Courier New" pitchFamily="34" charset="-122"/>
                <a:cs typeface="Courier New" pitchFamily="34" charset="-120"/>
              </a:rPr>
              <a:t>,</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9584E8"/>
                </a:solidFill>
                <a:latin typeface="Courier New" pitchFamily="34" charset="0"/>
                <a:ea typeface="Courier New" pitchFamily="34" charset="-122"/>
                <a:cs typeface="Courier New" pitchFamily="34" charset="-120"/>
              </a:rPr>
              <a:t>1</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dirty="0">
                <a:solidFill>
                  <a:srgbClr val="6B7A93"/>
                </a:solidFill>
                <a:latin typeface="Courier New" pitchFamily="34" charset="0"/>
                <a:ea typeface="Courier New" pitchFamily="34" charset="-122"/>
                <a:cs typeface="Courier New" pitchFamily="34" charset="-120"/>
              </a:rPr>
              <a:t>; one more: the next character</a:t>
            </a:r>
            <a:endParaRPr lang="en-US" sz="1550" dirty="0"/>
          </a:p>
        </p:txBody>
      </p:sp>
      <p:sp>
        <p:nvSpPr>
          <p:cNvPr id="13" name="Text 11"/>
          <p:cNvSpPr txBox="1"/>
          <p:nvPr/>
        </p:nvSpPr>
        <p:spPr>
          <a:xfrm>
            <a:off x="960120" y="3749040"/>
            <a:ext cx="5303520" cy="384048"/>
          </a:xfrm>
          <a:prstGeom prst="rect">
            <a:avLst/>
          </a:prstGeom>
          <a:noFill/>
          <a:ln/>
        </p:spPr>
        <p:txBody>
          <a:bodyPr wrap="square" lIns="0" tIns="0" rIns="0" bIns="0" rtlCol="0" anchor="ctr"/>
          <a:lstStyle/>
          <a:p>
            <a:pPr algn="l" indent="0" marL="0">
              <a:buNone/>
            </a:pPr>
            <a:r>
              <a:rPr lang="en-US" sz="1550" b="1" dirty="0">
                <a:solidFill>
                  <a:srgbClr val="EDA63F"/>
                </a:solidFill>
                <a:latin typeface="Courier New" pitchFamily="34" charset="0"/>
                <a:ea typeface="Courier New" pitchFamily="34" charset="-122"/>
                <a:cs typeface="Courier New" pitchFamily="34" charset="-120"/>
              </a:rPr>
              <a:t>mov</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3EB9CE"/>
                </a:solidFill>
                <a:latin typeface="Courier New" pitchFamily="34" charset="0"/>
                <a:ea typeface="Courier New" pitchFamily="34" charset="-122"/>
                <a:cs typeface="Courier New" pitchFamily="34" charset="-120"/>
              </a:rPr>
              <a:t>ah</a:t>
            </a:r>
            <a:pPr algn="l" indent="0" marL="0">
              <a:buNone/>
            </a:pPr>
            <a:r>
              <a:rPr lang="en-US" sz="1550" dirty="0">
                <a:solidFill>
                  <a:srgbClr val="F0F3F8"/>
                </a:solidFill>
                <a:latin typeface="Courier New" pitchFamily="34" charset="0"/>
                <a:ea typeface="Courier New" pitchFamily="34" charset="-122"/>
                <a:cs typeface="Courier New" pitchFamily="34" charset="-120"/>
              </a:rPr>
              <a:t>,</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9584E8"/>
                </a:solidFill>
                <a:latin typeface="Courier New" pitchFamily="34" charset="0"/>
                <a:ea typeface="Courier New" pitchFamily="34" charset="-122"/>
                <a:cs typeface="Courier New" pitchFamily="34" charset="-120"/>
              </a:rPr>
              <a:t>02h</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dirty="0">
                <a:solidFill>
                  <a:srgbClr val="6B7A93"/>
                </a:solidFill>
                <a:latin typeface="Courier New" pitchFamily="34" charset="0"/>
                <a:ea typeface="Courier New" pitchFamily="34" charset="-122"/>
                <a:cs typeface="Courier New" pitchFamily="34" charset="-120"/>
              </a:rPr>
              <a:t>; print a character</a:t>
            </a:r>
            <a:endParaRPr lang="en-US" sz="1550" dirty="0"/>
          </a:p>
        </p:txBody>
      </p:sp>
      <p:sp>
        <p:nvSpPr>
          <p:cNvPr id="14" name="Text 12"/>
          <p:cNvSpPr txBox="1"/>
          <p:nvPr/>
        </p:nvSpPr>
        <p:spPr>
          <a:xfrm>
            <a:off x="960120" y="4187952"/>
            <a:ext cx="5303520" cy="384048"/>
          </a:xfrm>
          <a:prstGeom prst="rect">
            <a:avLst/>
          </a:prstGeom>
          <a:noFill/>
          <a:ln/>
        </p:spPr>
        <p:txBody>
          <a:bodyPr wrap="square" lIns="0" tIns="0" rIns="0" bIns="0" rtlCol="0" anchor="ctr"/>
          <a:lstStyle/>
          <a:p>
            <a:pPr algn="l" indent="0" marL="0">
              <a:buNone/>
            </a:pPr>
            <a:r>
              <a:rPr lang="en-US" sz="1550" b="1" dirty="0">
                <a:solidFill>
                  <a:srgbClr val="EDA63F"/>
                </a:solidFill>
                <a:latin typeface="Courier New" pitchFamily="34" charset="0"/>
                <a:ea typeface="Courier New" pitchFamily="34" charset="-122"/>
                <a:cs typeface="Courier New" pitchFamily="34" charset="-120"/>
              </a:rPr>
              <a:t>int</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b="1" dirty="0">
                <a:solidFill>
                  <a:srgbClr val="9584E8"/>
                </a:solidFill>
                <a:latin typeface="Courier New" pitchFamily="34" charset="0"/>
                <a:ea typeface="Courier New" pitchFamily="34" charset="-122"/>
                <a:cs typeface="Courier New" pitchFamily="34" charset="-120"/>
              </a:rPr>
              <a:t>21h</a:t>
            </a:r>
            <a:pPr algn="l" indent="0" marL="0">
              <a:buNone/>
            </a:pPr>
            <a:r>
              <a:rPr lang="en-US" sz="1550" dirty="0">
                <a:solidFill>
                  <a:srgbClr val="F0F3F8"/>
                </a:solidFill>
                <a:latin typeface="Courier New" pitchFamily="34" charset="0"/>
                <a:ea typeface="Courier New" pitchFamily="34" charset="-122"/>
                <a:cs typeface="Courier New" pitchFamily="34" charset="-120"/>
              </a:rPr>
              <a:t>        </a:t>
            </a:r>
            <a:pPr algn="l" indent="0" marL="0">
              <a:buNone/>
            </a:pPr>
            <a:r>
              <a:rPr lang="en-US" sz="1550" dirty="0">
                <a:solidFill>
                  <a:srgbClr val="6B7A93"/>
                </a:solidFill>
                <a:latin typeface="Courier New" pitchFamily="34" charset="0"/>
                <a:ea typeface="Courier New" pitchFamily="34" charset="-122"/>
                <a:cs typeface="Courier New" pitchFamily="34" charset="-120"/>
              </a:rPr>
              <a:t>; show it</a:t>
            </a:r>
            <a:endParaRPr lang="en-US" sz="1550" dirty="0"/>
          </a:p>
        </p:txBody>
      </p:sp>
      <p:sp>
        <p:nvSpPr>
          <p:cNvPr id="15" name="Shape 13"/>
          <p:cNvSpPr/>
          <p:nvPr/>
        </p:nvSpPr>
        <p:spPr>
          <a:xfrm>
            <a:off x="6812280" y="1892808"/>
            <a:ext cx="713232" cy="713232"/>
          </a:xfrm>
          <a:prstGeom prst="roundRect">
            <a:avLst>
              <a:gd name="adj" fmla="val 6670"/>
            </a:avLst>
          </a:prstGeom>
          <a:solidFill>
            <a:srgbClr val="0A0F18"/>
          </a:solidFill>
          <a:ln/>
        </p:spPr>
      </p:sp>
      <p:sp>
        <p:nvSpPr>
          <p:cNvPr id="16" name="Shape 14"/>
          <p:cNvSpPr/>
          <p:nvPr/>
        </p:nvSpPr>
        <p:spPr>
          <a:xfrm>
            <a:off x="6812280" y="1828800"/>
            <a:ext cx="713232" cy="713232"/>
          </a:xfrm>
          <a:prstGeom prst="roundRect">
            <a:avLst>
              <a:gd name="adj" fmla="val 6670"/>
            </a:avLst>
          </a:prstGeom>
          <a:solidFill>
            <a:srgbClr val="182132"/>
          </a:solidFill>
          <a:ln w="12700">
            <a:solidFill>
              <a:srgbClr val="2A3548"/>
            </a:solidFill>
            <a:prstDash val="solid"/>
          </a:ln>
        </p:spPr>
      </p:sp>
      <p:sp>
        <p:nvSpPr>
          <p:cNvPr id="17" name="Text 15"/>
          <p:cNvSpPr txBox="1"/>
          <p:nvPr/>
        </p:nvSpPr>
        <p:spPr>
          <a:xfrm>
            <a:off x="6812280" y="1828800"/>
            <a:ext cx="713232" cy="656173"/>
          </a:xfrm>
          <a:prstGeom prst="rect">
            <a:avLst/>
          </a:prstGeom>
          <a:noFill/>
          <a:ln/>
        </p:spPr>
        <p:txBody>
          <a:bodyPr wrap="square" lIns="0" tIns="0" rIns="0" bIns="0" rtlCol="0" anchor="ctr"/>
          <a:lstStyle/>
          <a:p>
            <a:pPr algn="ctr" indent="0" marL="0">
              <a:buNone/>
            </a:pPr>
            <a:r>
              <a:rPr lang="en-US" sz="2700" b="1" dirty="0">
                <a:solidFill>
                  <a:srgbClr val="F0F3F8"/>
                </a:solidFill>
                <a:latin typeface="Courier New" pitchFamily="34" charset="0"/>
                <a:ea typeface="Courier New" pitchFamily="34" charset="-122"/>
                <a:cs typeface="Courier New" pitchFamily="34" charset="-120"/>
              </a:rPr>
              <a:t>c</a:t>
            </a:r>
            <a:endParaRPr lang="en-US" sz="2700" dirty="0"/>
          </a:p>
        </p:txBody>
      </p:sp>
      <p:sp>
        <p:nvSpPr>
          <p:cNvPr id="18" name="Text 16"/>
          <p:cNvSpPr txBox="1"/>
          <p:nvPr/>
        </p:nvSpPr>
        <p:spPr>
          <a:xfrm>
            <a:off x="7680960" y="1828800"/>
            <a:ext cx="1828800" cy="713232"/>
          </a:xfrm>
          <a:prstGeom prst="rect">
            <a:avLst/>
          </a:prstGeom>
          <a:noFill/>
          <a:ln/>
        </p:spPr>
        <p:txBody>
          <a:bodyPr wrap="square" lIns="0" tIns="0" rIns="0" bIns="0"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you press c</a:t>
            </a:r>
            <a:endParaRPr lang="en-US" sz="1300" dirty="0"/>
          </a:p>
        </p:txBody>
      </p:sp>
      <p:sp>
        <p:nvSpPr>
          <p:cNvPr id="19" name="Shape 17"/>
          <p:cNvSpPr/>
          <p:nvPr/>
        </p:nvSpPr>
        <p:spPr>
          <a:xfrm>
            <a:off x="7168896" y="2651760"/>
            <a:ext cx="0" cy="320040"/>
          </a:xfrm>
          <a:prstGeom prst="line">
            <a:avLst/>
          </a:prstGeom>
          <a:noFill/>
          <a:ln w="19050">
            <a:solidFill>
              <a:srgbClr val="5C6B83"/>
            </a:solidFill>
            <a:prstDash val="solid"/>
            <a:tailEnd type="triangle"/>
          </a:ln>
        </p:spPr>
      </p:sp>
      <p:sp>
        <p:nvSpPr>
          <p:cNvPr id="20" name="Shape 18"/>
          <p:cNvSpPr/>
          <p:nvPr/>
        </p:nvSpPr>
        <p:spPr>
          <a:xfrm>
            <a:off x="6812280" y="3017520"/>
            <a:ext cx="2286000" cy="603504"/>
          </a:xfrm>
          <a:prstGeom prst="roundRect">
            <a:avLst>
              <a:gd name="adj" fmla="val 6670"/>
            </a:avLst>
          </a:prstGeom>
          <a:solidFill>
            <a:srgbClr val="122A31"/>
          </a:solidFill>
          <a:ln w="12700">
            <a:solidFill>
              <a:srgbClr val="3EB9CE"/>
            </a:solidFill>
            <a:prstDash val="solid"/>
          </a:ln>
        </p:spPr>
      </p:sp>
      <p:sp>
        <p:nvSpPr>
          <p:cNvPr id="21" name="Text 19"/>
          <p:cNvSpPr txBox="1"/>
          <p:nvPr/>
        </p:nvSpPr>
        <p:spPr>
          <a:xfrm>
            <a:off x="6976872" y="3017520"/>
            <a:ext cx="914400" cy="603504"/>
          </a:xfrm>
          <a:prstGeom prst="rect">
            <a:avLst/>
          </a:prstGeom>
          <a:noFill/>
          <a:ln/>
        </p:spPr>
        <p:txBody>
          <a:bodyPr wrap="square" lIns="0" tIns="0" rIns="0" bIns="0" rtlCol="0" anchor="ctr"/>
          <a:lstStyle/>
          <a:p>
            <a:pPr algn="l" indent="0" marL="0">
              <a:buNone/>
            </a:pPr>
            <a:r>
              <a:rPr lang="en-US" sz="1600" b="1" dirty="0">
                <a:solidFill>
                  <a:srgbClr val="3EB9CE"/>
                </a:solidFill>
                <a:latin typeface="Courier New" pitchFamily="34" charset="0"/>
                <a:ea typeface="Courier New" pitchFamily="34" charset="-122"/>
                <a:cs typeface="Courier New" pitchFamily="34" charset="-120"/>
              </a:rPr>
              <a:t>AL</a:t>
            </a:r>
            <a:endParaRPr lang="en-US" sz="1600" dirty="0"/>
          </a:p>
        </p:txBody>
      </p:sp>
      <p:sp>
        <p:nvSpPr>
          <p:cNvPr id="22" name="Shape 20"/>
          <p:cNvSpPr/>
          <p:nvPr/>
        </p:nvSpPr>
        <p:spPr>
          <a:xfrm>
            <a:off x="7918704" y="3136392"/>
            <a:ext cx="1051560" cy="365760"/>
          </a:xfrm>
          <a:prstGeom prst="roundRect">
            <a:avLst>
              <a:gd name="adj" fmla="val 6670"/>
            </a:avLst>
          </a:prstGeom>
          <a:solidFill>
            <a:srgbClr val="0E1420"/>
          </a:solidFill>
          <a:ln w="12700">
            <a:solidFill>
              <a:srgbClr val="3EB9CE"/>
            </a:solidFill>
            <a:prstDash val="solid"/>
          </a:ln>
        </p:spPr>
      </p:sp>
      <p:sp>
        <p:nvSpPr>
          <p:cNvPr id="23" name="Text 21"/>
          <p:cNvSpPr txBox="1"/>
          <p:nvPr/>
        </p:nvSpPr>
        <p:spPr>
          <a:xfrm>
            <a:off x="7918704" y="3136392"/>
            <a:ext cx="1051560" cy="365760"/>
          </a:xfrm>
          <a:prstGeom prst="rect">
            <a:avLst/>
          </a:prstGeom>
          <a:noFill/>
          <a:ln/>
        </p:spPr>
        <p:txBody>
          <a:bodyPr wrap="square" lIns="0" tIns="0" rIns="0" bIns="0" rtlCol="0" anchor="ctr"/>
          <a:lstStyle/>
          <a:p>
            <a:pPr algn="ctr" indent="0" marL="0">
              <a:buNone/>
            </a:pPr>
            <a:r>
              <a:rPr lang="en-US" sz="1600" b="1" dirty="0">
                <a:solidFill>
                  <a:srgbClr val="F0F3F8"/>
                </a:solidFill>
                <a:latin typeface="Courier New" pitchFamily="34" charset="0"/>
                <a:ea typeface="Courier New" pitchFamily="34" charset="-122"/>
                <a:cs typeface="Courier New" pitchFamily="34" charset="-120"/>
              </a:rPr>
              <a:t>99</a:t>
            </a:r>
            <a:endParaRPr lang="en-US" sz="1600" dirty="0"/>
          </a:p>
        </p:txBody>
      </p:sp>
      <p:sp>
        <p:nvSpPr>
          <p:cNvPr id="24" name="Text 22"/>
          <p:cNvSpPr txBox="1"/>
          <p:nvPr/>
        </p:nvSpPr>
        <p:spPr>
          <a:xfrm>
            <a:off x="9235440" y="3017520"/>
            <a:ext cx="2286000" cy="603504"/>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'c' is 99</a:t>
            </a:r>
            <a:endParaRPr lang="en-US" sz="1300" dirty="0"/>
          </a:p>
        </p:txBody>
      </p:sp>
      <p:sp>
        <p:nvSpPr>
          <p:cNvPr id="25" name="Shape 23"/>
          <p:cNvSpPr/>
          <p:nvPr/>
        </p:nvSpPr>
        <p:spPr>
          <a:xfrm>
            <a:off x="7168896" y="3675888"/>
            <a:ext cx="0" cy="274320"/>
          </a:xfrm>
          <a:prstGeom prst="line">
            <a:avLst/>
          </a:prstGeom>
          <a:noFill/>
          <a:ln w="19050">
            <a:solidFill>
              <a:srgbClr val="5C6B83"/>
            </a:solidFill>
            <a:prstDash val="solid"/>
            <a:tailEnd type="triangle"/>
          </a:ln>
        </p:spPr>
      </p:sp>
      <p:sp>
        <p:nvSpPr>
          <p:cNvPr id="26" name="Shape 24"/>
          <p:cNvSpPr/>
          <p:nvPr/>
        </p:nvSpPr>
        <p:spPr>
          <a:xfrm>
            <a:off x="6812280" y="3995928"/>
            <a:ext cx="2286000" cy="603504"/>
          </a:xfrm>
          <a:prstGeom prst="roundRect">
            <a:avLst>
              <a:gd name="adj" fmla="val 6670"/>
            </a:avLst>
          </a:prstGeom>
          <a:solidFill>
            <a:srgbClr val="2A2113"/>
          </a:solidFill>
          <a:ln w="12700">
            <a:solidFill>
              <a:srgbClr val="EDA63F"/>
            </a:solidFill>
            <a:prstDash val="solid"/>
          </a:ln>
        </p:spPr>
      </p:sp>
      <p:sp>
        <p:nvSpPr>
          <p:cNvPr id="27" name="Text 25"/>
          <p:cNvSpPr txBox="1"/>
          <p:nvPr/>
        </p:nvSpPr>
        <p:spPr>
          <a:xfrm>
            <a:off x="6976872" y="3995928"/>
            <a:ext cx="914400" cy="603504"/>
          </a:xfrm>
          <a:prstGeom prst="rect">
            <a:avLst/>
          </a:prstGeom>
          <a:noFill/>
          <a:ln/>
        </p:spPr>
        <p:txBody>
          <a:bodyPr wrap="square" lIns="0" tIns="0" rIns="0" bIns="0" rtlCol="0" anchor="ctr"/>
          <a:lstStyle/>
          <a:p>
            <a:pPr algn="l" indent="0" marL="0">
              <a:buNone/>
            </a:pPr>
            <a:r>
              <a:rPr lang="en-US" sz="1600" b="1" dirty="0">
                <a:solidFill>
                  <a:srgbClr val="EDA63F"/>
                </a:solidFill>
                <a:latin typeface="Courier New" pitchFamily="34" charset="0"/>
                <a:ea typeface="Courier New" pitchFamily="34" charset="-122"/>
                <a:cs typeface="Courier New" pitchFamily="34" charset="-120"/>
              </a:rPr>
              <a:t>DL</a:t>
            </a:r>
            <a:endParaRPr lang="en-US" sz="1600" dirty="0"/>
          </a:p>
        </p:txBody>
      </p:sp>
      <p:sp>
        <p:nvSpPr>
          <p:cNvPr id="28" name="Shape 26"/>
          <p:cNvSpPr/>
          <p:nvPr/>
        </p:nvSpPr>
        <p:spPr>
          <a:xfrm>
            <a:off x="7918704" y="4114800"/>
            <a:ext cx="1051560" cy="365760"/>
          </a:xfrm>
          <a:prstGeom prst="roundRect">
            <a:avLst>
              <a:gd name="adj" fmla="val 6670"/>
            </a:avLst>
          </a:prstGeom>
          <a:solidFill>
            <a:srgbClr val="0E1420"/>
          </a:solidFill>
          <a:ln w="12700">
            <a:solidFill>
              <a:srgbClr val="EDA63F"/>
            </a:solidFill>
            <a:prstDash val="solid"/>
          </a:ln>
        </p:spPr>
      </p:sp>
      <p:sp>
        <p:nvSpPr>
          <p:cNvPr id="29" name="Text 27"/>
          <p:cNvSpPr txBox="1"/>
          <p:nvPr/>
        </p:nvSpPr>
        <p:spPr>
          <a:xfrm>
            <a:off x="7918704" y="4114800"/>
            <a:ext cx="1051560" cy="365760"/>
          </a:xfrm>
          <a:prstGeom prst="rect">
            <a:avLst/>
          </a:prstGeom>
          <a:noFill/>
          <a:ln/>
        </p:spPr>
        <p:txBody>
          <a:bodyPr wrap="square" lIns="0" tIns="0" rIns="0" bIns="0" rtlCol="0" anchor="ctr"/>
          <a:lstStyle/>
          <a:p>
            <a:pPr algn="ctr" indent="0" marL="0">
              <a:buNone/>
            </a:pPr>
            <a:r>
              <a:rPr lang="en-US" sz="1600" b="1" dirty="0">
                <a:solidFill>
                  <a:srgbClr val="F0F3F8"/>
                </a:solidFill>
                <a:latin typeface="Courier New" pitchFamily="34" charset="0"/>
                <a:ea typeface="Courier New" pitchFamily="34" charset="-122"/>
                <a:cs typeface="Courier New" pitchFamily="34" charset="-120"/>
              </a:rPr>
              <a:t>100</a:t>
            </a:r>
            <a:endParaRPr lang="en-US" sz="1600" dirty="0"/>
          </a:p>
        </p:txBody>
      </p:sp>
      <p:sp>
        <p:nvSpPr>
          <p:cNvPr id="30" name="Text 28"/>
          <p:cNvSpPr txBox="1"/>
          <p:nvPr/>
        </p:nvSpPr>
        <p:spPr>
          <a:xfrm>
            <a:off x="9235440" y="3995928"/>
            <a:ext cx="2286000" cy="603504"/>
          </a:xfrm>
          <a:prstGeom prst="rect">
            <a:avLst/>
          </a:prstGeom>
          <a:noFill/>
          <a:ln/>
        </p:spPr>
        <p:txBody>
          <a:bodyPr wrap="square" lIns="0" tIns="0" rIns="0" bIns="0" rtlCol="0" anchor="ctr"/>
          <a:lstStyle/>
          <a:p>
            <a:pPr algn="l" indent="0" marL="0">
              <a:buNone/>
            </a:pPr>
            <a:r>
              <a:rPr lang="en-US" sz="1300" dirty="0">
                <a:solidFill>
                  <a:srgbClr val="94A3B8"/>
                </a:solidFill>
                <a:latin typeface="Calibri" pitchFamily="34" charset="0"/>
                <a:ea typeface="Calibri" pitchFamily="34" charset="-122"/>
                <a:cs typeface="Calibri" pitchFamily="34" charset="-120"/>
              </a:rPr>
              <a:t>copied from AL, then + 1</a:t>
            </a:r>
            <a:endParaRPr lang="en-US" sz="1300" dirty="0"/>
          </a:p>
        </p:txBody>
      </p:sp>
      <p:sp>
        <p:nvSpPr>
          <p:cNvPr id="31" name="Shape 29"/>
          <p:cNvSpPr/>
          <p:nvPr/>
        </p:nvSpPr>
        <p:spPr>
          <a:xfrm>
            <a:off x="7168896" y="4654296"/>
            <a:ext cx="0" cy="329184"/>
          </a:xfrm>
          <a:prstGeom prst="line">
            <a:avLst/>
          </a:prstGeom>
          <a:noFill/>
          <a:ln w="19050">
            <a:solidFill>
              <a:srgbClr val="5C6B83"/>
            </a:solidFill>
            <a:prstDash val="solid"/>
            <a:tailEnd type="triangle"/>
          </a:ln>
        </p:spPr>
      </p:sp>
      <p:sp>
        <p:nvSpPr>
          <p:cNvPr id="32" name="Shape 30"/>
          <p:cNvSpPr/>
          <p:nvPr/>
        </p:nvSpPr>
        <p:spPr>
          <a:xfrm>
            <a:off x="6812280" y="5029200"/>
            <a:ext cx="4736592" cy="658368"/>
          </a:xfrm>
          <a:prstGeom prst="roundRect">
            <a:avLst>
              <a:gd name="adj" fmla="val 6670"/>
            </a:avLst>
          </a:prstGeom>
          <a:solidFill>
            <a:srgbClr val="070B12"/>
          </a:solidFill>
          <a:ln w="12700">
            <a:solidFill>
              <a:srgbClr val="2B3850"/>
            </a:solidFill>
            <a:prstDash val="solid"/>
          </a:ln>
        </p:spPr>
      </p:sp>
      <p:sp>
        <p:nvSpPr>
          <p:cNvPr id="33" name="Text 31"/>
          <p:cNvSpPr txBox="1"/>
          <p:nvPr/>
        </p:nvSpPr>
        <p:spPr>
          <a:xfrm>
            <a:off x="7040880" y="5029200"/>
            <a:ext cx="914400" cy="658368"/>
          </a:xfrm>
          <a:prstGeom prst="rect">
            <a:avLst/>
          </a:prstGeom>
          <a:noFill/>
          <a:ln/>
        </p:spPr>
        <p:txBody>
          <a:bodyPr wrap="square" lIns="0" tIns="0" rIns="0" bIns="0" rtlCol="0" anchor="ctr"/>
          <a:lstStyle/>
          <a:p>
            <a:pPr algn="l" indent="0" marL="0">
              <a:buNone/>
            </a:pPr>
            <a:r>
              <a:rPr lang="en-US" sz="2400" b="1" dirty="0">
                <a:solidFill>
                  <a:srgbClr val="F0F3F8"/>
                </a:solidFill>
                <a:latin typeface="Courier New" pitchFamily="34" charset="0"/>
                <a:ea typeface="Courier New" pitchFamily="34" charset="-122"/>
                <a:cs typeface="Courier New" pitchFamily="34" charset="-120"/>
              </a:rPr>
              <a:t>cd</a:t>
            </a:r>
            <a:endParaRPr lang="en-US" sz="2400" dirty="0"/>
          </a:p>
        </p:txBody>
      </p:sp>
      <p:sp>
        <p:nvSpPr>
          <p:cNvPr id="34" name="Shape 32"/>
          <p:cNvSpPr/>
          <p:nvPr/>
        </p:nvSpPr>
        <p:spPr>
          <a:xfrm>
            <a:off x="7443216" y="5193792"/>
            <a:ext cx="130576" cy="310896"/>
          </a:xfrm>
          <a:prstGeom prst="rect">
            <a:avLst/>
          </a:prstGeom>
          <a:solidFill>
            <a:srgbClr val="EDA63F"/>
          </a:solidFill>
          <a:ln/>
        </p:spPr>
      </p:sp>
      <p:sp>
        <p:nvSpPr>
          <p:cNvPr id="35" name="Text 33"/>
          <p:cNvSpPr txBox="1"/>
          <p:nvPr/>
        </p:nvSpPr>
        <p:spPr>
          <a:xfrm>
            <a:off x="8138160" y="5029200"/>
            <a:ext cx="3291840" cy="658368"/>
          </a:xfrm>
          <a:prstGeom prst="rect">
            <a:avLst/>
          </a:prstGeom>
          <a:noFill/>
          <a:ln/>
        </p:spPr>
        <p:txBody>
          <a:bodyPr wrap="square" lIns="0" tIns="0" rIns="0" bIns="0" rtlCol="0" anchor="ctr"/>
          <a:lstStyle/>
          <a:p>
            <a:pPr algn="l" indent="0" marL="0">
              <a:buNone/>
            </a:pPr>
            <a:r>
              <a:rPr lang="en-US" sz="1250" i="1" dirty="0">
                <a:solidFill>
                  <a:srgbClr val="94A3B8"/>
                </a:solidFill>
                <a:latin typeface="Calibri" pitchFamily="34" charset="0"/>
                <a:ea typeface="Calibri" pitchFamily="34" charset="-122"/>
                <a:cs typeface="Calibri" pitchFamily="34" charset="-120"/>
              </a:rPr>
              <a:t>c is the echo, d is printed: 100 is d</a:t>
            </a:r>
            <a:endParaRPr lang="en-US" sz="1250" dirty="0"/>
          </a:p>
        </p:txBody>
      </p:sp>
      <p:sp>
        <p:nvSpPr>
          <p:cNvPr id="36" name="Shape 34"/>
          <p:cNvSpPr/>
          <p:nvPr/>
        </p:nvSpPr>
        <p:spPr>
          <a:xfrm>
            <a:off x="640080" y="5074920"/>
            <a:ext cx="5760720" cy="868680"/>
          </a:xfrm>
          <a:prstGeom prst="roundRect">
            <a:avLst>
              <a:gd name="adj" fmla="val 6670"/>
            </a:avLst>
          </a:prstGeom>
          <a:solidFill>
            <a:srgbClr val="182132"/>
          </a:solidFill>
          <a:ln w="12700">
            <a:solidFill>
              <a:srgbClr val="2A3548"/>
            </a:solidFill>
            <a:prstDash val="solid"/>
          </a:ln>
        </p:spPr>
      </p:sp>
      <p:sp>
        <p:nvSpPr>
          <p:cNvPr id="37" name="Text 35"/>
          <p:cNvSpPr txBox="1"/>
          <p:nvPr/>
        </p:nvSpPr>
        <p:spPr>
          <a:xfrm>
            <a:off x="914400" y="5074920"/>
            <a:ext cx="5303520" cy="868680"/>
          </a:xfrm>
          <a:prstGeom prst="rect">
            <a:avLst/>
          </a:prstGeom>
          <a:noFill/>
          <a:ln/>
        </p:spPr>
        <p:txBody>
          <a:bodyPr wrap="square" lIns="0" tIns="0" rIns="0" bIns="0" rtlCol="0" anchor="ctr"/>
          <a:lstStyle/>
          <a:p>
            <a:pPr algn="l" indent="0" marL="0">
              <a:buNone/>
            </a:pPr>
            <a:r>
              <a:rPr lang="en-US" sz="1350" b="1" dirty="0">
                <a:solidFill>
                  <a:srgbClr val="F0F3F8"/>
                </a:solidFill>
                <a:latin typeface="Calibri" pitchFamily="34" charset="0"/>
                <a:ea typeface="Calibri" pitchFamily="34" charset="-122"/>
                <a:cs typeface="Calibri" pitchFamily="34" charset="-120"/>
              </a:rPr>
              <a:t>In Example 6 there is a new line in the middle. </a:t>
            </a:r>
            <a:pPr algn="l" indent="0" marL="0">
              <a:buNone/>
            </a:pPr>
            <a:r>
              <a:rPr lang="en-US" sz="1350" dirty="0">
                <a:solidFill>
                  <a:srgbClr val="94A3B8"/>
                </a:solidFill>
                <a:latin typeface="Calibri" pitchFamily="34" charset="0"/>
                <a:ea typeface="Calibri" pitchFamily="34" charset="-122"/>
                <a:cs typeface="Calibri" pitchFamily="34" charset="-120"/>
              </a:rPr>
              <a:t>Printing changes AL, so save the key first with </a:t>
            </a:r>
            <a:pPr algn="l" indent="0" marL="0">
              <a:buNone/>
            </a:pPr>
            <a:r>
              <a:rPr lang="en-US" sz="1350" b="1" dirty="0">
                <a:solidFill>
                  <a:srgbClr val="3EB9CE"/>
                </a:solidFill>
                <a:latin typeface="Courier New" pitchFamily="34" charset="0"/>
                <a:ea typeface="Courier New" pitchFamily="34" charset="-122"/>
                <a:cs typeface="Courier New" pitchFamily="34" charset="-120"/>
              </a:rPr>
              <a:t>mov bl, al</a:t>
            </a:r>
            <a:pPr algn="l" indent="0" marL="0">
              <a:buNone/>
            </a:pPr>
            <a:r>
              <a:rPr lang="en-US" sz="1350" dirty="0">
                <a:solidFill>
                  <a:srgbClr val="94A3B8"/>
                </a:solidFill>
                <a:latin typeface="Calibri" pitchFamily="34" charset="0"/>
                <a:ea typeface="Calibri" pitchFamily="34" charset="-122"/>
                <a:cs typeface="Calibri" pitchFamily="34" charset="-120"/>
              </a:rPr>
              <a: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93A0B2"/>
                </a:solidFill>
                <a:latin typeface="Courier New" pitchFamily="34" charset="0"/>
                <a:ea typeface="Courier New" pitchFamily="34" charset="-122"/>
                <a:cs typeface="Courier New" pitchFamily="34" charset="-120"/>
              </a:rPr>
              <a:t>8 · QUICK CHECK</a:t>
            </a:r>
            <a:endParaRPr lang="en-US" sz="1050" dirty="0"/>
          </a:p>
        </p:txBody>
      </p:sp>
      <p:sp>
        <p:nvSpPr>
          <p:cNvPr id="3" name="Text 1"/>
          <p:cNvSpPr txBox="1"/>
          <p:nvPr/>
        </p:nvSpPr>
        <p:spPr>
          <a:xfrm>
            <a:off x="640080" y="676656"/>
            <a:ext cx="10908792" cy="566928"/>
          </a:xfrm>
          <a:prstGeom prst="rect">
            <a:avLst/>
          </a:prstGeom>
          <a:noFill/>
          <a:ln/>
        </p:spPr>
        <p:txBody>
          <a:bodyPr wrap="square" lIns="0" tIns="0" rIns="0" bIns="0" rtlCol="0" anchor="t"/>
          <a:lstStyle/>
          <a:p>
            <a:pPr algn="l" indent="0" marL="0">
              <a:buNone/>
            </a:pPr>
            <a:r>
              <a:rPr lang="en-US" sz="3200" b="1" dirty="0">
                <a:solidFill>
                  <a:srgbClr val="0F1622"/>
                </a:solidFill>
                <a:latin typeface="Arial" pitchFamily="34" charset="0"/>
                <a:ea typeface="Arial" pitchFamily="34" charset="-122"/>
                <a:cs typeface="Arial" pitchFamily="34" charset="-120"/>
              </a:rPr>
              <a:t>Can you answer these?</a:t>
            </a:r>
            <a:endParaRPr lang="en-US" sz="3200" dirty="0"/>
          </a:p>
        </p:txBody>
      </p:sp>
      <p:sp>
        <p:nvSpPr>
          <p:cNvPr id="4" name="Text 2"/>
          <p:cNvSpPr txBox="1"/>
          <p:nvPr/>
        </p:nvSpPr>
        <p:spPr>
          <a:xfrm>
            <a:off x="640080" y="1298448"/>
            <a:ext cx="10241280" cy="365760"/>
          </a:xfrm>
          <a:prstGeom prst="rect">
            <a:avLst/>
          </a:prstGeom>
          <a:noFill/>
          <a:ln/>
        </p:spPr>
        <p:txBody>
          <a:bodyPr wrap="square" lIns="0" tIns="0" rIns="0" bIns="0" rtlCol="0" anchor="t"/>
          <a:lstStyle/>
          <a:p>
            <a:pPr algn="l" indent="0" marL="0">
              <a:buNone/>
            </a:pPr>
            <a:r>
              <a:rPr lang="en-US" sz="1500" dirty="0">
                <a:solidFill>
                  <a:srgbClr val="5B6779"/>
                </a:solidFill>
                <a:latin typeface="Calibri" pitchFamily="34" charset="0"/>
                <a:ea typeface="Calibri" pitchFamily="34" charset="-122"/>
                <a:cs typeface="Calibri" pitchFamily="34" charset="-120"/>
              </a:rPr>
              <a:t>Answer out loud. No notes, no scrolling back.</a:t>
            </a:r>
            <a:endParaRPr lang="en-US" sz="1500" dirty="0"/>
          </a:p>
        </p:txBody>
      </p:sp>
      <p:sp>
        <p:nvSpPr>
          <p:cNvPr id="5" name="Text 3"/>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93A0B2"/>
                </a:solidFill>
                <a:latin typeface="Courier New" pitchFamily="34" charset="0"/>
                <a:ea typeface="Courier New" pitchFamily="34" charset="-122"/>
                <a:cs typeface="Courier New" pitchFamily="34" charset="-120"/>
              </a:rPr>
              <a:t>COAL  ·  LAB 03</a:t>
            </a:r>
            <a:endParaRPr lang="en-US" sz="900" dirty="0"/>
          </a:p>
        </p:txBody>
      </p:sp>
      <p:sp>
        <p:nvSpPr>
          <p:cNvPr id="6" name="Text 4"/>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93A0B2"/>
                </a:solidFill>
                <a:latin typeface="Courier New" pitchFamily="34" charset="0"/>
                <a:ea typeface="Courier New" pitchFamily="34" charset="-122"/>
                <a:cs typeface="Courier New" pitchFamily="34" charset="-120"/>
              </a:rPr>
              <a:t>10</a:t>
            </a:r>
            <a:endParaRPr lang="en-US" sz="900" dirty="0"/>
          </a:p>
        </p:txBody>
      </p:sp>
      <p:sp>
        <p:nvSpPr>
          <p:cNvPr id="7" name="Shape 5"/>
          <p:cNvSpPr/>
          <p:nvPr/>
        </p:nvSpPr>
        <p:spPr>
          <a:xfrm>
            <a:off x="640080" y="1810512"/>
            <a:ext cx="5303520" cy="1828800"/>
          </a:xfrm>
          <a:prstGeom prst="roundRect">
            <a:avLst>
              <a:gd name="adj" fmla="val 6670"/>
            </a:avLst>
          </a:prstGeom>
          <a:solidFill>
            <a:srgbClr val="F3F5F9"/>
          </a:solidFill>
          <a:ln w="12700">
            <a:solidFill>
              <a:srgbClr val="E2E7EF"/>
            </a:solidFill>
            <a:prstDash val="solid"/>
          </a:ln>
        </p:spPr>
      </p:sp>
      <p:sp>
        <p:nvSpPr>
          <p:cNvPr id="8" name="Shape 6"/>
          <p:cNvSpPr/>
          <p:nvPr/>
        </p:nvSpPr>
        <p:spPr>
          <a:xfrm>
            <a:off x="914400" y="2103120"/>
            <a:ext cx="402336" cy="402336"/>
          </a:xfrm>
          <a:prstGeom prst="ellipse">
            <a:avLst/>
          </a:prstGeom>
          <a:solidFill>
            <a:srgbClr val="D7EEF2"/>
          </a:solidFill>
          <a:ln/>
        </p:spPr>
      </p:sp>
      <p:sp>
        <p:nvSpPr>
          <p:cNvPr id="9" name="Text 7"/>
          <p:cNvSpPr txBox="1"/>
          <p:nvPr/>
        </p:nvSpPr>
        <p:spPr>
          <a:xfrm>
            <a:off x="914400" y="2103120"/>
            <a:ext cx="402336" cy="402336"/>
          </a:xfrm>
          <a:prstGeom prst="rect">
            <a:avLst/>
          </a:prstGeom>
          <a:noFill/>
          <a:ln/>
        </p:spPr>
        <p:txBody>
          <a:bodyPr wrap="square" lIns="0" tIns="0" rIns="0" bIns="0" rtlCol="0" anchor="ctr"/>
          <a:lstStyle/>
          <a:p>
            <a:pPr algn="ctr" indent="0" marL="0">
              <a:buNone/>
            </a:pPr>
            <a:r>
              <a:rPr lang="en-US" sz="1400" b="1" dirty="0">
                <a:solidFill>
                  <a:srgbClr val="18879B"/>
                </a:solidFill>
                <a:latin typeface="Courier New" pitchFamily="34" charset="0"/>
                <a:ea typeface="Courier New" pitchFamily="34" charset="-122"/>
                <a:cs typeface="Courier New" pitchFamily="34" charset="-120"/>
              </a:rPr>
              <a:t>1</a:t>
            </a:r>
            <a:endParaRPr lang="en-US" sz="1400" dirty="0"/>
          </a:p>
        </p:txBody>
      </p:sp>
      <p:sp>
        <p:nvSpPr>
          <p:cNvPr id="10" name="Text 8"/>
          <p:cNvSpPr txBox="1"/>
          <p:nvPr/>
        </p:nvSpPr>
        <p:spPr>
          <a:xfrm>
            <a:off x="1508760" y="2011680"/>
            <a:ext cx="4206240" cy="640080"/>
          </a:xfrm>
          <a:prstGeom prst="rect">
            <a:avLst/>
          </a:prstGeom>
          <a:noFill/>
          <a:ln/>
        </p:spPr>
        <p:txBody>
          <a:bodyPr wrap="square" lIns="0" tIns="0" rIns="0" bIns="0" rtlCol="0" anchor="ctr"/>
          <a:lstStyle/>
          <a:p>
            <a:pPr algn="l" indent="0" marL="0">
              <a:buNone/>
            </a:pPr>
            <a:r>
              <a:rPr lang="en-US" sz="1900" b="1" dirty="0">
                <a:solidFill>
                  <a:srgbClr val="0F1622"/>
                </a:solidFill>
                <a:latin typeface="Arial" pitchFamily="34" charset="0"/>
                <a:ea typeface="Arial" pitchFamily="34" charset="-122"/>
                <a:cs typeface="Arial" pitchFamily="34" charset="-120"/>
              </a:rPr>
              <a:t>Which register gets the key you press?</a:t>
            </a:r>
            <a:endParaRPr lang="en-US" sz="1900" dirty="0"/>
          </a:p>
        </p:txBody>
      </p:sp>
      <p:sp>
        <p:nvSpPr>
          <p:cNvPr id="11" name="Shape 9"/>
          <p:cNvSpPr/>
          <p:nvPr/>
        </p:nvSpPr>
        <p:spPr>
          <a:xfrm>
            <a:off x="1508760" y="2798064"/>
            <a:ext cx="2926080" cy="475488"/>
          </a:xfrm>
          <a:prstGeom prst="roundRect">
            <a:avLst>
              <a:gd name="adj" fmla="val 6670"/>
            </a:avLst>
          </a:prstGeom>
          <a:solidFill>
            <a:srgbClr val="121A29"/>
          </a:solidFill>
          <a:ln w="12700">
            <a:solidFill>
              <a:srgbClr val="2B3850"/>
            </a:solidFill>
            <a:prstDash val="solid"/>
          </a:ln>
        </p:spPr>
      </p:sp>
      <p:sp>
        <p:nvSpPr>
          <p:cNvPr id="12" name="Text 10"/>
          <p:cNvSpPr txBox="1"/>
          <p:nvPr/>
        </p:nvSpPr>
        <p:spPr>
          <a:xfrm>
            <a:off x="1691640" y="2798064"/>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3EB9CE"/>
                </a:solidFill>
                <a:latin typeface="Courier New" pitchFamily="34" charset="0"/>
                <a:ea typeface="Courier New" pitchFamily="34" charset="-122"/>
                <a:cs typeface="Courier New" pitchFamily="34" charset="-120"/>
              </a:rPr>
              <a:t>ah</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9584E8"/>
                </a:solidFill>
                <a:latin typeface="Courier New" pitchFamily="34" charset="0"/>
                <a:ea typeface="Courier New" pitchFamily="34" charset="-122"/>
                <a:cs typeface="Courier New" pitchFamily="34" charset="-120"/>
              </a:rPr>
              <a:t>01h</a:t>
            </a:r>
            <a:endParaRPr lang="en-US" sz="1400" dirty="0"/>
          </a:p>
        </p:txBody>
      </p:sp>
      <p:sp>
        <p:nvSpPr>
          <p:cNvPr id="13" name="Shape 11"/>
          <p:cNvSpPr/>
          <p:nvPr/>
        </p:nvSpPr>
        <p:spPr>
          <a:xfrm>
            <a:off x="6245352" y="1810512"/>
            <a:ext cx="5303520" cy="1828800"/>
          </a:xfrm>
          <a:prstGeom prst="roundRect">
            <a:avLst>
              <a:gd name="adj" fmla="val 6670"/>
            </a:avLst>
          </a:prstGeom>
          <a:solidFill>
            <a:srgbClr val="F3F5F9"/>
          </a:solidFill>
          <a:ln w="12700">
            <a:solidFill>
              <a:srgbClr val="E2E7EF"/>
            </a:solidFill>
            <a:prstDash val="solid"/>
          </a:ln>
        </p:spPr>
      </p:sp>
      <p:sp>
        <p:nvSpPr>
          <p:cNvPr id="14" name="Shape 12"/>
          <p:cNvSpPr/>
          <p:nvPr/>
        </p:nvSpPr>
        <p:spPr>
          <a:xfrm>
            <a:off x="6519672" y="2103120"/>
            <a:ext cx="402336" cy="402336"/>
          </a:xfrm>
          <a:prstGeom prst="ellipse">
            <a:avLst/>
          </a:prstGeom>
          <a:solidFill>
            <a:srgbClr val="E6E2FA"/>
          </a:solidFill>
          <a:ln/>
        </p:spPr>
      </p:sp>
      <p:sp>
        <p:nvSpPr>
          <p:cNvPr id="15" name="Text 13"/>
          <p:cNvSpPr txBox="1"/>
          <p:nvPr/>
        </p:nvSpPr>
        <p:spPr>
          <a:xfrm>
            <a:off x="6519672" y="2103120"/>
            <a:ext cx="402336" cy="402336"/>
          </a:xfrm>
          <a:prstGeom prst="rect">
            <a:avLst/>
          </a:prstGeom>
          <a:noFill/>
          <a:ln/>
        </p:spPr>
        <p:txBody>
          <a:bodyPr wrap="square" lIns="0" tIns="0" rIns="0" bIns="0" rtlCol="0" anchor="ctr"/>
          <a:lstStyle/>
          <a:p>
            <a:pPr algn="ctr" indent="0" marL="0">
              <a:buNone/>
            </a:pPr>
            <a:r>
              <a:rPr lang="en-US" sz="1400" b="1" dirty="0">
                <a:solidFill>
                  <a:srgbClr val="6B58CC"/>
                </a:solidFill>
                <a:latin typeface="Courier New" pitchFamily="34" charset="0"/>
                <a:ea typeface="Courier New" pitchFamily="34" charset="-122"/>
                <a:cs typeface="Courier New" pitchFamily="34" charset="-120"/>
              </a:rPr>
              <a:t>2</a:t>
            </a:r>
            <a:endParaRPr lang="en-US" sz="1400" dirty="0"/>
          </a:p>
        </p:txBody>
      </p:sp>
      <p:sp>
        <p:nvSpPr>
          <p:cNvPr id="16" name="Text 14"/>
          <p:cNvSpPr txBox="1"/>
          <p:nvPr/>
        </p:nvSpPr>
        <p:spPr>
          <a:xfrm>
            <a:off x="7114032" y="2011680"/>
            <a:ext cx="4206240" cy="640080"/>
          </a:xfrm>
          <a:prstGeom prst="rect">
            <a:avLst/>
          </a:prstGeom>
          <a:noFill/>
          <a:ln/>
        </p:spPr>
        <p:txBody>
          <a:bodyPr wrap="square" lIns="0" tIns="0" rIns="0" bIns="0" rtlCol="0" anchor="ctr"/>
          <a:lstStyle/>
          <a:p>
            <a:pPr algn="l" indent="0" marL="0">
              <a:buNone/>
            </a:pPr>
            <a:r>
              <a:rPr lang="en-US" sz="1900" b="1" dirty="0">
                <a:solidFill>
                  <a:srgbClr val="0F1622"/>
                </a:solidFill>
                <a:latin typeface="Arial" pitchFamily="34" charset="0"/>
                <a:ea typeface="Arial" pitchFamily="34" charset="-122"/>
                <a:cs typeface="Arial" pitchFamily="34" charset="-120"/>
              </a:rPr>
              <a:t>What is the difference between 01h and 07h?</a:t>
            </a:r>
            <a:endParaRPr lang="en-US" sz="1900" dirty="0"/>
          </a:p>
        </p:txBody>
      </p:sp>
      <p:sp>
        <p:nvSpPr>
          <p:cNvPr id="17" name="Shape 15"/>
          <p:cNvSpPr/>
          <p:nvPr/>
        </p:nvSpPr>
        <p:spPr>
          <a:xfrm>
            <a:off x="7114032" y="2798064"/>
            <a:ext cx="2926080" cy="475488"/>
          </a:xfrm>
          <a:prstGeom prst="roundRect">
            <a:avLst>
              <a:gd name="adj" fmla="val 6670"/>
            </a:avLst>
          </a:prstGeom>
          <a:solidFill>
            <a:srgbClr val="121A29"/>
          </a:solidFill>
          <a:ln w="12700">
            <a:solidFill>
              <a:srgbClr val="2B3850"/>
            </a:solidFill>
            <a:prstDash val="solid"/>
          </a:ln>
        </p:spPr>
      </p:sp>
      <p:sp>
        <p:nvSpPr>
          <p:cNvPr id="18" name="Text 16"/>
          <p:cNvSpPr txBox="1"/>
          <p:nvPr/>
        </p:nvSpPr>
        <p:spPr>
          <a:xfrm>
            <a:off x="7296912" y="2798064"/>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mov</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3EB9CE"/>
                </a:solidFill>
                <a:latin typeface="Courier New" pitchFamily="34" charset="0"/>
                <a:ea typeface="Courier New" pitchFamily="34" charset="-122"/>
                <a:cs typeface="Courier New" pitchFamily="34" charset="-120"/>
              </a:rPr>
              <a:t>ah</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9584E8"/>
                </a:solidFill>
                <a:latin typeface="Courier New" pitchFamily="34" charset="0"/>
                <a:ea typeface="Courier New" pitchFamily="34" charset="-122"/>
                <a:cs typeface="Courier New" pitchFamily="34" charset="-120"/>
              </a:rPr>
              <a:t>07h</a:t>
            </a:r>
            <a:endParaRPr lang="en-US" sz="1400" dirty="0"/>
          </a:p>
        </p:txBody>
      </p:sp>
      <p:sp>
        <p:nvSpPr>
          <p:cNvPr id="19" name="Shape 17"/>
          <p:cNvSpPr/>
          <p:nvPr/>
        </p:nvSpPr>
        <p:spPr>
          <a:xfrm>
            <a:off x="640080" y="3840480"/>
            <a:ext cx="5303520" cy="1828800"/>
          </a:xfrm>
          <a:prstGeom prst="roundRect">
            <a:avLst>
              <a:gd name="adj" fmla="val 6670"/>
            </a:avLst>
          </a:prstGeom>
          <a:solidFill>
            <a:srgbClr val="F3F5F9"/>
          </a:solidFill>
          <a:ln w="12700">
            <a:solidFill>
              <a:srgbClr val="E2E7EF"/>
            </a:solidFill>
            <a:prstDash val="solid"/>
          </a:ln>
        </p:spPr>
      </p:sp>
      <p:sp>
        <p:nvSpPr>
          <p:cNvPr id="20" name="Shape 18"/>
          <p:cNvSpPr/>
          <p:nvPr/>
        </p:nvSpPr>
        <p:spPr>
          <a:xfrm>
            <a:off x="914400" y="4133088"/>
            <a:ext cx="402336" cy="402336"/>
          </a:xfrm>
          <a:prstGeom prst="ellipse">
            <a:avLst/>
          </a:prstGeom>
          <a:solidFill>
            <a:srgbClr val="FBEBD2"/>
          </a:solidFill>
          <a:ln/>
        </p:spPr>
      </p:sp>
      <p:sp>
        <p:nvSpPr>
          <p:cNvPr id="21" name="Text 19"/>
          <p:cNvSpPr txBox="1"/>
          <p:nvPr/>
        </p:nvSpPr>
        <p:spPr>
          <a:xfrm>
            <a:off x="914400" y="4133088"/>
            <a:ext cx="402336" cy="402336"/>
          </a:xfrm>
          <a:prstGeom prst="rect">
            <a:avLst/>
          </a:prstGeom>
          <a:noFill/>
          <a:ln/>
        </p:spPr>
        <p:txBody>
          <a:bodyPr wrap="square" lIns="0" tIns="0" rIns="0" bIns="0" rtlCol="0" anchor="ctr"/>
          <a:lstStyle/>
          <a:p>
            <a:pPr algn="ctr" indent="0" marL="0">
              <a:buNone/>
            </a:pPr>
            <a:r>
              <a:rPr lang="en-US" sz="1400" b="1" dirty="0">
                <a:solidFill>
                  <a:srgbClr val="D98A1F"/>
                </a:solidFill>
                <a:latin typeface="Courier New" pitchFamily="34" charset="0"/>
                <a:ea typeface="Courier New" pitchFamily="34" charset="-122"/>
                <a:cs typeface="Courier New" pitchFamily="34" charset="-120"/>
              </a:rPr>
              <a:t>3</a:t>
            </a:r>
            <a:endParaRPr lang="en-US" sz="1400" dirty="0"/>
          </a:p>
        </p:txBody>
      </p:sp>
      <p:sp>
        <p:nvSpPr>
          <p:cNvPr id="22" name="Text 20"/>
          <p:cNvSpPr txBox="1"/>
          <p:nvPr/>
        </p:nvSpPr>
        <p:spPr>
          <a:xfrm>
            <a:off x="1508760" y="4041648"/>
            <a:ext cx="4206240" cy="640080"/>
          </a:xfrm>
          <a:prstGeom prst="rect">
            <a:avLst/>
          </a:prstGeom>
          <a:noFill/>
          <a:ln/>
        </p:spPr>
        <p:txBody>
          <a:bodyPr wrap="square" lIns="0" tIns="0" rIns="0" bIns="0" rtlCol="0" anchor="ctr"/>
          <a:lstStyle/>
          <a:p>
            <a:pPr algn="l" indent="0" marL="0">
              <a:buNone/>
            </a:pPr>
            <a:r>
              <a:rPr lang="en-US" sz="1900" b="1" dirty="0">
                <a:solidFill>
                  <a:srgbClr val="0F1622"/>
                </a:solidFill>
                <a:latin typeface="Arial" pitchFamily="34" charset="0"/>
                <a:ea typeface="Arial" pitchFamily="34" charset="-122"/>
                <a:cs typeface="Arial" pitchFamily="34" charset="-120"/>
              </a:rPr>
              <a:t>What is the ASCII range for capital letters?</a:t>
            </a:r>
            <a:endParaRPr lang="en-US" sz="1900" dirty="0"/>
          </a:p>
        </p:txBody>
      </p:sp>
      <p:sp>
        <p:nvSpPr>
          <p:cNvPr id="23" name="Shape 21"/>
          <p:cNvSpPr/>
          <p:nvPr/>
        </p:nvSpPr>
        <p:spPr>
          <a:xfrm>
            <a:off x="1508760" y="4828032"/>
            <a:ext cx="2926080" cy="475488"/>
          </a:xfrm>
          <a:prstGeom prst="roundRect">
            <a:avLst>
              <a:gd name="adj" fmla="val 6670"/>
            </a:avLst>
          </a:prstGeom>
          <a:solidFill>
            <a:srgbClr val="121A29"/>
          </a:solidFill>
          <a:ln w="12700">
            <a:solidFill>
              <a:srgbClr val="2B3850"/>
            </a:solidFill>
            <a:prstDash val="solid"/>
          </a:ln>
        </p:spPr>
      </p:sp>
      <p:sp>
        <p:nvSpPr>
          <p:cNvPr id="24" name="Text 22"/>
          <p:cNvSpPr txBox="1"/>
          <p:nvPr/>
        </p:nvSpPr>
        <p:spPr>
          <a:xfrm>
            <a:off x="1691640" y="4828032"/>
            <a:ext cx="2651760" cy="475488"/>
          </a:xfrm>
          <a:prstGeom prst="rect">
            <a:avLst/>
          </a:prstGeom>
          <a:noFill/>
          <a:ln/>
        </p:spPr>
        <p:txBody>
          <a:bodyPr wrap="square" lIns="0" tIns="0" rIns="0" bIns="0" rtlCol="0" anchor="ctr"/>
          <a:lstStyle/>
          <a:p>
            <a:pPr algn="l" indent="0" marL="0">
              <a:buNone/>
            </a:pPr>
            <a:r>
              <a:rPr lang="en-US" sz="1400" b="1" dirty="0">
                <a:solidFill>
                  <a:srgbClr val="9584E8"/>
                </a:solidFill>
                <a:latin typeface="Courier New" pitchFamily="34" charset="0"/>
                <a:ea typeface="Courier New" pitchFamily="34" charset="-122"/>
                <a:cs typeface="Courier New" pitchFamily="34" charset="-120"/>
              </a:rPr>
              <a:t>'A'</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dirty="0">
                <a:solidFill>
                  <a:srgbClr val="F0F3F8"/>
                </a:solidFill>
                <a:latin typeface="Courier New" pitchFamily="34" charset="0"/>
                <a:ea typeface="Courier New" pitchFamily="34" charset="-122"/>
                <a:cs typeface="Courier New" pitchFamily="34" charset="-120"/>
              </a:rPr>
              <a:t>to</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9584E8"/>
                </a:solidFill>
                <a:latin typeface="Courier New" pitchFamily="34" charset="0"/>
                <a:ea typeface="Courier New" pitchFamily="34" charset="-122"/>
                <a:cs typeface="Courier New" pitchFamily="34" charset="-120"/>
              </a:rPr>
              <a:t>'Z'</a:t>
            </a:r>
            <a:endParaRPr lang="en-US" sz="1400" dirty="0"/>
          </a:p>
        </p:txBody>
      </p:sp>
      <p:sp>
        <p:nvSpPr>
          <p:cNvPr id="25" name="Shape 23"/>
          <p:cNvSpPr/>
          <p:nvPr/>
        </p:nvSpPr>
        <p:spPr>
          <a:xfrm>
            <a:off x="6245352" y="3840480"/>
            <a:ext cx="5303520" cy="1828800"/>
          </a:xfrm>
          <a:prstGeom prst="roundRect">
            <a:avLst>
              <a:gd name="adj" fmla="val 6670"/>
            </a:avLst>
          </a:prstGeom>
          <a:solidFill>
            <a:srgbClr val="F3F5F9"/>
          </a:solidFill>
          <a:ln w="12700">
            <a:solidFill>
              <a:srgbClr val="E2E7EF"/>
            </a:solidFill>
            <a:prstDash val="solid"/>
          </a:ln>
        </p:spPr>
      </p:sp>
      <p:sp>
        <p:nvSpPr>
          <p:cNvPr id="26" name="Shape 24"/>
          <p:cNvSpPr/>
          <p:nvPr/>
        </p:nvSpPr>
        <p:spPr>
          <a:xfrm>
            <a:off x="6519672" y="4133088"/>
            <a:ext cx="402336" cy="402336"/>
          </a:xfrm>
          <a:prstGeom prst="ellipse">
            <a:avLst/>
          </a:prstGeom>
          <a:solidFill>
            <a:srgbClr val="DBEDE3"/>
          </a:solidFill>
          <a:ln/>
        </p:spPr>
      </p:sp>
      <p:sp>
        <p:nvSpPr>
          <p:cNvPr id="27" name="Text 25"/>
          <p:cNvSpPr txBox="1"/>
          <p:nvPr/>
        </p:nvSpPr>
        <p:spPr>
          <a:xfrm>
            <a:off x="6519672" y="4133088"/>
            <a:ext cx="402336" cy="402336"/>
          </a:xfrm>
          <a:prstGeom prst="rect">
            <a:avLst/>
          </a:prstGeom>
          <a:noFill/>
          <a:ln/>
        </p:spPr>
        <p:txBody>
          <a:bodyPr wrap="square" lIns="0" tIns="0" rIns="0" bIns="0" rtlCol="0" anchor="ctr"/>
          <a:lstStyle/>
          <a:p>
            <a:pPr algn="ctr" indent="0" marL="0">
              <a:buNone/>
            </a:pPr>
            <a:r>
              <a:rPr lang="en-US" sz="1400" b="1" dirty="0">
                <a:solidFill>
                  <a:srgbClr val="37865F"/>
                </a:solidFill>
                <a:latin typeface="Courier New" pitchFamily="34" charset="0"/>
                <a:ea typeface="Courier New" pitchFamily="34" charset="-122"/>
                <a:cs typeface="Courier New" pitchFamily="34" charset="-120"/>
              </a:rPr>
              <a:t>4</a:t>
            </a:r>
            <a:endParaRPr lang="en-US" sz="1400" dirty="0"/>
          </a:p>
        </p:txBody>
      </p:sp>
      <p:sp>
        <p:nvSpPr>
          <p:cNvPr id="28" name="Text 26"/>
          <p:cNvSpPr txBox="1"/>
          <p:nvPr/>
        </p:nvSpPr>
        <p:spPr>
          <a:xfrm>
            <a:off x="7114032" y="4041648"/>
            <a:ext cx="4206240" cy="640080"/>
          </a:xfrm>
          <a:prstGeom prst="rect">
            <a:avLst/>
          </a:prstGeom>
          <a:noFill/>
          <a:ln/>
        </p:spPr>
        <p:txBody>
          <a:bodyPr wrap="square" lIns="0" tIns="0" rIns="0" bIns="0" rtlCol="0" anchor="ctr"/>
          <a:lstStyle/>
          <a:p>
            <a:pPr algn="l" indent="0" marL="0">
              <a:buNone/>
            </a:pPr>
            <a:r>
              <a:rPr lang="en-US" sz="1900" b="1" dirty="0">
                <a:solidFill>
                  <a:srgbClr val="0F1622"/>
                </a:solidFill>
                <a:latin typeface="Arial" pitchFamily="34" charset="0"/>
                <a:ea typeface="Arial" pitchFamily="34" charset="-122"/>
                <a:cs typeface="Arial" pitchFamily="34" charset="-120"/>
              </a:rPr>
              <a:t>What does this line do?</a:t>
            </a:r>
            <a:endParaRPr lang="en-US" sz="1900" dirty="0"/>
          </a:p>
        </p:txBody>
      </p:sp>
      <p:sp>
        <p:nvSpPr>
          <p:cNvPr id="29" name="Shape 27"/>
          <p:cNvSpPr/>
          <p:nvPr/>
        </p:nvSpPr>
        <p:spPr>
          <a:xfrm>
            <a:off x="7114032" y="4828032"/>
            <a:ext cx="2926080" cy="475488"/>
          </a:xfrm>
          <a:prstGeom prst="roundRect">
            <a:avLst>
              <a:gd name="adj" fmla="val 6670"/>
            </a:avLst>
          </a:prstGeom>
          <a:solidFill>
            <a:srgbClr val="121A29"/>
          </a:solidFill>
          <a:ln w="12700">
            <a:solidFill>
              <a:srgbClr val="2B3850"/>
            </a:solidFill>
            <a:prstDash val="solid"/>
          </a:ln>
        </p:spPr>
      </p:sp>
      <p:sp>
        <p:nvSpPr>
          <p:cNvPr id="30" name="Text 28"/>
          <p:cNvSpPr txBox="1"/>
          <p:nvPr/>
        </p:nvSpPr>
        <p:spPr>
          <a:xfrm>
            <a:off x="7296912" y="4828032"/>
            <a:ext cx="2651760" cy="475488"/>
          </a:xfrm>
          <a:prstGeom prst="rect">
            <a:avLst/>
          </a:prstGeom>
          <a:noFill/>
          <a:ln/>
        </p:spPr>
        <p:txBody>
          <a:bodyPr wrap="square" lIns="0" tIns="0" rIns="0" bIns="0" rtlCol="0" anchor="ctr"/>
          <a:lstStyle/>
          <a:p>
            <a:pPr algn="l" indent="0" marL="0">
              <a:buNone/>
            </a:pPr>
            <a:r>
              <a:rPr lang="en-US" sz="1400" b="1" dirty="0">
                <a:solidFill>
                  <a:srgbClr val="EDA63F"/>
                </a:solidFill>
                <a:latin typeface="Courier New" pitchFamily="34" charset="0"/>
                <a:ea typeface="Courier New" pitchFamily="34" charset="-122"/>
                <a:cs typeface="Courier New" pitchFamily="34" charset="-120"/>
              </a:rPr>
              <a:t>add</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3EB9CE"/>
                </a:solidFill>
                <a:latin typeface="Courier New" pitchFamily="34" charset="0"/>
                <a:ea typeface="Courier New" pitchFamily="34" charset="-122"/>
                <a:cs typeface="Courier New" pitchFamily="34" charset="-120"/>
              </a:rPr>
              <a:t>al</a:t>
            </a:r>
            <a:pPr algn="l" indent="0" marL="0">
              <a:buNone/>
            </a:pPr>
            <a:r>
              <a:rPr lang="en-US" sz="1400" dirty="0">
                <a:solidFill>
                  <a:srgbClr val="F0F3F8"/>
                </a:solidFill>
                <a:latin typeface="Courier New" pitchFamily="34" charset="0"/>
                <a:ea typeface="Courier New" pitchFamily="34" charset="-122"/>
                <a:cs typeface="Courier New" pitchFamily="34" charset="-120"/>
              </a:rPr>
              <a:t>,</a:t>
            </a:r>
            <a:pPr algn="l" indent="0" marL="0">
              <a:buNone/>
            </a:pPr>
            <a:r>
              <a:rPr lang="en-US" sz="1400" dirty="0">
                <a:solidFill>
                  <a:srgbClr val="F0F3F8"/>
                </a:solidFill>
                <a:latin typeface="Courier New" pitchFamily="34" charset="0"/>
                <a:ea typeface="Courier New" pitchFamily="34" charset="-122"/>
                <a:cs typeface="Courier New" pitchFamily="34" charset="-120"/>
              </a:rPr>
              <a:t> </a:t>
            </a:r>
            <a:pPr algn="l" indent="0" marL="0">
              <a:buNone/>
            </a:pPr>
            <a:r>
              <a:rPr lang="en-US" sz="1400" b="1" dirty="0">
                <a:solidFill>
                  <a:srgbClr val="9584E8"/>
                </a:solidFill>
                <a:latin typeface="Courier New" pitchFamily="34" charset="0"/>
                <a:ea typeface="Courier New" pitchFamily="34" charset="-122"/>
                <a:cs typeface="Courier New" pitchFamily="34" charset="-120"/>
              </a:rPr>
              <a:t>3</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420"/>
        </a:solidFill>
      </p:bgPr>
    </p:bg>
    <p:spTree>
      <p:nvGrpSpPr>
        <p:cNvPr id="1" name=""/>
        <p:cNvGrpSpPr/>
        <p:nvPr/>
      </p:nvGrpSpPr>
      <p:grpSpPr>
        <a:xfrm>
          <a:off x="0" y="0"/>
          <a:ext cx="0" cy="0"/>
          <a:chOff x="0" y="0"/>
          <a:chExt cx="0" cy="0"/>
        </a:xfrm>
      </p:grpSpPr>
      <p:sp>
        <p:nvSpPr>
          <p:cNvPr id="2" name="Text 0"/>
          <p:cNvSpPr txBox="1"/>
          <p:nvPr/>
        </p:nvSpPr>
        <p:spPr>
          <a:xfrm>
            <a:off x="640080" y="365760"/>
            <a:ext cx="9144000" cy="237744"/>
          </a:xfrm>
          <a:prstGeom prst="rect">
            <a:avLst/>
          </a:prstGeom>
          <a:noFill/>
          <a:ln/>
        </p:spPr>
        <p:txBody>
          <a:bodyPr wrap="square" lIns="0" tIns="0" rIns="0" bIns="0" rtlCol="0" anchor="t"/>
          <a:lstStyle/>
          <a:p>
            <a:pPr algn="l" indent="0" marL="0">
              <a:buNone/>
            </a:pPr>
            <a:r>
              <a:rPr lang="en-US" sz="1050" b="1" spc="160" kern="0" dirty="0">
                <a:solidFill>
                  <a:srgbClr val="5C6B83"/>
                </a:solidFill>
                <a:latin typeface="Courier New" pitchFamily="34" charset="0"/>
                <a:ea typeface="Courier New" pitchFamily="34" charset="-122"/>
                <a:cs typeface="Courier New" pitchFamily="34" charset="-120"/>
              </a:rPr>
              <a:t>PRACTICAL</a:t>
            </a:r>
            <a:endParaRPr lang="en-US" sz="1050" dirty="0"/>
          </a:p>
        </p:txBody>
      </p:sp>
      <p:sp>
        <p:nvSpPr>
          <p:cNvPr id="3" name="Text 1"/>
          <p:cNvSpPr txBox="1"/>
          <p:nvPr/>
        </p:nvSpPr>
        <p:spPr>
          <a:xfrm>
            <a:off x="640080" y="6336792"/>
            <a:ext cx="3657600" cy="237744"/>
          </a:xfrm>
          <a:prstGeom prst="rect">
            <a:avLst/>
          </a:prstGeom>
          <a:noFill/>
          <a:ln/>
        </p:spPr>
        <p:txBody>
          <a:bodyPr wrap="square" lIns="0" tIns="0" rIns="0" bIns="0" rtlCol="0" anchor="t"/>
          <a:lstStyle/>
          <a:p>
            <a:pPr algn="l" indent="0" marL="0">
              <a:buNone/>
            </a:pPr>
            <a:r>
              <a:rPr lang="en-US" sz="900" spc="120" kern="0" dirty="0">
                <a:solidFill>
                  <a:srgbClr val="5C6B83"/>
                </a:solidFill>
                <a:latin typeface="Courier New" pitchFamily="34" charset="0"/>
                <a:ea typeface="Courier New" pitchFamily="34" charset="-122"/>
                <a:cs typeface="Courier New" pitchFamily="34" charset="-120"/>
              </a:rPr>
              <a:t>COAL  ·  LAB 03</a:t>
            </a:r>
            <a:endParaRPr lang="en-US" sz="900" dirty="0"/>
          </a:p>
        </p:txBody>
      </p:sp>
      <p:sp>
        <p:nvSpPr>
          <p:cNvPr id="4" name="Text 2"/>
          <p:cNvSpPr txBox="1"/>
          <p:nvPr/>
        </p:nvSpPr>
        <p:spPr>
          <a:xfrm>
            <a:off x="10634472" y="6336792"/>
            <a:ext cx="914400" cy="237744"/>
          </a:xfrm>
          <a:prstGeom prst="rect">
            <a:avLst/>
          </a:prstGeom>
          <a:noFill/>
          <a:ln/>
        </p:spPr>
        <p:txBody>
          <a:bodyPr wrap="square" lIns="0" tIns="0" rIns="0" bIns="0" rtlCol="0" anchor="t"/>
          <a:lstStyle/>
          <a:p>
            <a:pPr algn="r" indent="0" marL="0">
              <a:buNone/>
            </a:pPr>
            <a:r>
              <a:rPr lang="en-US" sz="900" dirty="0">
                <a:solidFill>
                  <a:srgbClr val="5C6B83"/>
                </a:solidFill>
                <a:latin typeface="Courier New" pitchFamily="34" charset="0"/>
                <a:ea typeface="Courier New" pitchFamily="34" charset="-122"/>
                <a:cs typeface="Courier New" pitchFamily="34" charset="-120"/>
              </a:rPr>
              <a:t>11</a:t>
            </a:r>
            <a:endParaRPr lang="en-US" sz="900" dirty="0"/>
          </a:p>
        </p:txBody>
      </p:sp>
      <p:sp>
        <p:nvSpPr>
          <p:cNvPr id="5" name="Text 3"/>
          <p:cNvSpPr txBox="1"/>
          <p:nvPr/>
        </p:nvSpPr>
        <p:spPr>
          <a:xfrm>
            <a:off x="640080" y="777240"/>
            <a:ext cx="10908792" cy="822960"/>
          </a:xfrm>
          <a:prstGeom prst="rect">
            <a:avLst/>
          </a:prstGeom>
          <a:noFill/>
          <a:ln/>
        </p:spPr>
        <p:txBody>
          <a:bodyPr wrap="square" lIns="0" tIns="0" rIns="0" bIns="0" rtlCol="0" anchor="t"/>
          <a:lstStyle/>
          <a:p>
            <a:pPr algn="l" indent="0" marL="0">
              <a:buNone/>
            </a:pPr>
            <a:r>
              <a:rPr lang="en-US" sz="4400" b="1" dirty="0">
                <a:solidFill>
                  <a:srgbClr val="F0F3F8"/>
                </a:solidFill>
                <a:latin typeface="Arial" pitchFamily="34" charset="0"/>
                <a:ea typeface="Arial" pitchFamily="34" charset="-122"/>
                <a:cs typeface="Arial" pitchFamily="34" charset="-120"/>
              </a:rPr>
              <a:t>Now you code.</a:t>
            </a:r>
            <a:endParaRPr lang="en-US" sz="4400" dirty="0"/>
          </a:p>
        </p:txBody>
      </p:sp>
      <p:sp>
        <p:nvSpPr>
          <p:cNvPr id="6" name="Text 4"/>
          <p:cNvSpPr txBox="1"/>
          <p:nvPr/>
        </p:nvSpPr>
        <p:spPr>
          <a:xfrm>
            <a:off x="640080" y="1645920"/>
            <a:ext cx="10908792" cy="365760"/>
          </a:xfrm>
          <a:prstGeom prst="rect">
            <a:avLst/>
          </a:prstGeom>
          <a:noFill/>
          <a:ln/>
        </p:spPr>
        <p:txBody>
          <a:bodyPr wrap="square" lIns="0" tIns="0" rIns="0" bIns="0" rtlCol="0" anchor="t"/>
          <a:lstStyle/>
          <a:p>
            <a:pPr algn="l" indent="0" marL="0">
              <a:buNone/>
            </a:pPr>
            <a:r>
              <a:rPr lang="en-US" sz="1600" dirty="0">
                <a:solidFill>
                  <a:srgbClr val="94A3B8"/>
                </a:solidFill>
                <a:latin typeface="Calibri" pitchFamily="34" charset="0"/>
                <a:ea typeface="Calibri" pitchFamily="34" charset="-122"/>
                <a:cs typeface="Calibri" pitchFamily="34" charset="-120"/>
              </a:rPr>
              <a:t>Open EMU8086 and type every example yourself. No copy and paste: typing it is how it sticks.</a:t>
            </a:r>
            <a:endParaRPr lang="en-US" sz="1600" dirty="0"/>
          </a:p>
        </p:txBody>
      </p:sp>
      <p:sp>
        <p:nvSpPr>
          <p:cNvPr id="7" name="Shape 5"/>
          <p:cNvSpPr/>
          <p:nvPr/>
        </p:nvSpPr>
        <p:spPr>
          <a:xfrm>
            <a:off x="640080" y="2377440"/>
            <a:ext cx="5394960" cy="2926080"/>
          </a:xfrm>
          <a:prstGeom prst="roundRect">
            <a:avLst>
              <a:gd name="adj" fmla="val 6670"/>
            </a:avLst>
          </a:prstGeom>
          <a:solidFill>
            <a:srgbClr val="182132"/>
          </a:solidFill>
          <a:ln w="12700">
            <a:solidFill>
              <a:srgbClr val="2A3548"/>
            </a:solidFill>
            <a:prstDash val="solid"/>
          </a:ln>
        </p:spPr>
      </p:sp>
      <p:sp>
        <p:nvSpPr>
          <p:cNvPr id="8" name="Text 6"/>
          <p:cNvSpPr txBox="1"/>
          <p:nvPr/>
        </p:nvSpPr>
        <p:spPr>
          <a:xfrm>
            <a:off x="950976" y="2596896"/>
            <a:ext cx="3657600" cy="219456"/>
          </a:xfrm>
          <a:prstGeom prst="rect">
            <a:avLst/>
          </a:prstGeom>
          <a:noFill/>
          <a:ln/>
        </p:spPr>
        <p:txBody>
          <a:bodyPr wrap="square" lIns="0" tIns="0" rIns="0" bIns="0" rtlCol="0" anchor="t"/>
          <a:lstStyle/>
          <a:p>
            <a:pPr algn="l" indent="0" marL="0">
              <a:buNone/>
            </a:pPr>
            <a:r>
              <a:rPr lang="en-US" sz="950" b="1" spc="130" kern="0" dirty="0">
                <a:solidFill>
                  <a:srgbClr val="EDA63F"/>
                </a:solidFill>
                <a:latin typeface="Courier New" pitchFamily="34" charset="0"/>
                <a:ea typeface="Courier New" pitchFamily="34" charset="-122"/>
                <a:cs typeface="Courier New" pitchFamily="34" charset="-120"/>
              </a:rPr>
              <a:t>TODAY IN EMU8086</a:t>
            </a:r>
            <a:endParaRPr lang="en-US" sz="950" dirty="0"/>
          </a:p>
        </p:txBody>
      </p:sp>
      <p:sp>
        <p:nvSpPr>
          <p:cNvPr id="9" name="Shape 7"/>
          <p:cNvSpPr/>
          <p:nvPr/>
        </p:nvSpPr>
        <p:spPr>
          <a:xfrm>
            <a:off x="950976" y="3035808"/>
            <a:ext cx="274320" cy="274320"/>
          </a:xfrm>
          <a:prstGeom prst="ellipse">
            <a:avLst/>
          </a:prstGeom>
          <a:solidFill>
            <a:srgbClr val="0E1420"/>
          </a:solidFill>
          <a:ln/>
        </p:spPr>
      </p:sp>
      <p:sp>
        <p:nvSpPr>
          <p:cNvPr id="10" name="Text 8"/>
          <p:cNvSpPr txBox="1"/>
          <p:nvPr/>
        </p:nvSpPr>
        <p:spPr>
          <a:xfrm>
            <a:off x="950976" y="303580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1</a:t>
            </a:r>
            <a:endParaRPr lang="en-US" sz="1000" dirty="0"/>
          </a:p>
        </p:txBody>
      </p:sp>
      <p:sp>
        <p:nvSpPr>
          <p:cNvPr id="11" name="Text 9"/>
          <p:cNvSpPr txBox="1"/>
          <p:nvPr/>
        </p:nvSpPr>
        <p:spPr>
          <a:xfrm>
            <a:off x="1371600" y="2953512"/>
            <a:ext cx="4572000" cy="420624"/>
          </a:xfrm>
          <a:prstGeom prst="rect">
            <a:avLst/>
          </a:prstGeom>
          <a:noFill/>
          <a:ln/>
        </p:spPr>
        <p:txBody>
          <a:bodyPr wrap="square" lIns="0" tIns="0" rIns="0" bIns="0" rtlCol="0" anchor="ctr"/>
          <a:lstStyle/>
          <a:p>
            <a:pPr algn="l" indent="0" marL="0">
              <a:buNone/>
            </a:pPr>
            <a:r>
              <a:rPr lang="en-US" sz="1350" dirty="0">
                <a:solidFill>
                  <a:srgbClr val="94A3B8"/>
                </a:solidFill>
                <a:latin typeface="Calibri" pitchFamily="34" charset="0"/>
                <a:ea typeface="Calibri" pitchFamily="34" charset="-122"/>
                <a:cs typeface="Calibri" pitchFamily="34" charset="-120"/>
              </a:rPr>
              <a:t>A program that reads a key </a:t>
            </a:r>
            <a:pPr algn="l" indent="0" marL="0">
              <a:buNone/>
            </a:pPr>
            <a:r>
              <a:rPr lang="en-US" sz="1350" b="1" dirty="0">
                <a:solidFill>
                  <a:srgbClr val="F0F3F8"/>
                </a:solidFill>
                <a:latin typeface="Calibri" pitchFamily="34" charset="0"/>
                <a:ea typeface="Calibri" pitchFamily="34" charset="-122"/>
                <a:cs typeface="Calibri" pitchFamily="34" charset="-120"/>
              </a:rPr>
              <a:t>waits</a:t>
            </a:r>
            <a:pPr algn="l" indent="0" marL="0">
              <a:buNone/>
            </a:pPr>
            <a:r>
              <a:rPr lang="en-US" sz="1350" dirty="0">
                <a:solidFill>
                  <a:srgbClr val="94A3B8"/>
                </a:solidFill>
                <a:latin typeface="Calibri" pitchFamily="34" charset="0"/>
                <a:ea typeface="Calibri" pitchFamily="34" charset="-122"/>
                <a:cs typeface="Calibri" pitchFamily="34" charset="-120"/>
              </a:rPr>
              <a:t>. Click the emulator screen, then press a key.</a:t>
            </a:r>
            <a:endParaRPr lang="en-US" sz="1350" dirty="0"/>
          </a:p>
        </p:txBody>
      </p:sp>
      <p:sp>
        <p:nvSpPr>
          <p:cNvPr id="12" name="Shape 10"/>
          <p:cNvSpPr/>
          <p:nvPr/>
        </p:nvSpPr>
        <p:spPr>
          <a:xfrm>
            <a:off x="950976" y="3584448"/>
            <a:ext cx="274320" cy="274320"/>
          </a:xfrm>
          <a:prstGeom prst="ellipse">
            <a:avLst/>
          </a:prstGeom>
          <a:solidFill>
            <a:srgbClr val="0E1420"/>
          </a:solidFill>
          <a:ln/>
        </p:spPr>
      </p:sp>
      <p:sp>
        <p:nvSpPr>
          <p:cNvPr id="13" name="Text 11"/>
          <p:cNvSpPr txBox="1"/>
          <p:nvPr/>
        </p:nvSpPr>
        <p:spPr>
          <a:xfrm>
            <a:off x="950976" y="358444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2</a:t>
            </a:r>
            <a:endParaRPr lang="en-US" sz="1000" dirty="0"/>
          </a:p>
        </p:txBody>
      </p:sp>
      <p:sp>
        <p:nvSpPr>
          <p:cNvPr id="14" name="Text 12"/>
          <p:cNvSpPr txBox="1"/>
          <p:nvPr/>
        </p:nvSpPr>
        <p:spPr>
          <a:xfrm>
            <a:off x="1371600" y="3502152"/>
            <a:ext cx="4572000" cy="420624"/>
          </a:xfrm>
          <a:prstGeom prst="rect">
            <a:avLst/>
          </a:prstGeom>
          <a:noFill/>
          <a:ln/>
        </p:spPr>
        <p:txBody>
          <a:bodyPr wrap="square" lIns="0" tIns="0" rIns="0" bIns="0" rtlCol="0" anchor="ctr"/>
          <a:lstStyle/>
          <a:p>
            <a:pPr algn="l" indent="0" marL="0">
              <a:buNone/>
            </a:pPr>
            <a:r>
              <a:rPr lang="en-US" sz="1350" dirty="0">
                <a:solidFill>
                  <a:srgbClr val="94A3B8"/>
                </a:solidFill>
                <a:latin typeface="Calibri" pitchFamily="34" charset="0"/>
                <a:ea typeface="Calibri" pitchFamily="34" charset="-122"/>
                <a:cs typeface="Calibri" pitchFamily="34" charset="-120"/>
              </a:rPr>
              <a:t>Examples 4 and 5 print nothing: </a:t>
            </a:r>
            <a:pPr algn="l" indent="0" marL="0">
              <a:buNone/>
            </a:pPr>
            <a:r>
              <a:rPr lang="en-US" sz="1350" b="1" dirty="0">
                <a:solidFill>
                  <a:srgbClr val="F0F3F8"/>
                </a:solidFill>
                <a:latin typeface="Courier New" pitchFamily="34" charset="0"/>
                <a:ea typeface="Courier New" pitchFamily="34" charset="-122"/>
                <a:cs typeface="Courier New" pitchFamily="34" charset="-120"/>
              </a:rPr>
              <a:t>single step</a:t>
            </a:r>
            <a:pPr algn="l" indent="0" marL="0">
              <a:buNone/>
            </a:pPr>
            <a:r>
              <a:rPr lang="en-US" sz="1350" dirty="0">
                <a:solidFill>
                  <a:srgbClr val="94A3B8"/>
                </a:solidFill>
                <a:latin typeface="Calibri" pitchFamily="34" charset="0"/>
                <a:ea typeface="Calibri" pitchFamily="34" charset="-122"/>
                <a:cs typeface="Calibri" pitchFamily="34" charset="-120"/>
              </a:rPr>
              <a:t>, watch AL.</a:t>
            </a:r>
            <a:endParaRPr lang="en-US" sz="1350" dirty="0"/>
          </a:p>
        </p:txBody>
      </p:sp>
      <p:sp>
        <p:nvSpPr>
          <p:cNvPr id="15" name="Shape 13"/>
          <p:cNvSpPr/>
          <p:nvPr/>
        </p:nvSpPr>
        <p:spPr>
          <a:xfrm>
            <a:off x="950976" y="4133088"/>
            <a:ext cx="274320" cy="274320"/>
          </a:xfrm>
          <a:prstGeom prst="ellipse">
            <a:avLst/>
          </a:prstGeom>
          <a:solidFill>
            <a:srgbClr val="0E1420"/>
          </a:solidFill>
          <a:ln/>
        </p:spPr>
      </p:sp>
      <p:sp>
        <p:nvSpPr>
          <p:cNvPr id="16" name="Text 14"/>
          <p:cNvSpPr txBox="1"/>
          <p:nvPr/>
        </p:nvSpPr>
        <p:spPr>
          <a:xfrm>
            <a:off x="950976" y="413308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3</a:t>
            </a:r>
            <a:endParaRPr lang="en-US" sz="1000" dirty="0"/>
          </a:p>
        </p:txBody>
      </p:sp>
      <p:sp>
        <p:nvSpPr>
          <p:cNvPr id="17" name="Text 15"/>
          <p:cNvSpPr txBox="1"/>
          <p:nvPr/>
        </p:nvSpPr>
        <p:spPr>
          <a:xfrm>
            <a:off x="1371600" y="4050792"/>
            <a:ext cx="4572000" cy="420624"/>
          </a:xfrm>
          <a:prstGeom prst="rect">
            <a:avLst/>
          </a:prstGeom>
          <a:noFill/>
          <a:ln/>
        </p:spPr>
        <p:txBody>
          <a:bodyPr wrap="square" lIns="0" tIns="0" rIns="0" bIns="0" rtlCol="0" anchor="ctr"/>
          <a:lstStyle/>
          <a:p>
            <a:pPr algn="l" indent="0" marL="0">
              <a:buNone/>
            </a:pPr>
            <a:r>
              <a:rPr lang="en-US" sz="1350" dirty="0">
                <a:solidFill>
                  <a:srgbClr val="94A3B8"/>
                </a:solidFill>
                <a:latin typeface="Calibri" pitchFamily="34" charset="0"/>
                <a:ea typeface="Calibri" pitchFamily="34" charset="-122"/>
                <a:cs typeface="Calibri" pitchFamily="34" charset="-120"/>
              </a:rPr>
              <a:t>The registers panel shows hex. </a:t>
            </a:r>
            <a:pPr algn="l" indent="0" marL="0">
              <a:buNone/>
            </a:pPr>
            <a:r>
              <a:rPr lang="en-US" sz="1350" b="1" dirty="0">
                <a:solidFill>
                  <a:srgbClr val="F0F3F8"/>
                </a:solidFill>
                <a:latin typeface="Courier New" pitchFamily="34" charset="0"/>
                <a:ea typeface="Courier New" pitchFamily="34" charset="-122"/>
                <a:cs typeface="Courier New" pitchFamily="34" charset="-120"/>
              </a:rPr>
              <a:t>'A'</a:t>
            </a:r>
            <a:pPr algn="l" indent="0" marL="0">
              <a:buNone/>
            </a:pPr>
            <a:r>
              <a:rPr lang="en-US" sz="1350" dirty="0">
                <a:solidFill>
                  <a:srgbClr val="94A3B8"/>
                </a:solidFill>
                <a:latin typeface="Calibri" pitchFamily="34" charset="0"/>
                <a:ea typeface="Calibri" pitchFamily="34" charset="-122"/>
                <a:cs typeface="Calibri" pitchFamily="34" charset="-120"/>
              </a:rPr>
              <a:t> shows as 41 there.</a:t>
            </a:r>
            <a:endParaRPr lang="en-US" sz="1350" dirty="0"/>
          </a:p>
        </p:txBody>
      </p:sp>
      <p:sp>
        <p:nvSpPr>
          <p:cNvPr id="18" name="Shape 16"/>
          <p:cNvSpPr/>
          <p:nvPr/>
        </p:nvSpPr>
        <p:spPr>
          <a:xfrm>
            <a:off x="950976" y="4681728"/>
            <a:ext cx="274320" cy="274320"/>
          </a:xfrm>
          <a:prstGeom prst="ellipse">
            <a:avLst/>
          </a:prstGeom>
          <a:solidFill>
            <a:srgbClr val="0E1420"/>
          </a:solidFill>
          <a:ln/>
        </p:spPr>
      </p:sp>
      <p:sp>
        <p:nvSpPr>
          <p:cNvPr id="19" name="Text 17"/>
          <p:cNvSpPr txBox="1"/>
          <p:nvPr/>
        </p:nvSpPr>
        <p:spPr>
          <a:xfrm>
            <a:off x="950976" y="4681728"/>
            <a:ext cx="274320" cy="274320"/>
          </a:xfrm>
          <a:prstGeom prst="rect">
            <a:avLst/>
          </a:prstGeom>
          <a:noFill/>
          <a:ln/>
        </p:spPr>
        <p:txBody>
          <a:bodyPr wrap="square" lIns="0" tIns="0" rIns="0" bIns="0" rtlCol="0" anchor="ctr"/>
          <a:lstStyle/>
          <a:p>
            <a:pPr algn="ctr" indent="0" marL="0">
              <a:buNone/>
            </a:pPr>
            <a:r>
              <a:rPr lang="en-US" sz="1000" b="1" dirty="0">
                <a:solidFill>
                  <a:srgbClr val="3EB9CE"/>
                </a:solidFill>
                <a:latin typeface="Courier New" pitchFamily="34" charset="0"/>
                <a:ea typeface="Courier New" pitchFamily="34" charset="-122"/>
                <a:cs typeface="Courier New" pitchFamily="34" charset="-120"/>
              </a:rPr>
              <a:t>4</a:t>
            </a:r>
            <a:endParaRPr lang="en-US" sz="1000" dirty="0"/>
          </a:p>
        </p:txBody>
      </p:sp>
      <p:sp>
        <p:nvSpPr>
          <p:cNvPr id="20" name="Text 18"/>
          <p:cNvSpPr txBox="1"/>
          <p:nvPr/>
        </p:nvSpPr>
        <p:spPr>
          <a:xfrm>
            <a:off x="1371600" y="4599432"/>
            <a:ext cx="4572000" cy="420624"/>
          </a:xfrm>
          <a:prstGeom prst="rect">
            <a:avLst/>
          </a:prstGeom>
          <a:noFill/>
          <a:ln/>
        </p:spPr>
        <p:txBody>
          <a:bodyPr wrap="square" lIns="0" tIns="0" rIns="0" bIns="0" rtlCol="0" anchor="ctr"/>
          <a:lstStyle/>
          <a:p>
            <a:pPr algn="l" indent="0" marL="0">
              <a:buNone/>
            </a:pPr>
            <a:r>
              <a:rPr lang="en-US" sz="1350" dirty="0">
                <a:solidFill>
                  <a:srgbClr val="94A3B8"/>
                </a:solidFill>
                <a:latin typeface="Calibri" pitchFamily="34" charset="0"/>
                <a:ea typeface="Calibri" pitchFamily="34" charset="-122"/>
                <a:cs typeface="Calibri" pitchFamily="34" charset="-120"/>
              </a:rPr>
              <a:t>Printing changes AL. Save a key with </a:t>
            </a:r>
            <a:pPr algn="l" indent="0" marL="0">
              <a:buNone/>
            </a:pPr>
            <a:r>
              <a:rPr lang="en-US" sz="1350" b="1" dirty="0">
                <a:solidFill>
                  <a:srgbClr val="F0F3F8"/>
                </a:solidFill>
                <a:latin typeface="Courier New" pitchFamily="34" charset="0"/>
                <a:ea typeface="Courier New" pitchFamily="34" charset="-122"/>
                <a:cs typeface="Courier New" pitchFamily="34" charset="-120"/>
              </a:rPr>
              <a:t>mov bl, al</a:t>
            </a:r>
            <a:pPr algn="l" indent="0" marL="0">
              <a:buNone/>
            </a:pPr>
            <a:r>
              <a:rPr lang="en-US" sz="1350" dirty="0">
                <a:solidFill>
                  <a:srgbClr val="94A3B8"/>
                </a:solidFill>
                <a:latin typeface="Calibri" pitchFamily="34" charset="0"/>
                <a:ea typeface="Calibri" pitchFamily="34" charset="-122"/>
                <a:cs typeface="Calibri" pitchFamily="34" charset="-120"/>
              </a:rPr>
              <a:t>.</a:t>
            </a:r>
            <a:endParaRPr lang="en-US" sz="1350" dirty="0"/>
          </a:p>
        </p:txBody>
      </p:sp>
      <p:sp>
        <p:nvSpPr>
          <p:cNvPr id="21" name="Shape 19"/>
          <p:cNvSpPr/>
          <p:nvPr/>
        </p:nvSpPr>
        <p:spPr>
          <a:xfrm>
            <a:off x="6153912" y="2377440"/>
            <a:ext cx="5394960" cy="2926080"/>
          </a:xfrm>
          <a:prstGeom prst="roundRect">
            <a:avLst>
              <a:gd name="adj" fmla="val 6670"/>
            </a:avLst>
          </a:prstGeom>
          <a:solidFill>
            <a:srgbClr val="122A31"/>
          </a:solidFill>
          <a:ln w="12700">
            <a:solidFill>
              <a:srgbClr val="27505B"/>
            </a:solidFill>
            <a:prstDash val="solid"/>
          </a:ln>
        </p:spPr>
      </p:sp>
      <p:sp>
        <p:nvSpPr>
          <p:cNvPr id="22" name="Text 20"/>
          <p:cNvSpPr txBox="1"/>
          <p:nvPr/>
        </p:nvSpPr>
        <p:spPr>
          <a:xfrm>
            <a:off x="6464808" y="2596896"/>
            <a:ext cx="3657600" cy="219456"/>
          </a:xfrm>
          <a:prstGeom prst="rect">
            <a:avLst/>
          </a:prstGeom>
          <a:noFill/>
          <a:ln/>
        </p:spPr>
        <p:txBody>
          <a:bodyPr wrap="square" lIns="0" tIns="0" rIns="0" bIns="0" rtlCol="0" anchor="t"/>
          <a:lstStyle/>
          <a:p>
            <a:pPr algn="l" indent="0" marL="0">
              <a:buNone/>
            </a:pPr>
            <a:r>
              <a:rPr lang="en-US" sz="950" b="1" spc="130" kern="0" dirty="0">
                <a:solidFill>
                  <a:srgbClr val="3EB9CE"/>
                </a:solidFill>
                <a:latin typeface="Courier New" pitchFamily="34" charset="0"/>
                <a:ea typeface="Courier New" pitchFamily="34" charset="-122"/>
                <a:cs typeface="Courier New" pitchFamily="34" charset="-120"/>
              </a:rPr>
              <a:t>FOR EVERY EXAMPLE</a:t>
            </a:r>
            <a:endParaRPr lang="en-US" sz="950" dirty="0"/>
          </a:p>
        </p:txBody>
      </p:sp>
      <p:sp>
        <p:nvSpPr>
          <p:cNvPr id="23" name="Shape 21"/>
          <p:cNvSpPr/>
          <p:nvPr/>
        </p:nvSpPr>
        <p:spPr>
          <a:xfrm>
            <a:off x="6464808" y="3063240"/>
            <a:ext cx="2103120" cy="502920"/>
          </a:xfrm>
          <a:prstGeom prst="roundRect">
            <a:avLst>
              <a:gd name="adj" fmla="val 6670"/>
            </a:avLst>
          </a:prstGeom>
          <a:solidFill>
            <a:srgbClr val="0E1420"/>
          </a:solidFill>
          <a:ln w="12700">
            <a:solidFill>
              <a:srgbClr val="27505B"/>
            </a:solidFill>
            <a:prstDash val="solid"/>
          </a:ln>
        </p:spPr>
      </p:sp>
      <p:sp>
        <p:nvSpPr>
          <p:cNvPr id="24" name="Text 22"/>
          <p:cNvSpPr txBox="1"/>
          <p:nvPr/>
        </p:nvSpPr>
        <p:spPr>
          <a:xfrm>
            <a:off x="6464808" y="306324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1  Type it</a:t>
            </a:r>
            <a:endParaRPr lang="en-US" sz="1400" dirty="0"/>
          </a:p>
        </p:txBody>
      </p:sp>
      <p:sp>
        <p:nvSpPr>
          <p:cNvPr id="25" name="Shape 23"/>
          <p:cNvSpPr/>
          <p:nvPr/>
        </p:nvSpPr>
        <p:spPr>
          <a:xfrm>
            <a:off x="9116568" y="3063240"/>
            <a:ext cx="2103120" cy="502920"/>
          </a:xfrm>
          <a:prstGeom prst="roundRect">
            <a:avLst>
              <a:gd name="adj" fmla="val 6670"/>
            </a:avLst>
          </a:prstGeom>
          <a:solidFill>
            <a:srgbClr val="0E1420"/>
          </a:solidFill>
          <a:ln w="12700">
            <a:solidFill>
              <a:srgbClr val="27505B"/>
            </a:solidFill>
            <a:prstDash val="solid"/>
          </a:ln>
        </p:spPr>
      </p:sp>
      <p:sp>
        <p:nvSpPr>
          <p:cNvPr id="26" name="Text 24"/>
          <p:cNvSpPr txBox="1"/>
          <p:nvPr/>
        </p:nvSpPr>
        <p:spPr>
          <a:xfrm>
            <a:off x="9116568" y="306324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2  Run it</a:t>
            </a:r>
            <a:endParaRPr lang="en-US" sz="1400" dirty="0"/>
          </a:p>
        </p:txBody>
      </p:sp>
      <p:sp>
        <p:nvSpPr>
          <p:cNvPr id="27" name="Shape 25"/>
          <p:cNvSpPr/>
          <p:nvPr/>
        </p:nvSpPr>
        <p:spPr>
          <a:xfrm>
            <a:off x="9116568" y="4343400"/>
            <a:ext cx="2103120" cy="502920"/>
          </a:xfrm>
          <a:prstGeom prst="roundRect">
            <a:avLst>
              <a:gd name="adj" fmla="val 6670"/>
            </a:avLst>
          </a:prstGeom>
          <a:solidFill>
            <a:srgbClr val="0E1420"/>
          </a:solidFill>
          <a:ln w="12700">
            <a:solidFill>
              <a:srgbClr val="27505B"/>
            </a:solidFill>
            <a:prstDash val="solid"/>
          </a:ln>
        </p:spPr>
      </p:sp>
      <p:sp>
        <p:nvSpPr>
          <p:cNvPr id="28" name="Text 26"/>
          <p:cNvSpPr txBox="1"/>
          <p:nvPr/>
        </p:nvSpPr>
        <p:spPr>
          <a:xfrm>
            <a:off x="9116568" y="434340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3  Change one thing</a:t>
            </a:r>
            <a:endParaRPr lang="en-US" sz="1400" dirty="0"/>
          </a:p>
        </p:txBody>
      </p:sp>
      <p:sp>
        <p:nvSpPr>
          <p:cNvPr id="29" name="Shape 27"/>
          <p:cNvSpPr/>
          <p:nvPr/>
        </p:nvSpPr>
        <p:spPr>
          <a:xfrm>
            <a:off x="6464808" y="4343400"/>
            <a:ext cx="2103120" cy="502920"/>
          </a:xfrm>
          <a:prstGeom prst="roundRect">
            <a:avLst>
              <a:gd name="adj" fmla="val 6670"/>
            </a:avLst>
          </a:prstGeom>
          <a:solidFill>
            <a:srgbClr val="0E1420"/>
          </a:solidFill>
          <a:ln w="12700">
            <a:solidFill>
              <a:srgbClr val="27505B"/>
            </a:solidFill>
            <a:prstDash val="solid"/>
          </a:ln>
        </p:spPr>
      </p:sp>
      <p:sp>
        <p:nvSpPr>
          <p:cNvPr id="30" name="Text 28"/>
          <p:cNvSpPr txBox="1"/>
          <p:nvPr/>
        </p:nvSpPr>
        <p:spPr>
          <a:xfrm>
            <a:off x="6464808" y="4343400"/>
            <a:ext cx="2103120" cy="502920"/>
          </a:xfrm>
          <a:prstGeom prst="rect">
            <a:avLst/>
          </a:prstGeom>
          <a:noFill/>
          <a:ln/>
        </p:spPr>
        <p:txBody>
          <a:bodyPr wrap="square" lIns="0" tIns="0" rIns="0" bIns="0" rtlCol="0" anchor="ctr"/>
          <a:lstStyle/>
          <a:p>
            <a:pPr algn="ctr" indent="0" marL="0">
              <a:buNone/>
            </a:pPr>
            <a:r>
              <a:rPr lang="en-US" sz="1400" b="1" dirty="0">
                <a:solidFill>
                  <a:srgbClr val="F0F3F8"/>
                </a:solidFill>
                <a:latin typeface="Calibri" pitchFamily="34" charset="0"/>
                <a:ea typeface="Calibri" pitchFamily="34" charset="-122"/>
                <a:cs typeface="Calibri" pitchFamily="34" charset="-120"/>
              </a:rPr>
              <a:t>4  Run it again</a:t>
            </a:r>
            <a:endParaRPr lang="en-US" sz="1400" dirty="0"/>
          </a:p>
        </p:txBody>
      </p:sp>
      <p:sp>
        <p:nvSpPr>
          <p:cNvPr id="31" name="Shape 29"/>
          <p:cNvSpPr/>
          <p:nvPr/>
        </p:nvSpPr>
        <p:spPr>
          <a:xfrm>
            <a:off x="8641080" y="3314700"/>
            <a:ext cx="402336" cy="0"/>
          </a:xfrm>
          <a:prstGeom prst="line">
            <a:avLst/>
          </a:prstGeom>
          <a:noFill/>
          <a:ln w="19050">
            <a:solidFill>
              <a:srgbClr val="3EB9CE"/>
            </a:solidFill>
            <a:prstDash val="solid"/>
            <a:tailEnd type="triangle"/>
          </a:ln>
        </p:spPr>
      </p:sp>
      <p:sp>
        <p:nvSpPr>
          <p:cNvPr id="32" name="Shape 30"/>
          <p:cNvSpPr/>
          <p:nvPr/>
        </p:nvSpPr>
        <p:spPr>
          <a:xfrm>
            <a:off x="10168128" y="3639312"/>
            <a:ext cx="0" cy="630936"/>
          </a:xfrm>
          <a:prstGeom prst="line">
            <a:avLst/>
          </a:prstGeom>
          <a:noFill/>
          <a:ln w="19050">
            <a:solidFill>
              <a:srgbClr val="3EB9CE"/>
            </a:solidFill>
            <a:prstDash val="solid"/>
            <a:tailEnd type="triangle"/>
          </a:ln>
        </p:spPr>
      </p:sp>
      <p:sp>
        <p:nvSpPr>
          <p:cNvPr id="33" name="Shape 31"/>
          <p:cNvSpPr/>
          <p:nvPr/>
        </p:nvSpPr>
        <p:spPr>
          <a:xfrm flipH="1">
            <a:off x="8641080" y="4594860"/>
            <a:ext cx="402336" cy="0"/>
          </a:xfrm>
          <a:prstGeom prst="line">
            <a:avLst/>
          </a:prstGeom>
          <a:noFill/>
          <a:ln w="19050">
            <a:solidFill>
              <a:srgbClr val="3EB9CE"/>
            </a:solidFill>
            <a:prstDash val="solid"/>
            <a:tailEnd type="triangle"/>
          </a:ln>
        </p:spPr>
      </p:sp>
      <p:sp>
        <p:nvSpPr>
          <p:cNvPr id="34" name="Shape 32"/>
          <p:cNvSpPr/>
          <p:nvPr/>
        </p:nvSpPr>
        <p:spPr>
          <a:xfrm flipV="1">
            <a:off x="7516368" y="3639312"/>
            <a:ext cx="0" cy="630936"/>
          </a:xfrm>
          <a:prstGeom prst="line">
            <a:avLst/>
          </a:prstGeom>
          <a:noFill/>
          <a:ln w="19050">
            <a:solidFill>
              <a:srgbClr val="3EB9CE"/>
            </a:solidFill>
            <a:prstDash val="solid"/>
            <a:tailEnd type="triangle"/>
          </a:ln>
        </p:spPr>
      </p:sp>
      <p:sp>
        <p:nvSpPr>
          <p:cNvPr id="35" name="Text 33"/>
          <p:cNvSpPr txBox="1"/>
          <p:nvPr/>
        </p:nvSpPr>
        <p:spPr>
          <a:xfrm>
            <a:off x="7626096" y="3822192"/>
            <a:ext cx="1463040" cy="274320"/>
          </a:xfrm>
          <a:prstGeom prst="rect">
            <a:avLst/>
          </a:prstGeom>
          <a:noFill/>
          <a:ln/>
        </p:spPr>
        <p:txBody>
          <a:bodyPr wrap="square" lIns="0" tIns="0" rIns="0" bIns="0" rtlCol="0" anchor="ctr"/>
          <a:lstStyle/>
          <a:p>
            <a:pPr algn="l" indent="0" marL="0">
              <a:buNone/>
            </a:pPr>
            <a:r>
              <a:rPr lang="en-US" sz="1100" i="1" dirty="0">
                <a:solidFill>
                  <a:srgbClr val="94A3B8"/>
                </a:solidFill>
                <a:latin typeface="Calibri" pitchFamily="34" charset="0"/>
                <a:ea typeface="Calibri" pitchFamily="34" charset="-122"/>
                <a:cs typeface="Calibri" pitchFamily="34" charset="-120"/>
              </a:rPr>
              <a:t>next example</a:t>
            </a:r>
            <a:endParaRPr lang="en-US" sz="1100" dirty="0"/>
          </a:p>
        </p:txBody>
      </p:sp>
      <p:sp>
        <p:nvSpPr>
          <p:cNvPr id="36" name="Text 34"/>
          <p:cNvSpPr txBox="1"/>
          <p:nvPr/>
        </p:nvSpPr>
        <p:spPr>
          <a:xfrm>
            <a:off x="640080" y="5577840"/>
            <a:ext cx="10908792" cy="411480"/>
          </a:xfrm>
          <a:prstGeom prst="rect">
            <a:avLst/>
          </a:prstGeom>
          <a:noFill/>
          <a:ln/>
        </p:spPr>
        <p:txBody>
          <a:bodyPr wrap="square" lIns="0" tIns="0" rIns="0" bIns="0" rtlCol="0" anchor="ctr"/>
          <a:lstStyle/>
          <a:p>
            <a:pPr algn="ctr" indent="0" marL="0">
              <a:buNone/>
            </a:pPr>
            <a:r>
              <a:rPr lang="en-US" sz="1600" b="1" dirty="0">
                <a:solidFill>
                  <a:srgbClr val="EDA63F"/>
                </a:solidFill>
                <a:latin typeface="Courier New" pitchFamily="34" charset="0"/>
                <a:ea typeface="Courier New" pitchFamily="34" charset="-122"/>
                <a:cs typeface="Courier New" pitchFamily="34" charset="-120"/>
              </a:rPr>
              <a:t>Examples 1 to 6   →   Practice tasks   →   Final task   →   Submit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COAL Lab 3: Input &amp; Basic Operations</dc:title>
  <dc:subject>PptxGenJS Presentation</dc:subject>
  <dc:creator>Muhammad Hashir Shaikh</dc:creator>
  <cp:lastModifiedBy>Muhammad Hashir Shaikh</cp:lastModifiedBy>
  <cp:revision>1</cp:revision>
  <dcterms:created xsi:type="dcterms:W3CDTF">2026-09-28T18:42:54Z</dcterms:created>
  <dcterms:modified xsi:type="dcterms:W3CDTF">2026-09-28T18:42:54Z</dcterms:modified>
</cp:coreProperties>
</file>