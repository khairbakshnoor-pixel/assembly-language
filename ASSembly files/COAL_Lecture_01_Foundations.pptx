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454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Set the tone: this is the course where the computer stops being a black box. No prior assembly needed. 2.5 hours today, and by the end you will recognise everything on these slides — you are not expected to write programs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nine steps quickly. Emphasise the order is deliberate: you cannot understand a register until you know what a CPU is, and you cannot read assembly until you know what a register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when you write x = a + b in C++, what actually happens? Collect a few answers. Do not correct them — just note that by lecture 3 they will be able to answer precisely.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brisk. The point is to show the shape of the semester so the detail later has somewhere to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3 is the one that lands with students: name the later courses in your programme that depend on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sentence at the bottom out loud twice — it is the thesis of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define these deeply yet — this is a vocabulary preview. Each gets its own treatment shortly.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code but resist every temptation to explain MOV. Students will ask — tell them they will know by the end of lecture 2, and that today the goal is fluency in reading shape, not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'why is the course called two things'. Give a concrete example: reading disassembled output of their own C++ program is the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get drawn into compilers and assemblers yet. If asked, say: a translator turns each level into the one below it, and we cover that properly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place for a question: which column would you rather write a game in? Which would you rather write a device driver in? Both answers are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too. Students should be able to redraw it from memory by the end of the course. Stress: the arrows are buses, and the CPU only ever works with what is in memory or in its own registers.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if needed: the control unit is the foreman, the ALU is the worker, the registers are the workbench. Use it once, then drop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check: if you unplug the machine mid-program, what survives? Answer: only what is in storage. Everything in registers and RAM is gone.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idea in the first half of the course. Say it three different ways. No pipelines, no caches, no branch prediction — if asked, say those are refinements of this same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conceptual. If someone asks how the bytes encode the instruction, say: that is instruction encoding, and we cover it later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the squares with them for the 8-bit strip. It makes 'width' physical rather than a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student asks why 64-bit machines felt faster: mention more memory addressable and more registers, but keep it short — this is not the lecture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them open a file browser later and look for Program Files (x86). Concrete beats abstract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wander into 8086 history — one sentence on 1978 is enough. The point students need is: this is the ancestor, and it is simple enough to understand in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punchline: the instructions they will write in EMU8086 are, in a real sense, still understood by the machine on their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Resist going into the bus interface unit / execution unit split, segmentation, or the prefetch queue. Point at the three buses, name them,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desk/cabinet analogy is the only analogy worth using here. Use it once. Then insist on the real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fourteen names out loud together. It sounds silly and it works — the names need to stop being strange before lecture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exam question: what is the relationship between AX, AH and AL? Answer: AH and AL are the two halves of the same 16 bits, not separate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back to the fetch–decode–execute slide when you reach IP. That link is what makes registers feel real rather than arbitrary.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blurts out that MOV copies a value: acknowledge it, say they are ahead of the class, and move on without confirming details. Hold the line — the payoff next lecture is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Python comparison is worth dwelling on — students carry the indentation habit in and are surprised it means nothing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code block aloud line by line, naming punctuation only — semicolon, colon, comma. Do not say what the instructions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each coloured region as you name it. Students only need to be able to say 'that part is data, that part is code' by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five minutes at most. Do not demonstrate any conversion; that comes much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ranges, three numbers each. That is the entire ASCII requirement for today. Resist every temptation to show a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EMU8086 open on the lecture machine, switch to it now for two minutes rather than talking over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mock-up, not a screenshot — the real window is arranged slightly differently depending on version. Show the real thing live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as a call-and-response with the room. Ask 'what is MOV called?' — answer: the mnemonic. Not 'what does it do'.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defuses the anxious student who expected to write code on day one. Say plainly: none of this is missing, it is 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them out and ask for a show of hands on any that feel shaky. Whatever gets the most hands is your five-minute recap at the start of lecture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real time for questions. First-lecture questions are usually the most revealing ones you will get all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LECTURE  ·  NO PRIOR ASSEMBLY ASSUMED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6675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Organization</a:t>
            </a:r>
            <a:endParaRPr lang="en-US" sz="4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Assembly Language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DA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01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Hashir Shaikh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956048"/>
            <a:ext cx="1664208" cy="329184"/>
          </a:xfrm>
          <a:prstGeom prst="roundRect">
            <a:avLst>
              <a:gd name="adj" fmla="val 44444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495604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 8086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4956048"/>
            <a:ext cx="1664208" cy="329184"/>
          </a:xfrm>
          <a:prstGeom prst="roundRect">
            <a:avLst>
              <a:gd name="adj" fmla="val 44444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468880" y="495604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x86 FAMILY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4956048"/>
            <a:ext cx="1554480" cy="329184"/>
          </a:xfrm>
          <a:prstGeom prst="roundRect">
            <a:avLst>
              <a:gd name="adj" fmla="val 44444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297680" y="49560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16752" y="4956048"/>
            <a:ext cx="1335024" cy="329184"/>
          </a:xfrm>
          <a:prstGeom prst="roundRect">
            <a:avLst>
              <a:gd name="adj" fmla="val 44444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016752" y="495604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EMU8086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571232" y="237744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38160" y="23774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1420"/>
          </a:solidFill>
          <a:ln w="12700">
            <a:solidFill>
              <a:srgbClr val="23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67928" y="23774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DA63F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97696" y="23774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1420"/>
          </a:solidFill>
          <a:ln w="12700">
            <a:solidFill>
              <a:srgbClr val="23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27464" y="23774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1420"/>
          </a:solidFill>
          <a:ln w="12700">
            <a:solidFill>
              <a:srgbClr val="23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857232" y="23774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DA63F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87000" y="23774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DA63F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716768" y="23774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1420"/>
          </a:solidFill>
          <a:ln w="12700">
            <a:solidFill>
              <a:srgbClr val="23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146536" y="23774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DA63F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571232" y="28072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138160" y="2807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1420"/>
          </a:solidFill>
          <a:ln w="12700">
            <a:solidFill>
              <a:srgbClr val="23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67928" y="2807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EB9CE"/>
          </a:solidFill>
          <a:ln w="12700">
            <a:solidFill>
              <a:srgbClr val="3EB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997696" y="2807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1420"/>
          </a:solidFill>
          <a:ln w="12700">
            <a:solidFill>
              <a:srgbClr val="23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427464" y="2807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1420"/>
          </a:solidFill>
          <a:ln w="12700">
            <a:solidFill>
              <a:srgbClr val="23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857232" y="2807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EB9CE"/>
          </a:solidFill>
          <a:ln w="12700">
            <a:solidFill>
              <a:srgbClr val="3EB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287000" y="2807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EB9CE"/>
          </a:solidFill>
          <a:ln w="12700">
            <a:solidFill>
              <a:srgbClr val="3EB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716768" y="2807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EB9CE"/>
          </a:solidFill>
          <a:ln w="12700">
            <a:solidFill>
              <a:srgbClr val="3EB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146536" y="2807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EB9CE"/>
          </a:solidFill>
          <a:ln w="12700">
            <a:solidFill>
              <a:srgbClr val="3EB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7571232" y="323697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138160" y="32369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1420"/>
          </a:solidFill>
          <a:ln w="12700">
            <a:solidFill>
              <a:srgbClr val="23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567928" y="32369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9584E8"/>
          </a:solidFill>
          <a:ln w="12700">
            <a:solidFill>
              <a:srgbClr val="958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997696" y="32369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1420"/>
          </a:solidFill>
          <a:ln w="12700">
            <a:solidFill>
              <a:srgbClr val="23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427464" y="32369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9584E8"/>
          </a:solidFill>
          <a:ln w="12700">
            <a:solidFill>
              <a:srgbClr val="958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857232" y="32369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1420"/>
          </a:solidFill>
          <a:ln w="12700">
            <a:solidFill>
              <a:srgbClr val="23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287000" y="32369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9584E8"/>
          </a:solidFill>
          <a:ln w="12700">
            <a:solidFill>
              <a:srgbClr val="958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716768" y="32369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9584E8"/>
          </a:solidFill>
          <a:ln w="12700">
            <a:solidFill>
              <a:srgbClr val="958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146536" y="323697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1420"/>
          </a:solidFill>
          <a:ln w="12700">
            <a:solidFill>
              <a:srgbClr val="23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7571232" y="381304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letters, exactly as the machine stores them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today takes us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ideas, in order. Each one is what makes the next one possible.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93392"/>
            <a:ext cx="3465576" cy="1060704"/>
          </a:xfrm>
          <a:prstGeom prst="roundRect">
            <a:avLst>
              <a:gd name="adj" fmla="val 603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" y="2231136"/>
            <a:ext cx="329184" cy="329184"/>
          </a:xfrm>
          <a:prstGeom prst="ellipse">
            <a:avLst/>
          </a:prstGeom>
          <a:solidFill>
            <a:srgbClr val="D7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77824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2231136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651760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machine is organised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1993392"/>
            <a:ext cx="3465576" cy="1060704"/>
          </a:xfrm>
          <a:prstGeom prst="roundRect">
            <a:avLst>
              <a:gd name="adj" fmla="val 603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99432" y="2231136"/>
            <a:ext cx="329184" cy="329184"/>
          </a:xfrm>
          <a:prstGeom prst="ellipse">
            <a:avLst/>
          </a:prstGeom>
          <a:solidFill>
            <a:srgbClr val="FBE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599432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38344" y="2231136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651760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runs instructions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1993392"/>
            <a:ext cx="3465576" cy="1060704"/>
          </a:xfrm>
          <a:prstGeom prst="roundRect">
            <a:avLst>
              <a:gd name="adj" fmla="val 603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21040" y="2231136"/>
            <a:ext cx="329184" cy="329184"/>
          </a:xfrm>
          <a:prstGeom prst="ellipse">
            <a:avLst/>
          </a:prstGeom>
          <a:solidFill>
            <a:srgbClr val="E6E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21040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759952" y="2231136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651760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Bits, x86, x64 — the vocabulary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200400"/>
            <a:ext cx="3465576" cy="1060704"/>
          </a:xfrm>
          <a:prstGeom prst="roundRect">
            <a:avLst>
              <a:gd name="adj" fmla="val 603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77824" y="3438144"/>
            <a:ext cx="329184" cy="329184"/>
          </a:xfrm>
          <a:prstGeom prst="ellipse">
            <a:avLst/>
          </a:prstGeom>
          <a:solidFill>
            <a:srgbClr val="FBE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77824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316736" y="343814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" y="385876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processor we study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61688" y="3200400"/>
            <a:ext cx="3465576" cy="1060704"/>
          </a:xfrm>
          <a:prstGeom prst="roundRect">
            <a:avLst>
              <a:gd name="adj" fmla="val 603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99432" y="3438144"/>
            <a:ext cx="329184" cy="329184"/>
          </a:xfrm>
          <a:prstGeom prst="ellipse">
            <a:avLst/>
          </a:prstGeom>
          <a:solidFill>
            <a:srgbClr val="D7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599432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038344" y="343814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99432" y="385876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CPU's own storage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83296" y="3200400"/>
            <a:ext cx="3465576" cy="1060704"/>
          </a:xfrm>
          <a:prstGeom prst="roundRect">
            <a:avLst>
              <a:gd name="adj" fmla="val 603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321040" y="3438144"/>
            <a:ext cx="329184" cy="329184"/>
          </a:xfrm>
          <a:prstGeom prst="ellipse">
            <a:avLst/>
          </a:prstGeom>
          <a:solidFill>
            <a:srgbClr val="F8E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8321040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759952" y="343814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385876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itself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4407408"/>
            <a:ext cx="3465576" cy="1060704"/>
          </a:xfrm>
          <a:prstGeom prst="roundRect">
            <a:avLst>
              <a:gd name="adj" fmla="val 603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77824" y="4645152"/>
            <a:ext cx="329184" cy="329184"/>
          </a:xfrm>
          <a:prstGeom prst="ellipse">
            <a:avLst/>
          </a:prstGeom>
          <a:solidFill>
            <a:srgbClr val="F8E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877824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316736" y="4645152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77824" y="5065776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written down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61688" y="4407408"/>
            <a:ext cx="3465576" cy="1060704"/>
          </a:xfrm>
          <a:prstGeom prst="roundRect">
            <a:avLst>
              <a:gd name="adj" fmla="val 603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99432" y="4645152"/>
            <a:ext cx="329184" cy="329184"/>
          </a:xfrm>
          <a:prstGeom prst="ellipse">
            <a:avLst/>
          </a:prstGeom>
          <a:solidFill>
            <a:srgbClr val="DBE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599432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038344" y="4645152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4599432" y="5065776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as numbers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83296" y="4407408"/>
            <a:ext cx="3465576" cy="1060704"/>
          </a:xfrm>
          <a:prstGeom prst="roundRect">
            <a:avLst>
              <a:gd name="adj" fmla="val 603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321040" y="4645152"/>
            <a:ext cx="329184" cy="329184"/>
          </a:xfrm>
          <a:prstGeom prst="ellipse">
            <a:avLst/>
          </a:prstGeom>
          <a:solidFill>
            <a:srgbClr val="DBE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832104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8759952" y="4645152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EMU8086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8321040" y="5065776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will run it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0080" y="5623560"/>
            <a:ext cx="1090879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about understanding. Writing real programs starts next lecture.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COURSE INTRODUCTION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COAL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know how to tell a computer what to do.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Java, C++ or JavaScript you write a statement and something happens. You trust it. You rarely ask what “something” actually is.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0779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course is about the layer underneath.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46704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code turns into. What the processor really receives. Which parts of the machine do the work, and in what order.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3425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semester you will write programs in the processor’s own language — and the black box will be gone.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371600"/>
            <a:ext cx="4828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GAP THIS COURSE FILLS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720840" y="1737360"/>
            <a:ext cx="4828032" cy="1005840"/>
          </a:xfrm>
          <a:prstGeom prst="roundRect">
            <a:avLst>
              <a:gd name="adj" fmla="val 636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995160" y="19385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28600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 ·   int main()   ·   System.out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34856" y="2770632"/>
            <a:ext cx="0" cy="274320"/>
          </a:xfrm>
          <a:prstGeom prst="line">
            <a:avLst/>
          </a:prstGeom>
          <a:noFill/>
          <a:ln w="19050">
            <a:solidFill>
              <a:srgbClr val="93A0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20840" y="3063240"/>
            <a:ext cx="4828032" cy="1005840"/>
          </a:xfrm>
          <a:prstGeom prst="roundRect">
            <a:avLst>
              <a:gd name="adj" fmla="val 6364"/>
            </a:avLst>
          </a:prstGeom>
          <a:solidFill>
            <a:srgbClr val="FDF1DE"/>
          </a:solidFill>
          <a:ln w="1905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720840" y="326440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between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611880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 THIS COURSE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34856" y="4096512"/>
            <a:ext cx="0" cy="274320"/>
          </a:xfrm>
          <a:prstGeom prst="line">
            <a:avLst/>
          </a:prstGeom>
          <a:noFill/>
          <a:ln w="19050">
            <a:solidFill>
              <a:srgbClr val="93A0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20840" y="4389120"/>
            <a:ext cx="4828032" cy="1005840"/>
          </a:xfrm>
          <a:prstGeom prst="roundRect">
            <a:avLst>
              <a:gd name="adj" fmla="val 636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995160" y="459028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hardware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93776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  ·  registers  ·  memory  ·  buses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COURSE INTRODUCTION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learn this semester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3465576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D7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40864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organization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71216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buses, input and output — and how they fit together to run a program.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1536192"/>
            <a:ext cx="3465576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36008" y="1828800"/>
            <a:ext cx="365760" cy="365760"/>
          </a:xfrm>
          <a:prstGeom prst="ellipse">
            <a:avLst/>
          </a:prstGeom>
          <a:solidFill>
            <a:srgbClr val="FBE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36008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340864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instruction cycle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2871216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processor works through a program, one instruction at a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83296" y="1536192"/>
            <a:ext cx="3465576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57616" y="1828800"/>
            <a:ext cx="365760" cy="365760"/>
          </a:xfrm>
          <a:prstGeom prst="ellipse">
            <a:avLst/>
          </a:prstGeom>
          <a:solidFill>
            <a:srgbClr val="FBE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35761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340864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8086 architecture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871216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registers, the memory model, and the parts of the chip you can actually reach.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767328"/>
            <a:ext cx="3465576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4059936"/>
            <a:ext cx="365760" cy="365760"/>
          </a:xfrm>
          <a:prstGeom prst="ellipse">
            <a:avLst/>
          </a:prstGeom>
          <a:solidFill>
            <a:srgbClr val="F8E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1440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5720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 language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02352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syntax, its instructions, how it stores data and how it makes decisions.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61688" y="3767328"/>
            <a:ext cx="3465576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36008" y="4059936"/>
            <a:ext cx="365760" cy="365760"/>
          </a:xfrm>
          <a:prstGeom prst="ellipse">
            <a:avLst/>
          </a:prstGeom>
          <a:solidFill>
            <a:srgbClr val="E6E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636008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45720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programs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4636008" y="5102352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you, assembled by you, and run in front of you — step by step.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83296" y="3767328"/>
            <a:ext cx="3465576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57616" y="4059936"/>
            <a:ext cx="365760" cy="365760"/>
          </a:xfrm>
          <a:prstGeom prst="ellipse">
            <a:avLst/>
          </a:prstGeom>
          <a:solidFill>
            <a:srgbClr val="DBE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357616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4572000"/>
            <a:ext cx="2916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toolchain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8357616" y="5102352"/>
            <a:ext cx="2916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EMU8086: editor, assembler, emulator and debugger in a single window.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introduced today — just at a level you can hold in your head.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COURSE INTRODUCTION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course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347472" cy="347472"/>
          </a:xfrm>
          <a:prstGeom prst="ellipse">
            <a:avLst/>
          </a:prstGeom>
          <a:solidFill>
            <a:srgbClr val="FBE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48132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removes the magic.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8288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stop guessing what your code becomes. You know — because you can read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347472" cy="347472"/>
          </a:xfrm>
          <a:prstGeom prst="ellipse">
            <a:avLst/>
          </a:prstGeom>
          <a:solidFill>
            <a:srgbClr val="D7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61518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you better at high-level languages.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96265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sizes, memory use, and why one loop is slower than another all stop being mysterious.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347472" cy="347472"/>
          </a:xfrm>
          <a:prstGeom prst="ellipse">
            <a:avLst/>
          </a:prstGeom>
          <a:solidFill>
            <a:srgbClr val="E6E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7490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foundation of the rest of your degree.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40965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systems, compilers, embedded systems, security and reverse engineering all assume 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347472" cy="347472"/>
          </a:xfrm>
          <a:prstGeom prst="ellipse">
            <a:avLst/>
          </a:prstGeom>
          <a:solidFill>
            <a:srgbClr val="F8E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4937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88289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teaches a different way of thinking.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523036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literal, and aware of the machine — a skill that outlives any one language.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98080" y="1481328"/>
            <a:ext cx="4050792" cy="4224528"/>
          </a:xfrm>
          <a:prstGeom prst="roundRect">
            <a:avLst>
              <a:gd name="adj" fmla="val 1580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827264" y="1783080"/>
            <a:ext cx="3392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EXPECT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827264" y="221284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827264" y="2487168"/>
            <a:ext cx="3392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lecture leans on the one before it. Missing one is expensive.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827264" y="3090672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827264" y="3364992"/>
            <a:ext cx="3392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run your own code in EMU8086, not just read about it.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827264" y="3968496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Literal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827264" y="4242816"/>
            <a:ext cx="3392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does exactly what you wrote — never what you meant.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827264" y="4846320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Beginner-safe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827264" y="5120640"/>
            <a:ext cx="3392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assume you have never seen assembly. Questions are the point.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WHAT IS COAL?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course name is two subjects joined together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285232" cy="3419856"/>
          </a:xfrm>
          <a:prstGeom prst="roundRect">
            <a:avLst>
              <a:gd name="adj" fmla="val 1872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1755648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ORGANIZATION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08483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machine is built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78608"/>
            <a:ext cx="4553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major components of a computer work together to run a program — what each part is for, and how they are wired to one another.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3767328"/>
            <a:ext cx="690372" cy="32918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D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05840" y="3767328"/>
            <a:ext cx="6903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4228" y="3767328"/>
            <a:ext cx="923544" cy="32918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D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824228" y="3767328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75788" y="3767328"/>
            <a:ext cx="1156716" cy="32918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D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875788" y="3767328"/>
            <a:ext cx="11567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5840" y="4187952"/>
            <a:ext cx="1545336" cy="32918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D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005840" y="4187952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/ OUTPUT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79192" y="4187952"/>
            <a:ext cx="845820" cy="32918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D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679192" y="4187952"/>
            <a:ext cx="8458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1463040"/>
            <a:ext cx="5285232" cy="3419856"/>
          </a:xfrm>
          <a:prstGeom prst="roundRect">
            <a:avLst>
              <a:gd name="adj" fmla="val 1872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629400" y="1755648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ASSEMBLY LANGUAGE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08483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speak to it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2578608"/>
            <a:ext cx="4553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low-level programming language whose statements sit very close to the instructions the processor actually carries out.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767328"/>
            <a:ext cx="1389888" cy="32918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BE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629400" y="37673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47304" y="3767328"/>
            <a:ext cx="1156716" cy="32918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BE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147304" y="3767328"/>
            <a:ext cx="11567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32036" y="3767328"/>
            <a:ext cx="923544" cy="32918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BE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432036" y="3767328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29400" y="4187952"/>
            <a:ext cx="1545336" cy="32918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BE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629400" y="4187952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CONTROL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5120640"/>
            <a:ext cx="10908792" cy="713232"/>
          </a:xfrm>
          <a:prstGeom prst="roundRect">
            <a:avLst>
              <a:gd name="adj" fmla="val 8974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40080" y="5120640"/>
            <a:ext cx="10908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them is the machine. The other is how we talk to it. Learning either one alone leaves you with half a picture.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WHAT IS COAL?  —  PART ONE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Organization: the five words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020824" cy="3200400"/>
          </a:xfrm>
          <a:prstGeom prst="roundRect">
            <a:avLst>
              <a:gd name="adj" fmla="val 316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BEBD2"/>
          </a:solidFill>
          <a:ln w="12700">
            <a:solidFill>
              <a:srgbClr val="FBE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889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38144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actually carries out instructions. The “doer”.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62072" y="1737360"/>
            <a:ext cx="2020824" cy="3200400"/>
          </a:xfrm>
          <a:prstGeom prst="roundRect">
            <a:avLst>
              <a:gd name="adj" fmla="val 316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36392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6E2FA"/>
          </a:solidFill>
          <a:ln w="12700">
            <a:solidFill>
              <a:srgbClr val="E6E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13639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36392" y="27889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136392" y="3438144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program and its data while the program is running.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84064" y="1737360"/>
            <a:ext cx="2020824" cy="3200400"/>
          </a:xfrm>
          <a:prstGeom prst="roundRect">
            <a:avLst>
              <a:gd name="adj" fmla="val 316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58384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7EEF2"/>
          </a:solidFill>
          <a:ln w="12700">
            <a:solidFill>
              <a:srgbClr val="D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5838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58384" y="27889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358384" y="3438144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tiny, extremely fast storage slots inside the CPU.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06056" y="1737360"/>
            <a:ext cx="2020824" cy="3200400"/>
          </a:xfrm>
          <a:prstGeom prst="roundRect">
            <a:avLst>
              <a:gd name="adj" fmla="val 316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80376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8E1DB"/>
          </a:solidFill>
          <a:ln w="12700">
            <a:solidFill>
              <a:srgbClr val="F8E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5803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80376" y="27889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7580376" y="3438144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machine reads from, and writes to, the outside world.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528048" y="1737360"/>
            <a:ext cx="2020824" cy="3200400"/>
          </a:xfrm>
          <a:prstGeom prst="roundRect">
            <a:avLst>
              <a:gd name="adj" fmla="val 316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802368" y="2103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DE3"/>
          </a:solidFill>
          <a:ln w="12700">
            <a:solidFill>
              <a:srgbClr val="DBE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80236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802368" y="27889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Buses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9802368" y="3438144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wires that carry data and addresses between all of the above.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draw all five of them on one diagram in a few slides — and then keep coming back to that diagram all semester.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WHAT IS COAL?  —  PART TWO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 Language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577840" cy="1371600"/>
          </a:xfrm>
          <a:prstGeom prst="roundRect">
            <a:avLst>
              <a:gd name="adj" fmla="val 4667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50976" y="17007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1993392"/>
            <a:ext cx="4956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low-level programming language in which each statement corresponds very closely to a single instruction the processor can execute.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274320" cy="274320"/>
          </a:xfrm>
          <a:prstGeom prst="ellipse">
            <a:avLst/>
          </a:prstGeom>
          <a:solidFill>
            <a:srgbClr val="23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30723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to the machine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337413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below anything you have written before — there is almost nothing between your statement and the hardware.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96512"/>
            <a:ext cx="274320" cy="274320"/>
          </a:xfrm>
          <a:prstGeom prst="ellipse">
            <a:avLst/>
          </a:prstGeom>
          <a:solidFill>
            <a:srgbClr val="23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40599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interaction with the processor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43616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name the processor’s own registers and memory locations yourself.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84064"/>
            <a:ext cx="274320" cy="274320"/>
          </a:xfrm>
          <a:prstGeom prst="ellipse">
            <a:avLst/>
          </a:prstGeom>
          <a:solidFill>
            <a:srgbClr val="2330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5084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5047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hidden, nothing is decided for you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53492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compiler quietly making choices on your behalf. That is the power, and the cost.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81328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LOOKS LIKE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0" y="1783080"/>
            <a:ext cx="4919472" cy="2103120"/>
          </a:xfrm>
          <a:prstGeom prst="roundRect">
            <a:avLst>
              <a:gd name="adj" fmla="val 2609"/>
            </a:avLst>
          </a:prstGeom>
          <a:solidFill>
            <a:srgbClr val="121A29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903720" y="2057400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my first look at assembly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679192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990088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r>
              <a:rPr lang="en-US" sz="150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AX, BX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3300984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r>
              <a:rPr lang="en-US" sz="150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CX, AX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3977640"/>
            <a:ext cx="4919472" cy="1115568"/>
          </a:xfrm>
          <a:prstGeom prst="roundRect">
            <a:avLst>
              <a:gd name="adj" fmla="val 5738"/>
            </a:avLst>
          </a:prstGeom>
          <a:solidFill>
            <a:srgbClr val="2A1F12"/>
          </a:solidFill>
          <a:ln w="12700">
            <a:solidFill>
              <a:srgbClr val="4A3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922008" y="416052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DA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try to read this yet.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922008" y="4443984"/>
            <a:ext cx="4334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only care what assembly looks like. What these lines actually do comes next lecture.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WHAT IS COAL?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these two taught together?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3977640" cy="1371600"/>
          </a:xfrm>
          <a:prstGeom prst="roundRect">
            <a:avLst>
              <a:gd name="adj" fmla="val 4667"/>
            </a:avLst>
          </a:prstGeom>
          <a:solidFill>
            <a:srgbClr val="D7EEF2"/>
          </a:solidFill>
          <a:ln w="12700">
            <a:solidFill>
              <a:srgbClr val="BB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50976" y="1773936"/>
            <a:ext cx="3355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ORGANIZATION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066544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you the nouns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46888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  ·  register  ·  memory  ·  bus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71232" y="1536192"/>
            <a:ext cx="3977640" cy="1371600"/>
          </a:xfrm>
          <a:prstGeom prst="roundRect">
            <a:avLst>
              <a:gd name="adj" fmla="val 4667"/>
            </a:avLst>
          </a:prstGeom>
          <a:solidFill>
            <a:srgbClr val="FBEBD2"/>
          </a:solidFill>
          <a:ln w="12700">
            <a:solidFill>
              <a:srgbClr val="EBD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882128" y="1773936"/>
            <a:ext cx="3355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ASSEMBLY LANGUAGE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882128" y="2066544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you the verbs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882128" y="246888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 ·  compare  ·  jump  ·  store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28032" y="2221992"/>
            <a:ext cx="2468880" cy="0"/>
          </a:xfrm>
          <a:prstGeom prst="line">
            <a:avLst/>
          </a:prstGeom>
          <a:noFill/>
          <a:ln w="22225">
            <a:solidFill>
              <a:srgbClr val="5B677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754880" y="239572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other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93008"/>
            <a:ext cx="5285232" cy="1572768"/>
          </a:xfrm>
          <a:prstGeom prst="roundRect">
            <a:avLst>
              <a:gd name="adj" fmla="val 4070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69264" y="3730752"/>
            <a:ext cx="4626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read an instruction without knowing the machine.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4315968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MOV AX, BX means nothing until you know what AX is — and AX only means something once you know what a register is.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493008"/>
            <a:ext cx="5285232" cy="1572768"/>
          </a:xfrm>
          <a:prstGeom prst="roundRect">
            <a:avLst>
              <a:gd name="adj" fmla="val 4070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92824" y="3730752"/>
            <a:ext cx="4626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machine stays abstract until you use it.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592824" y="4315968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memory and buses are just boxes on a diagram until you write an instruction that actually moves a value through them.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28523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learn the machine and the language side by side — each one makes the other concrete.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LEVELS OF PROGRAMMING LANGUAGES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levels, one machine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6492240" cy="1097280"/>
          </a:xfrm>
          <a:prstGeom prst="roundRect">
            <a:avLst>
              <a:gd name="adj" fmla="val 5833"/>
            </a:avLst>
          </a:prstGeom>
          <a:solidFill>
            <a:srgbClr val="241F3C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50976" y="1755648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3  ·  HIGH-LEVEL LANGUAGES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029968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Java  ·  C++  ·  JavaScript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3408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for humans. One statement can do a great deal of work.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6492240" cy="1097280"/>
          </a:xfrm>
          <a:prstGeom prst="roundRect">
            <a:avLst>
              <a:gd name="adj" fmla="val 5833"/>
            </a:avLst>
          </a:prstGeom>
          <a:solidFill>
            <a:srgbClr val="2A2113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50976" y="2971800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2  ·  ASSEMBLY LANGUAGE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3246120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AX, BX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3557016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symbolic names instead of numbers. Roughly one statement per machine instruction.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005072"/>
            <a:ext cx="6492240" cy="1097280"/>
          </a:xfrm>
          <a:prstGeom prst="roundRect">
            <a:avLst>
              <a:gd name="adj" fmla="val 5833"/>
            </a:avLst>
          </a:prstGeom>
          <a:solidFill>
            <a:srgbClr val="122A31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50976" y="4187952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1  ·  MACHINE LANGUAGE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" y="4462272"/>
            <a:ext cx="5870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10001001 11011000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4773168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binary. The only thing the processor decodes and executes directly.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0" y="1572768"/>
            <a:ext cx="4050792" cy="1298448"/>
          </a:xfrm>
          <a:prstGeom prst="roundRect">
            <a:avLst>
              <a:gd name="adj" fmla="val 4930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808976" y="177393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GOING UP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808976" y="206654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abstraction. More convenience. The same source code runs on very different machines.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0" y="3081528"/>
            <a:ext cx="4050792" cy="1298448"/>
          </a:xfrm>
          <a:prstGeom prst="roundRect">
            <a:avLst>
              <a:gd name="adj" fmla="val 4930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808976" y="32826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GOING DOWN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808976" y="3575304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conveniences. Far more direct control over what the hardware actually does.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8080" y="4590288"/>
            <a:ext cx="4050792" cy="512064"/>
          </a:xfrm>
          <a:prstGeom prst="roundRect">
            <a:avLst>
              <a:gd name="adj" fmla="val 12500"/>
            </a:avLst>
          </a:prstGeom>
          <a:solidFill>
            <a:srgbClr val="0E1420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54112" y="4590288"/>
            <a:ext cx="3538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sits in the middle — and that is exactly why it is worth learning.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88920" y="5486400"/>
            <a:ext cx="1920240" cy="402336"/>
          </a:xfrm>
          <a:prstGeom prst="roundRect">
            <a:avLst>
              <a:gd name="adj" fmla="val 36364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2788920" y="54864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958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Human-friendly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18888" y="5687568"/>
            <a:ext cx="658368" cy="0"/>
          </a:xfrm>
          <a:prstGeom prst="line">
            <a:avLst/>
          </a:prstGeom>
          <a:noFill/>
          <a:ln w="17780">
            <a:solidFill>
              <a:srgbClr val="5C6B8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77840" y="5486400"/>
            <a:ext cx="1920240" cy="402336"/>
          </a:xfrm>
          <a:prstGeom prst="roundRect">
            <a:avLst>
              <a:gd name="adj" fmla="val 36364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577840" y="54864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EDA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07808" y="5687568"/>
            <a:ext cx="658368" cy="0"/>
          </a:xfrm>
          <a:prstGeom prst="line">
            <a:avLst/>
          </a:prstGeom>
          <a:noFill/>
          <a:ln w="17780">
            <a:solidFill>
              <a:srgbClr val="5C6B8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66760" y="5486400"/>
            <a:ext cx="1920240" cy="402336"/>
          </a:xfrm>
          <a:prstGeom prst="roundRect">
            <a:avLst>
              <a:gd name="adj" fmla="val 36364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366760" y="54864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 dirty="0">
                <a:solidFill>
                  <a:srgbClr val="3EB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Machine-level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LEVELS OF PROGRAMMING LANGUAGES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versus control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3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HIGH-LEVEL LANGUAGE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371600"/>
            <a:ext cx="4233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ASSEMBLY LANGUAGE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10908792" cy="749808"/>
          </a:xfrm>
          <a:prstGeom prst="roundRect">
            <a:avLst>
              <a:gd name="adj" fmla="val 6098"/>
            </a:avLst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71907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 a great deal — a loop, a call, a whole expression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83480" y="1920240"/>
            <a:ext cx="21945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83480" y="1920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9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STATEMENT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1719072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roughly one machine instruction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50545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source runs on many different processors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83480" y="2706624"/>
            <a:ext cx="21945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83480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9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PORTABILITY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2505456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tied to one processor family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10908792" cy="749808"/>
          </a:xfrm>
          <a:prstGeom prst="roundRect">
            <a:avLst>
              <a:gd name="adj" fmla="val 6098"/>
            </a:avLst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32918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quietly decides for you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83480" y="3493008"/>
            <a:ext cx="21945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983480" y="3493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9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REGISTERS &amp; MEMORY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3291840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decide, every single time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07822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fast; the details are handled for you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83480" y="4279392"/>
            <a:ext cx="21945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983480" y="4279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9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WRITING IT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4078224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slow; every detail is yours to get right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864608"/>
            <a:ext cx="10908792" cy="749808"/>
          </a:xfrm>
          <a:prstGeom prst="roundRect">
            <a:avLst>
              <a:gd name="adj" fmla="val 6098"/>
            </a:avLst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22960" y="486460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of the program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983480" y="5065776"/>
            <a:ext cx="219456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983480" y="50657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9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SEE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4864608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the machine will do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79729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one is “better”. They sit at different distances from the hardware — and this course lives at the bottom.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BASIC COMPUTER ORGANIZATION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machine, on one diagram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goes in, the CPU works with memory, results come out. Everything else this semester is detail inside this picture.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F8E1DB"/>
          </a:solidFill>
          <a:ln w="12700">
            <a:solidFill>
              <a:srgbClr val="EBC4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27797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30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5409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 ·  mouse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71800" y="2103120"/>
            <a:ext cx="2971800" cy="1920240"/>
          </a:xfrm>
          <a:prstGeom prst="roundRect">
            <a:avLst>
              <a:gd name="adj" fmla="val 3333"/>
            </a:avLst>
          </a:prstGeom>
          <a:solidFill>
            <a:srgbClr val="FBEBD2"/>
          </a:solidFill>
          <a:ln w="12700">
            <a:solidFill>
              <a:srgbClr val="E8CD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246120" y="22402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5237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PART THAT ACTS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2761488"/>
            <a:ext cx="2423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8CD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01568" y="2880360"/>
            <a:ext cx="118872" cy="118872"/>
          </a:xfrm>
          <a:prstGeom prst="rect">
            <a:avLst/>
          </a:prstGeom>
          <a:solidFill>
            <a:srgbClr val="D98A1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621024" y="27614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3163824"/>
            <a:ext cx="2423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8CD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01568" y="3282696"/>
            <a:ext cx="118872" cy="118872"/>
          </a:xfrm>
          <a:prstGeom prst="rect">
            <a:avLst/>
          </a:prstGeom>
          <a:solidFill>
            <a:srgbClr val="C4543F"/>
          </a:solidFill>
          <a:ln w="12700">
            <a:solidFill>
              <a:srgbClr val="C454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621024" y="316382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3566160"/>
            <a:ext cx="2423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8CD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01568" y="3685032"/>
            <a:ext cx="118872" cy="118872"/>
          </a:xfrm>
          <a:prstGeom prst="rect">
            <a:avLst/>
          </a:prstGeom>
          <a:solidFill>
            <a:srgbClr val="18879B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621024" y="3566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2103120"/>
            <a:ext cx="2468880" cy="1920240"/>
          </a:xfrm>
          <a:prstGeom prst="roundRect">
            <a:avLst>
              <a:gd name="adj" fmla="val 3333"/>
            </a:avLst>
          </a:prstGeom>
          <a:solidFill>
            <a:srgbClr val="E6E2FA"/>
          </a:solidFill>
          <a:ln w="12700">
            <a:solidFill>
              <a:srgbClr val="CDC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766560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Memory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5237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3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 ·  BY ADDRESS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79806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24928" y="2839212"/>
            <a:ext cx="1243584" cy="128016"/>
          </a:xfrm>
          <a:prstGeom prst="rect">
            <a:avLst/>
          </a:prstGeom>
          <a:solidFill>
            <a:srgbClr val="C2B6EE"/>
          </a:solidFill>
          <a:ln w="12700">
            <a:solidFill>
              <a:srgbClr val="C2B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766560" y="307238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24928" y="3113532"/>
            <a:ext cx="1243584" cy="128016"/>
          </a:xfrm>
          <a:prstGeom prst="rect">
            <a:avLst/>
          </a:prstGeom>
          <a:solidFill>
            <a:srgbClr val="D6CEF4"/>
          </a:solidFill>
          <a:ln w="12700">
            <a:solidFill>
              <a:srgbClr val="C2B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766560" y="334670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24928" y="3387852"/>
            <a:ext cx="1243584" cy="128016"/>
          </a:xfrm>
          <a:prstGeom prst="rect">
            <a:avLst/>
          </a:prstGeom>
          <a:solidFill>
            <a:srgbClr val="C2B6EE"/>
          </a:solidFill>
          <a:ln w="12700">
            <a:solidFill>
              <a:srgbClr val="C2B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766560" y="3621024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24928" y="3662172"/>
            <a:ext cx="1243584" cy="128016"/>
          </a:xfrm>
          <a:prstGeom prst="rect">
            <a:avLst/>
          </a:prstGeom>
          <a:solidFill>
            <a:srgbClr val="D6CEF4"/>
          </a:solidFill>
          <a:ln w="12700">
            <a:solidFill>
              <a:srgbClr val="C2B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0" y="2606040"/>
            <a:ext cx="2039112" cy="914400"/>
          </a:xfrm>
          <a:prstGeom prst="roundRect">
            <a:avLst>
              <a:gd name="adj" fmla="val 7000"/>
            </a:avLst>
          </a:prstGeom>
          <a:solidFill>
            <a:srgbClr val="F8E1DB"/>
          </a:solidFill>
          <a:ln w="12700">
            <a:solidFill>
              <a:srgbClr val="EBC4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9509760" y="2779776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30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601200" y="3054096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 ·  printer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14600" y="3063240"/>
            <a:ext cx="365760" cy="0"/>
          </a:xfrm>
          <a:prstGeom prst="line">
            <a:avLst/>
          </a:prstGeom>
          <a:noFill/>
          <a:ln w="22225">
            <a:solidFill>
              <a:srgbClr val="5B67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35040" y="3063240"/>
            <a:ext cx="365760" cy="0"/>
          </a:xfrm>
          <a:prstGeom prst="line">
            <a:avLst/>
          </a:prstGeom>
          <a:noFill/>
          <a:ln w="22225">
            <a:solidFill>
              <a:srgbClr val="5B677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052560" y="3063240"/>
            <a:ext cx="365760" cy="0"/>
          </a:xfrm>
          <a:prstGeom prst="line">
            <a:avLst/>
          </a:prstGeom>
          <a:noFill/>
          <a:ln w="22225">
            <a:solidFill>
              <a:srgbClr val="5B67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726680" y="4059936"/>
            <a:ext cx="0" cy="347472"/>
          </a:xfrm>
          <a:prstGeom prst="line">
            <a:avLst/>
          </a:prstGeom>
          <a:noFill/>
          <a:ln w="22225">
            <a:solidFill>
              <a:srgbClr val="5B677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92240" y="4434840"/>
            <a:ext cx="5056632" cy="1280160"/>
          </a:xfrm>
          <a:prstGeom prst="roundRect">
            <a:avLst>
              <a:gd name="adj" fmla="val 5000"/>
            </a:avLst>
          </a:prstGeom>
          <a:solidFill>
            <a:srgbClr val="DBEDE3"/>
          </a:solidFill>
          <a:ln w="12700">
            <a:solidFill>
              <a:srgbClr val="BEDC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803136" y="46177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 —  LONG TERM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803136" y="488289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disk or SSD. Keeps files when the power is off. A program is copied from storage into memory before it can run — the CPU never executes directly from here.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0080" y="443484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950976" y="46177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THREE BUSES  —  THE WIRES IN BETWEEN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50976" y="4864608"/>
            <a:ext cx="1097280" cy="219456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950976" y="4864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2157984" y="48646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location are we talking about?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50976" y="5120640"/>
            <a:ext cx="1097280" cy="219456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950976" y="51206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2157984" y="51206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bytes travelling to or from it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50976" y="5376672"/>
            <a:ext cx="1097280" cy="219456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950976" y="5376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2157984" y="53766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read, or a write?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BASIC COMPUTER ORGANIZATION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CPU: three parts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assembly instruction you will ever write is about these three — plus memory.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908792" cy="3063240"/>
          </a:xfrm>
          <a:prstGeom prst="roundRect">
            <a:avLst>
              <a:gd name="adj" fmla="val 2090"/>
            </a:avLst>
          </a:prstGeom>
          <a:solidFill>
            <a:srgbClr val="141C2B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0299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 PROCESSING UNIT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3209544" cy="2331720"/>
          </a:xfrm>
          <a:prstGeom prst="roundRect">
            <a:avLst>
              <a:gd name="adj" fmla="val 2745"/>
            </a:avLst>
          </a:prstGeom>
          <a:solidFill>
            <a:srgbClr val="2A2113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98448" y="261518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EDA63F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298448" y="261518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127248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Unit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675888"/>
            <a:ext cx="2624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happens next. It fetches each instruction, works out what it is, and directs the other parts. It does no arithmetic itself.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9704" y="2359152"/>
            <a:ext cx="3209544" cy="2331720"/>
          </a:xfrm>
          <a:prstGeom prst="roundRect">
            <a:avLst>
              <a:gd name="adj" fmla="val 2745"/>
            </a:avLst>
          </a:prstGeom>
          <a:solidFill>
            <a:srgbClr val="2C1A16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82312" y="261518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E27B66"/>
          </a:solidFill>
          <a:ln w="12700">
            <a:solidFill>
              <a:srgbClr val="E27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782312" y="261518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782312" y="3127248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Logic Unit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4782312" y="3675888"/>
            <a:ext cx="2624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actually performs the work — calculations on numbers, and comparisons between them.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73568" y="2359152"/>
            <a:ext cx="3209544" cy="2331720"/>
          </a:xfrm>
          <a:prstGeom prst="roundRect">
            <a:avLst>
              <a:gd name="adj" fmla="val 2745"/>
            </a:avLst>
          </a:prstGeom>
          <a:solidFill>
            <a:srgbClr val="122A31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66176" y="2615184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3EB9CE"/>
          </a:solidFill>
          <a:ln w="12700">
            <a:solidFill>
              <a:srgbClr val="3EB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266176" y="261518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3127248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266176" y="3675888"/>
            <a:ext cx="2624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fixed set of storage slots inside the CPU. The fastest storage in the machine, and the ones you name in code.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193792"/>
            <a:ext cx="10908792" cy="749808"/>
          </a:xfrm>
          <a:prstGeom prst="roundRect">
            <a:avLst>
              <a:gd name="adj" fmla="val 8537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14400" y="5193792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names. From the moment we start writing code, “put this value in a register” and “let the ALU work it out” stop being abstractions.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BASIC COMPUTER ORGANIZATION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 not storage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words students mix up constantly. They are different things, doing different jobs.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05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SMALLER AND FASTER AT THE TOP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2926080" cy="859536"/>
          </a:xfrm>
          <a:prstGeom prst="roundRect">
            <a:avLst>
              <a:gd name="adj" fmla="val 7447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96112" y="226771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56032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slots  ·  instant  ·  inside the CPU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4206240" cy="859536"/>
          </a:xfrm>
          <a:prstGeom prst="roundRect">
            <a:avLst>
              <a:gd name="adj" fmla="val 7447"/>
            </a:avLst>
          </a:prstGeom>
          <a:solidFill>
            <a:srgbClr val="E6E2FA"/>
          </a:solidFill>
          <a:ln w="12700">
            <a:solidFill>
              <a:srgbClr val="6B5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96112" y="334670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memory (RAM)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3639312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slots  ·  very fast  ·  empties when the power goes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5394960" cy="859536"/>
          </a:xfrm>
          <a:prstGeom prst="roundRect">
            <a:avLst>
              <a:gd name="adj" fmla="val 7447"/>
            </a:avLst>
          </a:prstGeom>
          <a:solidFill>
            <a:srgbClr val="DBEDE3"/>
          </a:solidFill>
          <a:ln w="12700">
            <a:solidFill>
              <a:srgbClr val="3786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96112" y="442569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(disk / SSD)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718304"/>
            <a:ext cx="4882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 ·  far slower  ·  keeps its contents forever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86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storage is always smaller and more expensive. That trade-off never goes away.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810512"/>
            <a:ext cx="5148072" cy="1975104"/>
          </a:xfrm>
          <a:prstGeom prst="roundRect">
            <a:avLst>
              <a:gd name="adj" fmla="val 3241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11696" y="2139696"/>
            <a:ext cx="146304" cy="146304"/>
          </a:xfrm>
          <a:prstGeom prst="rect">
            <a:avLst/>
          </a:prstGeom>
          <a:solidFill>
            <a:srgbClr val="6B58CC"/>
          </a:solidFill>
          <a:ln w="12700">
            <a:solidFill>
              <a:srgbClr val="6B5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967728" y="2066544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memory — RAM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29984" y="256032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04304" y="2560320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running program and its data.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729984" y="294436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004304" y="2944368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location has a numeric address.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729984" y="332841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5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004304" y="3328416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everything when the power goes off.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4005072"/>
            <a:ext cx="5148072" cy="1975104"/>
          </a:xfrm>
          <a:prstGeom prst="roundRect">
            <a:avLst>
              <a:gd name="adj" fmla="val 3241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11696" y="4334256"/>
            <a:ext cx="146304" cy="146304"/>
          </a:xfrm>
          <a:prstGeom prst="rect">
            <a:avLst/>
          </a:prstGeom>
          <a:solidFill>
            <a:srgbClr val="37865F"/>
          </a:solidFill>
          <a:ln w="12700">
            <a:solidFill>
              <a:srgbClr val="3786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967728" y="4261104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— disk or SSD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729984" y="475488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78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004304" y="4754880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files whether the machine is on or not.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729984" y="513892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78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004304" y="5138928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larger, and far slower, than memory.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729984" y="552297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78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004304" y="5522976"/>
            <a:ext cx="4197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must reach memory before it can run.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HOW THE CPU WORKS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 →  Decode  →  Execute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entire job of a processor. One loop, repeated until the machine is switched off.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172968" cy="2194560"/>
          </a:xfrm>
          <a:prstGeom prst="roundRect">
            <a:avLst>
              <a:gd name="adj" fmla="val 2917"/>
            </a:avLst>
          </a:prstGeom>
          <a:solidFill>
            <a:srgbClr val="2A2113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50976" y="2231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3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50545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EDA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98094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next instruction.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3346704"/>
            <a:ext cx="2551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knows the address of the next instruction. It asks memory for what is stored there, and the bytes come back.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41064" y="3108960"/>
            <a:ext cx="429768" cy="0"/>
          </a:xfrm>
          <a:prstGeom prst="line">
            <a:avLst/>
          </a:prstGeom>
          <a:noFill/>
          <a:ln w="25400">
            <a:solidFill>
              <a:srgbClr val="5C6B8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98848" y="2011680"/>
            <a:ext cx="3172968" cy="2194560"/>
          </a:xfrm>
          <a:prstGeom prst="roundRect">
            <a:avLst>
              <a:gd name="adj" fmla="val 2917"/>
            </a:avLst>
          </a:prstGeom>
          <a:solidFill>
            <a:srgbClr val="122A31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09744" y="2231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3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09744" y="250545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3EB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298094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out what it is.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809744" y="3346704"/>
            <a:ext cx="2551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unit examines those bytes: which instruction is this, and what does it need to work with?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99832" y="3108960"/>
            <a:ext cx="429768" cy="0"/>
          </a:xfrm>
          <a:prstGeom prst="line">
            <a:avLst/>
          </a:prstGeom>
          <a:noFill/>
          <a:ln w="25400">
            <a:solidFill>
              <a:srgbClr val="5C6B8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57616" y="2011680"/>
            <a:ext cx="3172968" cy="2194560"/>
          </a:xfrm>
          <a:prstGeom prst="roundRect">
            <a:avLst>
              <a:gd name="adj" fmla="val 2917"/>
            </a:avLst>
          </a:prstGeom>
          <a:solidFill>
            <a:srgbClr val="2C1A16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68512" y="2231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30" dirty="0">
                <a:solidFill>
                  <a:srgbClr val="E27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68512" y="250545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E27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668512" y="298094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668512" y="3346704"/>
            <a:ext cx="2551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is carried out — the ALU, the registers or memory each do whatever that instruction asked for.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39528" y="4224528"/>
            <a:ext cx="0" cy="658368"/>
          </a:xfrm>
          <a:prstGeom prst="line">
            <a:avLst/>
          </a:prstGeom>
          <a:noFill/>
          <a:ln w="17780">
            <a:solidFill>
              <a:srgbClr val="5C6B8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21992" y="4882896"/>
            <a:ext cx="7717536" cy="0"/>
          </a:xfrm>
          <a:prstGeom prst="line">
            <a:avLst/>
          </a:prstGeom>
          <a:noFill/>
          <a:ln w="17780">
            <a:solidFill>
              <a:srgbClr val="5C6B8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V="1">
            <a:off x="2221992" y="4224528"/>
            <a:ext cx="0" cy="658368"/>
          </a:xfrm>
          <a:prstGeom prst="line">
            <a:avLst/>
          </a:prstGeom>
          <a:noFill/>
          <a:ln w="17780">
            <a:solidFill>
              <a:srgbClr val="5C6B8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80560" y="4718304"/>
            <a:ext cx="3246120" cy="329184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480560" y="471830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again  ·  billions of times a second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5321808"/>
            <a:ext cx="10908792" cy="694944"/>
          </a:xfrm>
          <a:prstGeom prst="roundRect">
            <a:avLst>
              <a:gd name="adj" fmla="val 9211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14400" y="5321808"/>
            <a:ext cx="10360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processor does not “run your program”. It fetches one instruction, understands it, performs it, and goes back for the next one. Your program is just a very long list of those.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HOW THE CPU WORKS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three steps, slowly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08792" cy="1188720"/>
          </a:xfrm>
          <a:prstGeom prst="roundRect">
            <a:avLst>
              <a:gd name="adj" fmla="val 5385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0976" y="1737360"/>
            <a:ext cx="402336" cy="402336"/>
          </a:xfrm>
          <a:prstGeom prst="ellipse">
            <a:avLst/>
          </a:prstGeom>
          <a:solidFill>
            <a:srgbClr val="FBE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5097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17904" y="17190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17904" y="208483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called IP — the instruction pointer — holds the address of the next instruction. The CPU sends that address to memory; memory sends the instruction back.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810512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882128" y="1810512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--&gt; MEMORY --&gt; instruction bytes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779776"/>
            <a:ext cx="10908792" cy="1188720"/>
          </a:xfrm>
          <a:prstGeom prst="roundRect">
            <a:avLst>
              <a:gd name="adj" fmla="val 5385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0976" y="3035808"/>
            <a:ext cx="402336" cy="402336"/>
          </a:xfrm>
          <a:prstGeom prst="ellipse">
            <a:avLst/>
          </a:prstGeom>
          <a:solidFill>
            <a:srgbClr val="D7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50976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17904" y="30175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517904" y="338328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bytes are just numbers. The control unit takes them apart: which instruction is this, and which registers or memory locations does it involve?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3108960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882128" y="3108960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 --&gt; CONTROL UNIT --&gt; which one?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4078224"/>
            <a:ext cx="10908792" cy="1188720"/>
          </a:xfrm>
          <a:prstGeom prst="roundRect">
            <a:avLst>
              <a:gd name="adj" fmla="val 5385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0976" y="4334256"/>
            <a:ext cx="402336" cy="402336"/>
          </a:xfrm>
          <a:prstGeom prst="ellipse">
            <a:avLst/>
          </a:prstGeom>
          <a:solidFill>
            <a:srgbClr val="F8E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50976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17904" y="43159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517904" y="4681728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part of the CPU is told to act — the ALU, a register, or memory. Afterwards IP moves along, ready for the next fetch.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4407408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882128" y="4407408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UNIT --&gt; ALU / REGISTERS / MEMORY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5440680"/>
            <a:ext cx="10908792" cy="603504"/>
          </a:xfrm>
          <a:prstGeom prst="roundRect">
            <a:avLst>
              <a:gd name="adj" fmla="val 10606"/>
            </a:avLst>
          </a:prstGeom>
          <a:solidFill>
            <a:srgbClr val="D7EEF2"/>
          </a:solidFill>
          <a:ln w="12700">
            <a:solidFill>
              <a:srgbClr val="BB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14400" y="5440680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name IP. It is one of the 8086’s registers, and we will meet it again in about fifteen minutes.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ARCHITECTURE TERMINOLOGY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“16-bit” or “64-bit” actually mean?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 get described by a number: 8-bit, 16-bit, 32-bit, 64-bit. It sounds like a rating. It is not.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04288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number is the size of the chunks of data the processor is built to handle in one go — most visibly, the width of its registers and of the values it naturally moves around.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18688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wider processor holds a bigger number in a single register, and can generally refer to far more memory.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224528"/>
            <a:ext cx="5394960" cy="1152144"/>
          </a:xfrm>
          <a:prstGeom prst="roundRect">
            <a:avLst>
              <a:gd name="adj" fmla="val 5556"/>
            </a:avLst>
          </a:prstGeom>
          <a:solidFill>
            <a:srgbClr val="FBEBD2"/>
          </a:solidFill>
          <a:ln w="12700">
            <a:solidFill>
              <a:srgbClr val="E8CD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50976" y="44256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ON TO THIS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4700016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“16-bit” describes how the processor is designed. It is not a speed rating, and it is not a brand name.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8288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8-BIT REGISTER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213969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12280" y="213969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0" y="213969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52360" y="213969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0" y="213969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92440" y="213969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213969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732520" y="213969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92240" y="2505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 = 1 byte  ·  holds a value from 0 to 255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1089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16-BIT REGISTER — LIKE THE 8086’S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1228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3232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5236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7240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9244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1248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3252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05256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37260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69264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01268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33272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65276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97280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1292840" y="3419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492240" y="3785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 = 2 bytes  ·  holds a value from 0 to 65,535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92240" y="4480560"/>
            <a:ext cx="5056632" cy="896112"/>
          </a:xfrm>
          <a:prstGeom prst="roundRect">
            <a:avLst>
              <a:gd name="adj" fmla="val 7143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766560" y="4480560"/>
            <a:ext cx="4507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little square is one bit — a single 0 or 1. The whole strip is one register. Doubling the width doubles how many bits travel together.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ARCHITECTURE TERMINOLOGY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→  16  →  32  →  64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463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 OF ONE REGISTER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89720" y="146304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LARGEST VALUE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8-bit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byte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901952"/>
            <a:ext cx="758952" cy="310896"/>
          </a:xfrm>
          <a:prstGeom prst="roundRect">
            <a:avLst>
              <a:gd name="adj" fmla="val 17647"/>
            </a:avLst>
          </a:prstGeom>
          <a:solidFill>
            <a:srgbClr val="58B98A"/>
          </a:solidFill>
          <a:ln w="12700">
            <a:solidFill>
              <a:srgbClr val="58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189720" y="178308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16-bit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606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bytes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272491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EDA63F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89720" y="26060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65,535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489704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EDA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the 8086 lives here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32-bit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3429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bytes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3547872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3EB9CE"/>
          </a:solidFill>
          <a:ln w="12700">
            <a:solidFill>
              <a:srgbClr val="3EB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189720" y="342900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4,294,967,295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64-bit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251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bytes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4640" y="4370832"/>
            <a:ext cx="6035040" cy="310896"/>
          </a:xfrm>
          <a:prstGeom prst="roundRect">
            <a:avLst>
              <a:gd name="adj" fmla="val 17647"/>
            </a:avLst>
          </a:prstGeom>
          <a:solidFill>
            <a:srgbClr val="9584E8"/>
          </a:solidFill>
          <a:ln w="12700">
            <a:solidFill>
              <a:srgbClr val="958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189720" y="425196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18,446,744,073,709,551,615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10908792" cy="1024128"/>
          </a:xfrm>
          <a:prstGeom prst="roundRect">
            <a:avLst>
              <a:gd name="adj" fmla="val 6250"/>
            </a:avLst>
          </a:prstGeom>
          <a:solidFill>
            <a:srgbClr val="2A2113"/>
          </a:solidFill>
          <a:ln w="12700">
            <a:solidFill>
              <a:srgbClr val="4A3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50976" y="521208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DA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Careful: wider does not mean “twice as fast”.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" y="550468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wider processor handles bigger values in one step and can address far more memory. Real-world speed depends on clock rate, chip design, memory, and a dozen other things. 64-bit is a design decision, not a performance claim.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ARCHITECTURE TERMINOLOGY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x86 and x64 — clearing up the names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these terms is used two different ways. Knowing which is which saves a great deal of confusion.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65576" cy="2944368"/>
          </a:xfrm>
          <a:prstGeom prst="roundRect">
            <a:avLst>
              <a:gd name="adj" fmla="val 217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157984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FBEBD2"/>
          </a:solidFill>
          <a:ln w="12700">
            <a:solidFill>
              <a:srgbClr val="FBE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32688" y="21579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x86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7614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PROCESSOR FAMILY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072384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Historically, the Intel family that began with the 8086 and continued with the 80186, 80286, 80386 and 80486.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407822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name ends in “86” — so the family became “x86”.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1874520"/>
            <a:ext cx="3465576" cy="2944368"/>
          </a:xfrm>
          <a:prstGeom prst="roundRect">
            <a:avLst>
              <a:gd name="adj" fmla="val 217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54296" y="2157984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D7EEF2"/>
          </a:solidFill>
          <a:ln w="12700">
            <a:solidFill>
              <a:srgbClr val="D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54296" y="21579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x86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7614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EVERYDAY SOFTWARE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654296" y="3072384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downloads, installers and folder names, “x86” is now commonly used to mean the 32-bit version of a program or system.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54296" y="407822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a 64-bit Windows machine still has a folder called “Program Files (x86)”.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83296" y="1874520"/>
            <a:ext cx="3465576" cy="2944368"/>
          </a:xfrm>
          <a:prstGeom prst="roundRect">
            <a:avLst>
              <a:gd name="adj" fmla="val 217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75904" y="2157984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E6E2FA"/>
          </a:solidFill>
          <a:ln w="12700">
            <a:solidFill>
              <a:srgbClr val="E6E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375904" y="21579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x64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27614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WRITTEN X86-64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375904" y="3072384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64-bit extension of the same x86 architecture — the same family, extended to work with 64-bit registers and far more memory.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407822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“x64” and “x86-64” mean the same thing.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10908792" cy="1005840"/>
          </a:xfrm>
          <a:prstGeom prst="roundRect">
            <a:avLst>
              <a:gd name="adj" fmla="val 6364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50976" y="5230368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“x86” can mean a whole processor family, or a 32-bit build of some software — read it from the context.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" y="5559552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“x64” has only one meaning: the 64-bit extension.     Our 8086 is 16-bit, and it is where the whole family started.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WHAT IS THE 8086?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Intel 8086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203704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09160" y="2203704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496312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9160" y="2496312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2788920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3081528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3081528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3374136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3374136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666744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3666744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959352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3959352"/>
            <a:ext cx="274320" cy="128016"/>
          </a:xfrm>
          <a:prstGeom prst="rect">
            <a:avLst/>
          </a:prstGeom>
          <a:solidFill>
            <a:srgbClr val="5A6577"/>
          </a:solidFill>
          <a:ln w="127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1560" y="196596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B2335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5156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788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600" b="1" kern="0" spc="30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8086</a:t>
            </a:r>
            <a:endParaRPr lang="en-US" sz="46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593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16-BIT MICROPROCESSOR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51560" y="4407408"/>
            <a:ext cx="932688" cy="347472"/>
          </a:xfrm>
          <a:prstGeom prst="roundRect">
            <a:avLst>
              <a:gd name="adj" fmla="val 42105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51560" y="4407408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30552" y="4407408"/>
            <a:ext cx="1124712" cy="347472"/>
          </a:xfrm>
          <a:prstGeom prst="roundRect">
            <a:avLst>
              <a:gd name="adj" fmla="val 42105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2130552" y="4407408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16-BIT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01568" y="4407408"/>
            <a:ext cx="1796796" cy="347472"/>
          </a:xfrm>
          <a:prstGeom prst="roundRect">
            <a:avLst>
              <a:gd name="adj" fmla="val 42105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3401568" y="4407408"/>
            <a:ext cx="1796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FIRST x86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15179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INTRODUCED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0" y="1755648"/>
            <a:ext cx="5879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1978, by Intel.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23865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2624328"/>
            <a:ext cx="5879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16-bit microprocessor — its registers are 16 bits wide.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3255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0" y="3493008"/>
            <a:ext cx="5879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first member of what became the x86 family, the architecture that still runs most desktops and laptops.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0" y="41239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SURVIVED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4361688"/>
            <a:ext cx="5879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register names and the style of its instructions are still recognisable in today’s x86 processors.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669280" y="4983480"/>
            <a:ext cx="5879592" cy="1060704"/>
          </a:xfrm>
          <a:prstGeom prst="roundRect">
            <a:avLst>
              <a:gd name="adj" fmla="val 6034"/>
            </a:avLst>
          </a:prstGeom>
          <a:solidFill>
            <a:srgbClr val="122A31"/>
          </a:solidFill>
          <a:ln w="12700">
            <a:solidFill>
              <a:srgbClr val="275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5961888" y="5138928"/>
            <a:ext cx="529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EB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word of care with words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961888" y="5413248"/>
            <a:ext cx="5294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8086 is the name of a processor. “16-bit” describes its architecture — the width of its registers and the data it naturally handles. The two are not interchangeable.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4892040"/>
            <a:ext cx="4480560" cy="1152144"/>
          </a:xfrm>
          <a:prstGeom prst="roundRect">
            <a:avLst>
              <a:gd name="adj" fmla="val 5556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932688" y="5056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LEARN THIS ONE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32688" y="53218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learn completely, important enough to be worth learning, and superbly supported by teaching tools such as EMU8086.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WHAT IS THE 8086?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chip to every chip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2395728"/>
            <a:ext cx="9601200" cy="32004"/>
          </a:xfrm>
          <a:prstGeom prst="rect">
            <a:avLst/>
          </a:prstGeom>
          <a:solidFill>
            <a:srgbClr val="E2E7E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69948" y="2331720"/>
            <a:ext cx="164592" cy="164592"/>
          </a:xfrm>
          <a:prstGeom prst="ellipse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2624328" cy="2011680"/>
          </a:xfrm>
          <a:prstGeom prst="roundRect">
            <a:avLst>
              <a:gd name="adj" fmla="val 3182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77824" y="30175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8086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712464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16-bit processor this whole course is built around.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1874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1982 – 1989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31436" y="2331720"/>
            <a:ext cx="164592" cy="164592"/>
          </a:xfrm>
          <a:prstGeom prst="ellipse">
            <a:avLst/>
          </a:prstGeom>
          <a:solidFill>
            <a:srgbClr val="1887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01568" y="2788920"/>
            <a:ext cx="2624328" cy="2011680"/>
          </a:xfrm>
          <a:prstGeom prst="roundRect">
            <a:avLst>
              <a:gd name="adj" fmla="val 3182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639312" y="30175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80286 · 80386 · 80486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3712464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grows. The 80386 brings 32-bit registers to the same architecture.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63056" y="1874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92924" y="2331720"/>
            <a:ext cx="164592" cy="164592"/>
          </a:xfrm>
          <a:prstGeom prst="ellipse">
            <a:avLst/>
          </a:prstGeom>
          <a:solidFill>
            <a:srgbClr val="6B5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63056" y="2788920"/>
            <a:ext cx="2624328" cy="2011680"/>
          </a:xfrm>
          <a:prstGeom prst="roundRect">
            <a:avLst>
              <a:gd name="adj" fmla="val 3182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00800" y="30175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x86-64  /  x64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712464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64-bit extension is added. Still the same family, still running the old instructions.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24544" y="1874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154412" y="2331720"/>
            <a:ext cx="164592" cy="164592"/>
          </a:xfrm>
          <a:prstGeom prst="ellipse">
            <a:avLst/>
          </a:prstGeom>
          <a:solidFill>
            <a:srgbClr val="3786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24544" y="2788920"/>
            <a:ext cx="2624328" cy="2011680"/>
          </a:xfrm>
          <a:prstGeom prst="roundRect">
            <a:avLst>
              <a:gd name="adj" fmla="val 3182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162288" y="30175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laptop in front of you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162288" y="3712464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Vastly faster and vastly more complex — and still a descendant of the 8086.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834640" y="5230368"/>
            <a:ext cx="2194560" cy="420624"/>
          </a:xfrm>
          <a:prstGeom prst="roundRect">
            <a:avLst>
              <a:gd name="adj" fmla="val 34783"/>
            </a:avLst>
          </a:prstGeom>
          <a:solidFill>
            <a:srgbClr val="FBEBD2"/>
          </a:solidFill>
          <a:ln w="12700">
            <a:solidFill>
              <a:srgbClr val="FBE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2834640" y="52303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" dirty="0">
                <a:solidFill>
                  <a:srgbClr val="D98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57216" y="5440680"/>
            <a:ext cx="512064" cy="0"/>
          </a:xfrm>
          <a:prstGeom prst="line">
            <a:avLst/>
          </a:prstGeom>
          <a:noFill/>
          <a:ln w="19050">
            <a:solidFill>
              <a:srgbClr val="5B67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69280" y="5230368"/>
            <a:ext cx="2194560" cy="420624"/>
          </a:xfrm>
          <a:prstGeom prst="roundRect">
            <a:avLst>
              <a:gd name="adj" fmla="val 34783"/>
            </a:avLst>
          </a:prstGeom>
          <a:solidFill>
            <a:srgbClr val="D7EEF2"/>
          </a:solidFill>
          <a:ln w="12700">
            <a:solidFill>
              <a:srgbClr val="D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669280" y="52303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" dirty="0">
                <a:solidFill>
                  <a:srgbClr val="188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x86 family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91856" y="5440680"/>
            <a:ext cx="512064" cy="0"/>
          </a:xfrm>
          <a:prstGeom prst="line">
            <a:avLst/>
          </a:prstGeom>
          <a:noFill/>
          <a:ln w="19050">
            <a:solidFill>
              <a:srgbClr val="5B677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503920" y="5230368"/>
            <a:ext cx="2194560" cy="420624"/>
          </a:xfrm>
          <a:prstGeom prst="roundRect">
            <a:avLst>
              <a:gd name="adj" fmla="val 34783"/>
            </a:avLst>
          </a:prstGeom>
          <a:solidFill>
            <a:srgbClr val="E6E2FA"/>
          </a:solidFill>
          <a:ln w="12700">
            <a:solidFill>
              <a:srgbClr val="E6E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8503920" y="52303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" dirty="0">
                <a:solidFill>
                  <a:srgbClr val="6B5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x86 / x64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BASIC 8086 ARCHITECTURE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8086 — just the parts that matter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309360" cy="3611880"/>
          </a:xfrm>
          <a:prstGeom prst="roundRect">
            <a:avLst>
              <a:gd name="adj" fmla="val 1772"/>
            </a:avLst>
          </a:prstGeom>
          <a:solidFill>
            <a:srgbClr val="141C2B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60120" y="18836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 8086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2A2113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170432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DA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Unit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6700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and decodes;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everything else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86200" y="224028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2C1A16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096512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27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96512" y="26700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calculations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comparisons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3319272"/>
            <a:ext cx="5669280" cy="22860"/>
          </a:xfrm>
          <a:prstGeom prst="rect">
            <a:avLst/>
          </a:prstGeom>
          <a:solidFill>
            <a:srgbClr val="3A4760"/>
          </a:solidFill>
          <a:ln w="12700">
            <a:solidFill>
              <a:srgbClr val="3A47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334670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BUS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60120" y="3611880"/>
            <a:ext cx="5669280" cy="1463040"/>
          </a:xfrm>
          <a:prstGeom prst="roundRect">
            <a:avLst>
              <a:gd name="adj" fmla="val 4375"/>
            </a:avLst>
          </a:prstGeom>
          <a:solidFill>
            <a:srgbClr val="122A31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188720" y="37673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REGISTERS  —  THE CPU’S OWN STORAGE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88720" y="4059936"/>
            <a:ext cx="1207008" cy="365760"/>
          </a:xfrm>
          <a:prstGeom prst="roundRect">
            <a:avLst>
              <a:gd name="adj" fmla="val 40000"/>
            </a:avLst>
          </a:prstGeom>
          <a:solidFill>
            <a:srgbClr val="0E1420"/>
          </a:solidFill>
          <a:ln w="12700">
            <a:solidFill>
              <a:srgbClr val="275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188720" y="4059936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3744" y="4059936"/>
            <a:ext cx="1207008" cy="365760"/>
          </a:xfrm>
          <a:prstGeom prst="roundRect">
            <a:avLst>
              <a:gd name="adj" fmla="val 40000"/>
            </a:avLst>
          </a:prstGeom>
          <a:solidFill>
            <a:srgbClr val="0E1420"/>
          </a:solidFill>
          <a:ln w="12700">
            <a:solidFill>
              <a:srgbClr val="275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2523744" y="4059936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58768" y="4059936"/>
            <a:ext cx="1207008" cy="365760"/>
          </a:xfrm>
          <a:prstGeom prst="roundRect">
            <a:avLst>
              <a:gd name="adj" fmla="val 40000"/>
            </a:avLst>
          </a:prstGeom>
          <a:solidFill>
            <a:srgbClr val="0E1420"/>
          </a:solidFill>
          <a:ln w="12700">
            <a:solidFill>
              <a:srgbClr val="275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858768" y="4059936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93792" y="4059936"/>
            <a:ext cx="1207008" cy="365760"/>
          </a:xfrm>
          <a:prstGeom prst="roundRect">
            <a:avLst>
              <a:gd name="adj" fmla="val 40000"/>
            </a:avLst>
          </a:prstGeom>
          <a:solidFill>
            <a:srgbClr val="0E1420"/>
          </a:solidFill>
          <a:ln w="12700">
            <a:solidFill>
              <a:srgbClr val="275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193792" y="4059936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88720" y="4517136"/>
            <a:ext cx="1207008" cy="365760"/>
          </a:xfrm>
          <a:prstGeom prst="roundRect">
            <a:avLst>
              <a:gd name="adj" fmla="val 40000"/>
            </a:avLst>
          </a:prstGeom>
          <a:solidFill>
            <a:srgbClr val="0E1420"/>
          </a:solidFill>
          <a:ln w="12700">
            <a:solidFill>
              <a:srgbClr val="275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188720" y="4517136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23744" y="4517136"/>
            <a:ext cx="1207008" cy="365760"/>
          </a:xfrm>
          <a:prstGeom prst="roundRect">
            <a:avLst>
              <a:gd name="adj" fmla="val 40000"/>
            </a:avLst>
          </a:prstGeom>
          <a:solidFill>
            <a:srgbClr val="0E1420"/>
          </a:solidFill>
          <a:ln w="12700">
            <a:solidFill>
              <a:srgbClr val="275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2523744" y="4517136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58768" y="4517136"/>
            <a:ext cx="1207008" cy="365760"/>
          </a:xfrm>
          <a:prstGeom prst="roundRect">
            <a:avLst>
              <a:gd name="adj" fmla="val 40000"/>
            </a:avLst>
          </a:prstGeom>
          <a:solidFill>
            <a:srgbClr val="0E1420"/>
          </a:solidFill>
          <a:ln w="12700">
            <a:solidFill>
              <a:srgbClr val="275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3858768" y="4517136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93792" y="4517136"/>
            <a:ext cx="1207008" cy="365760"/>
          </a:xfrm>
          <a:prstGeom prst="roundRect">
            <a:avLst>
              <a:gd name="adj" fmla="val 40000"/>
            </a:avLst>
          </a:prstGeom>
          <a:solidFill>
            <a:srgbClr val="0E1420"/>
          </a:solidFill>
          <a:ln w="12700">
            <a:solidFill>
              <a:srgbClr val="275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193792" y="4517136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22494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BUS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59168" y="2487168"/>
            <a:ext cx="1207008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059168" y="30083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BUS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59168" y="3246120"/>
            <a:ext cx="1207008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059168" y="3767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BUS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059168" y="4005072"/>
            <a:ext cx="1207008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503920" y="1691640"/>
            <a:ext cx="3044952" cy="3611880"/>
          </a:xfrm>
          <a:prstGeom prst="roundRect">
            <a:avLst>
              <a:gd name="adj" fmla="val 2102"/>
            </a:avLst>
          </a:prstGeom>
          <a:solidFill>
            <a:srgbClr val="1E1A33"/>
          </a:solidFill>
          <a:ln w="12700">
            <a:solidFill>
              <a:srgbClr val="958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8778240" y="1883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778240" y="21579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and data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 here.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778240" y="2761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601200" y="2825496"/>
            <a:ext cx="1627632" cy="155448"/>
          </a:xfrm>
          <a:prstGeom prst="roundRect">
            <a:avLst>
              <a:gd name="adj" fmla="val 17647"/>
            </a:avLst>
          </a:prstGeom>
          <a:solidFill>
            <a:srgbClr val="372F63"/>
          </a:solidFill>
          <a:ln w="12700">
            <a:solidFill>
              <a:srgbClr val="372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8778240" y="31638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227832"/>
            <a:ext cx="1627632" cy="155448"/>
          </a:xfrm>
          <a:prstGeom prst="roundRect">
            <a:avLst>
              <a:gd name="adj" fmla="val 17647"/>
            </a:avLst>
          </a:prstGeom>
          <a:solidFill>
            <a:srgbClr val="2C2550"/>
          </a:solidFill>
          <a:ln w="12700">
            <a:solidFill>
              <a:srgbClr val="372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8778240" y="3566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0104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601200" y="3630168"/>
            <a:ext cx="1627632" cy="155448"/>
          </a:xfrm>
          <a:prstGeom prst="roundRect">
            <a:avLst>
              <a:gd name="adj" fmla="val 17647"/>
            </a:avLst>
          </a:prstGeom>
          <a:solidFill>
            <a:srgbClr val="372F63"/>
          </a:solidFill>
          <a:ln w="12700">
            <a:solidFill>
              <a:srgbClr val="372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8778240" y="39684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601200" y="4032504"/>
            <a:ext cx="1627632" cy="155448"/>
          </a:xfrm>
          <a:prstGeom prst="roundRect">
            <a:avLst>
              <a:gd name="adj" fmla="val 17647"/>
            </a:avLst>
          </a:prstGeom>
          <a:solidFill>
            <a:srgbClr val="2C2550"/>
          </a:solidFill>
          <a:ln w="12700">
            <a:solidFill>
              <a:srgbClr val="372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8778240" y="43708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0108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601200" y="4434840"/>
            <a:ext cx="1627632" cy="155448"/>
          </a:xfrm>
          <a:prstGeom prst="roundRect">
            <a:avLst>
              <a:gd name="adj" fmla="val 17647"/>
            </a:avLst>
          </a:prstGeom>
          <a:solidFill>
            <a:srgbClr val="372F63"/>
          </a:solidFill>
          <a:ln w="12700">
            <a:solidFill>
              <a:srgbClr val="372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8778240" y="4773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601200" y="4837176"/>
            <a:ext cx="1627632" cy="155448"/>
          </a:xfrm>
          <a:prstGeom prst="roundRect">
            <a:avLst>
              <a:gd name="adj" fmla="val 17647"/>
            </a:avLst>
          </a:prstGeom>
          <a:solidFill>
            <a:srgbClr val="2C2550"/>
          </a:solidFill>
          <a:ln w="12700">
            <a:solidFill>
              <a:srgbClr val="372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40080" y="5468112"/>
            <a:ext cx="10908792" cy="658368"/>
          </a:xfrm>
          <a:prstGeom prst="roundRect">
            <a:avLst>
              <a:gd name="adj" fmla="val 9722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914400" y="5468112"/>
            <a:ext cx="10360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instructions spend nearly all of their time moving values between those registers and that memory. Which is exactly why registers come next.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· 8086 REGISTERS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First: what is a register?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D7EEF2"/>
          </a:solidFill>
          <a:ln w="12700">
            <a:solidFill>
              <a:srgbClr val="BB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50976" y="1371600"/>
            <a:ext cx="4773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is a very small, very fast storage location built directly into the CPU.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" y="2679192"/>
            <a:ext cx="109728" cy="109728"/>
          </a:xfrm>
          <a:prstGeom prst="rect">
            <a:avLst/>
          </a:prstGeom>
          <a:solidFill>
            <a:srgbClr val="18879B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9264" y="2578608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only a handful of them, and you cannot make more. The set is fixed by the processor’s design.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6656" y="3337560"/>
            <a:ext cx="109728" cy="109728"/>
          </a:xfrm>
          <a:prstGeom prst="rect">
            <a:avLst/>
          </a:prstGeom>
          <a:solidFill>
            <a:srgbClr val="18879B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69264" y="3236976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has a name that you write literally in your code — AX, BX, CX, and so 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6656" y="3995928"/>
            <a:ext cx="109728" cy="109728"/>
          </a:xfrm>
          <a:prstGeom prst="rect">
            <a:avLst/>
          </a:prstGeom>
          <a:solidFill>
            <a:srgbClr val="18879B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69264" y="3895344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8086 the main registers hold 16 bits each: two bytes.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" y="4654296"/>
            <a:ext cx="109728" cy="109728"/>
          </a:xfrm>
          <a:prstGeom prst="rect">
            <a:avLst/>
          </a:prstGeom>
          <a:solidFill>
            <a:srgbClr val="18879B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9264" y="4553712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can use a register’s contents immediately. Fetching the same value from memory takes very much longer.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285232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50976" y="5285232"/>
            <a:ext cx="477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the filing cabinet across the room. Registers are the two or three sheets already lying on your desk — far fewer, but instantly to hand.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1371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8086 REGISTER, DRAWN OUT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1664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744968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bits  ·  2 bytes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01968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12864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23760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34656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45552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56448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467344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778240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89136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400032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710928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021824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332720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643616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954512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265408" y="2212848"/>
            <a:ext cx="274320" cy="475488"/>
          </a:xfrm>
          <a:prstGeom prst="roundRect">
            <a:avLst>
              <a:gd name="adj" fmla="val 13333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601968" y="27432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15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442448" y="27432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0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601968" y="30540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little switches, each a 0 or a 1. That is the whole register.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601968" y="3566160"/>
            <a:ext cx="2286000" cy="1463040"/>
          </a:xfrm>
          <a:prstGeom prst="roundRect">
            <a:avLst>
              <a:gd name="adj" fmla="val 4375"/>
            </a:avLst>
          </a:prstGeom>
          <a:solidFill>
            <a:srgbClr val="FBEBD2"/>
          </a:solidFill>
          <a:ln w="12700">
            <a:solidFill>
              <a:srgbClr val="E8CD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784848" y="37307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INSIDE THE CPU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03136" y="4005072"/>
            <a:ext cx="877824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803136" y="4005072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90688" y="4005072"/>
            <a:ext cx="877824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7790688" y="4005072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BX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03136" y="4443984"/>
            <a:ext cx="877824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6803136" y="4443984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790688" y="4443984"/>
            <a:ext cx="877824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7790688" y="4443984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692640" y="3566160"/>
            <a:ext cx="1856232" cy="1463040"/>
          </a:xfrm>
          <a:prstGeom prst="roundRect">
            <a:avLst>
              <a:gd name="adj" fmla="val 4375"/>
            </a:avLst>
          </a:prstGeom>
          <a:solidFill>
            <a:srgbClr val="E6E2FA"/>
          </a:solidFill>
          <a:ln w="12700">
            <a:solidFill>
              <a:srgbClr val="CDC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9692640" y="393192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3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418795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slower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979408" y="4297680"/>
            <a:ext cx="621792" cy="0"/>
          </a:xfrm>
          <a:prstGeom prst="line">
            <a:avLst/>
          </a:prstGeom>
          <a:noFill/>
          <a:ln w="19050">
            <a:solidFill>
              <a:srgbClr val="5B677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6601968" y="51755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are where an assembly program actually lives and works.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· 8086 REGISTERS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8086 register set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names, in five groups. Today you need only to recognise them and know which group each belongs 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83664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122A31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32688" y="2103120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 PURPOSE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377440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working registers — the ones you will name most often.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32688" y="2852928"/>
            <a:ext cx="1060704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3EB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32688" y="285292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39696" y="2852928"/>
            <a:ext cx="1060704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3EB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139696" y="285292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46704" y="2852928"/>
            <a:ext cx="1060704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3EB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346704" y="285292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53712" y="2852928"/>
            <a:ext cx="1060704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3EB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553712" y="285292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53912" y="1883664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2A2113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46520" y="2103120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 &amp; INDEX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377440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positions and addresses rather than ordinary values.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2852928"/>
            <a:ext cx="1060704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46520" y="285292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53528" y="2852928"/>
            <a:ext cx="1060704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653528" y="285292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860536" y="2852928"/>
            <a:ext cx="1060704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860536" y="285292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067544" y="2852928"/>
            <a:ext cx="1060704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0067544" y="285292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3858768"/>
            <a:ext cx="2743200" cy="1691640"/>
          </a:xfrm>
          <a:prstGeom prst="roundRect">
            <a:avLst>
              <a:gd name="adj" fmla="val 3784"/>
            </a:avLst>
          </a:prstGeom>
          <a:solidFill>
            <a:srgbClr val="132A20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32688" y="407822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 POINTER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32688" y="43525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instruction comes next.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32688" y="4690872"/>
            <a:ext cx="1060704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58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932688" y="4690872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621024" y="3858768"/>
            <a:ext cx="2743200" cy="1691640"/>
          </a:xfrm>
          <a:prstGeom prst="roundRect">
            <a:avLst>
              <a:gd name="adj" fmla="val 3784"/>
            </a:avLst>
          </a:prstGeom>
          <a:solidFill>
            <a:srgbClr val="2C1A16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3913632" y="407822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E27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913632" y="435254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what just happened.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913632" y="4690872"/>
            <a:ext cx="1828800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E27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3913632" y="4690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E27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601968" y="3858768"/>
            <a:ext cx="4946904" cy="1691640"/>
          </a:xfrm>
          <a:prstGeom prst="roundRect">
            <a:avLst>
              <a:gd name="adj" fmla="val 3784"/>
            </a:avLst>
          </a:prstGeom>
          <a:solidFill>
            <a:srgbClr val="1E1A33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894576" y="4078224"/>
            <a:ext cx="4361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 REGISTERS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894576" y="4352544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where code, data and the stack sit in memory.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894576" y="4690872"/>
            <a:ext cx="950976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958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894576" y="4690872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991856" y="4690872"/>
            <a:ext cx="950976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958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7991856" y="4690872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089136" y="4690872"/>
            <a:ext cx="950976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958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9089136" y="4690872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0186416" y="4690872"/>
            <a:ext cx="950976" cy="548640"/>
          </a:xfrm>
          <a:prstGeom prst="roundRect">
            <a:avLst>
              <a:gd name="adj" fmla="val 26667"/>
            </a:avLst>
          </a:prstGeom>
          <a:solidFill>
            <a:srgbClr val="0E1420"/>
          </a:solidFill>
          <a:ln w="12700">
            <a:solidFill>
              <a:srgbClr val="958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10186416" y="4690872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57790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have used every one of these before the semester is over. Today: recognition only.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· 8086 REGISTERS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AX, BX, CX, DX — and their two halves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979676" y="1481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 ·  one 16-bit register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79676" y="182880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4476" y="182880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979676" y="19385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979676" y="23225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half  ·  8 bits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94476" y="19385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094476" y="23225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 half  ·  8 bits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79676" y="2706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15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265676" y="2706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8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14516" y="2706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7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746236" y="2706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55264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602736"/>
            <a:ext cx="1284732" cy="512064"/>
          </a:xfrm>
          <a:prstGeom prst="roundRect">
            <a:avLst>
              <a:gd name="adj" fmla="val 8929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979676" y="3602736"/>
            <a:ext cx="1284732" cy="512064"/>
          </a:xfrm>
          <a:prstGeom prst="roundRect">
            <a:avLst>
              <a:gd name="adj" fmla="val 8929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0080" y="3602736"/>
            <a:ext cx="12847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979676" y="3602736"/>
            <a:ext cx="12847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01568" y="3255264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BX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401568" y="3602736"/>
            <a:ext cx="1284732" cy="512064"/>
          </a:xfrm>
          <a:prstGeom prst="roundRect">
            <a:avLst>
              <a:gd name="adj" fmla="val 8929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41164" y="3602736"/>
            <a:ext cx="1284732" cy="512064"/>
          </a:xfrm>
          <a:prstGeom prst="roundRect">
            <a:avLst>
              <a:gd name="adj" fmla="val 8929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401568" y="3602736"/>
            <a:ext cx="12847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741164" y="3602736"/>
            <a:ext cx="12847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63056" y="3255264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63056" y="3602736"/>
            <a:ext cx="1284732" cy="512064"/>
          </a:xfrm>
          <a:prstGeom prst="roundRect">
            <a:avLst>
              <a:gd name="adj" fmla="val 8929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502652" y="3602736"/>
            <a:ext cx="1284732" cy="512064"/>
          </a:xfrm>
          <a:prstGeom prst="roundRect">
            <a:avLst>
              <a:gd name="adj" fmla="val 8929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163056" y="3602736"/>
            <a:ext cx="12847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502652" y="3602736"/>
            <a:ext cx="12847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924544" y="3255264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924544" y="3602736"/>
            <a:ext cx="1284732" cy="512064"/>
          </a:xfrm>
          <a:prstGeom prst="roundRect">
            <a:avLst>
              <a:gd name="adj" fmla="val 8929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264140" y="3602736"/>
            <a:ext cx="1284732" cy="512064"/>
          </a:xfrm>
          <a:prstGeom prst="roundRect">
            <a:avLst>
              <a:gd name="adj" fmla="val 8929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924544" y="3602736"/>
            <a:ext cx="12847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64140" y="3602736"/>
            <a:ext cx="12847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480560"/>
            <a:ext cx="3465576" cy="1371600"/>
          </a:xfrm>
          <a:prstGeom prst="roundRect">
            <a:avLst>
              <a:gd name="adj" fmla="val 466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914400" y="470001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AND L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4992624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is the high half — the upper 8 bits. L is the low half — the lower 8 bits.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61688" y="4480560"/>
            <a:ext cx="3465576" cy="1371600"/>
          </a:xfrm>
          <a:prstGeom prst="roundRect">
            <a:avLst>
              <a:gd name="adj" fmla="val 466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636008" y="470001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WAYS TO NAME IT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4992624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is one 16-bit register, or two 8-bit registers, depending on which name you write.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83296" y="4480560"/>
            <a:ext cx="3465576" cy="1371600"/>
          </a:xfrm>
          <a:prstGeom prst="roundRect">
            <a:avLst>
              <a:gd name="adj" fmla="val 466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8357616" y="470001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THESE FOUR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357616" y="4992624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AX, BX, CX and DX split this way. SP, BP, SI and DI do not — they are 16-bit only.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· 8086 REGISTERS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four groups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and jobs only. We will not use a single one of them today.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50976" y="19385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 &amp; INDEX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50976" y="2231136"/>
            <a:ext cx="914400" cy="402336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50976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993392" y="2231136"/>
            <a:ext cx="914400" cy="402336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993392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35808" y="2231136"/>
            <a:ext cx="914400" cy="402336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035808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078224" y="2231136"/>
            <a:ext cx="914400" cy="402336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078224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2743200"/>
            <a:ext cx="47731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hold positions and addresses rather than ordinary values: where we are in the stack, and where we are inside a block of data.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53912" y="1719072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64808" y="19385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 POINTER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64808" y="2231136"/>
            <a:ext cx="1371600" cy="402336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3786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64808" y="22311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2743200"/>
            <a:ext cx="47731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address of the next instruction to fetch — the CPU’s own “you are here” marker. This is the register from the fetch step earlier.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621024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50976" y="38404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0976" y="4133088"/>
            <a:ext cx="1371600" cy="402336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454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50976" y="41330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50976" y="4645152"/>
            <a:ext cx="47731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Single-bit indicators the CPU sets automatically to record facts about what just happened — such as whether a result came out as zero.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53912" y="3621024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464808" y="38404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 REGISTERS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64808" y="4133088"/>
            <a:ext cx="914400" cy="402336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6B5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464808" y="413308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07224" y="4133088"/>
            <a:ext cx="914400" cy="402336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6B5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507224" y="413308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549640" y="4133088"/>
            <a:ext cx="914400" cy="402336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6B5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549640" y="413308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592056" y="4133088"/>
            <a:ext cx="914400" cy="402336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6B5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9592056" y="413308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464808" y="4645152"/>
            <a:ext cx="47731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out where the code, the data and the stack live in memory. The 8086 uses them to reach its full memory space.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5532120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40080" y="55321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today. Usage later — each of these groups gets a lecture of its own.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ASSEMBLY LANGUAGE BASICS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anatomy of an assembly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89888"/>
            <a:ext cx="10908792" cy="566928"/>
          </a:xfrm>
          <a:prstGeom prst="roundRect">
            <a:avLst>
              <a:gd name="adj" fmla="val 11290"/>
            </a:avLst>
          </a:prstGeom>
          <a:solidFill>
            <a:srgbClr val="2A2113"/>
          </a:solidFill>
          <a:ln w="12700">
            <a:solidFill>
              <a:srgbClr val="4A3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50976" y="1389888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A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— </a:t>
            </a:r>
            <a:r>
              <a:rPr lang="en-US" sz="130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learning what MOV does today. That is next lecture. Right now we care only about the shape of a statement.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10908792" cy="1325880"/>
          </a:xfrm>
          <a:prstGeom prst="roundRect">
            <a:avLst>
              <a:gd name="adj" fmla="val 4828"/>
            </a:avLst>
          </a:prstGeom>
          <a:solidFill>
            <a:srgbClr val="121A29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249424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r>
              <a:rPr lang="en-US" sz="4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40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</a:t>
            </a:r>
            <a:r>
              <a:rPr lang="en-US" sz="40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4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4000" b="1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BX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358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kern="0" spc="6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mnemonic      destination  ,  source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H="1">
            <a:off x="2372868" y="3511296"/>
            <a:ext cx="2656332" cy="502920"/>
          </a:xfrm>
          <a:prstGeom prst="line">
            <a:avLst/>
          </a:prstGeom>
          <a:noFill/>
          <a:ln w="15240">
            <a:solidFill>
              <a:srgbClr val="5167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94476" y="3511296"/>
            <a:ext cx="0" cy="502920"/>
          </a:xfrm>
          <a:prstGeom prst="line">
            <a:avLst/>
          </a:prstGeom>
          <a:noFill/>
          <a:ln w="15240">
            <a:solidFill>
              <a:srgbClr val="5167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0" y="3511296"/>
            <a:ext cx="2500884" cy="502920"/>
          </a:xfrm>
          <a:prstGeom prst="line">
            <a:avLst/>
          </a:prstGeom>
          <a:noFill/>
          <a:ln w="15240">
            <a:solidFill>
              <a:srgbClr val="5167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465576" cy="1755648"/>
          </a:xfrm>
          <a:prstGeom prst="roundRect">
            <a:avLst>
              <a:gd name="adj" fmla="val 3646"/>
            </a:avLst>
          </a:prstGeom>
          <a:solidFill>
            <a:srgbClr val="2A2113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32688" y="426110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47000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MNEMONIC  ·  THE INSTRUCTION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99262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readable name standing for one machine instruction. It is the verb of the statement — the thing being done.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61688" y="4069080"/>
            <a:ext cx="3465576" cy="1755648"/>
          </a:xfrm>
          <a:prstGeom prst="roundRect">
            <a:avLst>
              <a:gd name="adj" fmla="val 3646"/>
            </a:avLst>
          </a:prstGeom>
          <a:solidFill>
            <a:srgbClr val="122A31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654296" y="426110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47000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OPERAND  ·  DESTINATION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654296" y="499262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operand written first. In a two-operand statement of this form it is the destination — the place the instruction acts upon.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83296" y="4069080"/>
            <a:ext cx="3465576" cy="1755648"/>
          </a:xfrm>
          <a:prstGeom prst="roundRect">
            <a:avLst>
              <a:gd name="adj" fmla="val 3646"/>
            </a:avLst>
          </a:prstGeom>
          <a:solidFill>
            <a:srgbClr val="1E1A33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375904" y="426110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BX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47000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 OPERAND  ·  SOURCE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4992624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operand written second. It is the source — the place the instruction takes its value from.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ASSEMBLY SYNTAX RULES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syntax rules that actually matter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94960" cy="1874520"/>
          </a:xfrm>
          <a:prstGeom prst="roundRect">
            <a:avLst>
              <a:gd name="adj" fmla="val 3415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50976" y="1911096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assembly case-sensitive?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295144"/>
            <a:ext cx="47731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EMU8086, no. Instruction names and register names are case-insensitive: MOV, mov and Mov are the same instruction, and AX, ax and Ax are the same register.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50976" y="3063240"/>
            <a:ext cx="4773168" cy="365760"/>
          </a:xfrm>
          <a:prstGeom prst="roundRect">
            <a:avLst>
              <a:gd name="adj" fmla="val 12500"/>
            </a:avLst>
          </a:prstGeom>
          <a:solidFill>
            <a:srgbClr val="D7EEF2"/>
          </a:solidFill>
          <a:ln w="12700">
            <a:solidFill>
              <a:srgbClr val="D7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78992" y="306324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write instructions and registers in uppercase. It reads better.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53912" y="1691640"/>
            <a:ext cx="5394960" cy="1874520"/>
          </a:xfrm>
          <a:prstGeom prst="roundRect">
            <a:avLst>
              <a:gd name="adj" fmla="val 3415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64808" y="1911096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indentation matter?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295144"/>
            <a:ext cx="47731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Unlike Python, indentation has no meaning whatsoever — the assembler ignores it completely. It exists purely so that a human can read your code.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64808" y="3063240"/>
            <a:ext cx="4773168" cy="365760"/>
          </a:xfrm>
          <a:prstGeom prst="roundRect">
            <a:avLst>
              <a:gd name="adj" fmla="val 12500"/>
            </a:avLst>
          </a:prstGeom>
          <a:solidFill>
            <a:srgbClr val="FBEBD2"/>
          </a:solidFill>
          <a:ln w="12700">
            <a:solidFill>
              <a:srgbClr val="FBE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592824" y="306324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labels at the left margin, instructions indented beneath them.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5394960" cy="1874520"/>
          </a:xfrm>
          <a:prstGeom prst="roundRect">
            <a:avLst>
              <a:gd name="adj" fmla="val 3415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50976" y="3922776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instructions and operands separated?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" y="4306824"/>
            <a:ext cx="47731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mnemonic comes first, then its operands. Where there are two operands, a comma separates them — destination first, source second.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50976" y="5074920"/>
            <a:ext cx="4773168" cy="365760"/>
          </a:xfrm>
          <a:prstGeom prst="roundRect">
            <a:avLst>
              <a:gd name="adj" fmla="val 12500"/>
            </a:avLst>
          </a:prstGeom>
          <a:solidFill>
            <a:srgbClr val="E6E2FA"/>
          </a:solidFill>
          <a:ln w="12700">
            <a:solidFill>
              <a:srgbClr val="E6E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078992" y="507492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instruction per line. Spaces around the comma are optional.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53912" y="3703320"/>
            <a:ext cx="5394960" cy="1874520"/>
          </a:xfrm>
          <a:prstGeom prst="roundRect">
            <a:avLst>
              <a:gd name="adj" fmla="val 3415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64808" y="3922776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am I allowed to call things?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4306824"/>
            <a:ext cx="47731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you invent — labels above all — begin with a letter or an underscore, contain no spaces, and must not be a reserved word such as a register or instruction name.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64808" y="5074920"/>
            <a:ext cx="4773168" cy="365760"/>
          </a:xfrm>
          <a:prstGeom prst="roundRect">
            <a:avLst>
              <a:gd name="adj" fmla="val 12500"/>
            </a:avLst>
          </a:prstGeom>
          <a:solidFill>
            <a:srgbClr val="F8E1DB"/>
          </a:solidFill>
          <a:ln w="12700">
            <a:solidFill>
              <a:srgbClr val="F8E1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592824" y="507492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is taken. start, myLoop and total are all fine.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742432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and spacing are for humans. Commas, colons and semicolons are for the assembler.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ASSEMBLY SYNTAX RULES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punctuation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6583680" cy="2560320"/>
          </a:xfrm>
          <a:prstGeom prst="roundRect">
            <a:avLst>
              <a:gd name="adj" fmla="val 2143"/>
            </a:avLst>
          </a:prstGeom>
          <a:solidFill>
            <a:srgbClr val="121A29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8288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-----------------------------------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214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a comment starts with a semicolon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1401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-----------------------------------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9923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</a:t>
            </a:r>
            <a:r>
              <a:rPr lang="en-US" sz="14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; a label names a place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918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r>
              <a:rPr lang="en-US" sz="140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AX, BX</a:t>
            </a:r>
            <a:r>
              <a:rPr lang="en-US" sz="14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; mnemonic + 2 operands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5844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r>
              <a:rPr lang="en-US" sz="140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cx, ax</a:t>
            </a:r>
            <a:r>
              <a:rPr lang="en-US" sz="14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; lowercase is fine too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24528"/>
            <a:ext cx="6583680" cy="1865376"/>
          </a:xfrm>
          <a:prstGeom prst="roundRect">
            <a:avLst>
              <a:gd name="adj" fmla="val 3431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50976" y="442569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NAMING RULES FOR LABELS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9264" y="4882896"/>
            <a:ext cx="91440" cy="91440"/>
          </a:xfrm>
          <a:prstGeom prst="rect">
            <a:avLst/>
          </a:prstGeom>
          <a:solidFill>
            <a:srgbClr val="58B98A"/>
          </a:solidFill>
          <a:ln w="12700">
            <a:solidFill>
              <a:srgbClr val="58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225296" y="4791456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Letters, digits and underscores — and it must not start with a digit.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9264" y="5193792"/>
            <a:ext cx="91440" cy="91440"/>
          </a:xfrm>
          <a:prstGeom prst="rect">
            <a:avLst/>
          </a:prstGeom>
          <a:solidFill>
            <a:srgbClr val="58B98A"/>
          </a:solidFill>
          <a:ln w="12700">
            <a:solidFill>
              <a:srgbClr val="58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225296" y="5102352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spaces anywhere inside the name.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9264" y="5504688"/>
            <a:ext cx="91440" cy="91440"/>
          </a:xfrm>
          <a:prstGeom prst="rect">
            <a:avLst/>
          </a:prstGeom>
          <a:solidFill>
            <a:srgbClr val="58B98A"/>
          </a:solidFill>
          <a:ln w="12700">
            <a:solidFill>
              <a:srgbClr val="58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225296" y="541324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not be a register name or an instruction name — those are taken.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9264" y="5815584"/>
            <a:ext cx="91440" cy="91440"/>
          </a:xfrm>
          <a:prstGeom prst="rect">
            <a:avLst/>
          </a:prstGeom>
          <a:solidFill>
            <a:srgbClr val="58B98A"/>
          </a:solidFill>
          <a:ln w="12700">
            <a:solidFill>
              <a:srgbClr val="58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225296" y="5724144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colon after it where you define it; no colon where you refer to it.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98080" y="1572768"/>
            <a:ext cx="4050792" cy="1005840"/>
          </a:xfrm>
          <a:prstGeom prst="roundRect">
            <a:avLst>
              <a:gd name="adj" fmla="val 6364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0" y="1773936"/>
            <a:ext cx="786384" cy="310896"/>
          </a:xfrm>
          <a:prstGeom prst="roundRect">
            <a:avLst>
              <a:gd name="adj" fmla="val 14706"/>
            </a:avLst>
          </a:prstGeom>
          <a:solidFill>
            <a:srgbClr val="232E42"/>
          </a:solidFill>
          <a:ln w="12700">
            <a:solidFill>
              <a:srgbClr val="232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72400" y="177393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177393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 — a comment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21396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it on that line is ignored by the assembler. Written for humans only. Use them generously.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2706624"/>
            <a:ext cx="4050792" cy="1005840"/>
          </a:xfrm>
          <a:prstGeom prst="roundRect">
            <a:avLst>
              <a:gd name="adj" fmla="val 6364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772400" y="2907792"/>
            <a:ext cx="786384" cy="310896"/>
          </a:xfrm>
          <a:prstGeom prst="roundRect">
            <a:avLst>
              <a:gd name="adj" fmla="val 14706"/>
            </a:avLst>
          </a:prstGeom>
          <a:solidFill>
            <a:srgbClr val="132A20"/>
          </a:solidFill>
          <a:ln w="12700">
            <a:solidFill>
              <a:srgbClr val="13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772400" y="290779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0" y="29077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label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32735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you give to a place in your code. It ends with a colon where it is defined.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98080" y="3840480"/>
            <a:ext cx="4050792" cy="1005840"/>
          </a:xfrm>
          <a:prstGeom prst="roundRect">
            <a:avLst>
              <a:gd name="adj" fmla="val 6364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72400" y="4041648"/>
            <a:ext cx="786384" cy="310896"/>
          </a:xfrm>
          <a:prstGeom prst="roundRect">
            <a:avLst>
              <a:gd name="adj" fmla="val 14706"/>
            </a:avLst>
          </a:prstGeom>
          <a:solidFill>
            <a:srgbClr val="2A2113"/>
          </a:solidFill>
          <a:ln w="12700">
            <a:solidFill>
              <a:srgbClr val="2A21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772400" y="404164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·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0" y="40416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Indentation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44074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visual. It costs nothing and makes labels stand out from the instructions beneath them.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98080" y="4974336"/>
            <a:ext cx="4050792" cy="1005840"/>
          </a:xfrm>
          <a:prstGeom prst="roundRect">
            <a:avLst>
              <a:gd name="adj" fmla="val 6364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772400" y="5175504"/>
            <a:ext cx="786384" cy="310896"/>
          </a:xfrm>
          <a:prstGeom prst="roundRect">
            <a:avLst>
              <a:gd name="adj" fmla="val 14706"/>
            </a:avLst>
          </a:prstGeom>
          <a:solidFill>
            <a:srgbClr val="122A31"/>
          </a:solidFill>
          <a:ln w="12700">
            <a:solidFill>
              <a:srgbClr val="122A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772400" y="5175504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686800" y="5175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7772400" y="554126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same instruction as MOV. EMU8086 does not distinguish between them.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ANATOMY OF AN ASSEMBLY PROGRAM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a complete program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memorise this. Recognise the parts — the template will be given to you.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126480" cy="3886200"/>
          </a:xfrm>
          <a:prstGeom prst="roundRect">
            <a:avLst>
              <a:gd name="adj" fmla="val 1412"/>
            </a:avLst>
          </a:prstGeom>
          <a:solidFill>
            <a:srgbClr val="121A29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19659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================================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Lecture 1 - program skeleton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4231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================================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8803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7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.MODEL SMALL</a:t>
            </a:r>
            <a:r>
              <a:rPr lang="en-US" sz="12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; memory model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1089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7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.STACK 100H</a:t>
            </a:r>
            <a:r>
              <a:rPr lang="en-US" sz="12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; room for the stack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5661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.DATA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7947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values are declared here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2519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805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PROC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your instructions go here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9377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ENDP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1663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MAIN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1737360"/>
            <a:ext cx="4507992" cy="694944"/>
          </a:xfrm>
          <a:prstGeom prst="roundRect">
            <a:avLst>
              <a:gd name="adj" fmla="val 9211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96912" y="1883664"/>
            <a:ext cx="128016" cy="420624"/>
          </a:xfrm>
          <a:prstGeom prst="roundRect">
            <a:avLst>
              <a:gd name="adj" fmla="val 21429"/>
            </a:avLst>
          </a:prstGeom>
          <a:solidFill>
            <a:srgbClr val="6B7A93"/>
          </a:solidFill>
          <a:ln w="12700">
            <a:solidFill>
              <a:srgbClr val="6B7A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571232" y="18288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20665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for humans. The assembler ignores them entirely, and good programs are full of them.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40880" y="2514600"/>
            <a:ext cx="4507992" cy="694944"/>
          </a:xfrm>
          <a:prstGeom prst="roundRect">
            <a:avLst>
              <a:gd name="adj" fmla="val 9211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96912" y="2660904"/>
            <a:ext cx="128016" cy="420624"/>
          </a:xfrm>
          <a:prstGeom prst="roundRect">
            <a:avLst>
              <a:gd name="adj" fmla="val 21429"/>
            </a:avLst>
          </a:prstGeom>
          <a:solidFill>
            <a:srgbClr val="E27B66"/>
          </a:solidFill>
          <a:ln w="12700">
            <a:solidFill>
              <a:srgbClr val="E27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571232" y="26060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27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Directives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28437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.MODEL and .STACK are not instructions. They are messages to the assembler about how to build the program.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40880" y="3291840"/>
            <a:ext cx="4507992" cy="694944"/>
          </a:xfrm>
          <a:prstGeom prst="roundRect">
            <a:avLst>
              <a:gd name="adj" fmla="val 9211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296912" y="3438144"/>
            <a:ext cx="128016" cy="420624"/>
          </a:xfrm>
          <a:prstGeom prst="roundRect">
            <a:avLst>
              <a:gd name="adj" fmla="val 21429"/>
            </a:avLst>
          </a:prstGeom>
          <a:solidFill>
            <a:srgbClr val="9584E8"/>
          </a:solidFill>
          <a:ln w="12700">
            <a:solidFill>
              <a:srgbClr val="958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571232" y="33832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58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571232" y="36210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.DATA is where the values your program needs are declared before it runs.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40880" y="4069080"/>
            <a:ext cx="4507992" cy="694944"/>
          </a:xfrm>
          <a:prstGeom prst="roundRect">
            <a:avLst>
              <a:gd name="adj" fmla="val 9211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96912" y="4215384"/>
            <a:ext cx="128016" cy="420624"/>
          </a:xfrm>
          <a:prstGeom prst="roundRect">
            <a:avLst>
              <a:gd name="adj" fmla="val 21429"/>
            </a:avLst>
          </a:prstGeom>
          <a:solidFill>
            <a:srgbClr val="EDA63F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7571232" y="4160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DA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section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571232" y="43982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.CODE is where the instructions live. MAIN PROC … MAIN ENDP wraps them into a named procedure.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40880" y="4846320"/>
            <a:ext cx="4507992" cy="694944"/>
          </a:xfrm>
          <a:prstGeom prst="roundRect">
            <a:avLst>
              <a:gd name="adj" fmla="val 9211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96912" y="4992624"/>
            <a:ext cx="128016" cy="420624"/>
          </a:xfrm>
          <a:prstGeom prst="roundRect">
            <a:avLst>
              <a:gd name="adj" fmla="val 21429"/>
            </a:avLst>
          </a:prstGeom>
          <a:solidFill>
            <a:srgbClr val="58B98A"/>
          </a:solidFill>
          <a:ln w="12700">
            <a:solidFill>
              <a:srgbClr val="58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571232" y="49377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8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marker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571232" y="51755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MAIN tells the assembler that the program is complete and where it begins.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7790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EMU8086 also offers a shorter skeleton that begins with ORG 100H. Use whichever one your lab sheet specifies — the parts are the same.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INTRODUCTION TO ASCII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Characters are numbers too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computer stores numbers. Only numbers.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051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such thing as a letter inside memory. There are only values — and an agreement about what those values mean.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797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 is that agreement.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standard table that says which number stands for which character. When something stores the letter A, what is actually there is the number 65.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169664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us: at this level, a character and its number are the same thing. You will see both spellings of one value constantly.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5394960" cy="1060704"/>
          </a:xfrm>
          <a:prstGeom prst="roundRect">
            <a:avLst>
              <a:gd name="adj" fmla="val 6034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50976" y="5029200"/>
            <a:ext cx="47731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ASCII covers the values 0 to 127 — letters, digits, punctuation, and a set of invisible “control” characters such as newline and tab. Today we need only three ranges from it.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389888"/>
            <a:ext cx="496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SAME THING, FOUR 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0" y="1773936"/>
            <a:ext cx="4965192" cy="822960"/>
          </a:xfrm>
          <a:prstGeom prst="roundRect">
            <a:avLst>
              <a:gd name="adj" fmla="val 7778"/>
            </a:avLst>
          </a:prstGeom>
          <a:solidFill>
            <a:srgbClr val="DBEDE3"/>
          </a:solidFill>
          <a:ln w="12700">
            <a:solidFill>
              <a:srgbClr val="3786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858000" y="177393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1773936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2633472"/>
            <a:ext cx="0" cy="182880"/>
          </a:xfrm>
          <a:prstGeom prst="line">
            <a:avLst/>
          </a:prstGeom>
          <a:noFill/>
          <a:ln w="15240">
            <a:solidFill>
              <a:srgbClr val="93A0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0" y="2852928"/>
            <a:ext cx="4965192" cy="822960"/>
          </a:xfrm>
          <a:prstGeom prst="roundRect">
            <a:avLst>
              <a:gd name="adj" fmla="val 7778"/>
            </a:avLst>
          </a:prstGeom>
          <a:solidFill>
            <a:srgbClr val="FBEBD2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858000" y="285292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8529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ASCII code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3712464"/>
            <a:ext cx="0" cy="182880"/>
          </a:xfrm>
          <a:prstGeom prst="line">
            <a:avLst/>
          </a:prstGeom>
          <a:noFill/>
          <a:ln w="15240">
            <a:solidFill>
              <a:srgbClr val="93A0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0" y="3931920"/>
            <a:ext cx="4965192" cy="822960"/>
          </a:xfrm>
          <a:prstGeom prst="roundRect">
            <a:avLst>
              <a:gd name="adj" fmla="val 7778"/>
            </a:avLst>
          </a:prstGeom>
          <a:solidFill>
            <a:srgbClr val="D7EEF2"/>
          </a:solidFill>
          <a:ln w="12700">
            <a:solidFill>
              <a:srgbClr val="188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58000" y="3931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41h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3931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hexadecimal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4791456"/>
            <a:ext cx="0" cy="182880"/>
          </a:xfrm>
          <a:prstGeom prst="line">
            <a:avLst/>
          </a:prstGeom>
          <a:noFill/>
          <a:ln w="15240">
            <a:solidFill>
              <a:srgbClr val="93A0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83680" y="5010912"/>
            <a:ext cx="4965192" cy="822960"/>
          </a:xfrm>
          <a:prstGeom prst="roundRect">
            <a:avLst>
              <a:gd name="adj" fmla="val 7778"/>
            </a:avLst>
          </a:prstGeom>
          <a:solidFill>
            <a:srgbClr val="E6E2FA"/>
          </a:solidFill>
          <a:ln w="12700">
            <a:solidFill>
              <a:srgbClr val="6B5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58000" y="501091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01000001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50109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machine stores it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INTRODUCTION TO ASCII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ranges to remember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402336"/>
          </a:xfrm>
          <a:prstGeom prst="roundRect">
            <a:avLst>
              <a:gd name="adj" fmla="val 11364"/>
            </a:avLst>
          </a:prstGeom>
          <a:solidFill>
            <a:srgbClr val="1A2436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30877" y="1572768"/>
            <a:ext cx="852249" cy="402336"/>
          </a:xfrm>
          <a:prstGeom prst="roundRect">
            <a:avLst>
              <a:gd name="adj" fmla="val 11364"/>
            </a:avLst>
          </a:prstGeom>
          <a:solidFill>
            <a:srgbClr val="58B98A"/>
          </a:solidFill>
          <a:ln w="12700">
            <a:solidFill>
              <a:srgbClr val="58B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79701" y="1572768"/>
            <a:ext cx="2215848" cy="402336"/>
          </a:xfrm>
          <a:prstGeom prst="roundRect">
            <a:avLst>
              <a:gd name="adj" fmla="val 11364"/>
            </a:avLst>
          </a:prstGeom>
          <a:solidFill>
            <a:srgbClr val="EDA63F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06899" y="1572768"/>
            <a:ext cx="2215848" cy="402336"/>
          </a:xfrm>
          <a:prstGeom prst="roundRect">
            <a:avLst>
              <a:gd name="adj" fmla="val 11364"/>
            </a:avLst>
          </a:prstGeom>
          <a:solidFill>
            <a:srgbClr val="3EB9CE"/>
          </a:solidFill>
          <a:ln w="12700">
            <a:solidFill>
              <a:srgbClr val="3EB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029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047238" y="2029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774436" y="2029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501634" y="2029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908792" y="20299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316736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WHOLE OF STANDARD ASCII  ·  0 TO 127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2560320"/>
            <a:ext cx="3465576" cy="2286000"/>
          </a:xfrm>
          <a:prstGeom prst="roundRect">
            <a:avLst>
              <a:gd name="adj" fmla="val 2800"/>
            </a:avLst>
          </a:prstGeom>
          <a:solidFill>
            <a:srgbClr val="132A20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32688" y="277977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312724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→   9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2372868" y="3675888"/>
            <a:ext cx="0" cy="219456"/>
          </a:xfrm>
          <a:prstGeom prst="line">
            <a:avLst/>
          </a:prstGeom>
          <a:noFill/>
          <a:ln w="17780">
            <a:solidFill>
              <a:srgbClr val="58B9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32688" y="398678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  →   57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448056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 codes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1688" y="2560320"/>
            <a:ext cx="3465576" cy="2286000"/>
          </a:xfrm>
          <a:prstGeom prst="roundRect">
            <a:avLst>
              <a:gd name="adj" fmla="val 2800"/>
            </a:avLst>
          </a:prstGeom>
          <a:solidFill>
            <a:srgbClr val="2A2113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654296" y="277977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UPPERCASE LETTERS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654296" y="312724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→   Z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094476" y="3675888"/>
            <a:ext cx="0" cy="219456"/>
          </a:xfrm>
          <a:prstGeom prst="line">
            <a:avLst/>
          </a:prstGeom>
          <a:noFill/>
          <a:ln w="17780">
            <a:solidFill>
              <a:srgbClr val="EDA63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654296" y="398678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   →   90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4654296" y="448056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twenty-six codes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83296" y="2560320"/>
            <a:ext cx="3465576" cy="2286000"/>
          </a:xfrm>
          <a:prstGeom prst="roundRect">
            <a:avLst>
              <a:gd name="adj" fmla="val 2800"/>
            </a:avLst>
          </a:prstGeom>
          <a:solidFill>
            <a:srgbClr val="122A31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375904" y="277977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LOWERCASE LETTERS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375904" y="312724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→   z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9816084" y="3675888"/>
            <a:ext cx="0" cy="219456"/>
          </a:xfrm>
          <a:prstGeom prst="line">
            <a:avLst/>
          </a:prstGeom>
          <a:noFill/>
          <a:ln w="17780">
            <a:solidFill>
              <a:srgbClr val="3EB9C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375904" y="398678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   →   122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8375904" y="448056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twenty-six codes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5084064"/>
            <a:ext cx="10908792" cy="658368"/>
          </a:xfrm>
          <a:prstGeom prst="roundRect">
            <a:avLst>
              <a:gd name="adj" fmla="val 9722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914400" y="5084064"/>
            <a:ext cx="10360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are stored as numbers — and digits, uppercase letters and lowercase letters each sit in their own separate range.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8521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also contains symbols and invisible control characters. We are not looking at those, and we are not converting anything today.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INTRODUCTION TO EMU8086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EMU8086 — where all of this will happen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IS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pretends to be an 8086 computer. An emulator — bundled together with a text editor and an assembler, all in one window.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5292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USE IT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27248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8086 chip on your desk, and a modern machine will not happily run 16-bit programs. The emulator gives you a complete, safe 8086 that you can stop, inspect and restart at will.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342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 ADVANTAGE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08576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watch the registers and memory change, one instruction at a time. Nothing teaches the fetch–decode–execute loop faster than seeing it happen.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486400"/>
            <a:ext cx="5394960" cy="640080"/>
          </a:xfrm>
          <a:prstGeom prst="roundRect">
            <a:avLst>
              <a:gd name="adj" fmla="val 10000"/>
            </a:avLst>
          </a:prstGeom>
          <a:solidFill>
            <a:srgbClr val="FBEBD2"/>
          </a:solidFill>
          <a:ln w="12700">
            <a:solidFill>
              <a:srgbClr val="E8CD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50976" y="5486400"/>
            <a:ext cx="4773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install it in the first lab. It is small and it runs on any machine.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5148072" cy="859536"/>
          </a:xfrm>
          <a:prstGeom prst="roundRect">
            <a:avLst>
              <a:gd name="adj" fmla="val 744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56832" y="1609344"/>
            <a:ext cx="384048" cy="384048"/>
          </a:xfrm>
          <a:prstGeom prst="ellipse">
            <a:avLst/>
          </a:prstGeom>
          <a:solidFill>
            <a:srgbClr val="D7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656832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168896" y="1517904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168896" y="1792224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type your source code, like any other text editor.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2340864"/>
            <a:ext cx="5148072" cy="859536"/>
          </a:xfrm>
          <a:prstGeom prst="roundRect">
            <a:avLst>
              <a:gd name="adj" fmla="val 744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56832" y="2578608"/>
            <a:ext cx="384048" cy="384048"/>
          </a:xfrm>
          <a:prstGeom prst="ellipse">
            <a:avLst/>
          </a:prstGeom>
          <a:solidFill>
            <a:srgbClr val="FBE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656832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168896" y="2487168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/ compile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168896" y="2761488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your source into machine code — and tells you where your mistakes are.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3310128"/>
            <a:ext cx="5148072" cy="859536"/>
          </a:xfrm>
          <a:prstGeom prst="roundRect">
            <a:avLst>
              <a:gd name="adj" fmla="val 744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56832" y="3547872"/>
            <a:ext cx="384048" cy="384048"/>
          </a:xfrm>
          <a:prstGeom prst="ellipse">
            <a:avLst/>
          </a:prstGeom>
          <a:solidFill>
            <a:srgbClr val="F8E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656832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168896" y="3456432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Emulate / run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168896" y="3730752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virtual 8086 and runs your program from the beginning.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4279392"/>
            <a:ext cx="5148072" cy="859536"/>
          </a:xfrm>
          <a:prstGeom prst="roundRect">
            <a:avLst>
              <a:gd name="adj" fmla="val 744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56832" y="4517136"/>
            <a:ext cx="384048" cy="384048"/>
          </a:xfrm>
          <a:prstGeom prst="ellipse">
            <a:avLst/>
          </a:prstGeom>
          <a:solidFill>
            <a:srgbClr val="E6E2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656832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5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168896" y="442569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step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7168896" y="4700016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exactly one instruction, then stops so you can look around.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5248656"/>
            <a:ext cx="5148072" cy="859536"/>
          </a:xfrm>
          <a:prstGeom prst="roundRect">
            <a:avLst>
              <a:gd name="adj" fmla="val 744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56832" y="5486400"/>
            <a:ext cx="384048" cy="384048"/>
          </a:xfrm>
          <a:prstGeom prst="ellipse">
            <a:avLst/>
          </a:prstGeom>
          <a:solidFill>
            <a:srgbClr val="DBE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656832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8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168896" y="5394960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window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7168896" y="5669280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live contents of AX, BX, CX, DX and all the rest, updating as you step.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INTRODUCTION TO EMU8086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EMU8086 looks like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6400800" cy="3977640"/>
          </a:xfrm>
          <a:prstGeom prst="roundRect">
            <a:avLst>
              <a:gd name="adj" fmla="val 1379"/>
            </a:avLst>
          </a:prstGeom>
          <a:solidFill>
            <a:srgbClr val="0B1120"/>
          </a:solidFill>
          <a:ln w="12700">
            <a:solidFill>
              <a:srgbClr val="3A47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1C2537"/>
          </a:solidFill>
          <a:ln w="12700">
            <a:solidFill>
              <a:srgbClr val="3A47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" y="1691640"/>
            <a:ext cx="109728" cy="109728"/>
          </a:xfrm>
          <a:prstGeom prst="ellipse">
            <a:avLst/>
          </a:prstGeom>
          <a:solidFill>
            <a:srgbClr val="D45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9264" y="1691640"/>
            <a:ext cx="109728" cy="109728"/>
          </a:xfrm>
          <a:prstGeom prst="ellipse">
            <a:avLst/>
          </a:prstGeom>
          <a:solidFill>
            <a:srgbClr val="D8A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33856" y="1691640"/>
            <a:ext cx="109728" cy="109728"/>
          </a:xfrm>
          <a:prstGeom prst="ellipse">
            <a:avLst/>
          </a:prstGeom>
          <a:solidFill>
            <a:srgbClr val="5EAE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353312" y="15727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emu8086  —  my_first_program.asm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143000" y="1993392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233049"/>
          </a:solidFill>
          <a:ln w="12700">
            <a:solidFill>
              <a:srgbClr val="3A47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143000" y="1993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0280" y="1993392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233049"/>
          </a:solidFill>
          <a:ln w="12700">
            <a:solidFill>
              <a:srgbClr val="3A47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240280" y="1993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emulate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993392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233049"/>
          </a:solidFill>
          <a:ln w="12700">
            <a:solidFill>
              <a:srgbClr val="3A47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337560" y="1993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6280" y="1993392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233049"/>
          </a:solidFill>
          <a:ln w="12700">
            <a:solidFill>
              <a:srgbClr val="3A47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526280" y="1993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" y="2487168"/>
            <a:ext cx="6071616" cy="2907792"/>
          </a:xfrm>
          <a:prstGeom prst="roundRect">
            <a:avLst>
              <a:gd name="adj" fmla="val 1258"/>
            </a:avLst>
          </a:prstGeom>
          <a:solidFill>
            <a:srgbClr val="121A29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32688" y="26334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E4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335024" y="26334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my first program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29260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E4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32186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E4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335024" y="32186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7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.MODEL SMALL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35112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E4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335024" y="35112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7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.STACK 100H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" y="38039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E4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335024" y="38039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.CODE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" y="40965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E4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335024" y="40965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PROC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" y="43891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E4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335024" y="4389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r>
              <a:rPr lang="en-US" sz="110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AX, BX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" y="468172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E4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335024" y="4681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ENDP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" y="49743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E4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335024" y="49743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MAIN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60920" y="1572768"/>
            <a:ext cx="4187952" cy="3977640"/>
          </a:xfrm>
          <a:prstGeom prst="roundRect">
            <a:avLst>
              <a:gd name="adj" fmla="val 1379"/>
            </a:avLst>
          </a:prstGeom>
          <a:solidFill>
            <a:srgbClr val="0B1120"/>
          </a:solidFill>
          <a:ln w="12700">
            <a:solidFill>
              <a:srgbClr val="3A47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60920" y="1572768"/>
            <a:ext cx="4187952" cy="347472"/>
          </a:xfrm>
          <a:prstGeom prst="roundRect">
            <a:avLst>
              <a:gd name="adj" fmla="val 15789"/>
            </a:avLst>
          </a:prstGeom>
          <a:solidFill>
            <a:srgbClr val="1C2537"/>
          </a:solidFill>
          <a:ln w="12700">
            <a:solidFill>
              <a:srgbClr val="3A47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525512" y="1691640"/>
            <a:ext cx="109728" cy="109728"/>
          </a:xfrm>
          <a:prstGeom prst="ellipse">
            <a:avLst/>
          </a:prstGeom>
          <a:solidFill>
            <a:srgbClr val="D45B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690104" y="1691640"/>
            <a:ext cx="109728" cy="109728"/>
          </a:xfrm>
          <a:prstGeom prst="ellipse">
            <a:avLst/>
          </a:prstGeom>
          <a:solidFill>
            <a:srgbClr val="D8A3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854696" y="1691640"/>
            <a:ext cx="109728" cy="109728"/>
          </a:xfrm>
          <a:prstGeom prst="ellipse">
            <a:avLst/>
          </a:prstGeom>
          <a:solidFill>
            <a:srgbClr val="5EAE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8074152" y="157276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emulator: my_first.com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863840" y="1993392"/>
            <a:ext cx="1325880" cy="365760"/>
          </a:xfrm>
          <a:prstGeom prst="roundRect">
            <a:avLst>
              <a:gd name="adj" fmla="val 40000"/>
            </a:avLst>
          </a:prstGeom>
          <a:solidFill>
            <a:srgbClr val="233049"/>
          </a:solidFill>
          <a:ln w="12700">
            <a:solidFill>
              <a:srgbClr val="3A47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7863840" y="19933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step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281160" y="1993392"/>
            <a:ext cx="777240" cy="365760"/>
          </a:xfrm>
          <a:prstGeom prst="roundRect">
            <a:avLst>
              <a:gd name="adj" fmla="val 40000"/>
            </a:avLst>
          </a:prstGeom>
          <a:solidFill>
            <a:srgbClr val="233049"/>
          </a:solidFill>
          <a:ln w="12700">
            <a:solidFill>
              <a:srgbClr val="3A47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9281160" y="19933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149840" y="1993392"/>
            <a:ext cx="960120" cy="365760"/>
          </a:xfrm>
          <a:prstGeom prst="roundRect">
            <a:avLst>
              <a:gd name="adj" fmla="val 40000"/>
            </a:avLst>
          </a:prstGeom>
          <a:solidFill>
            <a:srgbClr val="233049"/>
          </a:solidFill>
          <a:ln w="12700">
            <a:solidFill>
              <a:srgbClr val="3A47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10149840" y="199339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reload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25512" y="2487168"/>
            <a:ext cx="3858768" cy="1993392"/>
          </a:xfrm>
          <a:prstGeom prst="roundRect">
            <a:avLst>
              <a:gd name="adj" fmla="val 1835"/>
            </a:avLst>
          </a:prstGeom>
          <a:solidFill>
            <a:srgbClr val="121A29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7699248" y="25968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REGISTERS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7699248" y="2852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183880" y="2871216"/>
            <a:ext cx="841248" cy="237744"/>
          </a:xfrm>
          <a:prstGeom prst="roundRect">
            <a:avLst>
              <a:gd name="adj" fmla="val 11538"/>
            </a:avLst>
          </a:prstGeom>
          <a:solidFill>
            <a:srgbClr val="1A2436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8183880" y="287121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418320" y="2852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902952" y="2871216"/>
            <a:ext cx="841248" cy="237744"/>
          </a:xfrm>
          <a:prstGeom prst="roundRect">
            <a:avLst>
              <a:gd name="adj" fmla="val 11538"/>
            </a:avLst>
          </a:prstGeom>
          <a:solidFill>
            <a:srgbClr val="1A2436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9902952" y="287121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0700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7699248" y="32369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BX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183880" y="3255264"/>
            <a:ext cx="841248" cy="237744"/>
          </a:xfrm>
          <a:prstGeom prst="roundRect">
            <a:avLst>
              <a:gd name="adj" fmla="val 11538"/>
            </a:avLst>
          </a:prstGeom>
          <a:solidFill>
            <a:srgbClr val="1A2436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8183880" y="32552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9418320" y="32369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902952" y="3255264"/>
            <a:ext cx="841248" cy="237744"/>
          </a:xfrm>
          <a:prstGeom prst="roundRect">
            <a:avLst>
              <a:gd name="adj" fmla="val 11538"/>
            </a:avLst>
          </a:prstGeom>
          <a:solidFill>
            <a:srgbClr val="1A2436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9902952" y="325526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699248" y="3621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183880" y="3639312"/>
            <a:ext cx="841248" cy="237744"/>
          </a:xfrm>
          <a:prstGeom prst="roundRect">
            <a:avLst>
              <a:gd name="adj" fmla="val 11538"/>
            </a:avLst>
          </a:prstGeom>
          <a:solidFill>
            <a:srgbClr val="1A2436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8183880" y="363931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9418320" y="3621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902952" y="3639312"/>
            <a:ext cx="841248" cy="237744"/>
          </a:xfrm>
          <a:prstGeom prst="roundRect">
            <a:avLst>
              <a:gd name="adj" fmla="val 11538"/>
            </a:avLst>
          </a:prstGeom>
          <a:solidFill>
            <a:srgbClr val="1A2436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 txBox="1"/>
          <p:nvPr/>
        </p:nvSpPr>
        <p:spPr>
          <a:xfrm>
            <a:off x="9902952" y="363931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0700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699248" y="4005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183880" y="4023360"/>
            <a:ext cx="841248" cy="237744"/>
          </a:xfrm>
          <a:prstGeom prst="roundRect">
            <a:avLst>
              <a:gd name="adj" fmla="val 11538"/>
            </a:avLst>
          </a:prstGeom>
          <a:solidFill>
            <a:srgbClr val="1A2436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 txBox="1"/>
          <p:nvPr/>
        </p:nvSpPr>
        <p:spPr>
          <a:xfrm>
            <a:off x="8183880" y="402336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9418320" y="4005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9902952" y="4023360"/>
            <a:ext cx="841248" cy="237744"/>
          </a:xfrm>
          <a:prstGeom prst="roundRect">
            <a:avLst>
              <a:gd name="adj" fmla="val 11538"/>
            </a:avLst>
          </a:prstGeom>
          <a:solidFill>
            <a:srgbClr val="1A2436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 txBox="1"/>
          <p:nvPr/>
        </p:nvSpPr>
        <p:spPr>
          <a:xfrm>
            <a:off x="9902952" y="402336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FFFE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525512" y="4590288"/>
            <a:ext cx="3858768" cy="804672"/>
          </a:xfrm>
          <a:prstGeom prst="roundRect">
            <a:avLst>
              <a:gd name="adj" fmla="val 4545"/>
            </a:avLst>
          </a:prstGeom>
          <a:solidFill>
            <a:srgbClr val="121A29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 txBox="1"/>
          <p:nvPr/>
        </p:nvSpPr>
        <p:spPr>
          <a:xfrm>
            <a:off x="7699248" y="4681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7699248" y="49011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0700:0100   8B C3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699248" y="51389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0700:0102   90 90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94944" y="2377440"/>
            <a:ext cx="292608" cy="292608"/>
          </a:xfrm>
          <a:prstGeom prst="ellipse">
            <a:avLst/>
          </a:prstGeom>
          <a:solidFill>
            <a:srgbClr val="EDA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694944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1051560" y="1883664"/>
            <a:ext cx="292608" cy="292608"/>
          </a:xfrm>
          <a:prstGeom prst="ellipse">
            <a:avLst/>
          </a:prstGeom>
          <a:solidFill>
            <a:srgbClr val="EDA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 txBox="1"/>
          <p:nvPr/>
        </p:nvSpPr>
        <p:spPr>
          <a:xfrm>
            <a:off x="105156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2148840" y="1883664"/>
            <a:ext cx="292608" cy="292608"/>
          </a:xfrm>
          <a:prstGeom prst="ellipse">
            <a:avLst/>
          </a:prstGeom>
          <a:solidFill>
            <a:srgbClr val="EDA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 txBox="1"/>
          <p:nvPr/>
        </p:nvSpPr>
        <p:spPr>
          <a:xfrm>
            <a:off x="214884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772400" y="1883664"/>
            <a:ext cx="292608" cy="292608"/>
          </a:xfrm>
          <a:prstGeom prst="ellipse">
            <a:avLst/>
          </a:prstGeom>
          <a:solidFill>
            <a:srgbClr val="EDA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 txBox="1"/>
          <p:nvPr/>
        </p:nvSpPr>
        <p:spPr>
          <a:xfrm>
            <a:off x="777240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7415784" y="2377440"/>
            <a:ext cx="292608" cy="292608"/>
          </a:xfrm>
          <a:prstGeom prst="ellipse">
            <a:avLst/>
          </a:prstGeom>
          <a:solidFill>
            <a:srgbClr val="EDA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 txBox="1"/>
          <p:nvPr/>
        </p:nvSpPr>
        <p:spPr>
          <a:xfrm>
            <a:off x="7415784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40080" y="5760720"/>
            <a:ext cx="256032" cy="256032"/>
          </a:xfrm>
          <a:prstGeom prst="ellipse">
            <a:avLst/>
          </a:prstGeom>
          <a:solidFill>
            <a:srgbClr val="EDA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 txBox="1"/>
          <p:nvPr/>
        </p:nvSpPr>
        <p:spPr>
          <a:xfrm>
            <a:off x="640080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987552" y="57058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987552" y="5897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code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821838" y="5760720"/>
            <a:ext cx="256032" cy="256032"/>
          </a:xfrm>
          <a:prstGeom prst="ellipse">
            <a:avLst/>
          </a:prstGeom>
          <a:solidFill>
            <a:srgbClr val="EDA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 txBox="1"/>
          <p:nvPr/>
        </p:nvSpPr>
        <p:spPr>
          <a:xfrm>
            <a:off x="2821838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95" name="Text 93"/>
          <p:cNvSpPr txBox="1"/>
          <p:nvPr/>
        </p:nvSpPr>
        <p:spPr>
          <a:xfrm>
            <a:off x="3169310" y="57058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</a:t>
            </a:r>
            <a:endParaRPr lang="en-US" sz="1100" dirty="0"/>
          </a:p>
        </p:txBody>
      </p:sp>
      <p:sp>
        <p:nvSpPr>
          <p:cNvPr id="96" name="Text 94"/>
          <p:cNvSpPr txBox="1"/>
          <p:nvPr/>
        </p:nvSpPr>
        <p:spPr>
          <a:xfrm>
            <a:off x="3169310" y="5897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003597" y="5760720"/>
            <a:ext cx="256032" cy="256032"/>
          </a:xfrm>
          <a:prstGeom prst="ellipse">
            <a:avLst/>
          </a:prstGeom>
          <a:solidFill>
            <a:srgbClr val="EDA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 txBox="1"/>
          <p:nvPr/>
        </p:nvSpPr>
        <p:spPr>
          <a:xfrm>
            <a:off x="5003597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5351069" y="57058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Emulate</a:t>
            </a:r>
            <a:endParaRPr lang="en-US" sz="1100" dirty="0"/>
          </a:p>
        </p:txBody>
      </p:sp>
      <p:sp>
        <p:nvSpPr>
          <p:cNvPr id="100" name="Text 98"/>
          <p:cNvSpPr txBox="1"/>
          <p:nvPr/>
        </p:nvSpPr>
        <p:spPr>
          <a:xfrm>
            <a:off x="5351069" y="5897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7185355" y="5760720"/>
            <a:ext cx="256032" cy="256032"/>
          </a:xfrm>
          <a:prstGeom prst="ellipse">
            <a:avLst/>
          </a:prstGeom>
          <a:solidFill>
            <a:srgbClr val="EDA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 txBox="1"/>
          <p:nvPr/>
        </p:nvSpPr>
        <p:spPr>
          <a:xfrm>
            <a:off x="7185355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03" name="Text 101"/>
          <p:cNvSpPr txBox="1"/>
          <p:nvPr/>
        </p:nvSpPr>
        <p:spPr>
          <a:xfrm>
            <a:off x="7532827" y="57058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step</a:t>
            </a:r>
            <a:endParaRPr lang="en-US" sz="1100" dirty="0"/>
          </a:p>
        </p:txBody>
      </p:sp>
      <p:sp>
        <p:nvSpPr>
          <p:cNvPr id="104" name="Text 102"/>
          <p:cNvSpPr txBox="1"/>
          <p:nvPr/>
        </p:nvSpPr>
        <p:spPr>
          <a:xfrm>
            <a:off x="7532827" y="5897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instruction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9367114" y="5760720"/>
            <a:ext cx="256032" cy="256032"/>
          </a:xfrm>
          <a:prstGeom prst="ellipse">
            <a:avLst/>
          </a:prstGeom>
          <a:solidFill>
            <a:srgbClr val="EDA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 txBox="1"/>
          <p:nvPr/>
        </p:nvSpPr>
        <p:spPr>
          <a:xfrm>
            <a:off x="9367114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107" name="Text 105"/>
          <p:cNvSpPr txBox="1"/>
          <p:nvPr/>
        </p:nvSpPr>
        <p:spPr>
          <a:xfrm>
            <a:off x="9714586" y="57058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100" dirty="0"/>
          </a:p>
        </p:txBody>
      </p:sp>
      <p:sp>
        <p:nvSpPr>
          <p:cNvPr id="108" name="Text 106"/>
          <p:cNvSpPr txBox="1"/>
          <p:nvPr/>
        </p:nvSpPr>
        <p:spPr>
          <a:xfrm>
            <a:off x="9714586" y="5897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them change</a:t>
            </a:r>
            <a:endParaRPr lang="en-US" sz="1000" dirty="0"/>
          </a:p>
        </p:txBody>
      </p:sp>
      <p:sp>
        <p:nvSpPr>
          <p:cNvPr id="109" name="Text 107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READING ASSEMBLY CODE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name the parts, not the meaning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line, answer only this: what are the pieces called?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5029200" cy="960120"/>
          </a:xfrm>
          <a:prstGeom prst="roundRect">
            <a:avLst>
              <a:gd name="adj" fmla="val 5714"/>
            </a:avLst>
          </a:prstGeom>
          <a:solidFill>
            <a:srgbClr val="121A29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0482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r>
              <a:rPr lang="en-US" sz="160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AX, BX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2048256"/>
            <a:ext cx="1570939" cy="384048"/>
          </a:xfrm>
          <a:prstGeom prst="roundRect">
            <a:avLst>
              <a:gd name="adj" fmla="val 19048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089904" y="2048256"/>
            <a:ext cx="12783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MNEMONIC  </a:t>
            </a:r>
            <a:r>
              <a:rPr lang="en-US" sz="105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642555" y="2048256"/>
            <a:ext cx="1731874" cy="384048"/>
          </a:xfrm>
          <a:prstGeom prst="roundRect">
            <a:avLst>
              <a:gd name="adj" fmla="val 19048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88859" y="2048256"/>
            <a:ext cx="1439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  </a:t>
            </a:r>
            <a:r>
              <a:rPr lang="en-US" sz="105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502445" y="2048256"/>
            <a:ext cx="1329538" cy="384048"/>
          </a:xfrm>
          <a:prstGeom prst="roundRect">
            <a:avLst>
              <a:gd name="adj" fmla="val 19048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648749" y="2048256"/>
            <a:ext cx="1036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 </a:t>
            </a:r>
            <a:r>
              <a:rPr lang="en-US" sz="1050" b="1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BX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2999232"/>
            <a:ext cx="5029200" cy="960120"/>
          </a:xfrm>
          <a:prstGeom prst="roundRect">
            <a:avLst>
              <a:gd name="adj" fmla="val 5714"/>
            </a:avLst>
          </a:prstGeom>
          <a:solidFill>
            <a:srgbClr val="121A29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1440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r>
              <a:rPr lang="en-US" sz="160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AL, 65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0" y="3099816"/>
            <a:ext cx="1570939" cy="384048"/>
          </a:xfrm>
          <a:prstGeom prst="roundRect">
            <a:avLst>
              <a:gd name="adj" fmla="val 19048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089904" y="3099816"/>
            <a:ext cx="12783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MNEMONIC  </a:t>
            </a:r>
            <a:r>
              <a:rPr lang="en-US" sz="105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642555" y="3099816"/>
            <a:ext cx="3341218" cy="384048"/>
          </a:xfrm>
          <a:prstGeom prst="roundRect">
            <a:avLst>
              <a:gd name="adj" fmla="val 19048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788859" y="3099816"/>
            <a:ext cx="30486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  </a:t>
            </a:r>
            <a:r>
              <a:rPr lang="en-US" sz="105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— an 8-bit register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0" y="3557016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089904" y="355701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 </a:t>
            </a:r>
            <a:r>
              <a:rPr lang="en-US" sz="1050" b="1" dirty="0">
                <a:solidFill>
                  <a:srgbClr val="958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 — a plain number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4242816"/>
            <a:ext cx="5029200" cy="960120"/>
          </a:xfrm>
          <a:prstGeom prst="roundRect">
            <a:avLst>
              <a:gd name="adj" fmla="val 5714"/>
            </a:avLst>
          </a:prstGeom>
          <a:solidFill>
            <a:srgbClr val="121A29"/>
          </a:solidFill>
          <a:ln w="12700">
            <a:solidFill>
              <a:srgbClr val="2B3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14400" y="45354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again:</a:t>
            </a:r>
            <a:r>
              <a:rPr lang="en-US" sz="16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</a:t>
            </a:r>
            <a:r>
              <a:rPr lang="en-US" sz="160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CX, DX</a:t>
            </a:r>
            <a:r>
              <a:rPr lang="en-US" sz="16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; keep a copy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0" y="4343400"/>
            <a:ext cx="1570939" cy="384048"/>
          </a:xfrm>
          <a:prstGeom prst="roundRect">
            <a:avLst>
              <a:gd name="adj" fmla="val 19048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089904" y="4343400"/>
            <a:ext cx="12783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 </a:t>
            </a:r>
            <a:r>
              <a:rPr lang="en-US" sz="1050" b="1" dirty="0">
                <a:solidFill>
                  <a:srgbClr val="5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again: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42555" y="4343400"/>
            <a:ext cx="1570939" cy="384048"/>
          </a:xfrm>
          <a:prstGeom prst="roundRect">
            <a:avLst>
              <a:gd name="adj" fmla="val 19048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788859" y="4343400"/>
            <a:ext cx="12783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MNEMONIC  </a:t>
            </a:r>
            <a:r>
              <a:rPr lang="en-US" sz="105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341510" y="4343400"/>
            <a:ext cx="2134210" cy="384048"/>
          </a:xfrm>
          <a:prstGeom prst="roundRect">
            <a:avLst>
              <a:gd name="adj" fmla="val 19048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487814" y="4343400"/>
            <a:ext cx="18416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OPERANDS  </a:t>
            </a:r>
            <a:r>
              <a:rPr lang="en-US" sz="105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 then DX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43600" y="4800600"/>
            <a:ext cx="2777947" cy="384048"/>
          </a:xfrm>
          <a:prstGeom prst="roundRect">
            <a:avLst>
              <a:gd name="adj" fmla="val 19048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089904" y="4800600"/>
            <a:ext cx="2485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  </a:t>
            </a:r>
            <a:r>
              <a:rPr lang="en-US" sz="1050" b="1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the semicolon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" y="5440680"/>
            <a:ext cx="10908792" cy="621792"/>
          </a:xfrm>
          <a:prstGeom prst="roundRect">
            <a:avLst>
              <a:gd name="adj" fmla="val 10294"/>
            </a:avLst>
          </a:prstGeom>
          <a:solidFill>
            <a:srgbClr val="2A2113"/>
          </a:solidFill>
          <a:ln w="12700">
            <a:solidFill>
              <a:srgbClr val="4A3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914400" y="5440680"/>
            <a:ext cx="10360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that you still have no idea what MOV actually does. That is deliberate — and it has not stopped you reading the code.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THE BOUNDARIES OF LECTURE ONE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not doing today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nobody walks out worrying they missed something. None of this has happened yet — on purpose.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5877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2057400"/>
            <a:ext cx="256032" cy="256032"/>
          </a:xfrm>
          <a:prstGeom prst="ellipse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41248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74520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1874520"/>
            <a:ext cx="25877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11880" y="2057400"/>
            <a:ext cx="256032" cy="256032"/>
          </a:xfrm>
          <a:prstGeom prst="ellipse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61188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59352" y="1874520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874520"/>
            <a:ext cx="25877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82512" y="2057400"/>
            <a:ext cx="256032" cy="256032"/>
          </a:xfrm>
          <a:prstGeom prst="ellipse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382512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29984" y="1874520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 actually does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51976" y="1874520"/>
            <a:ext cx="25877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53144" y="2057400"/>
            <a:ext cx="256032" cy="256032"/>
          </a:xfrm>
          <a:prstGeom prst="ellipse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153144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500616" y="1874520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2606040"/>
            <a:ext cx="25877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1248" y="2788920"/>
            <a:ext cx="256032" cy="256032"/>
          </a:xfrm>
          <a:prstGeom prst="ellipse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41248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2606040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10712" y="2606040"/>
            <a:ext cx="25877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11880" y="2788920"/>
            <a:ext cx="256032" cy="256032"/>
          </a:xfrm>
          <a:prstGeom prst="ellipse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361188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959352" y="2606040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81344" y="2606040"/>
            <a:ext cx="25877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82512" y="2788920"/>
            <a:ext cx="256032" cy="256032"/>
          </a:xfrm>
          <a:prstGeom prst="ellipse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382512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29984" y="2606040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addressing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951976" y="2606040"/>
            <a:ext cx="25877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153144" y="2788920"/>
            <a:ext cx="256032" cy="256032"/>
          </a:xfrm>
          <a:prstGeom prst="ellipse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9153144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500616" y="2606040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3337560"/>
            <a:ext cx="25877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41248" y="3520440"/>
            <a:ext cx="256032" cy="256032"/>
          </a:xfrm>
          <a:prstGeom prst="ellipse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841248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188720" y="3337560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410712" y="3337560"/>
            <a:ext cx="25877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11880" y="3520440"/>
            <a:ext cx="256032" cy="256032"/>
          </a:xfrm>
          <a:prstGeom prst="ellipse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361188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959352" y="3337560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181344" y="3337560"/>
            <a:ext cx="258775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82512" y="3520440"/>
            <a:ext cx="256032" cy="256032"/>
          </a:xfrm>
          <a:prstGeom prst="ellipse">
            <a:avLst/>
          </a:prstGeom>
          <a:solidFill>
            <a:srgbClr val="F3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6382512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729984" y="3337560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assembly programs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0080" y="4224528"/>
            <a:ext cx="10908792" cy="1325880"/>
          </a:xfrm>
          <a:prstGeom prst="roundRect">
            <a:avLst>
              <a:gd name="adj" fmla="val 4828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1005840" y="4443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3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 =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05840" y="4791456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1133856" y="4791456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machine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4206240" y="4791456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608576" y="4791456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4736592" y="4791456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DA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language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7808976" y="4791456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6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11312" y="4791456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8339328" y="4791456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8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comfortable with EMU8086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640080" y="57058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assembly operations begin in the next lecture. You are exactly where you should be.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· RECAP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665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understand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8988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499616"/>
            <a:ext cx="219456" cy="219456"/>
          </a:xfrm>
          <a:prstGeom prst="ellipse">
            <a:avLst/>
          </a:prstGeom>
          <a:solidFill>
            <a:srgbClr val="1887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138988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COAL is — and why it is two subjects at once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53912" y="138988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36792" y="1499616"/>
            <a:ext cx="219456" cy="219456"/>
          </a:xfrm>
          <a:prstGeom prst="ellipse">
            <a:avLst/>
          </a:prstGeom>
          <a:solidFill>
            <a:srgbClr val="1887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665976" y="138988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computer organization means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89280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2002536"/>
            <a:ext cx="219456" cy="219456"/>
          </a:xfrm>
          <a:prstGeom prst="ellipse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189280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assembly language is, and where it sits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53912" y="189280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36792" y="2002536"/>
            <a:ext cx="219456" cy="219456"/>
          </a:xfrm>
          <a:prstGeom prst="ellipse">
            <a:avLst/>
          </a:prstGeom>
          <a:solidFill>
            <a:srgbClr val="6B5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665976" y="189280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vs assembly vs machine language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39572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2505456"/>
            <a:ext cx="219456" cy="219456"/>
          </a:xfrm>
          <a:prstGeom prst="ellipse">
            <a:avLst/>
          </a:prstGeom>
          <a:solidFill>
            <a:srgbClr val="1887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152144" y="239572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parts of a computer, and how they connect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3912" y="239572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36792" y="2505456"/>
            <a:ext cx="219456" cy="219456"/>
          </a:xfrm>
          <a:prstGeom prst="ellipse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665976" y="239572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a CPU: control unit, ALU, registers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289864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2960" y="3008376"/>
            <a:ext cx="219456" cy="219456"/>
          </a:xfrm>
          <a:prstGeom prst="ellipse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152144" y="289864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fetch → decode → execute cycle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53912" y="289864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36792" y="3008376"/>
            <a:ext cx="219456" cy="219456"/>
          </a:xfrm>
          <a:prstGeom prst="ellipse">
            <a:avLst/>
          </a:prstGeom>
          <a:solidFill>
            <a:srgbClr val="6B5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665976" y="289864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8-, 16-, 32- and 64-bit mean at a basic level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40156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2960" y="3511296"/>
            <a:ext cx="219456" cy="219456"/>
          </a:xfrm>
          <a:prstGeom prst="ellipse">
            <a:avLst/>
          </a:prstGeom>
          <a:solidFill>
            <a:srgbClr val="6B58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1152144" y="340156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x86 and x64 / x86-64 refer to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53912" y="340156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36792" y="3511296"/>
            <a:ext cx="219456" cy="219456"/>
          </a:xfrm>
          <a:prstGeom prst="ellipse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665976" y="340156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8086 is, and why this course studies 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390448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2960" y="4014216"/>
            <a:ext cx="219456" cy="219456"/>
          </a:xfrm>
          <a:prstGeom prst="ellipse">
            <a:avLst/>
          </a:prstGeom>
          <a:solidFill>
            <a:srgbClr val="1887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152144" y="390448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8086 register set — and the AH / AL split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53912" y="390448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36792" y="4014216"/>
            <a:ext cx="219456" cy="219456"/>
          </a:xfrm>
          <a:prstGeom prst="ellipse">
            <a:avLst/>
          </a:prstGeom>
          <a:solidFill>
            <a:srgbClr val="C45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665976" y="390448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an assembly statement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40740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22960" y="4517136"/>
            <a:ext cx="219456" cy="219456"/>
          </a:xfrm>
          <a:prstGeom prst="ellipse">
            <a:avLst/>
          </a:prstGeom>
          <a:solidFill>
            <a:srgbClr val="C45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1152144" y="440740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case, indentation, commas, comments, labels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53912" y="440740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336792" y="4517136"/>
            <a:ext cx="219456" cy="219456"/>
          </a:xfrm>
          <a:prstGeom prst="ellipse">
            <a:avLst/>
          </a:prstGeom>
          <a:solidFill>
            <a:srgbClr val="C45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6665976" y="440740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a complete assembly program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0080" y="491032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3F5F9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22960" y="5020056"/>
            <a:ext cx="219456" cy="219456"/>
          </a:xfrm>
          <a:prstGeom prst="ellipse">
            <a:avLst/>
          </a:prstGeom>
          <a:solidFill>
            <a:srgbClr val="3786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1152144" y="491032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ASCII ranges: 48–57, 65–90, 97–122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53912" y="4910328"/>
            <a:ext cx="53949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336792" y="5020056"/>
            <a:ext cx="219456" cy="219456"/>
          </a:xfrm>
          <a:prstGeom prst="ellipse">
            <a:avLst/>
          </a:prstGeom>
          <a:solidFill>
            <a:srgbClr val="3786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6665976" y="4910328"/>
            <a:ext cx="4700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EMU8086 is, and what its main buttons do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0080" y="5486400"/>
            <a:ext cx="10908792" cy="566928"/>
          </a:xfrm>
          <a:prstGeom prst="roundRect">
            <a:avLst>
              <a:gd name="adj" fmla="val 11290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640080" y="548640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explain each of these to the person sitting next to you, lecture one has done its job.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3657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TIME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lecture:</a:t>
            </a:r>
            <a:endParaRPr lang="en-US" sz="3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that actually do something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94960" cy="2743200"/>
          </a:xfrm>
          <a:prstGeom prst="roundRect">
            <a:avLst>
              <a:gd name="adj" fmla="val 2333"/>
            </a:avLst>
          </a:prstGeom>
          <a:solidFill>
            <a:srgbClr val="182132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50976" y="25054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COMING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69264" y="2962656"/>
            <a:ext cx="91440" cy="91440"/>
          </a:xfrm>
          <a:prstGeom prst="rect">
            <a:avLst/>
          </a:prstGeom>
          <a:solidFill>
            <a:srgbClr val="EDA63F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225296" y="2834640"/>
            <a:ext cx="4498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 really does — at last.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9264" y="3474720"/>
            <a:ext cx="91440" cy="91440"/>
          </a:xfrm>
          <a:prstGeom prst="rect">
            <a:avLst/>
          </a:prstGeom>
          <a:solidFill>
            <a:srgbClr val="EDA63F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225296" y="3346704"/>
            <a:ext cx="4498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values between registers, memory and plain numbers.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9264" y="3986784"/>
            <a:ext cx="91440" cy="91440"/>
          </a:xfrm>
          <a:prstGeom prst="rect">
            <a:avLst/>
          </a:prstGeom>
          <a:solidFill>
            <a:srgbClr val="EDA63F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225296" y="3858768"/>
            <a:ext cx="4498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complete program, assembled and run.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9264" y="4498848"/>
            <a:ext cx="91440" cy="91440"/>
          </a:xfrm>
          <a:prstGeom prst="rect">
            <a:avLst/>
          </a:prstGeom>
          <a:solidFill>
            <a:srgbClr val="EDA63F"/>
          </a:solidFill>
          <a:ln w="12700">
            <a:solidFill>
              <a:srgbClr val="EDA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225296" y="4370832"/>
            <a:ext cx="4498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registers window change as each instruction executes.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53912" y="2286000"/>
            <a:ext cx="5394960" cy="2743200"/>
          </a:xfrm>
          <a:prstGeom prst="roundRect">
            <a:avLst>
              <a:gd name="adj" fmla="val 2333"/>
            </a:avLst>
          </a:prstGeom>
          <a:solidFill>
            <a:srgbClr val="122A31"/>
          </a:solidFill>
          <a:ln w="12700">
            <a:solidFill>
              <a:srgbClr val="275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64808" y="25054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THEN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6520" y="2889504"/>
            <a:ext cx="237744" cy="237744"/>
          </a:xfrm>
          <a:prstGeom prst="ellipse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46520" y="2889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834640"/>
            <a:ext cx="4407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EMU8086 — we do it together in the first lab.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3401568"/>
            <a:ext cx="237744" cy="237744"/>
          </a:xfrm>
          <a:prstGeom prst="ellipse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46520" y="3401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346704"/>
            <a:ext cx="4407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fourteen register names. Just the names.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3913632"/>
            <a:ext cx="237744" cy="237744"/>
          </a:xfrm>
          <a:prstGeom prst="ellipse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46520" y="3913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3858768"/>
            <a:ext cx="4407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three ASCII ranges: 48–57, 65–90, 97–122.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46520" y="4425696"/>
            <a:ext cx="237744" cy="237744"/>
          </a:xfrm>
          <a:prstGeom prst="ellipse">
            <a:avLst/>
          </a:prstGeom>
          <a:solidFill>
            <a:srgbClr val="0E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46520" y="4425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4370832"/>
            <a:ext cx="4407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the syntax rules. They will save you hours later.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DA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r>
              <a:rPr lang="en-US" sz="2000" b="1" dirty="0">
                <a:solidFill>
                  <a:srgbClr val="3EB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AX, BX</a:t>
            </a:r>
            <a:r>
              <a:rPr lang="en-US" sz="1300" i="1" dirty="0">
                <a:solidFill>
                  <a:srgbClr val="5C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← you will know exactly what this means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68756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36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  ·  LECTURE 01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634472" y="63367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6792</Words>
  <Application>Microsoft Office PowerPoint</Application>
  <PresentationFormat>Widescreen</PresentationFormat>
  <Paragraphs>979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Computer Organization and Assembly Language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COAL — Lecture 01: Foundations</dc:title>
  <dc:subject>Introduction to computer organization, the 8086 and assembly language</dc:subject>
  <dc:creator>COAL</dc:creator>
  <cp:lastModifiedBy>Hashir Shaikh</cp:lastModifiedBy>
  <cp:revision>3</cp:revision>
  <dcterms:created xsi:type="dcterms:W3CDTF">2026-09-14T17:50:01Z</dcterms:created>
  <dcterms:modified xsi:type="dcterms:W3CDTF">2026-09-15T16:35:35Z</dcterms:modified>
</cp:coreProperties>
</file>